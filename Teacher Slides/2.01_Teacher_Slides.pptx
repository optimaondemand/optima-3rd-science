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(1 min)
Ask: "How do scientists know what kind of weather is coming -- and how can patterns help them figure it out?" Take guesses without confirming.
Follow-up: "What makes you think that?"
Transition: "Let's look outside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ENGAGE (5 min)
Push for specific over vague: "thick dark clouds low in the sky" beats "cloudy."
Follow-up: "What makes you say that?"
Transition: "Let's learn the words scientists use for exactly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CLUSTER 1 (2 min)
Take guesses before confirming.
Follow-up: "Was your guess close?"
Transition: "Now the words for measuring and predicting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CLUSTER 2 (2 min)
Take guesses before confirming.
Follow-up: "Which of these six words connects most to what you noticed outside?"
Transition: "Let's see what scientists actually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DISCOVERY-FIRST (3 min)
Let students guess before confirming: temperature, clouds, precipitation, wind.
Follow-up: "Which of the four did you notice outside earlier? Which did you miss?"
Transition: "One rainy day isn't a pattern -- let's look at a whole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(4 min)
This is exactly what meteorologists do -- read real data and search for patterns.
Anticipated: cloudy + gusty days had storms; clear/partly-cloudy days were calm.
Follow-up: "What pattern would you expect to continue?"
Transition: "Now let's separate weather from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(3 min)
Let students propose the difference before confirming: weather = short-term/right-now; climate = long-term pattern.
Follow-up: "Which one would take years of data to know for sure?"
Transition: "Let's put five weather conditions together in one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(4 min)
Reveal Sunny, Partly Cloudy, Overcast, Rainy, Stormy after students guess from the descriptions.
Follow-up: "What order would these normally happen in before a storm?"
Transition: "Let's name the big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(2-3 min)
Have students share their own version first, then compare.
Follow-up: "Who said something close to this?"
Transition: "Let's see why predictions really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REASONING REHEARSAL #1 (5 min) -- mirrors the exact Part B frame (What did you observe? / What does that tell you? / Why do you think that?).
Anticipated: predicting storms early can save lives.
Follow-up: "Can you think of a specific situation where a prediction protected someone?"
Transition: "Let's start your own weather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EXPLORE (3 min)
Have students set up their log page now.
Transition: "Now record today's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EXPLORE (5 min)
This directly rehearses the Part A skill (labeling the four weather measurements) using real, current data.
Follow-up: "Which of the four was hardest to describe specifically?"
Transition: "Now draw and predict."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EXPLORE (5 min)
This rehearses Part C (labeled sky sketch) and previews the weather/climate distinction from Part B.
Follow-up: "What clue from today led to your prediction?"
Transition: "Let's talk through what patterns you're starting to notice."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REASONING REHEARSAL #2 (5 min)
Second live rehearsal of the same reasoning frame, now applied to students' own real weather data.
Follow-up: "What would change your prediction?"
Transition: "Quick self-check before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Q1 (1-2 min)
Give silent think time before revealing.
Follow-up: "What made you notice that?"
Transition: "One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Q1 REVEAL (1 min)
Follow-up: "How is this like the weather vs. climate comparison we discussed?"
Transition: "Let's try one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Q2 (1-2 min)
Give silent think time before revealing.
Follow-up: "What's different about the other two options?"
Transition: "Let's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Q2 REVEAL (1 min)
Follow-up: "How is this like our own data table from earlier?"
Transition: "Now let's preview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ASSIGNMENT PREVIEW -- PART A (2 min)
This was rehearsed live during the interactive model slide.
Exact wording from the HTML; do not paraphrase.
Transition: "Part B is the reasoning we've already practiced twice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ASSIGNMENT PREVIEW -- PART B (2 min)
We already rehearsed this exact 3-part frame twice (the lightning fact, and our own weather log). Point that out to students explicitly.
Transition: "Last part -- your labeled sky sketch."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ASSIGNMENT PREVIEW -- PART C (1 min)
Students already drew this during the investigation -- this is a check-and-polish step.
Transition: "Let's wrap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(1 min)
Recap: notice -&gt; measure -&gt; find pattern -&gt; weather vs climate -&gt; reasoning (twice) -&gt; self-check.
Preview 2.02 briefly. Dismiss.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1C42"/>
          </a:solidFill>
          <a:ln/>
        </p:spPr>
      </p:sp>
      <p:sp>
        <p:nvSpPr>
          <p:cNvPr id="3" name="Shape 1"/>
          <p:cNvSpPr/>
          <p:nvPr/>
        </p:nvSpPr>
        <p:spPr>
          <a:xfrm>
            <a:off x="0" y="0"/>
            <a:ext cx="9144000" cy="5148072"/>
          </a:xfrm>
          <a:prstGeom prst="rect">
            <a:avLst/>
          </a:prstGeom>
          <a:solidFill>
            <a:srgbClr val="1A2D5A">
              <a:alpha val="45000"/>
            </a:srgbClr>
          </a:solidFill>
          <a:ln/>
        </p:spPr>
      </p:sp>
      <p:sp>
        <p:nvSpPr>
          <p:cNvPr id="4" name="Shape 2"/>
          <p:cNvSpPr/>
          <p:nvPr/>
        </p:nvSpPr>
        <p:spPr>
          <a:xfrm>
            <a:off x="548640" y="457200"/>
            <a:ext cx="3291840" cy="457200"/>
          </a:xfrm>
          <a:prstGeom prst="roundRect">
            <a:avLst>
              <a:gd name="adj" fmla="val 50000"/>
            </a:avLst>
          </a:prstGeom>
          <a:solidFill>
            <a:srgbClr val="F57C00"/>
          </a:solidFill>
          <a:ln/>
        </p:spPr>
      </p:sp>
      <p:sp>
        <p:nvSpPr>
          <p:cNvPr id="5" name="Text 3"/>
          <p:cNvSpPr/>
          <p:nvPr/>
        </p:nvSpPr>
        <p:spPr>
          <a:xfrm>
            <a:off x="548640" y="457200"/>
            <a:ext cx="329184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LESSON 2.01</a:t>
            </a:r>
            <a:endParaRPr lang="en-US" sz="1500" dirty="0"/>
          </a:p>
        </p:txBody>
      </p:sp>
      <p:sp>
        <p:nvSpPr>
          <p:cNvPr id="6" name="Text 4"/>
          <p:cNvSpPr/>
          <p:nvPr/>
        </p:nvSpPr>
        <p:spPr>
          <a:xfrm>
            <a:off x="548640" y="1371600"/>
            <a:ext cx="8046720" cy="1005840"/>
          </a:xfrm>
          <a:prstGeom prst="rect">
            <a:avLst/>
          </a:prstGeom>
          <a:noFill/>
          <a:ln/>
        </p:spPr>
        <p:txBody>
          <a:bodyPr wrap="square" rtlCol="0" anchor="t"/>
          <a:lstStyle/>
          <a:p>
            <a:pPr indent="0" marL="0">
              <a:buNone/>
            </a:pPr>
            <a:r>
              <a:rPr lang="en-US" sz="2900" b="1" dirty="0">
                <a:solidFill>
                  <a:srgbClr val="FFFFFF"/>
                </a:solidFill>
                <a:latin typeface="Cambria" pitchFamily="34" charset="0"/>
                <a:ea typeface="Cambria" pitchFamily="34" charset="-122"/>
                <a:cs typeface="Cambria" pitchFamily="34" charset="-120"/>
              </a:rPr>
              <a:t>What Patterns Do We See in Weather?</a:t>
            </a:r>
            <a:endParaRPr lang="en-US" sz="2900" dirty="0"/>
          </a:p>
        </p:txBody>
      </p:sp>
      <p:sp>
        <p:nvSpPr>
          <p:cNvPr id="7" name="Text 5"/>
          <p:cNvSpPr/>
          <p:nvPr/>
        </p:nvSpPr>
        <p:spPr>
          <a:xfrm>
            <a:off x="548640" y="2377440"/>
            <a:ext cx="8046720" cy="365760"/>
          </a:xfrm>
          <a:prstGeom prst="rect">
            <a:avLst/>
          </a:prstGeom>
          <a:noFill/>
          <a:ln/>
        </p:spPr>
        <p:txBody>
          <a:bodyPr wrap="square" rtlCol="0" anchor="ctr"/>
          <a:lstStyle/>
          <a:p>
            <a:pPr indent="0" marL="0">
              <a:buNone/>
            </a:pPr>
            <a:r>
              <a:rPr lang="en-US" sz="1400" b="1" dirty="0">
                <a:solidFill>
                  <a:srgbClr val="55C8E8"/>
                </a:solidFill>
                <a:latin typeface="Calibri" pitchFamily="34" charset="0"/>
                <a:ea typeface="Calibri" pitchFamily="34" charset="-122"/>
                <a:cs typeface="Calibri" pitchFamily="34" charset="-120"/>
              </a:rPr>
              <a:t>Unit 2 · Weather, Climate &amp; Earth Systems   |   NGSS 3-ESS2-1</a:t>
            </a:r>
            <a:endParaRPr lang="en-US" sz="1400" dirty="0"/>
          </a:p>
        </p:txBody>
      </p:sp>
      <p:sp>
        <p:nvSpPr>
          <p:cNvPr id="8" name="Shape 6"/>
          <p:cNvSpPr/>
          <p:nvPr/>
        </p:nvSpPr>
        <p:spPr>
          <a:xfrm>
            <a:off x="548640" y="2880360"/>
            <a:ext cx="8046720" cy="1691640"/>
          </a:xfrm>
          <a:prstGeom prst="roundRect">
            <a:avLst>
              <a:gd name="adj" fmla="val 4324"/>
            </a:avLst>
          </a:prstGeom>
          <a:solidFill>
            <a:srgbClr val="FFF3E0"/>
          </a:solidFill>
          <a:ln w="25400">
            <a:solidFill>
              <a:srgbClr val="F9A825"/>
            </a:solidFill>
            <a:prstDash val="dash"/>
          </a:ln>
        </p:spPr>
      </p:sp>
      <p:sp>
        <p:nvSpPr>
          <p:cNvPr id="9" name="Text 7"/>
          <p:cNvSpPr/>
          <p:nvPr/>
        </p:nvSpPr>
        <p:spPr>
          <a:xfrm>
            <a:off x="731520" y="2971800"/>
            <a:ext cx="7680960" cy="256032"/>
          </a:xfrm>
          <a:prstGeom prst="rect">
            <a:avLst/>
          </a:prstGeom>
          <a:noFill/>
          <a:ln/>
        </p:spPr>
        <p:txBody>
          <a:bodyPr wrap="square" rtlCol="0" anchor="ctr"/>
          <a:lstStyle/>
          <a:p>
            <a:pPr indent="0" marL="0">
              <a:buNone/>
            </a:pPr>
            <a:r>
              <a:rPr lang="en-US" sz="1100" b="1" spc="100" kern="0" dirty="0">
                <a:solidFill>
                  <a:srgbClr val="E65100"/>
                </a:solidFill>
                <a:latin typeface="Calibri" pitchFamily="34" charset="0"/>
                <a:ea typeface="Calibri" pitchFamily="34" charset="-122"/>
                <a:cs typeface="Calibri" pitchFamily="34" charset="-120"/>
              </a:rPr>
              <a:t>IMAGE NEEDED</a:t>
            </a:r>
            <a:endParaRPr lang="en-US" sz="1100" dirty="0"/>
          </a:p>
        </p:txBody>
      </p:sp>
      <p:sp>
        <p:nvSpPr>
          <p:cNvPr id="10" name="Text 8"/>
          <p:cNvSpPr/>
          <p:nvPr/>
        </p:nvSpPr>
        <p:spPr>
          <a:xfrm>
            <a:off x="731520" y="3246120"/>
            <a:ext cx="7680960" cy="978408"/>
          </a:xfrm>
          <a:prstGeom prst="rect">
            <a:avLst/>
          </a:prstGeom>
          <a:noFill/>
          <a:ln/>
        </p:spPr>
        <p:txBody>
          <a:bodyPr wrap="square" rtlCol="0" anchor="t"/>
          <a:lstStyle/>
          <a:p>
            <a:pPr indent="0" marL="0">
              <a:buNone/>
            </a:pPr>
            <a:r>
              <a:rPr lang="en-US" sz="1100" dirty="0">
                <a:solidFill>
                  <a:srgbClr val="5A4D3E"/>
                </a:solidFill>
                <a:latin typeface="Calibri" pitchFamily="34" charset="0"/>
                <a:ea typeface="Calibri" pitchFamily="34" charset="-122"/>
                <a:cs typeface="Calibri" pitchFamily="34" charset="-120"/>
              </a:rPr>
              <a:t>Close-up outdoor photo of a glass thermometer on a wooden post and a clear rain gauge on a stake, green grass, blue sky, natural daylight, photorealistic.</a:t>
            </a:r>
            <a:endParaRPr lang="en-US" sz="1100" dirty="0"/>
          </a:p>
        </p:txBody>
      </p:sp>
      <p:sp>
        <p:nvSpPr>
          <p:cNvPr id="11" name="Text 9"/>
          <p:cNvSpPr/>
          <p:nvPr/>
        </p:nvSpPr>
        <p:spPr>
          <a:xfrm>
            <a:off x="731520" y="4279392"/>
            <a:ext cx="7680960" cy="237744"/>
          </a:xfrm>
          <a:prstGeom prst="rect">
            <a:avLst/>
          </a:prstGeom>
          <a:noFill/>
          <a:ln/>
        </p:spPr>
        <p:txBody>
          <a:bodyPr wrap="square" rtlCol="0" anchor="ctr"/>
          <a:lstStyle/>
          <a:p>
            <a:pPr indent="0" marL="0">
              <a:buNone/>
            </a:pPr>
            <a:r>
              <a:rPr lang="en-US" sz="950" i="1" dirty="0">
                <a:solidFill>
                  <a:srgbClr val="9A8E82"/>
                </a:solidFill>
                <a:latin typeface="Calibri" pitchFamily="34" charset="0"/>
                <a:ea typeface="Calibri" pitchFamily="34" charset="-122"/>
                <a:cs typeface="Calibri" pitchFamily="34" charset="-120"/>
              </a:rPr>
              <a:t>Save as: 2-01-weather-instruments.png</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ENGAGE · NOTICE &amp; WONDER</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Look Outside Right Now</a:t>
            </a:r>
            <a:endParaRPr lang="en-US" sz="2100" dirty="0"/>
          </a:p>
        </p:txBody>
      </p:sp>
      <p:sp>
        <p:nvSpPr>
          <p:cNvPr id="7" name="Shape 5"/>
          <p:cNvSpPr/>
          <p:nvPr/>
        </p:nvSpPr>
        <p:spPr>
          <a:xfrm>
            <a:off x="320040" y="960120"/>
            <a:ext cx="8503920" cy="902970"/>
          </a:xfrm>
          <a:prstGeom prst="roundRect">
            <a:avLst>
              <a:gd name="adj" fmla="val 8101"/>
            </a:avLst>
          </a:prstGeom>
          <a:solidFill>
            <a:srgbClr val="FFF9E8"/>
          </a:solidFill>
          <a:ln w="19050">
            <a:solidFill>
              <a:srgbClr val="F9A825"/>
            </a:solidFill>
            <a:prstDash val="solid"/>
          </a:ln>
        </p:spPr>
      </p:sp>
      <p:sp>
        <p:nvSpPr>
          <p:cNvPr id="8" name="Text 6"/>
          <p:cNvSpPr/>
          <p:nvPr/>
        </p:nvSpPr>
        <p:spPr>
          <a:xfrm>
            <a:off x="502920" y="103327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9" name="Text 7"/>
          <p:cNvSpPr/>
          <p:nvPr/>
        </p:nvSpPr>
        <p:spPr>
          <a:xfrm>
            <a:off x="502920" y="125272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Look outside a window or step to the door. What does the sky look like? What does the air feel like? What's happening out there right now?</a:t>
            </a:r>
            <a:endParaRPr lang="en-US" sz="1300" dirty="0"/>
          </a:p>
        </p:txBody>
      </p:sp>
      <p:sp>
        <p:nvSpPr>
          <p:cNvPr id="10" name="Shape 8"/>
          <p:cNvSpPr/>
          <p:nvPr/>
        </p:nvSpPr>
        <p:spPr>
          <a:xfrm>
            <a:off x="320040" y="2000250"/>
            <a:ext cx="8503920" cy="502920"/>
          </a:xfrm>
          <a:prstGeom prst="roundRect">
            <a:avLst>
              <a:gd name="adj" fmla="val 14545"/>
            </a:avLst>
          </a:prstGeom>
          <a:solidFill>
            <a:srgbClr val="FFF3E0"/>
          </a:solidFill>
          <a:ln w="19050">
            <a:solidFill>
              <a:srgbClr val="F57C00"/>
            </a:solidFill>
            <a:prstDash val="solid"/>
          </a:ln>
        </p:spPr>
      </p:sp>
      <p:sp>
        <p:nvSpPr>
          <p:cNvPr id="11" name="Text 9"/>
          <p:cNvSpPr/>
          <p:nvPr/>
        </p:nvSpPr>
        <p:spPr>
          <a:xfrm>
            <a:off x="502920" y="205511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2" name="Text 10"/>
          <p:cNvSpPr/>
          <p:nvPr/>
        </p:nvSpPr>
        <p:spPr>
          <a:xfrm>
            <a:off x="502920" y="221970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Chat: 3 specific things you notice about today's weather -- not just "cloudy," but what KIND of clouds.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VOCABULARY · GUESS BEFORE THE REVEAL</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Word Wall: Weather Basics</a:t>
            </a:r>
            <a:endParaRPr lang="en-US" sz="2100" dirty="0"/>
          </a:p>
        </p:txBody>
      </p:sp>
      <p:sp>
        <p:nvSpPr>
          <p:cNvPr id="7" name="Shape 5"/>
          <p:cNvSpPr/>
          <p:nvPr/>
        </p:nvSpPr>
        <p:spPr>
          <a:xfrm>
            <a:off x="320040" y="914400"/>
            <a:ext cx="8503920" cy="902970"/>
          </a:xfrm>
          <a:prstGeom prst="roundRect">
            <a:avLst>
              <a:gd name="adj" fmla="val 8101"/>
            </a:avLst>
          </a:prstGeom>
          <a:solidFill>
            <a:srgbClr val="FFF9E8"/>
          </a:solidFill>
          <a:ln w="19050">
            <a:solidFill>
              <a:srgbClr val="F9A825"/>
            </a:solidFill>
            <a:prstDash val="solid"/>
          </a:ln>
        </p:spPr>
      </p:sp>
      <p:sp>
        <p:nvSpPr>
          <p:cNvPr id="8" name="Text 6"/>
          <p:cNvSpPr/>
          <p:nvPr/>
        </p:nvSpPr>
        <p:spPr>
          <a:xfrm>
            <a:off x="502920" y="98755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9" name="Text 7"/>
          <p:cNvSpPr/>
          <p:nvPr/>
        </p:nvSpPr>
        <p:spPr>
          <a:xfrm>
            <a:off x="502920" y="120700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think we call what's happening in the sky RIGHT NOW? What do you wonder we call the usual pattern for a place over many years?</a:t>
            </a:r>
            <a:endParaRPr lang="en-US" sz="1300" dirty="0"/>
          </a:p>
        </p:txBody>
      </p:sp>
      <p:sp>
        <p:nvSpPr>
          <p:cNvPr id="10" name="Shape 8"/>
          <p:cNvSpPr/>
          <p:nvPr/>
        </p:nvSpPr>
        <p:spPr>
          <a:xfrm>
            <a:off x="320040" y="1954530"/>
            <a:ext cx="2651760" cy="1828800"/>
          </a:xfrm>
          <a:prstGeom prst="roundRect">
            <a:avLst>
              <a:gd name="adj" fmla="val 5000"/>
            </a:avLst>
          </a:prstGeom>
          <a:solidFill>
            <a:srgbClr val="FFFFFF"/>
          </a:solidFill>
          <a:ln w="31750">
            <a:solidFill>
              <a:srgbClr val="52B788"/>
            </a:solidFill>
            <a:prstDash val="solid"/>
          </a:ln>
        </p:spPr>
      </p:sp>
      <p:sp>
        <p:nvSpPr>
          <p:cNvPr id="11" name="Text 9"/>
          <p:cNvSpPr/>
          <p:nvPr/>
        </p:nvSpPr>
        <p:spPr>
          <a:xfrm>
            <a:off x="320040" y="2091690"/>
            <a:ext cx="2651760" cy="365760"/>
          </a:xfrm>
          <a:prstGeom prst="rect">
            <a:avLst/>
          </a:prstGeom>
          <a:noFill/>
          <a:ln/>
        </p:spPr>
        <p:txBody>
          <a:bodyPr wrap="square" rtlCol="0" anchor="ctr"/>
          <a:lstStyle/>
          <a:p>
            <a:pPr algn="ctr" indent="0" marL="0">
              <a:buNone/>
            </a:pPr>
            <a:r>
              <a:rPr lang="en-US" sz="1500" b="1" dirty="0">
                <a:solidFill>
                  <a:srgbClr val="1B4332"/>
                </a:solidFill>
                <a:latin typeface="Cambria" pitchFamily="34" charset="0"/>
                <a:ea typeface="Cambria" pitchFamily="34" charset="-122"/>
                <a:cs typeface="Cambria" pitchFamily="34" charset="-120"/>
              </a:rPr>
              <a:t>weather</a:t>
            </a:r>
            <a:endParaRPr lang="en-US" sz="1500" dirty="0"/>
          </a:p>
        </p:txBody>
      </p:sp>
      <p:sp>
        <p:nvSpPr>
          <p:cNvPr id="12" name="Shape 10"/>
          <p:cNvSpPr/>
          <p:nvPr/>
        </p:nvSpPr>
        <p:spPr>
          <a:xfrm>
            <a:off x="457200" y="2548890"/>
            <a:ext cx="2377440" cy="1097280"/>
          </a:xfrm>
          <a:prstGeom prst="rect">
            <a:avLst/>
          </a:prstGeom>
          <a:solidFill>
            <a:srgbClr val="1B4332"/>
          </a:solidFill>
          <a:ln/>
        </p:spPr>
      </p:sp>
      <p:sp>
        <p:nvSpPr>
          <p:cNvPr id="13" name="Text 11"/>
          <p:cNvSpPr/>
          <p:nvPr/>
        </p:nvSpPr>
        <p:spPr>
          <a:xfrm>
            <a:off x="548640" y="2612898"/>
            <a:ext cx="2194560" cy="969264"/>
          </a:xfrm>
          <a:prstGeom prst="rect">
            <a:avLst/>
          </a:prstGeom>
          <a:noFill/>
          <a:ln/>
        </p:spPr>
        <p:txBody>
          <a:bodyPr wrap="square"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What the atmosphere is like outside at a certain place and time.</a:t>
            </a:r>
            <a:endParaRPr lang="en-US" sz="1050" dirty="0"/>
          </a:p>
        </p:txBody>
      </p:sp>
      <p:sp>
        <p:nvSpPr>
          <p:cNvPr id="14" name="Shape 12"/>
          <p:cNvSpPr/>
          <p:nvPr/>
        </p:nvSpPr>
        <p:spPr>
          <a:xfrm>
            <a:off x="3108960" y="1954530"/>
            <a:ext cx="2651760" cy="1828800"/>
          </a:xfrm>
          <a:prstGeom prst="roundRect">
            <a:avLst>
              <a:gd name="adj" fmla="val 5000"/>
            </a:avLst>
          </a:prstGeom>
          <a:solidFill>
            <a:srgbClr val="FFFFFF"/>
          </a:solidFill>
          <a:ln w="31750">
            <a:solidFill>
              <a:srgbClr val="0288D1"/>
            </a:solidFill>
            <a:prstDash val="solid"/>
          </a:ln>
        </p:spPr>
      </p:sp>
      <p:sp>
        <p:nvSpPr>
          <p:cNvPr id="15" name="Text 13"/>
          <p:cNvSpPr/>
          <p:nvPr/>
        </p:nvSpPr>
        <p:spPr>
          <a:xfrm>
            <a:off x="3108960" y="2091690"/>
            <a:ext cx="2651760" cy="365760"/>
          </a:xfrm>
          <a:prstGeom prst="rect">
            <a:avLst/>
          </a:prstGeom>
          <a:noFill/>
          <a:ln/>
        </p:spPr>
        <p:txBody>
          <a:bodyPr wrap="square" rtlCol="0" anchor="ctr"/>
          <a:lstStyle/>
          <a:p>
            <a:pPr algn="ctr" indent="0" marL="0">
              <a:buNone/>
            </a:pPr>
            <a:r>
              <a:rPr lang="en-US" sz="1500" b="1" dirty="0">
                <a:solidFill>
                  <a:srgbClr val="1B4332"/>
                </a:solidFill>
                <a:latin typeface="Cambria" pitchFamily="34" charset="0"/>
                <a:ea typeface="Cambria" pitchFamily="34" charset="-122"/>
                <a:cs typeface="Cambria" pitchFamily="34" charset="-120"/>
              </a:rPr>
              <a:t>climate</a:t>
            </a:r>
            <a:endParaRPr lang="en-US" sz="1500" dirty="0"/>
          </a:p>
        </p:txBody>
      </p:sp>
      <p:sp>
        <p:nvSpPr>
          <p:cNvPr id="16" name="Shape 14"/>
          <p:cNvSpPr/>
          <p:nvPr/>
        </p:nvSpPr>
        <p:spPr>
          <a:xfrm>
            <a:off x="3246120" y="2548890"/>
            <a:ext cx="2377440" cy="1097280"/>
          </a:xfrm>
          <a:prstGeom prst="rect">
            <a:avLst/>
          </a:prstGeom>
          <a:solidFill>
            <a:srgbClr val="1B4332"/>
          </a:solidFill>
          <a:ln/>
        </p:spPr>
      </p:sp>
      <p:sp>
        <p:nvSpPr>
          <p:cNvPr id="17" name="Text 15"/>
          <p:cNvSpPr/>
          <p:nvPr/>
        </p:nvSpPr>
        <p:spPr>
          <a:xfrm>
            <a:off x="3337560" y="2612898"/>
            <a:ext cx="2194560" cy="969264"/>
          </a:xfrm>
          <a:prstGeom prst="rect">
            <a:avLst/>
          </a:prstGeom>
          <a:noFill/>
          <a:ln/>
        </p:spPr>
        <p:txBody>
          <a:bodyPr wrap="square"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The usual weather pattern for an area over many, many years.</a:t>
            </a:r>
            <a:endParaRPr lang="en-US" sz="1050" dirty="0"/>
          </a:p>
        </p:txBody>
      </p:sp>
      <p:sp>
        <p:nvSpPr>
          <p:cNvPr id="18" name="Shape 16"/>
          <p:cNvSpPr/>
          <p:nvPr/>
        </p:nvSpPr>
        <p:spPr>
          <a:xfrm>
            <a:off x="5897880" y="1954530"/>
            <a:ext cx="2651760" cy="1828800"/>
          </a:xfrm>
          <a:prstGeom prst="roundRect">
            <a:avLst>
              <a:gd name="adj" fmla="val 5000"/>
            </a:avLst>
          </a:prstGeom>
          <a:solidFill>
            <a:srgbClr val="FFFFFF"/>
          </a:solidFill>
          <a:ln w="31750">
            <a:solidFill>
              <a:srgbClr val="F57C00"/>
            </a:solidFill>
            <a:prstDash val="solid"/>
          </a:ln>
        </p:spPr>
      </p:sp>
      <p:sp>
        <p:nvSpPr>
          <p:cNvPr id="19" name="Text 17"/>
          <p:cNvSpPr/>
          <p:nvPr/>
        </p:nvSpPr>
        <p:spPr>
          <a:xfrm>
            <a:off x="5897880" y="2091690"/>
            <a:ext cx="2651760" cy="365760"/>
          </a:xfrm>
          <a:prstGeom prst="rect">
            <a:avLst/>
          </a:prstGeom>
          <a:noFill/>
          <a:ln/>
        </p:spPr>
        <p:txBody>
          <a:bodyPr wrap="square" rtlCol="0" anchor="ctr"/>
          <a:lstStyle/>
          <a:p>
            <a:pPr algn="ctr" indent="0" marL="0">
              <a:buNone/>
            </a:pPr>
            <a:r>
              <a:rPr lang="en-US" sz="1500" b="1" dirty="0">
                <a:solidFill>
                  <a:srgbClr val="1B4332"/>
                </a:solidFill>
                <a:latin typeface="Cambria" pitchFamily="34" charset="0"/>
                <a:ea typeface="Cambria" pitchFamily="34" charset="-122"/>
                <a:cs typeface="Cambria" pitchFamily="34" charset="-120"/>
              </a:rPr>
              <a:t>temperature</a:t>
            </a:r>
            <a:endParaRPr lang="en-US" sz="1500" dirty="0"/>
          </a:p>
        </p:txBody>
      </p:sp>
      <p:sp>
        <p:nvSpPr>
          <p:cNvPr id="20" name="Shape 18"/>
          <p:cNvSpPr/>
          <p:nvPr/>
        </p:nvSpPr>
        <p:spPr>
          <a:xfrm>
            <a:off x="6035040" y="2548890"/>
            <a:ext cx="2377440" cy="1097280"/>
          </a:xfrm>
          <a:prstGeom prst="rect">
            <a:avLst/>
          </a:prstGeom>
          <a:solidFill>
            <a:srgbClr val="1B4332"/>
          </a:solidFill>
          <a:ln/>
        </p:spPr>
      </p:sp>
      <p:sp>
        <p:nvSpPr>
          <p:cNvPr id="21" name="Text 19"/>
          <p:cNvSpPr/>
          <p:nvPr/>
        </p:nvSpPr>
        <p:spPr>
          <a:xfrm>
            <a:off x="6126480" y="2612898"/>
            <a:ext cx="2194560" cy="969264"/>
          </a:xfrm>
          <a:prstGeom prst="rect">
            <a:avLst/>
          </a:prstGeom>
          <a:noFill/>
          <a:ln/>
        </p:spPr>
        <p:txBody>
          <a:bodyPr wrap="square"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How hot or cold the air is, measured in degrees.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VOCABULARY · GUESS BEFORE THE REVEAL</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Word Wall: Measuring &amp; Predicting</a:t>
            </a:r>
            <a:endParaRPr lang="en-US" sz="2100" dirty="0"/>
          </a:p>
        </p:txBody>
      </p:sp>
      <p:sp>
        <p:nvSpPr>
          <p:cNvPr id="7" name="Shape 5"/>
          <p:cNvSpPr/>
          <p:nvPr/>
        </p:nvSpPr>
        <p:spPr>
          <a:xfrm>
            <a:off x="320040" y="914400"/>
            <a:ext cx="8503920" cy="902970"/>
          </a:xfrm>
          <a:prstGeom prst="roundRect">
            <a:avLst>
              <a:gd name="adj" fmla="val 8101"/>
            </a:avLst>
          </a:prstGeom>
          <a:solidFill>
            <a:srgbClr val="FFF9E8"/>
          </a:solidFill>
          <a:ln w="19050">
            <a:solidFill>
              <a:srgbClr val="F9A825"/>
            </a:solidFill>
            <a:prstDash val="solid"/>
          </a:ln>
        </p:spPr>
      </p:sp>
      <p:sp>
        <p:nvSpPr>
          <p:cNvPr id="8" name="Text 6"/>
          <p:cNvSpPr/>
          <p:nvPr/>
        </p:nvSpPr>
        <p:spPr>
          <a:xfrm>
            <a:off x="502920" y="98755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9" name="Text 7"/>
          <p:cNvSpPr/>
          <p:nvPr/>
        </p:nvSpPr>
        <p:spPr>
          <a:xfrm>
            <a:off x="502920" y="120700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think we call any water falling from clouds -- rain, snow, hail? What do you wonder we call a scientist whose whole job is studying weather?</a:t>
            </a:r>
            <a:endParaRPr lang="en-US" sz="1300" dirty="0"/>
          </a:p>
        </p:txBody>
      </p:sp>
      <p:sp>
        <p:nvSpPr>
          <p:cNvPr id="10" name="Shape 8"/>
          <p:cNvSpPr/>
          <p:nvPr/>
        </p:nvSpPr>
        <p:spPr>
          <a:xfrm>
            <a:off x="320040" y="1954530"/>
            <a:ext cx="2651760" cy="1828800"/>
          </a:xfrm>
          <a:prstGeom prst="roundRect">
            <a:avLst>
              <a:gd name="adj" fmla="val 5000"/>
            </a:avLst>
          </a:prstGeom>
          <a:solidFill>
            <a:srgbClr val="FFFFFF"/>
          </a:solidFill>
          <a:ln w="31750">
            <a:solidFill>
              <a:srgbClr val="F9A825"/>
            </a:solidFill>
            <a:prstDash val="solid"/>
          </a:ln>
        </p:spPr>
      </p:sp>
      <p:sp>
        <p:nvSpPr>
          <p:cNvPr id="11" name="Text 9"/>
          <p:cNvSpPr/>
          <p:nvPr/>
        </p:nvSpPr>
        <p:spPr>
          <a:xfrm>
            <a:off x="320040" y="2091690"/>
            <a:ext cx="2651760" cy="365760"/>
          </a:xfrm>
          <a:prstGeom prst="rect">
            <a:avLst/>
          </a:prstGeom>
          <a:noFill/>
          <a:ln/>
        </p:spPr>
        <p:txBody>
          <a:bodyPr wrap="square" rtlCol="0" anchor="ctr"/>
          <a:lstStyle/>
          <a:p>
            <a:pPr algn="ctr" indent="0" marL="0">
              <a:buNone/>
            </a:pPr>
            <a:r>
              <a:rPr lang="en-US" sz="1500" b="1" dirty="0">
                <a:solidFill>
                  <a:srgbClr val="1B4332"/>
                </a:solidFill>
                <a:latin typeface="Cambria" pitchFamily="34" charset="0"/>
                <a:ea typeface="Cambria" pitchFamily="34" charset="-122"/>
                <a:cs typeface="Cambria" pitchFamily="34" charset="-120"/>
              </a:rPr>
              <a:t>precipitation</a:t>
            </a:r>
            <a:endParaRPr lang="en-US" sz="1500" dirty="0"/>
          </a:p>
        </p:txBody>
      </p:sp>
      <p:sp>
        <p:nvSpPr>
          <p:cNvPr id="12" name="Shape 10"/>
          <p:cNvSpPr/>
          <p:nvPr/>
        </p:nvSpPr>
        <p:spPr>
          <a:xfrm>
            <a:off x="457200" y="2548890"/>
            <a:ext cx="2377440" cy="1097280"/>
          </a:xfrm>
          <a:prstGeom prst="rect">
            <a:avLst/>
          </a:prstGeom>
          <a:solidFill>
            <a:srgbClr val="1B4332"/>
          </a:solidFill>
          <a:ln/>
        </p:spPr>
      </p:sp>
      <p:sp>
        <p:nvSpPr>
          <p:cNvPr id="13" name="Text 11"/>
          <p:cNvSpPr/>
          <p:nvPr/>
        </p:nvSpPr>
        <p:spPr>
          <a:xfrm>
            <a:off x="548640" y="2612898"/>
            <a:ext cx="2194560" cy="969264"/>
          </a:xfrm>
          <a:prstGeom prst="rect">
            <a:avLst/>
          </a:prstGeom>
          <a:noFill/>
          <a:ln/>
        </p:spPr>
        <p:txBody>
          <a:bodyPr wrap="square"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Any water that falls from clouds -- rain, snow, sleet, or hail.</a:t>
            </a:r>
            <a:endParaRPr lang="en-US" sz="1050" dirty="0"/>
          </a:p>
        </p:txBody>
      </p:sp>
      <p:sp>
        <p:nvSpPr>
          <p:cNvPr id="14" name="Shape 12"/>
          <p:cNvSpPr/>
          <p:nvPr/>
        </p:nvSpPr>
        <p:spPr>
          <a:xfrm>
            <a:off x="3108960" y="1954530"/>
            <a:ext cx="2651760" cy="1828800"/>
          </a:xfrm>
          <a:prstGeom prst="roundRect">
            <a:avLst>
              <a:gd name="adj" fmla="val 5000"/>
            </a:avLst>
          </a:prstGeom>
          <a:solidFill>
            <a:srgbClr val="FFFFFF"/>
          </a:solidFill>
          <a:ln w="31750">
            <a:solidFill>
              <a:srgbClr val="2D6A4F"/>
            </a:solidFill>
            <a:prstDash val="solid"/>
          </a:ln>
        </p:spPr>
      </p:sp>
      <p:sp>
        <p:nvSpPr>
          <p:cNvPr id="15" name="Text 13"/>
          <p:cNvSpPr/>
          <p:nvPr/>
        </p:nvSpPr>
        <p:spPr>
          <a:xfrm>
            <a:off x="3108960" y="2091690"/>
            <a:ext cx="2651760" cy="365760"/>
          </a:xfrm>
          <a:prstGeom prst="rect">
            <a:avLst/>
          </a:prstGeom>
          <a:noFill/>
          <a:ln/>
        </p:spPr>
        <p:txBody>
          <a:bodyPr wrap="square" rtlCol="0" anchor="ctr"/>
          <a:lstStyle/>
          <a:p>
            <a:pPr algn="ctr" indent="0" marL="0">
              <a:buNone/>
            </a:pPr>
            <a:r>
              <a:rPr lang="en-US" sz="1500" b="1" dirty="0">
                <a:solidFill>
                  <a:srgbClr val="1B4332"/>
                </a:solidFill>
                <a:latin typeface="Cambria" pitchFamily="34" charset="0"/>
                <a:ea typeface="Cambria" pitchFamily="34" charset="-122"/>
                <a:cs typeface="Cambria" pitchFamily="34" charset="-120"/>
              </a:rPr>
              <a:t>pattern</a:t>
            </a:r>
            <a:endParaRPr lang="en-US" sz="1500" dirty="0"/>
          </a:p>
        </p:txBody>
      </p:sp>
      <p:sp>
        <p:nvSpPr>
          <p:cNvPr id="16" name="Shape 14"/>
          <p:cNvSpPr/>
          <p:nvPr/>
        </p:nvSpPr>
        <p:spPr>
          <a:xfrm>
            <a:off x="3246120" y="2548890"/>
            <a:ext cx="2377440" cy="1097280"/>
          </a:xfrm>
          <a:prstGeom prst="rect">
            <a:avLst/>
          </a:prstGeom>
          <a:solidFill>
            <a:srgbClr val="1B4332"/>
          </a:solidFill>
          <a:ln/>
        </p:spPr>
      </p:sp>
      <p:sp>
        <p:nvSpPr>
          <p:cNvPr id="17" name="Text 15"/>
          <p:cNvSpPr/>
          <p:nvPr/>
        </p:nvSpPr>
        <p:spPr>
          <a:xfrm>
            <a:off x="3337560" y="2612898"/>
            <a:ext cx="2194560" cy="969264"/>
          </a:xfrm>
          <a:prstGeom prst="rect">
            <a:avLst/>
          </a:prstGeom>
          <a:noFill/>
          <a:ln/>
        </p:spPr>
        <p:txBody>
          <a:bodyPr wrap="square"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Something that happens in a predictable, repeating way.</a:t>
            </a:r>
            <a:endParaRPr lang="en-US" sz="1050" dirty="0"/>
          </a:p>
        </p:txBody>
      </p:sp>
      <p:sp>
        <p:nvSpPr>
          <p:cNvPr id="18" name="Shape 16"/>
          <p:cNvSpPr/>
          <p:nvPr/>
        </p:nvSpPr>
        <p:spPr>
          <a:xfrm>
            <a:off x="5897880" y="1954530"/>
            <a:ext cx="2651760" cy="1828800"/>
          </a:xfrm>
          <a:prstGeom prst="roundRect">
            <a:avLst>
              <a:gd name="adj" fmla="val 5000"/>
            </a:avLst>
          </a:prstGeom>
          <a:solidFill>
            <a:srgbClr val="FFFFFF"/>
          </a:solidFill>
          <a:ln w="31750">
            <a:solidFill>
              <a:srgbClr val="7B5EA7"/>
            </a:solidFill>
            <a:prstDash val="solid"/>
          </a:ln>
        </p:spPr>
      </p:sp>
      <p:sp>
        <p:nvSpPr>
          <p:cNvPr id="19" name="Text 17"/>
          <p:cNvSpPr/>
          <p:nvPr/>
        </p:nvSpPr>
        <p:spPr>
          <a:xfrm>
            <a:off x="5897880" y="2091690"/>
            <a:ext cx="2651760" cy="365760"/>
          </a:xfrm>
          <a:prstGeom prst="rect">
            <a:avLst/>
          </a:prstGeom>
          <a:noFill/>
          <a:ln/>
        </p:spPr>
        <p:txBody>
          <a:bodyPr wrap="square" rtlCol="0" anchor="ctr"/>
          <a:lstStyle/>
          <a:p>
            <a:pPr algn="ctr" indent="0" marL="0">
              <a:buNone/>
            </a:pPr>
            <a:r>
              <a:rPr lang="en-US" sz="1500" b="1" dirty="0">
                <a:solidFill>
                  <a:srgbClr val="1B4332"/>
                </a:solidFill>
                <a:latin typeface="Cambria" pitchFamily="34" charset="0"/>
                <a:ea typeface="Cambria" pitchFamily="34" charset="-122"/>
                <a:cs typeface="Cambria" pitchFamily="34" charset="-120"/>
              </a:rPr>
              <a:t>meteorologist</a:t>
            </a:r>
            <a:endParaRPr lang="en-US" sz="1500" dirty="0"/>
          </a:p>
        </p:txBody>
      </p:sp>
      <p:sp>
        <p:nvSpPr>
          <p:cNvPr id="20" name="Shape 18"/>
          <p:cNvSpPr/>
          <p:nvPr/>
        </p:nvSpPr>
        <p:spPr>
          <a:xfrm>
            <a:off x="6035040" y="2548890"/>
            <a:ext cx="2377440" cy="1097280"/>
          </a:xfrm>
          <a:prstGeom prst="rect">
            <a:avLst/>
          </a:prstGeom>
          <a:solidFill>
            <a:srgbClr val="1B4332"/>
          </a:solidFill>
          <a:ln/>
        </p:spPr>
      </p:sp>
      <p:sp>
        <p:nvSpPr>
          <p:cNvPr id="21" name="Text 19"/>
          <p:cNvSpPr/>
          <p:nvPr/>
        </p:nvSpPr>
        <p:spPr>
          <a:xfrm>
            <a:off x="6126480" y="2612898"/>
            <a:ext cx="2194560" cy="969264"/>
          </a:xfrm>
          <a:prstGeom prst="rect">
            <a:avLst/>
          </a:prstGeom>
          <a:noFill/>
          <a:ln/>
        </p:spPr>
        <p:txBody>
          <a:bodyPr wrap="square"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 scientist who studies weather and looks for patterns to predict what's next.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EXPLORE · DISCOVER IT YOURSELF</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Scientists Measure</a:t>
            </a:r>
            <a:endParaRPr lang="en-US" sz="2100" dirty="0"/>
          </a:p>
        </p:txBody>
      </p:sp>
      <p:sp>
        <p:nvSpPr>
          <p:cNvPr id="7" name="Shape 5"/>
          <p:cNvSpPr/>
          <p:nvPr/>
        </p:nvSpPr>
        <p:spPr>
          <a:xfrm>
            <a:off x="320040" y="960120"/>
            <a:ext cx="8503920" cy="902970"/>
          </a:xfrm>
          <a:prstGeom prst="roundRect">
            <a:avLst>
              <a:gd name="adj" fmla="val 8101"/>
            </a:avLst>
          </a:prstGeom>
          <a:solidFill>
            <a:srgbClr val="FFF9E8"/>
          </a:solidFill>
          <a:ln w="19050">
            <a:solidFill>
              <a:srgbClr val="F9A825"/>
            </a:solidFill>
            <a:prstDash val="solid"/>
          </a:ln>
        </p:spPr>
      </p:sp>
      <p:sp>
        <p:nvSpPr>
          <p:cNvPr id="8" name="Text 6"/>
          <p:cNvSpPr/>
          <p:nvPr/>
        </p:nvSpPr>
        <p:spPr>
          <a:xfrm>
            <a:off x="502920" y="103327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9" name="Text 7"/>
          <p:cNvSpPr/>
          <p:nvPr/>
        </p:nvSpPr>
        <p:spPr>
          <a:xfrm>
            <a:off x="502920" y="125272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Look back at what you noticed outside earlier. What do you think scientists actually measure to describe weather? What do you wonder they use to measure it?</a:t>
            </a:r>
            <a:endParaRPr lang="en-US" sz="1300" dirty="0"/>
          </a:p>
        </p:txBody>
      </p:sp>
      <p:sp>
        <p:nvSpPr>
          <p:cNvPr id="10" name="Shape 8"/>
          <p:cNvSpPr/>
          <p:nvPr/>
        </p:nvSpPr>
        <p:spPr>
          <a:xfrm>
            <a:off x="320040" y="2000250"/>
            <a:ext cx="8503920" cy="1188720"/>
          </a:xfrm>
          <a:prstGeom prst="roundRect">
            <a:avLst>
              <a:gd name="adj" fmla="val 6154"/>
            </a:avLst>
          </a:prstGeom>
          <a:solidFill>
            <a:srgbClr val="FFF3E0"/>
          </a:solidFill>
          <a:ln w="25400">
            <a:solidFill>
              <a:srgbClr val="F9A825"/>
            </a:solidFill>
            <a:prstDash val="dash"/>
          </a:ln>
        </p:spPr>
      </p:sp>
      <p:sp>
        <p:nvSpPr>
          <p:cNvPr id="11" name="Text 9"/>
          <p:cNvSpPr/>
          <p:nvPr/>
        </p:nvSpPr>
        <p:spPr>
          <a:xfrm>
            <a:off x="502920" y="2091690"/>
            <a:ext cx="8138160" cy="256032"/>
          </a:xfrm>
          <a:prstGeom prst="rect">
            <a:avLst/>
          </a:prstGeom>
          <a:noFill/>
          <a:ln/>
        </p:spPr>
        <p:txBody>
          <a:bodyPr wrap="square" rtlCol="0" anchor="ctr"/>
          <a:lstStyle/>
          <a:p>
            <a:pPr indent="0" marL="0">
              <a:buNone/>
            </a:pPr>
            <a:r>
              <a:rPr lang="en-US" sz="1100" b="1" spc="100" kern="0" dirty="0">
                <a:solidFill>
                  <a:srgbClr val="E65100"/>
                </a:solidFill>
                <a:latin typeface="Calibri" pitchFamily="34" charset="0"/>
                <a:ea typeface="Calibri" pitchFamily="34" charset="-122"/>
                <a:cs typeface="Calibri" pitchFamily="34" charset="-120"/>
              </a:rPr>
              <a:t>IMAGE NEEDED</a:t>
            </a:r>
            <a:endParaRPr lang="en-US" sz="1100" dirty="0"/>
          </a:p>
        </p:txBody>
      </p:sp>
      <p:sp>
        <p:nvSpPr>
          <p:cNvPr id="12" name="Text 10"/>
          <p:cNvSpPr/>
          <p:nvPr/>
        </p:nvSpPr>
        <p:spPr>
          <a:xfrm>
            <a:off x="502920" y="2366010"/>
            <a:ext cx="8138160" cy="475488"/>
          </a:xfrm>
          <a:prstGeom prst="rect">
            <a:avLst/>
          </a:prstGeom>
          <a:noFill/>
          <a:ln/>
        </p:spPr>
        <p:txBody>
          <a:bodyPr wrap="square" rtlCol="0" anchor="t"/>
          <a:lstStyle/>
          <a:p>
            <a:pPr indent="0" marL="0">
              <a:buNone/>
            </a:pPr>
            <a:r>
              <a:rPr lang="en-US" sz="1100" dirty="0">
                <a:solidFill>
                  <a:srgbClr val="5A4D3E"/>
                </a:solidFill>
                <a:latin typeface="Calibri" pitchFamily="34" charset="0"/>
                <a:ea typeface="Calibri" pitchFamily="34" charset="-122"/>
                <a:cs typeface="Calibri" pitchFamily="34" charset="-120"/>
              </a:rPr>
              <a:t>Close-up outdoor photo of a glass thermometer and a clear rain gauge with a wind vane visible in the background, natural daylight, photorealistic.</a:t>
            </a:r>
            <a:endParaRPr lang="en-US" sz="1100" dirty="0"/>
          </a:p>
        </p:txBody>
      </p:sp>
      <p:sp>
        <p:nvSpPr>
          <p:cNvPr id="13" name="Text 11"/>
          <p:cNvSpPr/>
          <p:nvPr/>
        </p:nvSpPr>
        <p:spPr>
          <a:xfrm>
            <a:off x="502920" y="2896362"/>
            <a:ext cx="8138160" cy="237744"/>
          </a:xfrm>
          <a:prstGeom prst="rect">
            <a:avLst/>
          </a:prstGeom>
          <a:noFill/>
          <a:ln/>
        </p:spPr>
        <p:txBody>
          <a:bodyPr wrap="square" rtlCol="0" anchor="ctr"/>
          <a:lstStyle/>
          <a:p>
            <a:pPr indent="0" marL="0">
              <a:buNone/>
            </a:pPr>
            <a:r>
              <a:rPr lang="en-US" sz="950" i="1" dirty="0">
                <a:solidFill>
                  <a:srgbClr val="9A8E82"/>
                </a:solidFill>
                <a:latin typeface="Calibri" pitchFamily="34" charset="0"/>
                <a:ea typeface="Calibri" pitchFamily="34" charset="-122"/>
                <a:cs typeface="Calibri" pitchFamily="34" charset="-120"/>
              </a:rPr>
              <a:t>Save as: 2-01-weather-instruments.png</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EXPLORE · DISCOVER IT YOURSELF</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Read the Data: One Week in Florida</a:t>
            </a:r>
            <a:endParaRPr lang="en-US" sz="2100" dirty="0"/>
          </a:p>
        </p:txBody>
      </p:sp>
      <p:sp>
        <p:nvSpPr>
          <p:cNvPr id="7" name="Shape 5"/>
          <p:cNvSpPr/>
          <p:nvPr/>
        </p:nvSpPr>
        <p:spPr>
          <a:xfrm>
            <a:off x="320040" y="914400"/>
            <a:ext cx="914400" cy="365760"/>
          </a:xfrm>
          <a:prstGeom prst="rect">
            <a:avLst/>
          </a:prstGeom>
          <a:solidFill>
            <a:srgbClr val="1B4332"/>
          </a:solidFill>
          <a:ln/>
        </p:spPr>
      </p:sp>
      <p:sp>
        <p:nvSpPr>
          <p:cNvPr id="8" name="Text 6"/>
          <p:cNvSpPr/>
          <p:nvPr/>
        </p:nvSpPr>
        <p:spPr>
          <a:xfrm>
            <a:off x="320040" y="914400"/>
            <a:ext cx="91440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Day</a:t>
            </a:r>
            <a:endParaRPr lang="en-US" sz="1100" dirty="0"/>
          </a:p>
        </p:txBody>
      </p:sp>
      <p:sp>
        <p:nvSpPr>
          <p:cNvPr id="9" name="Shape 7"/>
          <p:cNvSpPr/>
          <p:nvPr/>
        </p:nvSpPr>
        <p:spPr>
          <a:xfrm>
            <a:off x="1234440" y="914400"/>
            <a:ext cx="1371600" cy="365760"/>
          </a:xfrm>
          <a:prstGeom prst="rect">
            <a:avLst/>
          </a:prstGeom>
          <a:solidFill>
            <a:srgbClr val="1B4332"/>
          </a:solidFill>
          <a:ln/>
        </p:spPr>
      </p:sp>
      <p:sp>
        <p:nvSpPr>
          <p:cNvPr id="10" name="Text 8"/>
          <p:cNvSpPr/>
          <p:nvPr/>
        </p:nvSpPr>
        <p:spPr>
          <a:xfrm>
            <a:off x="1234440" y="914400"/>
            <a:ext cx="137160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a:t>
            </a:r>
            <a:endParaRPr lang="en-US" sz="1100" dirty="0"/>
          </a:p>
        </p:txBody>
      </p:sp>
      <p:sp>
        <p:nvSpPr>
          <p:cNvPr id="11" name="Shape 9"/>
          <p:cNvSpPr/>
          <p:nvPr/>
        </p:nvSpPr>
        <p:spPr>
          <a:xfrm>
            <a:off x="2606040" y="914400"/>
            <a:ext cx="2743200" cy="365760"/>
          </a:xfrm>
          <a:prstGeom prst="rect">
            <a:avLst/>
          </a:prstGeom>
          <a:solidFill>
            <a:srgbClr val="1B4332"/>
          </a:solidFill>
          <a:ln/>
        </p:spPr>
      </p:sp>
      <p:sp>
        <p:nvSpPr>
          <p:cNvPr id="12" name="Text 10"/>
          <p:cNvSpPr/>
          <p:nvPr/>
        </p:nvSpPr>
        <p:spPr>
          <a:xfrm>
            <a:off x="2606040" y="914400"/>
            <a:ext cx="274320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Clouds</a:t>
            </a:r>
            <a:endParaRPr lang="en-US" sz="1100" dirty="0"/>
          </a:p>
        </p:txBody>
      </p:sp>
      <p:sp>
        <p:nvSpPr>
          <p:cNvPr id="13" name="Shape 11"/>
          <p:cNvSpPr/>
          <p:nvPr/>
        </p:nvSpPr>
        <p:spPr>
          <a:xfrm>
            <a:off x="5349240" y="914400"/>
            <a:ext cx="2743200" cy="365760"/>
          </a:xfrm>
          <a:prstGeom prst="rect">
            <a:avLst/>
          </a:prstGeom>
          <a:solidFill>
            <a:srgbClr val="1B4332"/>
          </a:solidFill>
          <a:ln/>
        </p:spPr>
      </p:sp>
      <p:sp>
        <p:nvSpPr>
          <p:cNvPr id="14" name="Text 12"/>
          <p:cNvSpPr/>
          <p:nvPr/>
        </p:nvSpPr>
        <p:spPr>
          <a:xfrm>
            <a:off x="5349240" y="914400"/>
            <a:ext cx="274320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Rain / Wind</a:t>
            </a:r>
            <a:endParaRPr lang="en-US" sz="1100" dirty="0"/>
          </a:p>
        </p:txBody>
      </p:sp>
      <p:sp>
        <p:nvSpPr>
          <p:cNvPr id="15" name="Shape 13"/>
          <p:cNvSpPr/>
          <p:nvPr/>
        </p:nvSpPr>
        <p:spPr>
          <a:xfrm>
            <a:off x="320040" y="1280160"/>
            <a:ext cx="914400" cy="320040"/>
          </a:xfrm>
          <a:prstGeom prst="rect">
            <a:avLst/>
          </a:prstGeom>
          <a:solidFill>
            <a:srgbClr val="FFFFFF"/>
          </a:solidFill>
          <a:ln w="6350">
            <a:solidFill>
              <a:srgbClr val="E8DDD2"/>
            </a:solidFill>
            <a:prstDash val="solid"/>
          </a:ln>
        </p:spPr>
      </p:sp>
      <p:sp>
        <p:nvSpPr>
          <p:cNvPr id="16" name="Text 14"/>
          <p:cNvSpPr/>
          <p:nvPr/>
        </p:nvSpPr>
        <p:spPr>
          <a:xfrm>
            <a:off x="320040" y="1280160"/>
            <a:ext cx="914400" cy="320040"/>
          </a:xfrm>
          <a:prstGeom prst="rect">
            <a:avLst/>
          </a:prstGeom>
          <a:noFill/>
          <a:ln/>
        </p:spPr>
        <p:txBody>
          <a:bodyPr wrap="square" rtlCol="0" anchor="ctr"/>
          <a:lstStyle/>
          <a:p>
            <a:pPr algn="ctr" indent="0" marL="0">
              <a:buNone/>
            </a:pPr>
            <a:r>
              <a:rPr lang="en-US" sz="1000" dirty="0">
                <a:solidFill>
                  <a:srgbClr val="2B1D12"/>
                </a:solidFill>
                <a:latin typeface="Calibri" pitchFamily="34" charset="0"/>
                <a:ea typeface="Calibri" pitchFamily="34" charset="-122"/>
                <a:cs typeface="Calibri" pitchFamily="34" charset="-120"/>
              </a:rPr>
              <a:t>Mon</a:t>
            </a:r>
            <a:endParaRPr lang="en-US" sz="1000" dirty="0"/>
          </a:p>
        </p:txBody>
      </p:sp>
      <p:sp>
        <p:nvSpPr>
          <p:cNvPr id="17" name="Shape 15"/>
          <p:cNvSpPr/>
          <p:nvPr/>
        </p:nvSpPr>
        <p:spPr>
          <a:xfrm>
            <a:off x="1234440" y="1280160"/>
            <a:ext cx="1371600" cy="320040"/>
          </a:xfrm>
          <a:prstGeom prst="rect">
            <a:avLst/>
          </a:prstGeom>
          <a:solidFill>
            <a:srgbClr val="FFFFFF"/>
          </a:solidFill>
          <a:ln w="6350">
            <a:solidFill>
              <a:srgbClr val="E8DDD2"/>
            </a:solidFill>
            <a:prstDash val="solid"/>
          </a:ln>
        </p:spPr>
      </p:sp>
      <p:sp>
        <p:nvSpPr>
          <p:cNvPr id="18" name="Text 16"/>
          <p:cNvSpPr/>
          <p:nvPr/>
        </p:nvSpPr>
        <p:spPr>
          <a:xfrm>
            <a:off x="1234440" y="1280160"/>
            <a:ext cx="1371600" cy="320040"/>
          </a:xfrm>
          <a:prstGeom prst="rect">
            <a:avLst/>
          </a:prstGeom>
          <a:noFill/>
          <a:ln/>
        </p:spPr>
        <p:txBody>
          <a:bodyPr wrap="square" rtlCol="0" anchor="ctr"/>
          <a:lstStyle/>
          <a:p>
            <a:pPr algn="ctr" indent="0" marL="0">
              <a:buNone/>
            </a:pPr>
            <a:r>
              <a:rPr lang="en-US" sz="1000" dirty="0">
                <a:solidFill>
                  <a:srgbClr val="2B1D12"/>
                </a:solidFill>
                <a:latin typeface="Calibri" pitchFamily="34" charset="0"/>
                <a:ea typeface="Calibri" pitchFamily="34" charset="-122"/>
                <a:cs typeface="Calibri" pitchFamily="34" charset="-120"/>
              </a:rPr>
              <a:t>78°F</a:t>
            </a:r>
            <a:endParaRPr lang="en-US" sz="1000" dirty="0"/>
          </a:p>
        </p:txBody>
      </p:sp>
      <p:sp>
        <p:nvSpPr>
          <p:cNvPr id="19" name="Shape 17"/>
          <p:cNvSpPr/>
          <p:nvPr/>
        </p:nvSpPr>
        <p:spPr>
          <a:xfrm>
            <a:off x="2606040" y="1280160"/>
            <a:ext cx="2743200" cy="320040"/>
          </a:xfrm>
          <a:prstGeom prst="rect">
            <a:avLst/>
          </a:prstGeom>
          <a:solidFill>
            <a:srgbClr val="FFFFFF"/>
          </a:solidFill>
          <a:ln w="6350">
            <a:solidFill>
              <a:srgbClr val="E8DDD2"/>
            </a:solidFill>
            <a:prstDash val="solid"/>
          </a:ln>
        </p:spPr>
      </p:sp>
      <p:sp>
        <p:nvSpPr>
          <p:cNvPr id="20" name="Text 18"/>
          <p:cNvSpPr/>
          <p:nvPr/>
        </p:nvSpPr>
        <p:spPr>
          <a:xfrm>
            <a:off x="2606040" y="1280160"/>
            <a:ext cx="2743200" cy="320040"/>
          </a:xfrm>
          <a:prstGeom prst="rect">
            <a:avLst/>
          </a:prstGeom>
          <a:noFill/>
          <a:ln/>
        </p:spPr>
        <p:txBody>
          <a:bodyPr wrap="square" rtlCol="0" anchor="ctr"/>
          <a:lstStyle/>
          <a:p>
            <a:pPr algn="ctr" indent="0" marL="0">
              <a:buNone/>
            </a:pPr>
            <a:r>
              <a:rPr lang="en-US" sz="1000" dirty="0">
                <a:solidFill>
                  <a:srgbClr val="2B1D12"/>
                </a:solidFill>
                <a:latin typeface="Calibri" pitchFamily="34" charset="0"/>
                <a:ea typeface="Calibri" pitchFamily="34" charset="-122"/>
                <a:cs typeface="Calibri" pitchFamily="34" charset="-120"/>
              </a:rPr>
              <a:t>Clear</a:t>
            </a:r>
            <a:endParaRPr lang="en-US" sz="1000" dirty="0"/>
          </a:p>
        </p:txBody>
      </p:sp>
      <p:sp>
        <p:nvSpPr>
          <p:cNvPr id="21" name="Shape 19"/>
          <p:cNvSpPr/>
          <p:nvPr/>
        </p:nvSpPr>
        <p:spPr>
          <a:xfrm>
            <a:off x="5349240" y="1280160"/>
            <a:ext cx="2743200" cy="320040"/>
          </a:xfrm>
          <a:prstGeom prst="rect">
            <a:avLst/>
          </a:prstGeom>
          <a:solidFill>
            <a:srgbClr val="FFFFFF"/>
          </a:solidFill>
          <a:ln w="6350">
            <a:solidFill>
              <a:srgbClr val="E8DDD2"/>
            </a:solidFill>
            <a:prstDash val="solid"/>
          </a:ln>
        </p:spPr>
      </p:sp>
      <p:sp>
        <p:nvSpPr>
          <p:cNvPr id="22" name="Text 20"/>
          <p:cNvSpPr/>
          <p:nvPr/>
        </p:nvSpPr>
        <p:spPr>
          <a:xfrm>
            <a:off x="5349240" y="1280160"/>
            <a:ext cx="2743200" cy="320040"/>
          </a:xfrm>
          <a:prstGeom prst="rect">
            <a:avLst/>
          </a:prstGeom>
          <a:noFill/>
          <a:ln/>
        </p:spPr>
        <p:txBody>
          <a:bodyPr wrap="square" rtlCol="0" anchor="ctr"/>
          <a:lstStyle/>
          <a:p>
            <a:pPr algn="ctr" indent="0" marL="0">
              <a:buNone/>
            </a:pPr>
            <a:r>
              <a:rPr lang="en-US" sz="1000" dirty="0">
                <a:solidFill>
                  <a:srgbClr val="2B1D12"/>
                </a:solidFill>
                <a:latin typeface="Calibri" pitchFamily="34" charset="0"/>
                <a:ea typeface="Calibri" pitchFamily="34" charset="-122"/>
                <a:cs typeface="Calibri" pitchFamily="34" charset="-120"/>
              </a:rPr>
              <a:t>Calm</a:t>
            </a:r>
            <a:endParaRPr lang="en-US" sz="1000" dirty="0"/>
          </a:p>
        </p:txBody>
      </p:sp>
      <p:sp>
        <p:nvSpPr>
          <p:cNvPr id="23" name="Shape 21"/>
          <p:cNvSpPr/>
          <p:nvPr/>
        </p:nvSpPr>
        <p:spPr>
          <a:xfrm>
            <a:off x="320040" y="1600200"/>
            <a:ext cx="914400" cy="320040"/>
          </a:xfrm>
          <a:prstGeom prst="rect">
            <a:avLst/>
          </a:prstGeom>
          <a:solidFill>
            <a:srgbClr val="FAFAF6"/>
          </a:solidFill>
          <a:ln w="6350">
            <a:solidFill>
              <a:srgbClr val="E8DDD2"/>
            </a:solidFill>
            <a:prstDash val="solid"/>
          </a:ln>
        </p:spPr>
      </p:sp>
      <p:sp>
        <p:nvSpPr>
          <p:cNvPr id="24" name="Text 22"/>
          <p:cNvSpPr/>
          <p:nvPr/>
        </p:nvSpPr>
        <p:spPr>
          <a:xfrm>
            <a:off x="320040" y="1600200"/>
            <a:ext cx="914400" cy="320040"/>
          </a:xfrm>
          <a:prstGeom prst="rect">
            <a:avLst/>
          </a:prstGeom>
          <a:noFill/>
          <a:ln/>
        </p:spPr>
        <p:txBody>
          <a:bodyPr wrap="square" rtlCol="0" anchor="ctr"/>
          <a:lstStyle/>
          <a:p>
            <a:pPr algn="ctr" indent="0" marL="0">
              <a:buNone/>
            </a:pPr>
            <a:r>
              <a:rPr lang="en-US" sz="1000" dirty="0">
                <a:solidFill>
                  <a:srgbClr val="2B1D12"/>
                </a:solidFill>
                <a:latin typeface="Calibri" pitchFamily="34" charset="0"/>
                <a:ea typeface="Calibri" pitchFamily="34" charset="-122"/>
                <a:cs typeface="Calibri" pitchFamily="34" charset="-120"/>
              </a:rPr>
              <a:t>Tue</a:t>
            </a:r>
            <a:endParaRPr lang="en-US" sz="1000" dirty="0"/>
          </a:p>
        </p:txBody>
      </p:sp>
      <p:sp>
        <p:nvSpPr>
          <p:cNvPr id="25" name="Shape 23"/>
          <p:cNvSpPr/>
          <p:nvPr/>
        </p:nvSpPr>
        <p:spPr>
          <a:xfrm>
            <a:off x="1234440" y="1600200"/>
            <a:ext cx="1371600" cy="320040"/>
          </a:xfrm>
          <a:prstGeom prst="rect">
            <a:avLst/>
          </a:prstGeom>
          <a:solidFill>
            <a:srgbClr val="FAFAF6"/>
          </a:solidFill>
          <a:ln w="6350">
            <a:solidFill>
              <a:srgbClr val="E8DDD2"/>
            </a:solidFill>
            <a:prstDash val="solid"/>
          </a:ln>
        </p:spPr>
      </p:sp>
      <p:sp>
        <p:nvSpPr>
          <p:cNvPr id="26" name="Text 24"/>
          <p:cNvSpPr/>
          <p:nvPr/>
        </p:nvSpPr>
        <p:spPr>
          <a:xfrm>
            <a:off x="1234440" y="1600200"/>
            <a:ext cx="1371600" cy="320040"/>
          </a:xfrm>
          <a:prstGeom prst="rect">
            <a:avLst/>
          </a:prstGeom>
          <a:noFill/>
          <a:ln/>
        </p:spPr>
        <p:txBody>
          <a:bodyPr wrap="square" rtlCol="0" anchor="ctr"/>
          <a:lstStyle/>
          <a:p>
            <a:pPr algn="ctr" indent="0" marL="0">
              <a:buNone/>
            </a:pPr>
            <a:r>
              <a:rPr lang="en-US" sz="1000" dirty="0">
                <a:solidFill>
                  <a:srgbClr val="2B1D12"/>
                </a:solidFill>
                <a:latin typeface="Calibri" pitchFamily="34" charset="0"/>
                <a:ea typeface="Calibri" pitchFamily="34" charset="-122"/>
                <a:cs typeface="Calibri" pitchFamily="34" charset="-120"/>
              </a:rPr>
              <a:t>82°F</a:t>
            </a:r>
            <a:endParaRPr lang="en-US" sz="1000" dirty="0"/>
          </a:p>
        </p:txBody>
      </p:sp>
      <p:sp>
        <p:nvSpPr>
          <p:cNvPr id="27" name="Shape 25"/>
          <p:cNvSpPr/>
          <p:nvPr/>
        </p:nvSpPr>
        <p:spPr>
          <a:xfrm>
            <a:off x="2606040" y="1600200"/>
            <a:ext cx="2743200" cy="320040"/>
          </a:xfrm>
          <a:prstGeom prst="rect">
            <a:avLst/>
          </a:prstGeom>
          <a:solidFill>
            <a:srgbClr val="FAFAF6"/>
          </a:solidFill>
          <a:ln w="6350">
            <a:solidFill>
              <a:srgbClr val="E8DDD2"/>
            </a:solidFill>
            <a:prstDash val="solid"/>
          </a:ln>
        </p:spPr>
      </p:sp>
      <p:sp>
        <p:nvSpPr>
          <p:cNvPr id="28" name="Text 26"/>
          <p:cNvSpPr/>
          <p:nvPr/>
        </p:nvSpPr>
        <p:spPr>
          <a:xfrm>
            <a:off x="2606040" y="1600200"/>
            <a:ext cx="2743200" cy="320040"/>
          </a:xfrm>
          <a:prstGeom prst="rect">
            <a:avLst/>
          </a:prstGeom>
          <a:noFill/>
          <a:ln/>
        </p:spPr>
        <p:txBody>
          <a:bodyPr wrap="square" rtlCol="0" anchor="ctr"/>
          <a:lstStyle/>
          <a:p>
            <a:pPr algn="ctr" indent="0" marL="0">
              <a:buNone/>
            </a:pPr>
            <a:r>
              <a:rPr lang="en-US" sz="1000" dirty="0">
                <a:solidFill>
                  <a:srgbClr val="2B1D12"/>
                </a:solidFill>
                <a:latin typeface="Calibri" pitchFamily="34" charset="0"/>
                <a:ea typeface="Calibri" pitchFamily="34" charset="-122"/>
                <a:cs typeface="Calibri" pitchFamily="34" charset="-120"/>
              </a:rPr>
              <a:t>Partly Cloudy</a:t>
            </a:r>
            <a:endParaRPr lang="en-US" sz="1000" dirty="0"/>
          </a:p>
        </p:txBody>
      </p:sp>
      <p:sp>
        <p:nvSpPr>
          <p:cNvPr id="29" name="Shape 27"/>
          <p:cNvSpPr/>
          <p:nvPr/>
        </p:nvSpPr>
        <p:spPr>
          <a:xfrm>
            <a:off x="5349240" y="1600200"/>
            <a:ext cx="2743200" cy="320040"/>
          </a:xfrm>
          <a:prstGeom prst="rect">
            <a:avLst/>
          </a:prstGeom>
          <a:solidFill>
            <a:srgbClr val="FAFAF6"/>
          </a:solidFill>
          <a:ln w="6350">
            <a:solidFill>
              <a:srgbClr val="E8DDD2"/>
            </a:solidFill>
            <a:prstDash val="solid"/>
          </a:ln>
        </p:spPr>
      </p:sp>
      <p:sp>
        <p:nvSpPr>
          <p:cNvPr id="30" name="Text 28"/>
          <p:cNvSpPr/>
          <p:nvPr/>
        </p:nvSpPr>
        <p:spPr>
          <a:xfrm>
            <a:off x="5349240" y="1600200"/>
            <a:ext cx="2743200" cy="320040"/>
          </a:xfrm>
          <a:prstGeom prst="rect">
            <a:avLst/>
          </a:prstGeom>
          <a:noFill/>
          <a:ln/>
        </p:spPr>
        <p:txBody>
          <a:bodyPr wrap="square" rtlCol="0" anchor="ctr"/>
          <a:lstStyle/>
          <a:p>
            <a:pPr algn="ctr" indent="0" marL="0">
              <a:buNone/>
            </a:pPr>
            <a:r>
              <a:rPr lang="en-US" sz="1000" dirty="0">
                <a:solidFill>
                  <a:srgbClr val="2B1D12"/>
                </a:solidFill>
                <a:latin typeface="Calibri" pitchFamily="34" charset="0"/>
                <a:ea typeface="Calibri" pitchFamily="34" charset="-122"/>
                <a:cs typeface="Calibri" pitchFamily="34" charset="-120"/>
              </a:rPr>
              <a:t>Light rain</a:t>
            </a:r>
            <a:endParaRPr lang="en-US" sz="1000" dirty="0"/>
          </a:p>
        </p:txBody>
      </p:sp>
      <p:sp>
        <p:nvSpPr>
          <p:cNvPr id="31" name="Shape 29"/>
          <p:cNvSpPr/>
          <p:nvPr/>
        </p:nvSpPr>
        <p:spPr>
          <a:xfrm>
            <a:off x="320040" y="1920240"/>
            <a:ext cx="914400" cy="320040"/>
          </a:xfrm>
          <a:prstGeom prst="rect">
            <a:avLst/>
          </a:prstGeom>
          <a:solidFill>
            <a:srgbClr val="FFFFFF"/>
          </a:solidFill>
          <a:ln w="6350">
            <a:solidFill>
              <a:srgbClr val="E8DDD2"/>
            </a:solidFill>
            <a:prstDash val="solid"/>
          </a:ln>
        </p:spPr>
      </p:sp>
      <p:sp>
        <p:nvSpPr>
          <p:cNvPr id="32" name="Text 30"/>
          <p:cNvSpPr/>
          <p:nvPr/>
        </p:nvSpPr>
        <p:spPr>
          <a:xfrm>
            <a:off x="320040" y="1920240"/>
            <a:ext cx="914400" cy="320040"/>
          </a:xfrm>
          <a:prstGeom prst="rect">
            <a:avLst/>
          </a:prstGeom>
          <a:noFill/>
          <a:ln/>
        </p:spPr>
        <p:txBody>
          <a:bodyPr wrap="square" rtlCol="0" anchor="ctr"/>
          <a:lstStyle/>
          <a:p>
            <a:pPr algn="ctr" indent="0" marL="0">
              <a:buNone/>
            </a:pPr>
            <a:r>
              <a:rPr lang="en-US" sz="1000" dirty="0">
                <a:solidFill>
                  <a:srgbClr val="2B1D12"/>
                </a:solidFill>
                <a:latin typeface="Calibri" pitchFamily="34" charset="0"/>
                <a:ea typeface="Calibri" pitchFamily="34" charset="-122"/>
                <a:cs typeface="Calibri" pitchFamily="34" charset="-120"/>
              </a:rPr>
              <a:t>Wed</a:t>
            </a:r>
            <a:endParaRPr lang="en-US" sz="1000" dirty="0"/>
          </a:p>
        </p:txBody>
      </p:sp>
      <p:sp>
        <p:nvSpPr>
          <p:cNvPr id="33" name="Shape 31"/>
          <p:cNvSpPr/>
          <p:nvPr/>
        </p:nvSpPr>
        <p:spPr>
          <a:xfrm>
            <a:off x="1234440" y="1920240"/>
            <a:ext cx="1371600" cy="320040"/>
          </a:xfrm>
          <a:prstGeom prst="rect">
            <a:avLst/>
          </a:prstGeom>
          <a:solidFill>
            <a:srgbClr val="FFFFFF"/>
          </a:solidFill>
          <a:ln w="6350">
            <a:solidFill>
              <a:srgbClr val="E8DDD2"/>
            </a:solidFill>
            <a:prstDash val="solid"/>
          </a:ln>
        </p:spPr>
      </p:sp>
      <p:sp>
        <p:nvSpPr>
          <p:cNvPr id="34" name="Text 32"/>
          <p:cNvSpPr/>
          <p:nvPr/>
        </p:nvSpPr>
        <p:spPr>
          <a:xfrm>
            <a:off x="1234440" y="1920240"/>
            <a:ext cx="1371600" cy="320040"/>
          </a:xfrm>
          <a:prstGeom prst="rect">
            <a:avLst/>
          </a:prstGeom>
          <a:noFill/>
          <a:ln/>
        </p:spPr>
        <p:txBody>
          <a:bodyPr wrap="square" rtlCol="0" anchor="ctr"/>
          <a:lstStyle/>
          <a:p>
            <a:pPr algn="ctr" indent="0" marL="0">
              <a:buNone/>
            </a:pPr>
            <a:r>
              <a:rPr lang="en-US" sz="1000" dirty="0">
                <a:solidFill>
                  <a:srgbClr val="2B1D12"/>
                </a:solidFill>
                <a:latin typeface="Calibri" pitchFamily="34" charset="0"/>
                <a:ea typeface="Calibri" pitchFamily="34" charset="-122"/>
                <a:cs typeface="Calibri" pitchFamily="34" charset="-120"/>
              </a:rPr>
              <a:t>85°F</a:t>
            </a:r>
            <a:endParaRPr lang="en-US" sz="1000" dirty="0"/>
          </a:p>
        </p:txBody>
      </p:sp>
      <p:sp>
        <p:nvSpPr>
          <p:cNvPr id="35" name="Shape 33"/>
          <p:cNvSpPr/>
          <p:nvPr/>
        </p:nvSpPr>
        <p:spPr>
          <a:xfrm>
            <a:off x="2606040" y="1920240"/>
            <a:ext cx="2743200" cy="320040"/>
          </a:xfrm>
          <a:prstGeom prst="rect">
            <a:avLst/>
          </a:prstGeom>
          <a:solidFill>
            <a:srgbClr val="FFFFFF"/>
          </a:solidFill>
          <a:ln w="6350">
            <a:solidFill>
              <a:srgbClr val="E8DDD2"/>
            </a:solidFill>
            <a:prstDash val="solid"/>
          </a:ln>
        </p:spPr>
      </p:sp>
      <p:sp>
        <p:nvSpPr>
          <p:cNvPr id="36" name="Text 34"/>
          <p:cNvSpPr/>
          <p:nvPr/>
        </p:nvSpPr>
        <p:spPr>
          <a:xfrm>
            <a:off x="2606040" y="1920240"/>
            <a:ext cx="2743200" cy="320040"/>
          </a:xfrm>
          <a:prstGeom prst="rect">
            <a:avLst/>
          </a:prstGeom>
          <a:noFill/>
          <a:ln/>
        </p:spPr>
        <p:txBody>
          <a:bodyPr wrap="square" rtlCol="0" anchor="ctr"/>
          <a:lstStyle/>
          <a:p>
            <a:pPr algn="ctr" indent="0" marL="0">
              <a:buNone/>
            </a:pPr>
            <a:r>
              <a:rPr lang="en-US" sz="1000" dirty="0">
                <a:solidFill>
                  <a:srgbClr val="2B1D12"/>
                </a:solidFill>
                <a:latin typeface="Calibri" pitchFamily="34" charset="0"/>
                <a:ea typeface="Calibri" pitchFamily="34" charset="-122"/>
                <a:cs typeface="Calibri" pitchFamily="34" charset="-120"/>
              </a:rPr>
              <a:t>Cloudy</a:t>
            </a:r>
            <a:endParaRPr lang="en-US" sz="1000" dirty="0"/>
          </a:p>
        </p:txBody>
      </p:sp>
      <p:sp>
        <p:nvSpPr>
          <p:cNvPr id="37" name="Shape 35"/>
          <p:cNvSpPr/>
          <p:nvPr/>
        </p:nvSpPr>
        <p:spPr>
          <a:xfrm>
            <a:off x="5349240" y="1920240"/>
            <a:ext cx="2743200" cy="320040"/>
          </a:xfrm>
          <a:prstGeom prst="rect">
            <a:avLst/>
          </a:prstGeom>
          <a:solidFill>
            <a:srgbClr val="FFFFFF"/>
          </a:solidFill>
          <a:ln w="6350">
            <a:solidFill>
              <a:srgbClr val="E8DDD2"/>
            </a:solidFill>
            <a:prstDash val="solid"/>
          </a:ln>
        </p:spPr>
      </p:sp>
      <p:sp>
        <p:nvSpPr>
          <p:cNvPr id="38" name="Text 36"/>
          <p:cNvSpPr/>
          <p:nvPr/>
        </p:nvSpPr>
        <p:spPr>
          <a:xfrm>
            <a:off x="5349240" y="1920240"/>
            <a:ext cx="2743200" cy="320040"/>
          </a:xfrm>
          <a:prstGeom prst="rect">
            <a:avLst/>
          </a:prstGeom>
          <a:noFill/>
          <a:ln/>
        </p:spPr>
        <p:txBody>
          <a:bodyPr wrap="square" rtlCol="0" anchor="ctr"/>
          <a:lstStyle/>
          <a:p>
            <a:pPr algn="ctr" indent="0" marL="0">
              <a:buNone/>
            </a:pPr>
            <a:r>
              <a:rPr lang="en-US" sz="1000" dirty="0">
                <a:solidFill>
                  <a:srgbClr val="2B1D12"/>
                </a:solidFill>
                <a:latin typeface="Calibri" pitchFamily="34" charset="0"/>
                <a:ea typeface="Calibri" pitchFamily="34" charset="-122"/>
                <a:cs typeface="Calibri" pitchFamily="34" charset="-120"/>
              </a:rPr>
              <a:t>Storm, gusty</a:t>
            </a:r>
            <a:endParaRPr lang="en-US" sz="1000" dirty="0"/>
          </a:p>
        </p:txBody>
      </p:sp>
      <p:sp>
        <p:nvSpPr>
          <p:cNvPr id="39" name="Shape 37"/>
          <p:cNvSpPr/>
          <p:nvPr/>
        </p:nvSpPr>
        <p:spPr>
          <a:xfrm>
            <a:off x="320040" y="2240280"/>
            <a:ext cx="914400" cy="320040"/>
          </a:xfrm>
          <a:prstGeom prst="rect">
            <a:avLst/>
          </a:prstGeom>
          <a:solidFill>
            <a:srgbClr val="FAFAF6"/>
          </a:solidFill>
          <a:ln w="6350">
            <a:solidFill>
              <a:srgbClr val="E8DDD2"/>
            </a:solidFill>
            <a:prstDash val="solid"/>
          </a:ln>
        </p:spPr>
      </p:sp>
      <p:sp>
        <p:nvSpPr>
          <p:cNvPr id="40" name="Text 38"/>
          <p:cNvSpPr/>
          <p:nvPr/>
        </p:nvSpPr>
        <p:spPr>
          <a:xfrm>
            <a:off x="320040" y="2240280"/>
            <a:ext cx="914400" cy="320040"/>
          </a:xfrm>
          <a:prstGeom prst="rect">
            <a:avLst/>
          </a:prstGeom>
          <a:noFill/>
          <a:ln/>
        </p:spPr>
        <p:txBody>
          <a:bodyPr wrap="square" rtlCol="0" anchor="ctr"/>
          <a:lstStyle/>
          <a:p>
            <a:pPr algn="ctr" indent="0" marL="0">
              <a:buNone/>
            </a:pPr>
            <a:r>
              <a:rPr lang="en-US" sz="1000" dirty="0">
                <a:solidFill>
                  <a:srgbClr val="2B1D12"/>
                </a:solidFill>
                <a:latin typeface="Calibri" pitchFamily="34" charset="0"/>
                <a:ea typeface="Calibri" pitchFamily="34" charset="-122"/>
                <a:cs typeface="Calibri" pitchFamily="34" charset="-120"/>
              </a:rPr>
              <a:t>Thu</a:t>
            </a:r>
            <a:endParaRPr lang="en-US" sz="1000" dirty="0"/>
          </a:p>
        </p:txBody>
      </p:sp>
      <p:sp>
        <p:nvSpPr>
          <p:cNvPr id="41" name="Shape 39"/>
          <p:cNvSpPr/>
          <p:nvPr/>
        </p:nvSpPr>
        <p:spPr>
          <a:xfrm>
            <a:off x="1234440" y="2240280"/>
            <a:ext cx="1371600" cy="320040"/>
          </a:xfrm>
          <a:prstGeom prst="rect">
            <a:avLst/>
          </a:prstGeom>
          <a:solidFill>
            <a:srgbClr val="FAFAF6"/>
          </a:solidFill>
          <a:ln w="6350">
            <a:solidFill>
              <a:srgbClr val="E8DDD2"/>
            </a:solidFill>
            <a:prstDash val="solid"/>
          </a:ln>
        </p:spPr>
      </p:sp>
      <p:sp>
        <p:nvSpPr>
          <p:cNvPr id="42" name="Text 40"/>
          <p:cNvSpPr/>
          <p:nvPr/>
        </p:nvSpPr>
        <p:spPr>
          <a:xfrm>
            <a:off x="1234440" y="2240280"/>
            <a:ext cx="1371600" cy="320040"/>
          </a:xfrm>
          <a:prstGeom prst="rect">
            <a:avLst/>
          </a:prstGeom>
          <a:noFill/>
          <a:ln/>
        </p:spPr>
        <p:txBody>
          <a:bodyPr wrap="square" rtlCol="0" anchor="ctr"/>
          <a:lstStyle/>
          <a:p>
            <a:pPr algn="ctr" indent="0" marL="0">
              <a:buNone/>
            </a:pPr>
            <a:r>
              <a:rPr lang="en-US" sz="1000" dirty="0">
                <a:solidFill>
                  <a:srgbClr val="2B1D12"/>
                </a:solidFill>
                <a:latin typeface="Calibri" pitchFamily="34" charset="0"/>
                <a:ea typeface="Calibri" pitchFamily="34" charset="-122"/>
                <a:cs typeface="Calibri" pitchFamily="34" charset="-120"/>
              </a:rPr>
              <a:t>80°F</a:t>
            </a:r>
            <a:endParaRPr lang="en-US" sz="1000" dirty="0"/>
          </a:p>
        </p:txBody>
      </p:sp>
      <p:sp>
        <p:nvSpPr>
          <p:cNvPr id="43" name="Shape 41"/>
          <p:cNvSpPr/>
          <p:nvPr/>
        </p:nvSpPr>
        <p:spPr>
          <a:xfrm>
            <a:off x="2606040" y="2240280"/>
            <a:ext cx="2743200" cy="320040"/>
          </a:xfrm>
          <a:prstGeom prst="rect">
            <a:avLst/>
          </a:prstGeom>
          <a:solidFill>
            <a:srgbClr val="FAFAF6"/>
          </a:solidFill>
          <a:ln w="6350">
            <a:solidFill>
              <a:srgbClr val="E8DDD2"/>
            </a:solidFill>
            <a:prstDash val="solid"/>
          </a:ln>
        </p:spPr>
      </p:sp>
      <p:sp>
        <p:nvSpPr>
          <p:cNvPr id="44" name="Text 42"/>
          <p:cNvSpPr/>
          <p:nvPr/>
        </p:nvSpPr>
        <p:spPr>
          <a:xfrm>
            <a:off x="2606040" y="2240280"/>
            <a:ext cx="2743200" cy="320040"/>
          </a:xfrm>
          <a:prstGeom prst="rect">
            <a:avLst/>
          </a:prstGeom>
          <a:noFill/>
          <a:ln/>
        </p:spPr>
        <p:txBody>
          <a:bodyPr wrap="square" rtlCol="0" anchor="ctr"/>
          <a:lstStyle/>
          <a:p>
            <a:pPr algn="ctr" indent="0" marL="0">
              <a:buNone/>
            </a:pPr>
            <a:r>
              <a:rPr lang="en-US" sz="1000" dirty="0">
                <a:solidFill>
                  <a:srgbClr val="2B1D12"/>
                </a:solidFill>
                <a:latin typeface="Calibri" pitchFamily="34" charset="0"/>
                <a:ea typeface="Calibri" pitchFamily="34" charset="-122"/>
                <a:cs typeface="Calibri" pitchFamily="34" charset="-120"/>
              </a:rPr>
              <a:t>Partly Cloudy</a:t>
            </a:r>
            <a:endParaRPr lang="en-US" sz="1000" dirty="0"/>
          </a:p>
        </p:txBody>
      </p:sp>
      <p:sp>
        <p:nvSpPr>
          <p:cNvPr id="45" name="Shape 43"/>
          <p:cNvSpPr/>
          <p:nvPr/>
        </p:nvSpPr>
        <p:spPr>
          <a:xfrm>
            <a:off x="5349240" y="2240280"/>
            <a:ext cx="2743200" cy="320040"/>
          </a:xfrm>
          <a:prstGeom prst="rect">
            <a:avLst/>
          </a:prstGeom>
          <a:solidFill>
            <a:srgbClr val="FAFAF6"/>
          </a:solidFill>
          <a:ln w="6350">
            <a:solidFill>
              <a:srgbClr val="E8DDD2"/>
            </a:solidFill>
            <a:prstDash val="solid"/>
          </a:ln>
        </p:spPr>
      </p:sp>
      <p:sp>
        <p:nvSpPr>
          <p:cNvPr id="46" name="Text 44"/>
          <p:cNvSpPr/>
          <p:nvPr/>
        </p:nvSpPr>
        <p:spPr>
          <a:xfrm>
            <a:off x="5349240" y="2240280"/>
            <a:ext cx="2743200" cy="320040"/>
          </a:xfrm>
          <a:prstGeom prst="rect">
            <a:avLst/>
          </a:prstGeom>
          <a:noFill/>
          <a:ln/>
        </p:spPr>
        <p:txBody>
          <a:bodyPr wrap="square" rtlCol="0" anchor="ctr"/>
          <a:lstStyle/>
          <a:p>
            <a:pPr algn="ctr" indent="0" marL="0">
              <a:buNone/>
            </a:pPr>
            <a:r>
              <a:rPr lang="en-US" sz="1000" dirty="0">
                <a:solidFill>
                  <a:srgbClr val="2B1D12"/>
                </a:solidFill>
                <a:latin typeface="Calibri" pitchFamily="34" charset="0"/>
                <a:ea typeface="Calibri" pitchFamily="34" charset="-122"/>
                <a:cs typeface="Calibri" pitchFamily="34" charset="-120"/>
              </a:rPr>
              <a:t>Calm</a:t>
            </a:r>
            <a:endParaRPr lang="en-US" sz="1000" dirty="0"/>
          </a:p>
        </p:txBody>
      </p:sp>
      <p:sp>
        <p:nvSpPr>
          <p:cNvPr id="47" name="Shape 45"/>
          <p:cNvSpPr/>
          <p:nvPr/>
        </p:nvSpPr>
        <p:spPr>
          <a:xfrm>
            <a:off x="320040" y="2560320"/>
            <a:ext cx="914400" cy="320040"/>
          </a:xfrm>
          <a:prstGeom prst="rect">
            <a:avLst/>
          </a:prstGeom>
          <a:solidFill>
            <a:srgbClr val="FFFFFF"/>
          </a:solidFill>
          <a:ln w="6350">
            <a:solidFill>
              <a:srgbClr val="E8DDD2"/>
            </a:solidFill>
            <a:prstDash val="solid"/>
          </a:ln>
        </p:spPr>
      </p:sp>
      <p:sp>
        <p:nvSpPr>
          <p:cNvPr id="48" name="Text 46"/>
          <p:cNvSpPr/>
          <p:nvPr/>
        </p:nvSpPr>
        <p:spPr>
          <a:xfrm>
            <a:off x="320040" y="2560320"/>
            <a:ext cx="914400" cy="320040"/>
          </a:xfrm>
          <a:prstGeom prst="rect">
            <a:avLst/>
          </a:prstGeom>
          <a:noFill/>
          <a:ln/>
        </p:spPr>
        <p:txBody>
          <a:bodyPr wrap="square" rtlCol="0" anchor="ctr"/>
          <a:lstStyle/>
          <a:p>
            <a:pPr algn="ctr" indent="0" marL="0">
              <a:buNone/>
            </a:pPr>
            <a:r>
              <a:rPr lang="en-US" sz="1000" dirty="0">
                <a:solidFill>
                  <a:srgbClr val="2B1D12"/>
                </a:solidFill>
                <a:latin typeface="Calibri" pitchFamily="34" charset="0"/>
                <a:ea typeface="Calibri" pitchFamily="34" charset="-122"/>
                <a:cs typeface="Calibri" pitchFamily="34" charset="-120"/>
              </a:rPr>
              <a:t>Fri</a:t>
            </a:r>
            <a:endParaRPr lang="en-US" sz="1000" dirty="0"/>
          </a:p>
        </p:txBody>
      </p:sp>
      <p:sp>
        <p:nvSpPr>
          <p:cNvPr id="49" name="Shape 47"/>
          <p:cNvSpPr/>
          <p:nvPr/>
        </p:nvSpPr>
        <p:spPr>
          <a:xfrm>
            <a:off x="1234440" y="2560320"/>
            <a:ext cx="1371600" cy="320040"/>
          </a:xfrm>
          <a:prstGeom prst="rect">
            <a:avLst/>
          </a:prstGeom>
          <a:solidFill>
            <a:srgbClr val="FFFFFF"/>
          </a:solidFill>
          <a:ln w="6350">
            <a:solidFill>
              <a:srgbClr val="E8DDD2"/>
            </a:solidFill>
            <a:prstDash val="solid"/>
          </a:ln>
        </p:spPr>
      </p:sp>
      <p:sp>
        <p:nvSpPr>
          <p:cNvPr id="50" name="Text 48"/>
          <p:cNvSpPr/>
          <p:nvPr/>
        </p:nvSpPr>
        <p:spPr>
          <a:xfrm>
            <a:off x="1234440" y="2560320"/>
            <a:ext cx="1371600" cy="320040"/>
          </a:xfrm>
          <a:prstGeom prst="rect">
            <a:avLst/>
          </a:prstGeom>
          <a:noFill/>
          <a:ln/>
        </p:spPr>
        <p:txBody>
          <a:bodyPr wrap="square" rtlCol="0" anchor="ctr"/>
          <a:lstStyle/>
          <a:p>
            <a:pPr algn="ctr" indent="0" marL="0">
              <a:buNone/>
            </a:pPr>
            <a:r>
              <a:rPr lang="en-US" sz="1000" dirty="0">
                <a:solidFill>
                  <a:srgbClr val="2B1D12"/>
                </a:solidFill>
                <a:latin typeface="Calibri" pitchFamily="34" charset="0"/>
                <a:ea typeface="Calibri" pitchFamily="34" charset="-122"/>
                <a:cs typeface="Calibri" pitchFamily="34" charset="-120"/>
              </a:rPr>
              <a:t>84°F</a:t>
            </a:r>
            <a:endParaRPr lang="en-US" sz="1000" dirty="0"/>
          </a:p>
        </p:txBody>
      </p:sp>
      <p:sp>
        <p:nvSpPr>
          <p:cNvPr id="51" name="Shape 49"/>
          <p:cNvSpPr/>
          <p:nvPr/>
        </p:nvSpPr>
        <p:spPr>
          <a:xfrm>
            <a:off x="2606040" y="2560320"/>
            <a:ext cx="2743200" cy="320040"/>
          </a:xfrm>
          <a:prstGeom prst="rect">
            <a:avLst/>
          </a:prstGeom>
          <a:solidFill>
            <a:srgbClr val="FFFFFF"/>
          </a:solidFill>
          <a:ln w="6350">
            <a:solidFill>
              <a:srgbClr val="E8DDD2"/>
            </a:solidFill>
            <a:prstDash val="solid"/>
          </a:ln>
        </p:spPr>
      </p:sp>
      <p:sp>
        <p:nvSpPr>
          <p:cNvPr id="52" name="Text 50"/>
          <p:cNvSpPr/>
          <p:nvPr/>
        </p:nvSpPr>
        <p:spPr>
          <a:xfrm>
            <a:off x="2606040" y="2560320"/>
            <a:ext cx="2743200" cy="320040"/>
          </a:xfrm>
          <a:prstGeom prst="rect">
            <a:avLst/>
          </a:prstGeom>
          <a:noFill/>
          <a:ln/>
        </p:spPr>
        <p:txBody>
          <a:bodyPr wrap="square" rtlCol="0" anchor="ctr"/>
          <a:lstStyle/>
          <a:p>
            <a:pPr algn="ctr" indent="0" marL="0">
              <a:buNone/>
            </a:pPr>
            <a:r>
              <a:rPr lang="en-US" sz="1000" dirty="0">
                <a:solidFill>
                  <a:srgbClr val="2B1D12"/>
                </a:solidFill>
                <a:latin typeface="Calibri" pitchFamily="34" charset="0"/>
                <a:ea typeface="Calibri" pitchFamily="34" charset="-122"/>
                <a:cs typeface="Calibri" pitchFamily="34" charset="-120"/>
              </a:rPr>
              <a:t>Cloudy</a:t>
            </a:r>
            <a:endParaRPr lang="en-US" sz="1000" dirty="0"/>
          </a:p>
        </p:txBody>
      </p:sp>
      <p:sp>
        <p:nvSpPr>
          <p:cNvPr id="53" name="Shape 51"/>
          <p:cNvSpPr/>
          <p:nvPr/>
        </p:nvSpPr>
        <p:spPr>
          <a:xfrm>
            <a:off x="5349240" y="2560320"/>
            <a:ext cx="2743200" cy="320040"/>
          </a:xfrm>
          <a:prstGeom prst="rect">
            <a:avLst/>
          </a:prstGeom>
          <a:solidFill>
            <a:srgbClr val="FFFFFF"/>
          </a:solidFill>
          <a:ln w="6350">
            <a:solidFill>
              <a:srgbClr val="E8DDD2"/>
            </a:solidFill>
            <a:prstDash val="solid"/>
          </a:ln>
        </p:spPr>
      </p:sp>
      <p:sp>
        <p:nvSpPr>
          <p:cNvPr id="54" name="Text 52"/>
          <p:cNvSpPr/>
          <p:nvPr/>
        </p:nvSpPr>
        <p:spPr>
          <a:xfrm>
            <a:off x="5349240" y="2560320"/>
            <a:ext cx="2743200" cy="320040"/>
          </a:xfrm>
          <a:prstGeom prst="rect">
            <a:avLst/>
          </a:prstGeom>
          <a:noFill/>
          <a:ln/>
        </p:spPr>
        <p:txBody>
          <a:bodyPr wrap="square" rtlCol="0" anchor="ctr"/>
          <a:lstStyle/>
          <a:p>
            <a:pPr algn="ctr" indent="0" marL="0">
              <a:buNone/>
            </a:pPr>
            <a:r>
              <a:rPr lang="en-US" sz="1000" dirty="0">
                <a:solidFill>
                  <a:srgbClr val="2B1D12"/>
                </a:solidFill>
                <a:latin typeface="Calibri" pitchFamily="34" charset="0"/>
                <a:ea typeface="Calibri" pitchFamily="34" charset="-122"/>
                <a:cs typeface="Calibri" pitchFamily="34" charset="-120"/>
              </a:rPr>
              <a:t>Storm, gusty</a:t>
            </a:r>
            <a:endParaRPr lang="en-US" sz="1000" dirty="0"/>
          </a:p>
        </p:txBody>
      </p:sp>
      <p:sp>
        <p:nvSpPr>
          <p:cNvPr id="55" name="Shape 53"/>
          <p:cNvSpPr/>
          <p:nvPr/>
        </p:nvSpPr>
        <p:spPr>
          <a:xfrm>
            <a:off x="320040" y="3017520"/>
            <a:ext cx="8503920" cy="822960"/>
          </a:xfrm>
          <a:prstGeom prst="roundRect">
            <a:avLst>
              <a:gd name="adj" fmla="val 8889"/>
            </a:avLst>
          </a:prstGeom>
          <a:solidFill>
            <a:srgbClr val="FFF9E8"/>
          </a:solidFill>
          <a:ln w="19050">
            <a:solidFill>
              <a:srgbClr val="F9A825"/>
            </a:solidFill>
            <a:prstDash val="solid"/>
          </a:ln>
        </p:spPr>
      </p:sp>
      <p:sp>
        <p:nvSpPr>
          <p:cNvPr id="56" name="Text 54"/>
          <p:cNvSpPr/>
          <p:nvPr/>
        </p:nvSpPr>
        <p:spPr>
          <a:xfrm>
            <a:off x="502920" y="309067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57" name="Text 55"/>
          <p:cNvSpPr/>
          <p:nvPr/>
        </p:nvSpPr>
        <p:spPr>
          <a:xfrm>
            <a:off x="502920" y="3310128"/>
            <a:ext cx="8138160" cy="47548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table? Which day was warmest? Do the cloudy days connect to the rainy days? What do you wonder would happen on Saturday?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EXPLORE · DISCOVER IT YOURSELF</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Weather vs. Climate</a:t>
            </a:r>
            <a:endParaRPr lang="en-US" sz="2100" dirty="0"/>
          </a:p>
        </p:txBody>
      </p:sp>
      <p:sp>
        <p:nvSpPr>
          <p:cNvPr id="7" name="Shape 5"/>
          <p:cNvSpPr/>
          <p:nvPr/>
        </p:nvSpPr>
        <p:spPr>
          <a:xfrm>
            <a:off x="320040" y="960120"/>
            <a:ext cx="8503920" cy="1125855"/>
          </a:xfrm>
          <a:prstGeom prst="roundRect">
            <a:avLst>
              <a:gd name="adj" fmla="val 6497"/>
            </a:avLst>
          </a:prstGeom>
          <a:solidFill>
            <a:srgbClr val="FFF9E8"/>
          </a:solidFill>
          <a:ln w="19050">
            <a:solidFill>
              <a:srgbClr val="F9A825"/>
            </a:solidFill>
            <a:prstDash val="solid"/>
          </a:ln>
        </p:spPr>
      </p:sp>
      <p:sp>
        <p:nvSpPr>
          <p:cNvPr id="8" name="Text 6"/>
          <p:cNvSpPr/>
          <p:nvPr/>
        </p:nvSpPr>
        <p:spPr>
          <a:xfrm>
            <a:off x="502920" y="103327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9" name="Text 7"/>
          <p:cNvSpPr/>
          <p:nvPr/>
        </p:nvSpPr>
        <p:spPr>
          <a:xfrm>
            <a:off x="502920" y="1252728"/>
            <a:ext cx="8138160" cy="778383"/>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"It's raining this Tuesday" vs. "Florida summers are usually hot and rainy." What do you notice is different about these two statements? What do you wonder makes one short-term and one long-term?</a:t>
            </a:r>
            <a:endParaRPr lang="en-US" sz="1300" dirty="0"/>
          </a:p>
        </p:txBody>
      </p:sp>
      <p:sp>
        <p:nvSpPr>
          <p:cNvPr id="10" name="Shape 8"/>
          <p:cNvSpPr/>
          <p:nvPr/>
        </p:nvSpPr>
        <p:spPr>
          <a:xfrm>
            <a:off x="320040" y="2223135"/>
            <a:ext cx="8503920" cy="1188720"/>
          </a:xfrm>
          <a:prstGeom prst="roundRect">
            <a:avLst>
              <a:gd name="adj" fmla="val 6154"/>
            </a:avLst>
          </a:prstGeom>
          <a:solidFill>
            <a:srgbClr val="FFF3E0"/>
          </a:solidFill>
          <a:ln w="25400">
            <a:solidFill>
              <a:srgbClr val="F9A825"/>
            </a:solidFill>
            <a:prstDash val="dash"/>
          </a:ln>
        </p:spPr>
      </p:sp>
      <p:sp>
        <p:nvSpPr>
          <p:cNvPr id="11" name="Text 9"/>
          <p:cNvSpPr/>
          <p:nvPr/>
        </p:nvSpPr>
        <p:spPr>
          <a:xfrm>
            <a:off x="502920" y="2314575"/>
            <a:ext cx="8138160" cy="256032"/>
          </a:xfrm>
          <a:prstGeom prst="rect">
            <a:avLst/>
          </a:prstGeom>
          <a:noFill/>
          <a:ln/>
        </p:spPr>
        <p:txBody>
          <a:bodyPr wrap="square" rtlCol="0" anchor="ctr"/>
          <a:lstStyle/>
          <a:p>
            <a:pPr indent="0" marL="0">
              <a:buNone/>
            </a:pPr>
            <a:r>
              <a:rPr lang="en-US" sz="1100" b="1" spc="100" kern="0" dirty="0">
                <a:solidFill>
                  <a:srgbClr val="E65100"/>
                </a:solidFill>
                <a:latin typeface="Calibri" pitchFamily="34" charset="0"/>
                <a:ea typeface="Calibri" pitchFamily="34" charset="-122"/>
                <a:cs typeface="Calibri" pitchFamily="34" charset="-120"/>
              </a:rPr>
              <a:t>IMAGE NEEDED</a:t>
            </a:r>
            <a:endParaRPr lang="en-US" sz="1100" dirty="0"/>
          </a:p>
        </p:txBody>
      </p:sp>
      <p:sp>
        <p:nvSpPr>
          <p:cNvPr id="12" name="Text 10"/>
          <p:cNvSpPr/>
          <p:nvPr/>
        </p:nvSpPr>
        <p:spPr>
          <a:xfrm>
            <a:off x="502920" y="2588895"/>
            <a:ext cx="8138160" cy="475488"/>
          </a:xfrm>
          <a:prstGeom prst="rect">
            <a:avLst/>
          </a:prstGeom>
          <a:noFill/>
          <a:ln/>
        </p:spPr>
        <p:txBody>
          <a:bodyPr wrap="square" rtlCol="0" anchor="t"/>
          <a:lstStyle/>
          <a:p>
            <a:pPr indent="0" marL="0">
              <a:buNone/>
            </a:pPr>
            <a:r>
              <a:rPr lang="en-US" sz="1100" dirty="0">
                <a:solidFill>
                  <a:srgbClr val="5A4D3E"/>
                </a:solidFill>
                <a:latin typeface="Calibri" pitchFamily="34" charset="0"/>
                <a:ea typeface="Calibri" pitchFamily="34" charset="-122"/>
                <a:cs typeface="Calibri" pitchFamily="34" charset="-120"/>
              </a:rPr>
              <a:t>A meteorologist in professional clothing standing in front of computer monitors showing colorful Doppler radar maps, pointing at a screen, professional forecast office, photorealistic.</a:t>
            </a:r>
            <a:endParaRPr lang="en-US" sz="1100" dirty="0"/>
          </a:p>
        </p:txBody>
      </p:sp>
      <p:sp>
        <p:nvSpPr>
          <p:cNvPr id="13" name="Text 11"/>
          <p:cNvSpPr/>
          <p:nvPr/>
        </p:nvSpPr>
        <p:spPr>
          <a:xfrm>
            <a:off x="502920" y="3119247"/>
            <a:ext cx="8138160" cy="237744"/>
          </a:xfrm>
          <a:prstGeom prst="rect">
            <a:avLst/>
          </a:prstGeom>
          <a:noFill/>
          <a:ln/>
        </p:spPr>
        <p:txBody>
          <a:bodyPr wrap="square" rtlCol="0" anchor="ctr"/>
          <a:lstStyle/>
          <a:p>
            <a:pPr indent="0" marL="0">
              <a:buNone/>
            </a:pPr>
            <a:r>
              <a:rPr lang="en-US" sz="950" i="1" dirty="0">
                <a:solidFill>
                  <a:srgbClr val="9A8E82"/>
                </a:solidFill>
                <a:latin typeface="Calibri" pitchFamily="34" charset="0"/>
                <a:ea typeface="Calibri" pitchFamily="34" charset="-122"/>
                <a:cs typeface="Calibri" pitchFamily="34" charset="-120"/>
              </a:rPr>
              <a:t>Save as: 2-01-meteorologist-radar.png</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INTERACTIVE MODEL · PREDICT FIRST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Five Weather Conditions</a:t>
            </a:r>
            <a:endParaRPr lang="en-US" sz="2100" dirty="0"/>
          </a:p>
        </p:txBody>
      </p:sp>
      <p:sp>
        <p:nvSpPr>
          <p:cNvPr id="7" name="Shape 5"/>
          <p:cNvSpPr/>
          <p:nvPr/>
        </p:nvSpPr>
        <p:spPr>
          <a:xfrm>
            <a:off x="320040" y="960120"/>
            <a:ext cx="1600200" cy="1371600"/>
          </a:xfrm>
          <a:prstGeom prst="roundRect">
            <a:avLst>
              <a:gd name="adj" fmla="val 5333"/>
            </a:avLst>
          </a:prstGeom>
          <a:solidFill>
            <a:srgbClr val="FFFFFF"/>
          </a:solidFill>
          <a:ln w="25400">
            <a:solidFill>
              <a:srgbClr val="F57C00"/>
            </a:solidFill>
            <a:prstDash val="solid"/>
          </a:ln>
        </p:spPr>
      </p:sp>
      <p:sp>
        <p:nvSpPr>
          <p:cNvPr id="8" name="Text 6"/>
          <p:cNvSpPr/>
          <p:nvPr/>
        </p:nvSpPr>
        <p:spPr>
          <a:xfrm>
            <a:off x="320040" y="1005840"/>
            <a:ext cx="1600200" cy="320040"/>
          </a:xfrm>
          <a:prstGeom prst="rect">
            <a:avLst/>
          </a:prstGeom>
          <a:noFill/>
          <a:ln/>
        </p:spPr>
        <p:txBody>
          <a:bodyPr wrap="square" rtlCol="0" anchor="ctr"/>
          <a:lstStyle/>
          <a:p>
            <a:pPr algn="ctr" indent="0" marL="0">
              <a:buNone/>
            </a:pPr>
            <a:r>
              <a:rPr lang="en-US" sz="1800" b="1" dirty="0">
                <a:solidFill>
                  <a:srgbClr val="F57C00"/>
                </a:solidFill>
                <a:latin typeface="Cambria" pitchFamily="34" charset="0"/>
                <a:ea typeface="Cambria" pitchFamily="34" charset="-122"/>
                <a:cs typeface="Cambria" pitchFamily="34" charset="-120"/>
              </a:rPr>
              <a:t>?</a:t>
            </a:r>
            <a:endParaRPr lang="en-US" sz="1800" dirty="0"/>
          </a:p>
        </p:txBody>
      </p:sp>
      <p:sp>
        <p:nvSpPr>
          <p:cNvPr id="9" name="Text 7"/>
          <p:cNvSpPr/>
          <p:nvPr/>
        </p:nvSpPr>
        <p:spPr>
          <a:xfrm>
            <a:off x="393192" y="1371600"/>
            <a:ext cx="1453896" cy="914400"/>
          </a:xfrm>
          <a:prstGeom prst="rect">
            <a:avLst/>
          </a:prstGeom>
          <a:noFill/>
          <a:ln/>
        </p:spPr>
        <p:txBody>
          <a:bodyPr wrap="square" rtlCol="0" anchor="t"/>
          <a:lstStyle/>
          <a:p>
            <a:pPr algn="ctr" indent="0" marL="0">
              <a:buNone/>
            </a:pPr>
            <a:r>
              <a:rPr lang="en-US" sz="950" dirty="0">
                <a:solidFill>
                  <a:srgbClr val="5A4D3E"/>
                </a:solidFill>
                <a:latin typeface="Calibri" pitchFamily="34" charset="0"/>
                <a:ea typeface="Calibri" pitchFamily="34" charset="-122"/>
                <a:cs typeface="Calibri" pitchFamily="34" charset="-120"/>
              </a:rPr>
              <a:t>clear skies, high temp</a:t>
            </a:r>
            <a:endParaRPr lang="en-US" sz="950" dirty="0"/>
          </a:p>
        </p:txBody>
      </p:sp>
      <p:sp>
        <p:nvSpPr>
          <p:cNvPr id="10" name="Shape 8"/>
          <p:cNvSpPr/>
          <p:nvPr/>
        </p:nvSpPr>
        <p:spPr>
          <a:xfrm>
            <a:off x="2029968" y="960120"/>
            <a:ext cx="1600200" cy="1371600"/>
          </a:xfrm>
          <a:prstGeom prst="roundRect">
            <a:avLst>
              <a:gd name="adj" fmla="val 5333"/>
            </a:avLst>
          </a:prstGeom>
          <a:solidFill>
            <a:srgbClr val="FFFFFF"/>
          </a:solidFill>
          <a:ln w="25400">
            <a:solidFill>
              <a:srgbClr val="F57C00"/>
            </a:solidFill>
            <a:prstDash val="solid"/>
          </a:ln>
        </p:spPr>
      </p:sp>
      <p:sp>
        <p:nvSpPr>
          <p:cNvPr id="11" name="Text 9"/>
          <p:cNvSpPr/>
          <p:nvPr/>
        </p:nvSpPr>
        <p:spPr>
          <a:xfrm>
            <a:off x="2029968" y="1005840"/>
            <a:ext cx="1600200" cy="320040"/>
          </a:xfrm>
          <a:prstGeom prst="rect">
            <a:avLst/>
          </a:prstGeom>
          <a:noFill/>
          <a:ln/>
        </p:spPr>
        <p:txBody>
          <a:bodyPr wrap="square" rtlCol="0" anchor="ctr"/>
          <a:lstStyle/>
          <a:p>
            <a:pPr algn="ctr" indent="0" marL="0">
              <a:buNone/>
            </a:pPr>
            <a:r>
              <a:rPr lang="en-US" sz="1800" b="1" dirty="0">
                <a:solidFill>
                  <a:srgbClr val="F57C00"/>
                </a:solidFill>
                <a:latin typeface="Cambria" pitchFamily="34" charset="0"/>
                <a:ea typeface="Cambria" pitchFamily="34" charset="-122"/>
                <a:cs typeface="Cambria" pitchFamily="34" charset="-120"/>
              </a:rPr>
              <a:t>?</a:t>
            </a:r>
            <a:endParaRPr lang="en-US" sz="1800" dirty="0"/>
          </a:p>
        </p:txBody>
      </p:sp>
      <p:sp>
        <p:nvSpPr>
          <p:cNvPr id="12" name="Text 10"/>
          <p:cNvSpPr/>
          <p:nvPr/>
        </p:nvSpPr>
        <p:spPr>
          <a:xfrm>
            <a:off x="2103120" y="1371600"/>
            <a:ext cx="1453896" cy="914400"/>
          </a:xfrm>
          <a:prstGeom prst="rect">
            <a:avLst/>
          </a:prstGeom>
          <a:noFill/>
          <a:ln/>
        </p:spPr>
        <p:txBody>
          <a:bodyPr wrap="square" rtlCol="0" anchor="t"/>
          <a:lstStyle/>
          <a:p>
            <a:pPr algn="ctr" indent="0" marL="0">
              <a:buNone/>
            </a:pPr>
            <a:r>
              <a:rPr lang="en-US" sz="950" dirty="0">
                <a:solidFill>
                  <a:srgbClr val="5A4D3E"/>
                </a:solidFill>
                <a:latin typeface="Calibri" pitchFamily="34" charset="0"/>
                <a:ea typeface="Calibri" pitchFamily="34" charset="-122"/>
                <a:cs typeface="Calibri" pitchFamily="34" charset="-120"/>
              </a:rPr>
              <a:t>mix of sun &amp; cloud</a:t>
            </a:r>
            <a:endParaRPr lang="en-US" sz="950" dirty="0"/>
          </a:p>
        </p:txBody>
      </p:sp>
      <p:sp>
        <p:nvSpPr>
          <p:cNvPr id="13" name="Shape 11"/>
          <p:cNvSpPr/>
          <p:nvPr/>
        </p:nvSpPr>
        <p:spPr>
          <a:xfrm>
            <a:off x="3739896" y="960120"/>
            <a:ext cx="1600200" cy="1371600"/>
          </a:xfrm>
          <a:prstGeom prst="roundRect">
            <a:avLst>
              <a:gd name="adj" fmla="val 5333"/>
            </a:avLst>
          </a:prstGeom>
          <a:solidFill>
            <a:srgbClr val="FFFFFF"/>
          </a:solidFill>
          <a:ln w="25400">
            <a:solidFill>
              <a:srgbClr val="F57C00"/>
            </a:solidFill>
            <a:prstDash val="solid"/>
          </a:ln>
        </p:spPr>
      </p:sp>
      <p:sp>
        <p:nvSpPr>
          <p:cNvPr id="14" name="Text 12"/>
          <p:cNvSpPr/>
          <p:nvPr/>
        </p:nvSpPr>
        <p:spPr>
          <a:xfrm>
            <a:off x="3739896" y="1005840"/>
            <a:ext cx="1600200" cy="320040"/>
          </a:xfrm>
          <a:prstGeom prst="rect">
            <a:avLst/>
          </a:prstGeom>
          <a:noFill/>
          <a:ln/>
        </p:spPr>
        <p:txBody>
          <a:bodyPr wrap="square" rtlCol="0" anchor="ctr"/>
          <a:lstStyle/>
          <a:p>
            <a:pPr algn="ctr" indent="0" marL="0">
              <a:buNone/>
            </a:pPr>
            <a:r>
              <a:rPr lang="en-US" sz="1800" b="1" dirty="0">
                <a:solidFill>
                  <a:srgbClr val="F57C00"/>
                </a:solidFill>
                <a:latin typeface="Cambria" pitchFamily="34" charset="0"/>
                <a:ea typeface="Cambria" pitchFamily="34" charset="-122"/>
                <a:cs typeface="Cambria" pitchFamily="34" charset="-120"/>
              </a:rPr>
              <a:t>?</a:t>
            </a:r>
            <a:endParaRPr lang="en-US" sz="1800" dirty="0"/>
          </a:p>
        </p:txBody>
      </p:sp>
      <p:sp>
        <p:nvSpPr>
          <p:cNvPr id="15" name="Text 13"/>
          <p:cNvSpPr/>
          <p:nvPr/>
        </p:nvSpPr>
        <p:spPr>
          <a:xfrm>
            <a:off x="3813048" y="1371600"/>
            <a:ext cx="1453896" cy="914400"/>
          </a:xfrm>
          <a:prstGeom prst="rect">
            <a:avLst/>
          </a:prstGeom>
          <a:noFill/>
          <a:ln/>
        </p:spPr>
        <p:txBody>
          <a:bodyPr wrap="square" rtlCol="0" anchor="t"/>
          <a:lstStyle/>
          <a:p>
            <a:pPr algn="ctr" indent="0" marL="0">
              <a:buNone/>
            </a:pPr>
            <a:r>
              <a:rPr lang="en-US" sz="950" dirty="0">
                <a:solidFill>
                  <a:srgbClr val="5A4D3E"/>
                </a:solidFill>
                <a:latin typeface="Calibri" pitchFamily="34" charset="0"/>
                <a:ea typeface="Calibri" pitchFamily="34" charset="-122"/>
                <a:cs typeface="Calibri" pitchFamily="34" charset="-120"/>
              </a:rPr>
              <a:t>full cloud cover, rain may follow</a:t>
            </a:r>
            <a:endParaRPr lang="en-US" sz="950" dirty="0"/>
          </a:p>
        </p:txBody>
      </p:sp>
      <p:sp>
        <p:nvSpPr>
          <p:cNvPr id="16" name="Shape 14"/>
          <p:cNvSpPr/>
          <p:nvPr/>
        </p:nvSpPr>
        <p:spPr>
          <a:xfrm>
            <a:off x="5449824" y="960120"/>
            <a:ext cx="1600200" cy="1371600"/>
          </a:xfrm>
          <a:prstGeom prst="roundRect">
            <a:avLst>
              <a:gd name="adj" fmla="val 5333"/>
            </a:avLst>
          </a:prstGeom>
          <a:solidFill>
            <a:srgbClr val="FFFFFF"/>
          </a:solidFill>
          <a:ln w="25400">
            <a:solidFill>
              <a:srgbClr val="F57C00"/>
            </a:solidFill>
            <a:prstDash val="solid"/>
          </a:ln>
        </p:spPr>
      </p:sp>
      <p:sp>
        <p:nvSpPr>
          <p:cNvPr id="17" name="Text 15"/>
          <p:cNvSpPr/>
          <p:nvPr/>
        </p:nvSpPr>
        <p:spPr>
          <a:xfrm>
            <a:off x="5449824" y="1005840"/>
            <a:ext cx="1600200" cy="320040"/>
          </a:xfrm>
          <a:prstGeom prst="rect">
            <a:avLst/>
          </a:prstGeom>
          <a:noFill/>
          <a:ln/>
        </p:spPr>
        <p:txBody>
          <a:bodyPr wrap="square" rtlCol="0" anchor="ctr"/>
          <a:lstStyle/>
          <a:p>
            <a:pPr algn="ctr" indent="0" marL="0">
              <a:buNone/>
            </a:pPr>
            <a:r>
              <a:rPr lang="en-US" sz="1800" b="1" dirty="0">
                <a:solidFill>
                  <a:srgbClr val="F57C00"/>
                </a:solidFill>
                <a:latin typeface="Cambria" pitchFamily="34" charset="0"/>
                <a:ea typeface="Cambria" pitchFamily="34" charset="-122"/>
                <a:cs typeface="Cambria" pitchFamily="34" charset="-120"/>
              </a:rPr>
              <a:t>?</a:t>
            </a:r>
            <a:endParaRPr lang="en-US" sz="1800" dirty="0"/>
          </a:p>
        </p:txBody>
      </p:sp>
      <p:sp>
        <p:nvSpPr>
          <p:cNvPr id="18" name="Text 16"/>
          <p:cNvSpPr/>
          <p:nvPr/>
        </p:nvSpPr>
        <p:spPr>
          <a:xfrm>
            <a:off x="5522976" y="1371600"/>
            <a:ext cx="1453896" cy="914400"/>
          </a:xfrm>
          <a:prstGeom prst="rect">
            <a:avLst/>
          </a:prstGeom>
          <a:noFill/>
          <a:ln/>
        </p:spPr>
        <p:txBody>
          <a:bodyPr wrap="square" rtlCol="0" anchor="t"/>
          <a:lstStyle/>
          <a:p>
            <a:pPr algn="ctr" indent="0" marL="0">
              <a:buNone/>
            </a:pPr>
            <a:r>
              <a:rPr lang="en-US" sz="950" dirty="0">
                <a:solidFill>
                  <a:srgbClr val="5A4D3E"/>
                </a:solidFill>
                <a:latin typeface="Calibri" pitchFamily="34" charset="0"/>
                <a:ea typeface="Calibri" pitchFamily="34" charset="-122"/>
                <a:cs typeface="Calibri" pitchFamily="34" charset="-120"/>
              </a:rPr>
              <a:t>precipitation falling, cool temps</a:t>
            </a:r>
            <a:endParaRPr lang="en-US" sz="950" dirty="0"/>
          </a:p>
        </p:txBody>
      </p:sp>
      <p:sp>
        <p:nvSpPr>
          <p:cNvPr id="19" name="Shape 17"/>
          <p:cNvSpPr/>
          <p:nvPr/>
        </p:nvSpPr>
        <p:spPr>
          <a:xfrm>
            <a:off x="7159752" y="960120"/>
            <a:ext cx="1600200" cy="1371600"/>
          </a:xfrm>
          <a:prstGeom prst="roundRect">
            <a:avLst>
              <a:gd name="adj" fmla="val 5333"/>
            </a:avLst>
          </a:prstGeom>
          <a:solidFill>
            <a:srgbClr val="FFFFFF"/>
          </a:solidFill>
          <a:ln w="25400">
            <a:solidFill>
              <a:srgbClr val="F57C00"/>
            </a:solidFill>
            <a:prstDash val="solid"/>
          </a:ln>
        </p:spPr>
      </p:sp>
      <p:sp>
        <p:nvSpPr>
          <p:cNvPr id="20" name="Text 18"/>
          <p:cNvSpPr/>
          <p:nvPr/>
        </p:nvSpPr>
        <p:spPr>
          <a:xfrm>
            <a:off x="7159752" y="1005840"/>
            <a:ext cx="1600200" cy="320040"/>
          </a:xfrm>
          <a:prstGeom prst="rect">
            <a:avLst/>
          </a:prstGeom>
          <a:noFill/>
          <a:ln/>
        </p:spPr>
        <p:txBody>
          <a:bodyPr wrap="square" rtlCol="0" anchor="ctr"/>
          <a:lstStyle/>
          <a:p>
            <a:pPr algn="ctr" indent="0" marL="0">
              <a:buNone/>
            </a:pPr>
            <a:r>
              <a:rPr lang="en-US" sz="1800" b="1" dirty="0">
                <a:solidFill>
                  <a:srgbClr val="F57C00"/>
                </a:solidFill>
                <a:latin typeface="Cambria" pitchFamily="34" charset="0"/>
                <a:ea typeface="Cambria" pitchFamily="34" charset="-122"/>
                <a:cs typeface="Cambria" pitchFamily="34" charset="-120"/>
              </a:rPr>
              <a:t>?</a:t>
            </a:r>
            <a:endParaRPr lang="en-US" sz="1800" dirty="0"/>
          </a:p>
        </p:txBody>
      </p:sp>
      <p:sp>
        <p:nvSpPr>
          <p:cNvPr id="21" name="Text 19"/>
          <p:cNvSpPr/>
          <p:nvPr/>
        </p:nvSpPr>
        <p:spPr>
          <a:xfrm>
            <a:off x="7232904" y="1371600"/>
            <a:ext cx="1453896" cy="914400"/>
          </a:xfrm>
          <a:prstGeom prst="rect">
            <a:avLst/>
          </a:prstGeom>
          <a:noFill/>
          <a:ln/>
        </p:spPr>
        <p:txBody>
          <a:bodyPr wrap="square" rtlCol="0" anchor="t"/>
          <a:lstStyle/>
          <a:p>
            <a:pPr algn="ctr" indent="0" marL="0">
              <a:buNone/>
            </a:pPr>
            <a:r>
              <a:rPr lang="en-US" sz="950" dirty="0">
                <a:solidFill>
                  <a:srgbClr val="5A4D3E"/>
                </a:solidFill>
                <a:latin typeface="Calibri" pitchFamily="34" charset="0"/>
                <a:ea typeface="Calibri" pitchFamily="34" charset="-122"/>
                <a:cs typeface="Calibri" pitchFamily="34" charset="-120"/>
              </a:rPr>
              <a:t>heavy rain &amp; wind, lightning possible</a:t>
            </a:r>
            <a:endParaRPr lang="en-US" sz="950" dirty="0"/>
          </a:p>
        </p:txBody>
      </p:sp>
      <p:sp>
        <p:nvSpPr>
          <p:cNvPr id="22" name="Shape 20"/>
          <p:cNvSpPr/>
          <p:nvPr/>
        </p:nvSpPr>
        <p:spPr>
          <a:xfrm>
            <a:off x="320040" y="2468880"/>
            <a:ext cx="8503920" cy="822960"/>
          </a:xfrm>
          <a:prstGeom prst="roundRect">
            <a:avLst>
              <a:gd name="adj" fmla="val 8889"/>
            </a:avLst>
          </a:prstGeom>
          <a:solidFill>
            <a:srgbClr val="FFF9E8"/>
          </a:solidFill>
          <a:ln w="19050">
            <a:solidFill>
              <a:srgbClr val="F9A825"/>
            </a:solidFill>
            <a:prstDash val="solid"/>
          </a:ln>
        </p:spPr>
      </p:sp>
      <p:sp>
        <p:nvSpPr>
          <p:cNvPr id="23" name="Text 21"/>
          <p:cNvSpPr/>
          <p:nvPr/>
        </p:nvSpPr>
        <p:spPr>
          <a:xfrm>
            <a:off x="502920" y="254203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24" name="Text 22"/>
          <p:cNvSpPr/>
          <p:nvPr/>
        </p:nvSpPr>
        <p:spPr>
          <a:xfrm>
            <a:off x="502920" y="2761488"/>
            <a:ext cx="8138160" cy="47548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Before I reveal each zone: what do you notice connects clouds to rain across these five conditions? What do you wonder comes right before a storm?</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EXPLAIN · SAY IT BEFORE WE SHOW IT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We Just Figured Out</a:t>
            </a:r>
            <a:endParaRPr lang="en-US" sz="2100" dirty="0"/>
          </a:p>
        </p:txBody>
      </p:sp>
      <p:sp>
        <p:nvSpPr>
          <p:cNvPr id="7" name="Shape 5"/>
          <p:cNvSpPr/>
          <p:nvPr/>
        </p:nvSpPr>
        <p:spPr>
          <a:xfrm>
            <a:off x="320040" y="1005840"/>
            <a:ext cx="8503920" cy="840423"/>
          </a:xfrm>
          <a:prstGeom prst="roundRect">
            <a:avLst>
              <a:gd name="adj" fmla="val 8704"/>
            </a:avLst>
          </a:prstGeom>
          <a:solidFill>
            <a:srgbClr val="EEF8F0"/>
          </a:solidFill>
          <a:ln w="19050">
            <a:solidFill>
              <a:srgbClr val="52B788"/>
            </a:solidFill>
            <a:prstDash val="solid"/>
          </a:ln>
        </p:spPr>
      </p:sp>
      <p:sp>
        <p:nvSpPr>
          <p:cNvPr id="8" name="Text 6"/>
          <p:cNvSpPr/>
          <p:nvPr/>
        </p:nvSpPr>
        <p:spPr>
          <a:xfrm>
            <a:off x="502920" y="107899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9" name="Text 7"/>
          <p:cNvSpPr/>
          <p:nvPr/>
        </p:nvSpPr>
        <p:spPr>
          <a:xfrm>
            <a:off x="502920" y="1335024"/>
            <a:ext cx="8138160" cy="456375"/>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In your own words -- what's the difference between weather and climate, and why do patterns matter?</a:t>
            </a:r>
            <a:endParaRPr lang="en-US" sz="1250" dirty="0"/>
          </a:p>
        </p:txBody>
      </p:sp>
      <p:sp>
        <p:nvSpPr>
          <p:cNvPr id="10" name="Shape 8"/>
          <p:cNvSpPr/>
          <p:nvPr/>
        </p:nvSpPr>
        <p:spPr>
          <a:xfrm>
            <a:off x="320040" y="1983423"/>
            <a:ext cx="8503920" cy="868680"/>
          </a:xfrm>
          <a:prstGeom prst="roundRect">
            <a:avLst>
              <a:gd name="adj" fmla="val 8421"/>
            </a:avLst>
          </a:prstGeom>
          <a:solidFill>
            <a:srgbClr val="F0F8E8"/>
          </a:solidFill>
          <a:ln w="19050">
            <a:solidFill>
              <a:srgbClr val="C8E0B8"/>
            </a:solidFill>
            <a:prstDash val="solid"/>
          </a:ln>
        </p:spPr>
      </p:sp>
      <p:sp>
        <p:nvSpPr>
          <p:cNvPr id="11" name="Text 9"/>
          <p:cNvSpPr/>
          <p:nvPr/>
        </p:nvSpPr>
        <p:spPr>
          <a:xfrm>
            <a:off x="502920" y="2056575"/>
            <a:ext cx="8138160" cy="219456"/>
          </a:xfrm>
          <a:prstGeom prst="rect">
            <a:avLst/>
          </a:prstGeom>
          <a:noFill/>
          <a:ln/>
        </p:spPr>
        <p:txBody>
          <a:bodyPr wrap="square" rtlCol="0" anchor="ctr"/>
          <a:lstStyle/>
          <a:p>
            <a:pPr indent="0" marL="0">
              <a:buNone/>
            </a:pPr>
            <a:r>
              <a:rPr lang="en-US" sz="1100" b="1" spc="100" kern="0" dirty="0">
                <a:solidFill>
                  <a:srgbClr val="558B2F"/>
                </a:solidFill>
                <a:latin typeface="Calibri" pitchFamily="34" charset="0"/>
                <a:ea typeface="Calibri" pitchFamily="34" charset="-122"/>
                <a:cs typeface="Calibri" pitchFamily="34" charset="-120"/>
              </a:rPr>
              <a:t>COMPARE YOUR IDEA TO THIS</a:t>
            </a:r>
            <a:endParaRPr lang="en-US" sz="1100" dirty="0"/>
          </a:p>
        </p:txBody>
      </p:sp>
      <p:sp>
        <p:nvSpPr>
          <p:cNvPr id="12" name="Text 10"/>
          <p:cNvSpPr/>
          <p:nvPr/>
        </p:nvSpPr>
        <p:spPr>
          <a:xfrm>
            <a:off x="502920" y="2276031"/>
            <a:ext cx="8138160" cy="521208"/>
          </a:xfrm>
          <a:prstGeom prst="rect">
            <a:avLst/>
          </a:prstGeom>
          <a:noFill/>
          <a:ln/>
        </p:spPr>
        <p:txBody>
          <a:bodyPr wrap="square" rtlCol="0" anchor="t"/>
          <a:lstStyle/>
          <a:p>
            <a:pPr indent="0" marL="0">
              <a:lnSpc>
                <a:spcPts val="1800"/>
              </a:lnSpc>
              <a:buNone/>
            </a:pPr>
            <a:r>
              <a:rPr lang="en-US" sz="1400" b="1" dirty="0">
                <a:solidFill>
                  <a:srgbClr val="2B1D12"/>
                </a:solidFill>
                <a:latin typeface="Calibri" pitchFamily="34" charset="0"/>
                <a:ea typeface="Calibri" pitchFamily="34" charset="-122"/>
                <a:cs typeface="Calibri" pitchFamily="34" charset="-120"/>
              </a:rPr>
              <a:t>Weather describes what the atmosphere is doing right now. Climate is the long-term pattern of weather for a place over many years.</a:t>
            </a:r>
            <a:endParaRPr lang="en-US" sz="1400" dirty="0"/>
          </a:p>
          <a:p>
            <a:pPr indent="0" marL="0">
              <a:lnSpc>
                <a:spcPts val="1800"/>
              </a:lnSpc>
              <a:buNone/>
            </a:pPr>
            <a:endParaRPr lang="en-US" sz="1400" dirty="0"/>
          </a:p>
          <a:p>
            <a:pPr indent="0" marL="0">
              <a:lnSpc>
                <a:spcPts val="1800"/>
              </a:lnSpc>
              <a:buNone/>
            </a:pPr>
            <a:r>
              <a:rPr lang="en-US" sz="1400" b="1" dirty="0">
                <a:solidFill>
                  <a:srgbClr val="2B1D12"/>
                </a:solidFill>
                <a:latin typeface="Calibri" pitchFamily="34" charset="0"/>
                <a:ea typeface="Calibri" pitchFamily="34" charset="-122"/>
                <a:cs typeface="Calibri" pitchFamily="34" charset="-120"/>
              </a:rPr>
              <a:t>When scientists record weather data day after day, they start to see patterns. Those patterns let them predict what weather is likely to come next -- and help people stay safe.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ELABORATE · WHY PREDICTIONS MATTER</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More Power Than a Bomb</a:t>
            </a:r>
            <a:endParaRPr lang="en-US" sz="2100" dirty="0"/>
          </a:p>
        </p:txBody>
      </p:sp>
      <p:sp>
        <p:nvSpPr>
          <p:cNvPr id="7" name="Text 5"/>
          <p:cNvSpPr/>
          <p:nvPr/>
        </p:nvSpPr>
        <p:spPr>
          <a:xfrm>
            <a:off x="320040" y="960120"/>
            <a:ext cx="8503920" cy="1051560"/>
          </a:xfrm>
          <a:prstGeom prst="rect">
            <a:avLst/>
          </a:prstGeom>
          <a:noFill/>
          <a:ln/>
        </p:spPr>
        <p:txBody>
          <a:bodyPr wrap="square" rtlCol="0" anchor="t"/>
          <a:lstStyle/>
          <a:p>
            <a:pPr indent="0" marL="0">
              <a:lnSpc>
                <a:spcPts val="2000"/>
              </a:lnSpc>
              <a:buNone/>
            </a:pPr>
            <a:r>
              <a:rPr lang="en-US" sz="1450" dirty="0">
                <a:solidFill>
                  <a:srgbClr val="2B1D12"/>
                </a:solidFill>
                <a:latin typeface="Calibri" pitchFamily="34" charset="0"/>
                <a:ea typeface="Calibri" pitchFamily="34" charset="-122"/>
                <a:cs typeface="Calibri" pitchFamily="34" charset="-120"/>
              </a:rPr>
              <a:t>A single Florida thunderstorm can release more energy than an atomic bomb. That power comes from warm, humid air rising -- which is why Florida has more lightning strikes per square mile than almost anywhere else on Earth. Meteorologists' predictions don't just help people plan a picnic -- they help communities prepare for floods and hurricanes.</a:t>
            </a:r>
            <a:endParaRPr lang="en-US" sz="1450" dirty="0"/>
          </a:p>
        </p:txBody>
      </p:sp>
      <p:sp>
        <p:nvSpPr>
          <p:cNvPr id="8" name="Shape 6"/>
          <p:cNvSpPr/>
          <p:nvPr/>
        </p:nvSpPr>
        <p:spPr>
          <a:xfrm>
            <a:off x="320040" y="2103120"/>
            <a:ext cx="8503920" cy="1688338"/>
          </a:xfrm>
          <a:prstGeom prst="roundRect">
            <a:avLst>
              <a:gd name="adj" fmla="val 4333"/>
            </a:avLst>
          </a:prstGeom>
          <a:solidFill>
            <a:srgbClr val="EEF8F0"/>
          </a:solidFill>
          <a:ln w="19050">
            <a:solidFill>
              <a:srgbClr val="52B788"/>
            </a:solidFill>
            <a:prstDash val="solid"/>
          </a:ln>
        </p:spPr>
      </p:sp>
      <p:sp>
        <p:nvSpPr>
          <p:cNvPr id="9" name="Text 7"/>
          <p:cNvSpPr/>
          <p:nvPr/>
        </p:nvSpPr>
        <p:spPr>
          <a:xfrm>
            <a:off x="502920" y="217627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2432304"/>
            <a:ext cx="8138160" cy="1304290"/>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What did you observe in this fact that surprised you? Start with: "I noticed that..."</a:t>
            </a:r>
            <a:endParaRPr lang="en-US" sz="1250" dirty="0"/>
          </a:p>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What does that tell you about why predicting weather patterns really matters? Start with: "That tells me..."</a:t>
            </a:r>
            <a:endParaRPr lang="en-US" sz="1250" dirty="0"/>
          </a:p>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Why do you think that? Start with: "I think that because..."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EXPLORE · INVESTIGATION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Start Your Weather Observation Log</a:t>
            </a:r>
            <a:endParaRPr lang="en-US" sz="2100" dirty="0"/>
          </a:p>
        </p:txBody>
      </p:sp>
      <p:sp>
        <p:nvSpPr>
          <p:cNvPr id="7" name="Text 5"/>
          <p:cNvSpPr/>
          <p:nvPr/>
        </p:nvSpPr>
        <p:spPr>
          <a:xfrm>
            <a:off x="320040" y="960120"/>
            <a:ext cx="8503920" cy="1005840"/>
          </a:xfrm>
          <a:prstGeom prst="rect">
            <a:avLst/>
          </a:prstGeom>
          <a:noFill/>
          <a:ln/>
        </p:spPr>
        <p:txBody>
          <a:bodyPr wrap="square" rtlCol="0" anchor="t"/>
          <a:lstStyle/>
          <a:p>
            <a:pPr indent="0" marL="0">
              <a:lnSpc>
                <a:spcPts val="2000"/>
              </a:lnSpc>
              <a:buNone/>
            </a:pPr>
            <a:r>
              <a:rPr lang="en-US" sz="1450" dirty="0">
                <a:solidFill>
                  <a:srgbClr val="2B1D12"/>
                </a:solidFill>
                <a:latin typeface="Calibri" pitchFamily="34" charset="0"/>
                <a:ea typeface="Calibri" pitchFamily="34" charset="-122"/>
                <a:cs typeface="Calibri" pitchFamily="34" charset="-120"/>
              </a:rPr>
              <a:t>You'll need: science notebook, pencil, colored pencils, and a way to check today's weather -- a window or a weather app. Title a new page "Weather Observation Log" and write today's date. You'll use this same format for several more days.</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EXPLORE · INVESTIGATION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Record Today's Conditions</a:t>
            </a:r>
            <a:endParaRPr lang="en-US" sz="2100" dirty="0"/>
          </a:p>
        </p:txBody>
      </p:sp>
      <p:sp>
        <p:nvSpPr>
          <p:cNvPr id="7" name="Text 5"/>
          <p:cNvSpPr/>
          <p:nvPr/>
        </p:nvSpPr>
        <p:spPr>
          <a:xfrm>
            <a:off x="320040" y="960120"/>
            <a:ext cx="8503920" cy="1005840"/>
          </a:xfrm>
          <a:prstGeom prst="rect">
            <a:avLst/>
          </a:prstGeom>
          <a:noFill/>
          <a:ln/>
        </p:spPr>
        <p:txBody>
          <a:bodyPr wrap="square" rtlCol="0" anchor="t"/>
          <a:lstStyle/>
          <a:p>
            <a:pPr indent="0" marL="0">
              <a:lnSpc>
                <a:spcPts val="2000"/>
              </a:lnSpc>
              <a:buNone/>
            </a:pPr>
            <a:r>
              <a:rPr lang="en-US" sz="1450" dirty="0">
                <a:solidFill>
                  <a:srgbClr val="2B1D12"/>
                </a:solidFill>
                <a:latin typeface="Calibri" pitchFamily="34" charset="0"/>
                <a:ea typeface="Calibri" pitchFamily="34" charset="-122"/>
                <a:cs typeface="Calibri" pitchFamily="34" charset="-120"/>
              </a:rPr>
              <a:t>Draw a table with four columns: Temperature, Clouds, Precipitation, Wind. Look outside or check a weather report, then fill in a row for today. Use the actual number for temperature. Be specific -- "partly cloudy with high thin clouds" beats "cloudy."</a:t>
            </a:r>
            <a:endParaRPr lang="en-US" sz="1450" dirty="0"/>
          </a:p>
        </p:txBody>
      </p:sp>
      <p:sp>
        <p:nvSpPr>
          <p:cNvPr id="8" name="Shape 6"/>
          <p:cNvSpPr/>
          <p:nvPr/>
        </p:nvSpPr>
        <p:spPr>
          <a:xfrm>
            <a:off x="320040" y="2057400"/>
            <a:ext cx="8503920" cy="502920"/>
          </a:xfrm>
          <a:prstGeom prst="roundRect">
            <a:avLst>
              <a:gd name="adj" fmla="val 14545"/>
            </a:avLst>
          </a:prstGeom>
          <a:solidFill>
            <a:srgbClr val="FFF3E0"/>
          </a:solidFill>
          <a:ln w="19050">
            <a:solidFill>
              <a:srgbClr val="F57C00"/>
            </a:solidFill>
            <a:prstDash val="solid"/>
          </a:ln>
        </p:spPr>
      </p:sp>
      <p:sp>
        <p:nvSpPr>
          <p:cNvPr id="9" name="Text 7"/>
          <p:cNvSpPr/>
          <p:nvPr/>
        </p:nvSpPr>
        <p:spPr>
          <a:xfrm>
            <a:off x="502920" y="211226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0" name="Text 8"/>
          <p:cNvSpPr/>
          <p:nvPr/>
        </p:nvSpPr>
        <p:spPr>
          <a:xfrm>
            <a:off x="502920" y="227685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Chat: share your temperature reading and one specific cloud description.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EXPLORE · INVESTIGATION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Draw the Sky, Then Predict</a:t>
            </a:r>
            <a:endParaRPr lang="en-US" sz="2100" dirty="0"/>
          </a:p>
        </p:txBody>
      </p:sp>
      <p:sp>
        <p:nvSpPr>
          <p:cNvPr id="7" name="Text 5"/>
          <p:cNvSpPr/>
          <p:nvPr/>
        </p:nvSpPr>
        <p:spPr>
          <a:xfrm>
            <a:off x="320040" y="960120"/>
            <a:ext cx="8503920" cy="1005840"/>
          </a:xfrm>
          <a:prstGeom prst="rect">
            <a:avLst/>
          </a:prstGeom>
          <a:noFill/>
          <a:ln/>
        </p:spPr>
        <p:txBody>
          <a:bodyPr wrap="square" rtlCol="0" anchor="t"/>
          <a:lstStyle/>
          <a:p>
            <a:pPr indent="0" marL="0">
              <a:lnSpc>
                <a:spcPts val="2000"/>
              </a:lnSpc>
              <a:buNone/>
            </a:pPr>
            <a:r>
              <a:rPr lang="en-US" sz="1450" dirty="0">
                <a:solidFill>
                  <a:srgbClr val="2B1D12"/>
                </a:solidFill>
                <a:latin typeface="Calibri" pitchFamily="34" charset="0"/>
                <a:ea typeface="Calibri" pitchFamily="34" charset="-122"/>
                <a:cs typeface="Calibri" pitchFamily="34" charset="-120"/>
              </a:rPr>
              <a:t>Draw what the sky actually looks like today -- clouds, sun (or no sun), rain or wind. Label what you drew.</a:t>
            </a:r>
            <a:endParaRPr lang="en-US" sz="1450" dirty="0"/>
          </a:p>
          <a:p>
            <a:pPr indent="0" marL="0">
              <a:lnSpc>
                <a:spcPts val="2000"/>
              </a:lnSpc>
              <a:buNone/>
            </a:pPr>
            <a:endParaRPr lang="en-US" sz="1450" dirty="0"/>
          </a:p>
          <a:p>
            <a:pPr indent="0" marL="0">
              <a:lnSpc>
                <a:spcPts val="2000"/>
              </a:lnSpc>
              <a:buNone/>
            </a:pPr>
            <a:r>
              <a:rPr lang="en-US" sz="1450" dirty="0">
                <a:solidFill>
                  <a:srgbClr val="2B1D12"/>
                </a:solidFill>
                <a:latin typeface="Calibri" pitchFamily="34" charset="0"/>
                <a:ea typeface="Calibri" pitchFamily="34" charset="-122"/>
                <a:cs typeface="Calibri" pitchFamily="34" charset="-120"/>
              </a:rPr>
              <a:t>Then write a prediction: based on today, what do you predict tomorrow's weather will be like -- and why?</a:t>
            </a:r>
            <a:endParaRPr lang="en-US" sz="1450" dirty="0"/>
          </a:p>
        </p:txBody>
      </p:sp>
      <p:sp>
        <p:nvSpPr>
          <p:cNvPr id="8" name="Shape 6"/>
          <p:cNvSpPr/>
          <p:nvPr/>
        </p:nvSpPr>
        <p:spPr>
          <a:xfrm>
            <a:off x="320040" y="2057400"/>
            <a:ext cx="8503920" cy="840423"/>
          </a:xfrm>
          <a:prstGeom prst="roundRect">
            <a:avLst>
              <a:gd name="adj" fmla="val 8704"/>
            </a:avLst>
          </a:prstGeom>
          <a:solidFill>
            <a:srgbClr val="EEF8F0"/>
          </a:solidFill>
          <a:ln w="19050">
            <a:solidFill>
              <a:srgbClr val="52B788"/>
            </a:solidFill>
            <a:prstDash val="solid"/>
          </a:ln>
        </p:spPr>
      </p:sp>
      <p:sp>
        <p:nvSpPr>
          <p:cNvPr id="9" name="Text 7"/>
          <p:cNvSpPr/>
          <p:nvPr/>
        </p:nvSpPr>
        <p:spPr>
          <a:xfrm>
            <a:off x="502920" y="213055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2386584"/>
            <a:ext cx="8138160" cy="456375"/>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Is your observation today about WEATHER or about CLIMATE? How do you know the difference?</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EXPLAIN · TALK IT THROUGH</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Pattern Are You Noticing?</a:t>
            </a:r>
            <a:endParaRPr lang="en-US" sz="2100" dirty="0"/>
          </a:p>
        </p:txBody>
      </p:sp>
      <p:sp>
        <p:nvSpPr>
          <p:cNvPr id="7" name="Shape 5"/>
          <p:cNvSpPr/>
          <p:nvPr/>
        </p:nvSpPr>
        <p:spPr>
          <a:xfrm>
            <a:off x="320040" y="960120"/>
            <a:ext cx="8503920" cy="2180463"/>
          </a:xfrm>
          <a:prstGeom prst="roundRect">
            <a:avLst>
              <a:gd name="adj" fmla="val 3355"/>
            </a:avLst>
          </a:prstGeom>
          <a:solidFill>
            <a:srgbClr val="EEF8F0"/>
          </a:solidFill>
          <a:ln w="19050">
            <a:solidFill>
              <a:srgbClr val="52B788"/>
            </a:solidFill>
            <a:prstDash val="solid"/>
          </a:ln>
        </p:spPr>
      </p:sp>
      <p:sp>
        <p:nvSpPr>
          <p:cNvPr id="8" name="Text 6"/>
          <p:cNvSpPr/>
          <p:nvPr/>
        </p:nvSpPr>
        <p:spPr>
          <a:xfrm>
            <a:off x="502920" y="103327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9" name="Text 7"/>
          <p:cNvSpPr/>
          <p:nvPr/>
        </p:nvSpPr>
        <p:spPr>
          <a:xfrm>
            <a:off x="502920" y="1289304"/>
            <a:ext cx="8138160" cy="1796415"/>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What did you notice about the clouds today? What does that cloud condition usually come before or after?</a:t>
            </a:r>
            <a:endParaRPr lang="en-US" sz="1250" dirty="0"/>
          </a:p>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Your prediction is based on today's weather. What evidence did you use? Could someone disagree with your prediction, and why?</a:t>
            </a:r>
            <a:endParaRPr lang="en-US" sz="1250" dirty="0"/>
          </a:p>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Why does it matter that meteorologists can predict dangerous weather? Think of a specific situation where a prediction might protect someone.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EVALUATE · SELF-CHECK</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Quick Check 1</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Florida usually has hot, rainy summers every year. Is this weather, climate, or precipitation?</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Chat: your answer AND why it isn't just "weather."</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EVALUATE · SELF-CHECK</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Quick Check 1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Climate -- it's the long-term expected pattern for that area, not a single event.</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EVALUATE · SELF-CHECK</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Quick Check 2</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Which of these is an example of weather, not climate: the Amazon gets 80 inches of rain a year, the Sahara is hot and dry year-round, or it rained in our city last Thursday?</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Chat: your answer AND why the other two describe climate instead.</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EVALUATE · SELF-CHECK</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Quick Check 2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It rained in our city last Thursday -- one specific event, at one time, in one place.</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PREVIEW · PART A</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Identify &amp; Label</a:t>
            </a:r>
            <a:endParaRPr lang="en-US" sz="2100" dirty="0"/>
          </a:p>
        </p:txBody>
      </p:sp>
      <p:sp>
        <p:nvSpPr>
          <p:cNvPr id="7" name="Text 5"/>
          <p:cNvSpPr/>
          <p:nvPr/>
        </p:nvSpPr>
        <p:spPr>
          <a:xfrm>
            <a:off x="320040" y="960120"/>
            <a:ext cx="8503920" cy="1005840"/>
          </a:xfrm>
          <a:prstGeom prst="rect">
            <a:avLst/>
          </a:prstGeom>
          <a:noFill/>
          <a:ln/>
        </p:spPr>
        <p:txBody>
          <a:bodyPr wrap="square" rtlCol="0" anchor="t"/>
          <a:lstStyle/>
          <a:p>
            <a:pPr indent="0" marL="0">
              <a:lnSpc>
                <a:spcPts val="2000"/>
              </a:lnSpc>
              <a:buNone/>
            </a:pPr>
            <a:r>
              <a:rPr lang="en-US" sz="1450" dirty="0">
                <a:solidFill>
                  <a:srgbClr val="2B1D12"/>
                </a:solidFill>
                <a:latin typeface="Calibri" pitchFamily="34" charset="0"/>
                <a:ea typeface="Calibri" pitchFamily="34" charset="-122"/>
                <a:cs typeface="Calibri" pitchFamily="34" charset="-120"/>
              </a:rPr>
              <a:t>Look at the five weather conditions from the diagram you explored. In your notebook, draw all five weather symbols and label each one. Under each label, write one example of when that type of weather might happen -- be specific about the season or time of day.</a:t>
            </a:r>
            <a:endParaRPr lang="en-US" sz="1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PREVIEW · PART B</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Write &amp; Explain</a:t>
            </a:r>
            <a:endParaRPr lang="en-US" sz="2100" dirty="0"/>
          </a:p>
        </p:txBody>
      </p:sp>
      <p:sp>
        <p:nvSpPr>
          <p:cNvPr id="7" name="Text 5"/>
          <p:cNvSpPr/>
          <p:nvPr/>
        </p:nvSpPr>
        <p:spPr>
          <a:xfrm>
            <a:off x="320040" y="960120"/>
            <a:ext cx="8503920" cy="457200"/>
          </a:xfrm>
          <a:prstGeom prst="rect">
            <a:avLst/>
          </a:prstGeom>
          <a:noFill/>
          <a:ln/>
        </p:spPr>
        <p:txBody>
          <a:bodyPr wrap="square" rtlCol="0" anchor="t"/>
          <a:lstStyle/>
          <a:p>
            <a:pPr indent="0" marL="0">
              <a:lnSpc>
                <a:spcPts val="2000"/>
              </a:lnSpc>
              <a:buNone/>
            </a:pPr>
            <a:r>
              <a:rPr lang="en-US" sz="1450" b="1" dirty="0">
                <a:solidFill>
                  <a:srgbClr val="E65100"/>
                </a:solidFill>
                <a:latin typeface="Calibri" pitchFamily="34" charset="0"/>
                <a:ea typeface="Calibri" pitchFamily="34" charset="-122"/>
                <a:cs typeface="Calibri" pitchFamily="34" charset="-120"/>
              </a:rPr>
              <a:t>Think about the weather observation you recorded today.</a:t>
            </a:r>
            <a:endParaRPr lang="en-US" sz="1450" dirty="0"/>
          </a:p>
        </p:txBody>
      </p:sp>
      <p:sp>
        <p:nvSpPr>
          <p:cNvPr id="8" name="Shape 6"/>
          <p:cNvSpPr/>
          <p:nvPr/>
        </p:nvSpPr>
        <p:spPr>
          <a:xfrm>
            <a:off x="320040" y="1508760"/>
            <a:ext cx="8503920" cy="1934401"/>
          </a:xfrm>
          <a:prstGeom prst="roundRect">
            <a:avLst>
              <a:gd name="adj" fmla="val 3782"/>
            </a:avLst>
          </a:prstGeom>
          <a:solidFill>
            <a:srgbClr val="EEF8F0"/>
          </a:solidFill>
          <a:ln w="19050">
            <a:solidFill>
              <a:srgbClr val="52B788"/>
            </a:solidFill>
            <a:prstDash val="solid"/>
          </a:ln>
        </p:spPr>
      </p:sp>
      <p:sp>
        <p:nvSpPr>
          <p:cNvPr id="9" name="Text 7"/>
          <p:cNvSpPr/>
          <p:nvPr/>
        </p:nvSpPr>
        <p:spPr>
          <a:xfrm>
            <a:off x="502920" y="158191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1837944"/>
            <a:ext cx="8138160" cy="1550353"/>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What did you observe? Describe the specific conditions you recorded -- temperature, clouds, precipitation, and wind.</a:t>
            </a:r>
            <a:endParaRPr lang="en-US" sz="1250" dirty="0"/>
          </a:p>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What does that tell you? What type of weather pattern might be forming? What do you predict will come next?</a:t>
            </a:r>
            <a:endParaRPr lang="en-US" sz="1250" dirty="0"/>
          </a:p>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Why do you think that? Use one detail from your observation to explain your prediction.</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PREVIEW · PART C</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Draw &amp; Label</a:t>
            </a:r>
            <a:endParaRPr lang="en-US" sz="2100" dirty="0"/>
          </a:p>
        </p:txBody>
      </p:sp>
      <p:sp>
        <p:nvSpPr>
          <p:cNvPr id="7" name="Text 5"/>
          <p:cNvSpPr/>
          <p:nvPr/>
        </p:nvSpPr>
        <p:spPr>
          <a:xfrm>
            <a:off x="320040" y="960120"/>
            <a:ext cx="8503920" cy="914400"/>
          </a:xfrm>
          <a:prstGeom prst="rect">
            <a:avLst/>
          </a:prstGeom>
          <a:noFill/>
          <a:ln/>
        </p:spPr>
        <p:txBody>
          <a:bodyPr wrap="square" rtlCol="0" anchor="t"/>
          <a:lstStyle/>
          <a:p>
            <a:pPr indent="0" marL="0">
              <a:lnSpc>
                <a:spcPts val="2000"/>
              </a:lnSpc>
              <a:buNone/>
            </a:pPr>
            <a:r>
              <a:rPr lang="en-US" sz="1450" dirty="0">
                <a:solidFill>
                  <a:srgbClr val="2B1D12"/>
                </a:solidFill>
                <a:latin typeface="Calibri" pitchFamily="34" charset="0"/>
                <a:ea typeface="Calibri" pitchFamily="34" charset="-122"/>
                <a:cs typeface="Calibri" pitchFamily="34" charset="-120"/>
              </a:rPr>
              <a:t>Draw a labeled sketch of today's sky. Label at least 4 parts -- clouds (or lack of them), the sun, any precipitation, and the temperature in a corner. At the bottom, write one sentence describing what you see.</a:t>
            </a:r>
            <a:endParaRPr lang="en-US" sz="14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1C42"/>
          </a:solidFill>
          <a:ln/>
        </p:spPr>
      </p:sp>
      <p:sp>
        <p:nvSpPr>
          <p:cNvPr id="3" name="Shape 1"/>
          <p:cNvSpPr/>
          <p:nvPr/>
        </p:nvSpPr>
        <p:spPr>
          <a:xfrm>
            <a:off x="0" y="0"/>
            <a:ext cx="9144000" cy="5148072"/>
          </a:xfrm>
          <a:prstGeom prst="rect">
            <a:avLst/>
          </a:prstGeom>
          <a:solidFill>
            <a:srgbClr val="1A2D5A">
              <a:alpha val="45000"/>
            </a:srgbClr>
          </a:solidFill>
          <a:ln/>
        </p:spPr>
      </p:sp>
      <p:sp>
        <p:nvSpPr>
          <p:cNvPr id="4" name="Text 2"/>
          <p:cNvSpPr/>
          <p:nvPr/>
        </p:nvSpPr>
        <p:spPr>
          <a:xfrm>
            <a:off x="548640" y="548640"/>
            <a:ext cx="8046720" cy="64008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Great Work, Meteorologists!</a:t>
            </a:r>
            <a:endParaRPr lang="en-US" sz="2700" dirty="0"/>
          </a:p>
        </p:txBody>
      </p:sp>
      <p:sp>
        <p:nvSpPr>
          <p:cNvPr id="5" name="Text 3"/>
          <p:cNvSpPr/>
          <p:nvPr/>
        </p:nvSpPr>
        <p:spPr>
          <a:xfrm>
            <a:off x="548640" y="1280160"/>
            <a:ext cx="7863840" cy="77724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Today you noticed real weather, found a pattern in real data, separated weather from climate, and explained your thinking twice -- before we ever gave you a worksheet.</a:t>
            </a:r>
            <a:endParaRPr lang="en-US" sz="1400" dirty="0"/>
          </a:p>
        </p:txBody>
      </p:sp>
      <p:sp>
        <p:nvSpPr>
          <p:cNvPr id="6" name="Text 4"/>
          <p:cNvSpPr/>
          <p:nvPr/>
        </p:nvSpPr>
        <p:spPr>
          <a:xfrm>
            <a:off x="548640" y="2240280"/>
            <a:ext cx="7863840" cy="320040"/>
          </a:xfrm>
          <a:prstGeom prst="rect">
            <a:avLst/>
          </a:prstGeom>
          <a:noFill/>
          <a:ln/>
        </p:spPr>
        <p:txBody>
          <a:bodyPr wrap="square" rtlCol="0" anchor="ctr"/>
          <a:lstStyle/>
          <a:p>
            <a:pPr indent="0" marL="0">
              <a:buNone/>
            </a:pPr>
            <a:r>
              <a:rPr lang="en-US" sz="1300" b="1" dirty="0">
                <a:solidFill>
                  <a:srgbClr val="55C8E8"/>
                </a:solidFill>
                <a:latin typeface="Calibri" pitchFamily="34" charset="0"/>
                <a:ea typeface="Calibri" pitchFamily="34" charset="-122"/>
                <a:cs typeface="Calibri" pitchFamily="34" charset="-120"/>
              </a:rPr>
              <a:t>What to turn in:</a:t>
            </a:r>
            <a:endParaRPr lang="en-US" sz="1300" dirty="0"/>
          </a:p>
        </p:txBody>
      </p:sp>
      <p:sp>
        <p:nvSpPr>
          <p:cNvPr id="7" name="Text 5"/>
          <p:cNvSpPr/>
          <p:nvPr/>
        </p:nvSpPr>
        <p:spPr>
          <a:xfrm>
            <a:off x="548640" y="2560320"/>
            <a:ext cx="7863840" cy="1371600"/>
          </a:xfrm>
          <a:prstGeom prst="rect">
            <a:avLst/>
          </a:prstGeom>
          <a:noFill/>
          <a:ln/>
        </p:spPr>
        <p:txBody>
          <a:bodyPr wrap="square" rtlCol="0" anchor="ctr"/>
          <a:lstStyle/>
          <a:p>
            <a:pPr marL="342900" indent="-342900">
              <a:lnSpc>
                <a:spcPts val="2000"/>
              </a:lnSpc>
              <a:buSzPct val="100000"/>
              <a:buChar char="✓"/>
            </a:pPr>
            <a:r>
              <a:rPr lang="en-US" sz="1200" dirty="0">
                <a:solidFill>
                  <a:srgbClr val="FFFFFF"/>
                </a:solidFill>
                <a:latin typeface="Calibri" pitchFamily="34" charset="0"/>
                <a:ea typeface="Calibri" pitchFamily="34" charset="-122"/>
                <a:cs typeface="Calibri" pitchFamily="34" charset="-120"/>
              </a:rPr>
              <a:t>My completed Weather Observation Log -- conditions, drawing, and prediction</a:t>
            </a:r>
            <a:endParaRPr lang="en-US" sz="1200" dirty="0"/>
          </a:p>
          <a:p>
            <a:pPr marL="342900" indent="-342900">
              <a:lnSpc>
                <a:spcPts val="2000"/>
              </a:lnSpc>
              <a:buSzPct val="100000"/>
              <a:buChar char="✓"/>
            </a:pPr>
            <a:r>
              <a:rPr lang="en-US" sz="1200" dirty="0">
                <a:solidFill>
                  <a:srgbClr val="FFFFFF"/>
                </a:solidFill>
                <a:latin typeface="Calibri" pitchFamily="34" charset="0"/>
                <a:ea typeface="Calibri" pitchFamily="34" charset="-122"/>
                <a:cs typeface="Calibri" pitchFamily="34" charset="-120"/>
              </a:rPr>
              <a:t>Part A -- weather symbols drawn, labeled, with examples</a:t>
            </a:r>
            <a:endParaRPr lang="en-US" sz="1200" dirty="0"/>
          </a:p>
          <a:p>
            <a:pPr marL="342900" indent="-342900">
              <a:lnSpc>
                <a:spcPts val="2000"/>
              </a:lnSpc>
              <a:buSzPct val="100000"/>
              <a:buChar char="✓"/>
            </a:pPr>
            <a:r>
              <a:rPr lang="en-US" sz="1200" dirty="0">
                <a:solidFill>
                  <a:srgbClr val="FFFFFF"/>
                </a:solidFill>
                <a:latin typeface="Calibri" pitchFamily="34" charset="0"/>
                <a:ea typeface="Calibri" pitchFamily="34" charset="-122"/>
                <a:cs typeface="Calibri" pitchFamily="34" charset="-120"/>
              </a:rPr>
              <a:t>My Write &amp; Explain (Part B) response using a vocabulary word</a:t>
            </a:r>
            <a:endParaRPr lang="en-US" sz="1200" dirty="0"/>
          </a:p>
          <a:p>
            <a:pPr marL="342900" indent="-342900">
              <a:lnSpc>
                <a:spcPts val="2000"/>
              </a:lnSpc>
              <a:buSzPct val="100000"/>
              <a:buChar char="✓"/>
            </a:pPr>
            <a:r>
              <a:rPr lang="en-US" sz="1200" dirty="0">
                <a:solidFill>
                  <a:srgbClr val="FFFFFF"/>
                </a:solidFill>
                <a:latin typeface="Calibri" pitchFamily="34" charset="0"/>
                <a:ea typeface="Calibri" pitchFamily="34" charset="-122"/>
                <a:cs typeface="Calibri" pitchFamily="34" charset="-120"/>
              </a:rPr>
              <a:t>Part C -- labeled sky sketch with clouds, sun, precipitation, temperature</a:t>
            </a:r>
            <a:endParaRPr lang="en-US" sz="1200" dirty="0"/>
          </a:p>
        </p:txBody>
      </p:sp>
      <p:sp>
        <p:nvSpPr>
          <p:cNvPr id="8" name="Text 6"/>
          <p:cNvSpPr/>
          <p:nvPr/>
        </p:nvSpPr>
        <p:spPr>
          <a:xfrm>
            <a:off x="548640" y="4114800"/>
            <a:ext cx="7863840" cy="457200"/>
          </a:xfrm>
          <a:prstGeom prst="rect">
            <a:avLst/>
          </a:prstGeom>
          <a:noFill/>
          <a:ln/>
        </p:spPr>
        <p:txBody>
          <a:bodyPr wrap="square" rtlCol="0" anchor="ctr"/>
          <a:lstStyle/>
          <a:p>
            <a:pPr indent="0" marL="0">
              <a:buNone/>
            </a:pPr>
            <a:r>
              <a:rPr lang="en-US" sz="1250" i="1" dirty="0">
                <a:solidFill>
                  <a:srgbClr val="FFCA28"/>
                </a:solidFill>
                <a:latin typeface="Calibri" pitchFamily="34" charset="0"/>
                <a:ea typeface="Calibri" pitchFamily="34" charset="-122"/>
                <a:cs typeface="Calibri" pitchFamily="34" charset="-120"/>
              </a:rPr>
              <a:t>Coming next in 2.02: we'll graph a whole week of weather!</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 What Patterns Do We See in Weather? — Teacher Slides</dc:title>
  <dc:subject>PptxGenJS Presentation</dc:subject>
  <dc:creator>Optima Academy Online</dc:creator>
  <cp:lastModifiedBy>Optima Academy Online</cp:lastModifiedBy>
  <cp:revision>1</cp:revision>
  <dcterms:created xsi:type="dcterms:W3CDTF">2026-07-12T02:29:19Z</dcterms:created>
  <dcterms:modified xsi:type="dcterms:W3CDTF">2026-07-12T02:29:19Z</dcterms:modified>
</cp:coreProperties>
</file>