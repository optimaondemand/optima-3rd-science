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(what happens when water is heated/cooled) rehearsed in Sections 2-3 (Slides 11-12) and the Notice &amp; Wonder ice cube scenario (Slide 5). I Can #2 (name three states, describe changes) rehearsed in Section 1 (Slide 10) and the State Change Sequence steps 1-4 (Slides 16-17). I Can #3 (real-life examples of melting/freezing/evaporation) rehearsed in the Go Deeper water cycle section (Slide 15) and the formal Write &amp; Explain (Slide 25). All three assessed in Self-Check (Slides 20-22) and Assignment (Slides 23-25).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understanding of melting as the solid-to-liquid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heating a solid causes melting, not hardening or direct gas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the definition of evaporation distinct from condensation or breaking.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evaporation is liquid-to-gas, driven by 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identifying freezing as the liquid-to-solid transition caused by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freezing is the opposite of melting, driven by cooling rather than 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71600"/>
            <a:ext cx="8229600" cy="365760"/>
          </a:xfrm>
          <a:prstGeom prst="rect">
            <a:avLst/>
          </a:prstGeom>
          <a:noFill/>
          <a:ln/>
        </p:spPr>
        <p:txBody>
          <a:bodyPr wrap="square" rtlCol="0" anchor="ctr"/>
          <a:lstStyle/>
          <a:p>
            <a:pPr indent="0" marL="0">
              <a:buNone/>
            </a:pPr>
            <a:r>
              <a:rPr lang="en-US" sz="1400" b="1" spc="150" kern="0" dirty="0">
                <a:solidFill>
                  <a:srgbClr val="55C8E8"/>
                </a:solidFill>
                <a:latin typeface="Calibri" pitchFamily="34" charset="0"/>
                <a:ea typeface="Calibri" pitchFamily="34" charset="-122"/>
                <a:cs typeface="Calibri" pitchFamily="34" charset="-120"/>
              </a:rPr>
              <a:t>LESSON 27.01 · WEEK 27</a:t>
            </a:r>
            <a:endParaRPr lang="en-US" sz="1400" dirty="0"/>
          </a:p>
        </p:txBody>
      </p:sp>
      <p:sp>
        <p:nvSpPr>
          <p:cNvPr id="5" name="Text 3"/>
          <p:cNvSpPr/>
          <p:nvPr/>
        </p:nvSpPr>
        <p:spPr>
          <a:xfrm>
            <a:off x="457200" y="1828800"/>
            <a:ext cx="8229600" cy="1463040"/>
          </a:xfrm>
          <a:prstGeom prst="rect">
            <a:avLst/>
          </a:prstGeom>
          <a:noFill/>
          <a:ln/>
        </p:spPr>
        <p:txBody>
          <a:bodyPr wrap="square"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How Does Matter Change</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When Heated or Cooled?</a:t>
            </a:r>
            <a:endParaRPr lang="en-US" sz="3000" dirty="0"/>
          </a:p>
        </p:txBody>
      </p:sp>
      <p:sp>
        <p:nvSpPr>
          <p:cNvPr id="6" name="Text 4"/>
          <p:cNvSpPr/>
          <p:nvPr/>
        </p:nvSpPr>
        <p:spPr>
          <a:xfrm>
            <a:off x="457200" y="3931920"/>
            <a:ext cx="8229600" cy="365760"/>
          </a:xfrm>
          <a:prstGeom prst="rect">
            <a:avLst/>
          </a:prstGeom>
          <a:noFill/>
          <a:ln/>
        </p:spPr>
        <p:txBody>
          <a:bodyPr wrap="square" rtlCol="0" anchor="ctr"/>
          <a:lstStyle/>
          <a:p>
            <a:pPr indent="0" marL="0">
              <a:buNone/>
            </a:pPr>
            <a:r>
              <a:rPr lang="en-US" sz="1300" i="1" dirty="0">
                <a:solidFill>
                  <a:srgbClr val="FFCA28"/>
                </a:solidFill>
                <a:latin typeface="Calibri" pitchFamily="34" charset="0"/>
                <a:ea typeface="Calibri" pitchFamily="34" charset="-122"/>
                <a:cs typeface="Calibri" pitchFamily="34" charset="-120"/>
              </a:rPr>
              <a:t>CPALMS SC.3.P.9.1 · Changes in Matter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320040" y="1188720"/>
            <a:ext cx="8503920" cy="1280160"/>
          </a:xfrm>
          <a:prstGeom prst="roundRect">
            <a:avLst>
              <a:gd name="adj" fmla="val 7143"/>
            </a:avLst>
          </a:prstGeom>
          <a:solidFill>
            <a:srgbClr val="F3EEFB"/>
          </a:solidFill>
          <a:ln w="25400">
            <a:solidFill>
              <a:srgbClr val="7B5EA7"/>
            </a:solidFill>
            <a:prstDash val="solid"/>
          </a:ln>
        </p:spPr>
      </p:sp>
      <p:sp>
        <p:nvSpPr>
          <p:cNvPr id="8" name="Text 6"/>
          <p:cNvSpPr/>
          <p:nvPr/>
        </p:nvSpPr>
        <p:spPr>
          <a:xfrm>
            <a:off x="548640" y="1371600"/>
            <a:ext cx="8046720" cy="914400"/>
          </a:xfrm>
          <a:prstGeom prst="rect">
            <a:avLst/>
          </a:prstGeom>
          <a:noFill/>
          <a:ln/>
        </p:spPr>
        <p:txBody>
          <a:bodyPr wrap="square" rtlCol="0" anchor="t"/>
          <a:lstStyle/>
          <a:p>
            <a:pPr indent="0" marL="0">
              <a:lnSpc>
                <a:spcPts val="2600"/>
              </a:lnSpc>
              <a:buNone/>
            </a:pPr>
            <a:r>
              <a:rPr lang="en-US" sz="2000" i="1" dirty="0">
                <a:solidFill>
                  <a:srgbClr val="3A2B5C"/>
                </a:solidFill>
                <a:latin typeface="Cambria" pitchFamily="34" charset="0"/>
                <a:ea typeface="Cambria" pitchFamily="34" charset="-122"/>
                <a:cs typeface="Cambria" pitchFamily="34" charset="-120"/>
              </a:rPr>
              <a:t>"What happens to matter when it gets hotter or colder?"</a:t>
            </a:r>
            <a:endParaRPr lang="en-US" sz="2000" dirty="0"/>
          </a:p>
        </p:txBody>
      </p:sp>
      <p:sp>
        <p:nvSpPr>
          <p:cNvPr id="9" name="Text 7"/>
          <p:cNvSpPr/>
          <p:nvPr/>
        </p:nvSpPr>
        <p:spPr>
          <a:xfrm>
            <a:off x="320040" y="2743200"/>
            <a:ext cx="8503920" cy="64008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By the end of this lesson, you will be able to explain how heating and cooling change the state of matter.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320040" y="1097280"/>
            <a:ext cx="8503920" cy="777240"/>
          </a:xfrm>
          <a:prstGeom prst="roundRect">
            <a:avLst>
              <a:gd name="adj" fmla="val 9412"/>
            </a:avLst>
          </a:prstGeom>
          <a:solidFill>
            <a:srgbClr val="FFF3E0"/>
          </a:solidFill>
          <a:ln w="12700">
            <a:solidFill>
              <a:srgbClr val="F57C00"/>
            </a:solidFill>
            <a:prstDash val="solid"/>
          </a:ln>
        </p:spPr>
      </p:sp>
      <p:sp>
        <p:nvSpPr>
          <p:cNvPr id="8" name="Text 6"/>
          <p:cNvSpPr/>
          <p:nvPr/>
        </p:nvSpPr>
        <p:spPr>
          <a:xfrm>
            <a:off x="548640" y="12070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explain what happens to water when it is heated or cooled.</a:t>
            </a:r>
            <a:endParaRPr lang="en-US" sz="1400" dirty="0"/>
          </a:p>
        </p:txBody>
      </p:sp>
      <p:sp>
        <p:nvSpPr>
          <p:cNvPr id="9" name="Shape 7"/>
          <p:cNvSpPr/>
          <p:nvPr/>
        </p:nvSpPr>
        <p:spPr>
          <a:xfrm>
            <a:off x="320040" y="2011680"/>
            <a:ext cx="8503920" cy="777240"/>
          </a:xfrm>
          <a:prstGeom prst="roundRect">
            <a:avLst>
              <a:gd name="adj" fmla="val 9412"/>
            </a:avLst>
          </a:prstGeom>
          <a:solidFill>
            <a:srgbClr val="FFF3E0"/>
          </a:solidFill>
          <a:ln w="12700">
            <a:solidFill>
              <a:srgbClr val="F57C00"/>
            </a:solidFill>
            <a:prstDash val="solid"/>
          </a:ln>
        </p:spPr>
      </p:sp>
      <p:sp>
        <p:nvSpPr>
          <p:cNvPr id="10" name="Text 8"/>
          <p:cNvSpPr/>
          <p:nvPr/>
        </p:nvSpPr>
        <p:spPr>
          <a:xfrm>
            <a:off x="548640" y="21214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name the three states of matter and describe how they change.</a:t>
            </a:r>
            <a:endParaRPr lang="en-US" sz="1400" dirty="0"/>
          </a:p>
        </p:txBody>
      </p:sp>
      <p:sp>
        <p:nvSpPr>
          <p:cNvPr id="11" name="Shape 9"/>
          <p:cNvSpPr/>
          <p:nvPr/>
        </p:nvSpPr>
        <p:spPr>
          <a:xfrm>
            <a:off x="320040" y="2926080"/>
            <a:ext cx="8503920" cy="777240"/>
          </a:xfrm>
          <a:prstGeom prst="roundRect">
            <a:avLst>
              <a:gd name="adj" fmla="val 9412"/>
            </a:avLst>
          </a:prstGeom>
          <a:solidFill>
            <a:srgbClr val="FFF3E0"/>
          </a:solidFill>
          <a:ln w="12700">
            <a:solidFill>
              <a:srgbClr val="F57C00"/>
            </a:solidFill>
            <a:prstDash val="solid"/>
          </a:ln>
        </p:spPr>
      </p:sp>
      <p:sp>
        <p:nvSpPr>
          <p:cNvPr id="12" name="Text 10"/>
          <p:cNvSpPr/>
          <p:nvPr/>
        </p:nvSpPr>
        <p:spPr>
          <a:xfrm>
            <a:off x="548640" y="30358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give examples of melting, freezing, and evaporation from everyday life.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Materials</a:t>
            </a:r>
            <a:endParaRPr lang="en-US" sz="2100" dirty="0"/>
          </a:p>
        </p:txBody>
      </p:sp>
      <p:sp>
        <p:nvSpPr>
          <p:cNvPr id="7" name="Shape 5"/>
          <p:cNvSpPr/>
          <p:nvPr/>
        </p:nvSpPr>
        <p:spPr>
          <a:xfrm>
            <a:off x="320040" y="1188720"/>
            <a:ext cx="8503920" cy="1005840"/>
          </a:xfrm>
          <a:prstGeom prst="roundRect">
            <a:avLst>
              <a:gd name="adj" fmla="val 7273"/>
            </a:avLst>
          </a:prstGeom>
          <a:solidFill>
            <a:srgbClr val="EEF8F0"/>
          </a:solidFill>
          <a:ln w="19050">
            <a:solidFill>
              <a:srgbClr val="52B788"/>
            </a:solidFill>
            <a:prstDash val="solid"/>
          </a:ln>
        </p:spPr>
      </p:sp>
      <p:sp>
        <p:nvSpPr>
          <p:cNvPr id="8" name="Text 6"/>
          <p:cNvSpPr/>
          <p:nvPr/>
        </p:nvSpPr>
        <p:spPr>
          <a:xfrm>
            <a:off x="548640" y="1325880"/>
            <a:ext cx="8046720" cy="731520"/>
          </a:xfrm>
          <a:prstGeom prst="rect">
            <a:avLst/>
          </a:prstGeom>
          <a:noFill/>
          <a:ln/>
        </p:spPr>
        <p:txBody>
          <a:bodyPr wrap="square" rtlCol="0" anchor="t"/>
          <a:lstStyle/>
          <a:p>
            <a:pPr marL="342900" indent="-342900">
              <a:lnSpc>
                <a:spcPts val="2600"/>
              </a:lnSpc>
              <a:buSzPct val="100000"/>
              <a:buChar char="•"/>
            </a:pPr>
            <a:r>
              <a:rPr lang="en-US" sz="1500" dirty="0">
                <a:solidFill>
                  <a:srgbClr val="1B4332"/>
                </a:solidFill>
                <a:latin typeface="Calibri" pitchFamily="34" charset="0"/>
                <a:ea typeface="Calibri" pitchFamily="34" charset="-122"/>
                <a:cs typeface="Calibri" pitchFamily="34" charset="-120"/>
              </a:rPr>
              <a:t>Science notebook</a:t>
            </a:r>
            <a:endParaRPr lang="en-US" sz="1500" dirty="0"/>
          </a:p>
          <a:p>
            <a:pPr marL="342900" indent="-342900">
              <a:lnSpc>
                <a:spcPts val="2600"/>
              </a:lnSpc>
              <a:buSzPct val="100000"/>
              <a:buChar char="•"/>
            </a:pPr>
            <a:r>
              <a:rPr lang="en-US" sz="1500" dirty="0">
                <a:solidFill>
                  <a:srgbClr val="1B4332"/>
                </a:solidFill>
                <a:latin typeface="Calibri" pitchFamily="34" charset="0"/>
                <a:ea typeface="Calibri" pitchFamily="34" charset="-122"/>
                <a:cs typeface="Calibri" pitchFamily="34" charset="-120"/>
              </a:rPr>
              <a:t>Pencil &amp; colored pencils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Happens to an Ice Cube?</a:t>
            </a:r>
            <a:endParaRPr lang="en-US" sz="2100" dirty="0"/>
          </a:p>
        </p:txBody>
      </p:sp>
      <p:sp>
        <p:nvSpPr>
          <p:cNvPr id="7" name="Text 5"/>
          <p:cNvSpPr/>
          <p:nvPr/>
        </p:nvSpPr>
        <p:spPr>
          <a:xfrm>
            <a:off x="320040" y="1097280"/>
            <a:ext cx="8503920" cy="100584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Picture an ice cube sitting on a plate in a warm kitchen. After ten minutes, it is a puddle. After an hour, even the puddle is gone. Where did the water go?</a:t>
            </a:r>
            <a:endParaRPr lang="en-US" sz="1400" dirty="0"/>
          </a:p>
        </p:txBody>
      </p:sp>
      <p:sp>
        <p:nvSpPr>
          <p:cNvPr id="8" name="Shape 6"/>
          <p:cNvSpPr/>
          <p:nvPr/>
        </p:nvSpPr>
        <p:spPr>
          <a:xfrm>
            <a:off x="320040" y="2194560"/>
            <a:ext cx="8503920" cy="868680"/>
          </a:xfrm>
          <a:prstGeom prst="roundRect">
            <a:avLst>
              <a:gd name="adj" fmla="val 8421"/>
            </a:avLst>
          </a:prstGeom>
          <a:solidFill>
            <a:srgbClr val="FFF9E8"/>
          </a:solidFill>
          <a:ln w="19050">
            <a:solidFill>
              <a:srgbClr val="F9A825"/>
            </a:solidFill>
            <a:prstDash val="solid"/>
          </a:ln>
        </p:spPr>
      </p:sp>
      <p:sp>
        <p:nvSpPr>
          <p:cNvPr id="9" name="Text 7"/>
          <p:cNvSpPr/>
          <p:nvPr/>
        </p:nvSpPr>
        <p:spPr>
          <a:xfrm>
            <a:off x="502920" y="226771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487168"/>
            <a:ext cx="8138160" cy="52120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Write what you think happens to the ice cube. Where does the water go after the puddle disappears? Write one question you have about how matter changes.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1</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Solid</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Matter with a fixed shape. Solids keep their shape unless a force changes them.</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Liquid</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Matter that flows and takes the shape of its container. Water and juice are liquids.</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Gas</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Matter that spreads out to fill all the space available. Air is a gas.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2</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Melting</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When a solid gets warm enough to turn into a liquid. Ice melts into water.</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Freezing</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When a liquid gets cold enough to turn into a solid. Water freezes into ice.</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Evaporation</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When a liquid heats up and turns into a gas. Puddles evaporate on hot days.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Your Science Notebook</a:t>
            </a:r>
            <a:endParaRPr lang="en-US" sz="2100" dirty="0"/>
          </a:p>
        </p:txBody>
      </p:sp>
      <p:sp>
        <p:nvSpPr>
          <p:cNvPr id="7" name="Shape 5"/>
          <p:cNvSpPr/>
          <p:nvPr/>
        </p:nvSpPr>
        <p:spPr>
          <a:xfrm>
            <a:off x="320040" y="1371600"/>
            <a:ext cx="8503920" cy="1188720"/>
          </a:xfrm>
          <a:prstGeom prst="roundRect">
            <a:avLst>
              <a:gd name="adj" fmla="val 7692"/>
            </a:avLst>
          </a:prstGeom>
          <a:solidFill>
            <a:srgbClr val="FFF3E0"/>
          </a:solidFill>
          <a:ln w="25400">
            <a:solidFill>
              <a:srgbClr val="F57C00"/>
            </a:solidFill>
            <a:prstDash val="solid"/>
          </a:ln>
        </p:spPr>
      </p:sp>
      <p:sp>
        <p:nvSpPr>
          <p:cNvPr id="8" name="Text 6"/>
          <p:cNvSpPr/>
          <p:nvPr/>
        </p:nvSpPr>
        <p:spPr>
          <a:xfrm>
            <a:off x="548640" y="1554480"/>
            <a:ext cx="8046720" cy="868680"/>
          </a:xfrm>
          <a:prstGeom prst="rect">
            <a:avLst/>
          </a:prstGeom>
          <a:noFill/>
          <a:ln/>
        </p:spPr>
        <p:txBody>
          <a:bodyPr wrap="square" rtlCol="0" anchor="ctr"/>
          <a:lstStyle/>
          <a:p>
            <a:pPr algn="ctr" indent="0" marL="0">
              <a:buNone/>
            </a:pPr>
            <a:r>
              <a:rPr lang="en-US" sz="1500" i="1" dirty="0">
                <a:solidFill>
                  <a:srgbClr val="3A2410"/>
                </a:solidFill>
                <a:latin typeface="Cambria" pitchFamily="34" charset="0"/>
                <a:ea typeface="Cambria" pitchFamily="34" charset="-122"/>
                <a:cs typeface="Cambria" pitchFamily="34" charset="-120"/>
              </a:rPr>
              <a:t>"When matter is heated or cooled enough, it changes state — from solid to liquid to gas and back again."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Three States of Matter</a:t>
            </a:r>
            <a:endParaRPr lang="en-US" sz="2100" dirty="0"/>
          </a:p>
        </p:txBody>
      </p:sp>
      <p:sp>
        <p:nvSpPr>
          <p:cNvPr id="7" name="Text 5"/>
          <p:cNvSpPr/>
          <p:nvPr/>
        </p:nvSpPr>
        <p:spPr>
          <a:xfrm>
            <a:off x="320040" y="1097280"/>
            <a:ext cx="8503920" cy="109728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All matter exists in one of three states: solid, liquid, or gas. A rock is a solid. Water is a liquid. The air around you is a gas. These three states look and act very differently.</a:t>
            </a:r>
            <a:endParaRPr lang="en-US" sz="1350" dirty="0"/>
          </a:p>
        </p:txBody>
      </p:sp>
      <p:sp>
        <p:nvSpPr>
          <p:cNvPr id="8" name="Shape 6"/>
          <p:cNvSpPr/>
          <p:nvPr/>
        </p:nvSpPr>
        <p:spPr>
          <a:xfrm>
            <a:off x="320040" y="228600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359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61518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is different about how a solid, a liquid, and a gas behave? Think about shape and movement.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Heating Changes Matter</a:t>
            </a:r>
            <a:endParaRPr lang="en-US" sz="2100" dirty="0"/>
          </a:p>
        </p:txBody>
      </p:sp>
      <p:sp>
        <p:nvSpPr>
          <p:cNvPr id="7" name="Text 5"/>
          <p:cNvSpPr/>
          <p:nvPr/>
        </p:nvSpPr>
        <p:spPr>
          <a:xfrm>
            <a:off x="320040" y="1097280"/>
            <a:ext cx="8503920" cy="146304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When you add heat to matter, its particles move faster. If a solid gets hot enough, it melts — it becomes a liquid. If a liquid gets even hotter, it evaporates. The water turns into water vapor — a gas you cannot see.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Cooling Changes Matter Back</a:t>
            </a:r>
            <a:endParaRPr lang="en-US" sz="2100" dirty="0"/>
          </a:p>
        </p:txBody>
      </p:sp>
      <p:sp>
        <p:nvSpPr>
          <p:cNvPr id="7" name="Text 5"/>
          <p:cNvSpPr/>
          <p:nvPr/>
        </p:nvSpPr>
        <p:spPr>
          <a:xfrm>
            <a:off x="320040" y="1051560"/>
            <a:ext cx="8503920" cy="91440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Cooling works the opposite way. When a gas cools down, it can turn back into a liquid — this is called condensation. When a liquid cools enough, it freezes.</a:t>
            </a:r>
            <a:endParaRPr lang="en-US" sz="1300" dirty="0"/>
          </a:p>
        </p:txBody>
      </p:sp>
      <p:sp>
        <p:nvSpPr>
          <p:cNvPr id="8" name="Shape 6"/>
          <p:cNvSpPr/>
          <p:nvPr/>
        </p:nvSpPr>
        <p:spPr>
          <a:xfrm>
            <a:off x="320040" y="2057400"/>
            <a:ext cx="8503920" cy="685800"/>
          </a:xfrm>
          <a:prstGeom prst="roundRect">
            <a:avLst>
              <a:gd name="adj" fmla="val 10667"/>
            </a:avLst>
          </a:prstGeom>
          <a:solidFill>
            <a:srgbClr val="E3F2FD"/>
          </a:solidFill>
          <a:ln w="19050">
            <a:solidFill>
              <a:srgbClr val="0288D1"/>
            </a:solidFill>
            <a:prstDash val="solid"/>
          </a:ln>
        </p:spPr>
      </p:sp>
      <p:sp>
        <p:nvSpPr>
          <p:cNvPr id="9" name="Text 7"/>
          <p:cNvSpPr/>
          <p:nvPr/>
        </p:nvSpPr>
        <p:spPr>
          <a:xfrm>
            <a:off x="502920" y="2130552"/>
            <a:ext cx="8138160" cy="219456"/>
          </a:xfrm>
          <a:prstGeom prst="rect">
            <a:avLst/>
          </a:prstGeom>
          <a:noFill/>
          <a:ln/>
        </p:spPr>
        <p:txBody>
          <a:bodyPr wrap="square" rtlCol="0" anchor="ctr"/>
          <a:lstStyle/>
          <a:p>
            <a:pPr indent="0" marL="0">
              <a:buNone/>
            </a:pPr>
            <a:r>
              <a:rPr lang="en-US" sz="1050" b="1" spc="100" kern="0" dirty="0">
                <a:solidFill>
                  <a:srgbClr val="0277BD"/>
                </a:solidFill>
                <a:latin typeface="Calibri" pitchFamily="34" charset="0"/>
                <a:ea typeface="Calibri" pitchFamily="34" charset="-122"/>
                <a:cs typeface="Calibri" pitchFamily="34" charset="-120"/>
              </a:rPr>
              <a:t>Real-World Connection</a:t>
            </a:r>
            <a:endParaRPr lang="en-US" sz="1050" dirty="0"/>
          </a:p>
        </p:txBody>
      </p:sp>
      <p:sp>
        <p:nvSpPr>
          <p:cNvPr id="10" name="Text 8"/>
          <p:cNvSpPr/>
          <p:nvPr/>
        </p:nvSpPr>
        <p:spPr>
          <a:xfrm>
            <a:off x="502920" y="2350008"/>
            <a:ext cx="8138160" cy="365760"/>
          </a:xfrm>
          <a:prstGeom prst="rect">
            <a:avLst/>
          </a:prstGeom>
          <a:noFill/>
          <a:ln/>
        </p:spPr>
        <p:txBody>
          <a:bodyPr wrap="square" rtlCol="0" anchor="t"/>
          <a:lstStyle/>
          <a:p>
            <a:pPr indent="0" marL="0">
              <a:buNone/>
            </a:pPr>
            <a:r>
              <a:rPr lang="en-US" sz="1100" dirty="0">
                <a:solidFill>
                  <a:srgbClr val="2B1D12"/>
                </a:solidFill>
                <a:latin typeface="Calibri" pitchFamily="34" charset="0"/>
                <a:ea typeface="Calibri" pitchFamily="34" charset="-122"/>
                <a:cs typeface="Calibri" pitchFamily="34" charset="-120"/>
              </a:rPr>
              <a:t>On a cold morning, you might see tiny water drops on a car window. That is condensation — water vapor in the air cooled and turned back into liquid.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Temperature Drives the Change</a:t>
            </a:r>
            <a:endParaRPr lang="en-US" sz="2100" dirty="0"/>
          </a:p>
        </p:txBody>
      </p:sp>
      <p:sp>
        <p:nvSpPr>
          <p:cNvPr id="7" name="Shape 5"/>
          <p:cNvSpPr/>
          <p:nvPr/>
        </p:nvSpPr>
        <p:spPr>
          <a:xfrm>
            <a:off x="320040" y="1188720"/>
            <a:ext cx="8503920" cy="1005840"/>
          </a:xfrm>
          <a:prstGeom prst="roundRect">
            <a:avLst>
              <a:gd name="adj" fmla="val 7273"/>
            </a:avLst>
          </a:prstGeom>
          <a:solidFill>
            <a:srgbClr val="F0F8E8"/>
          </a:solidFill>
          <a:ln w="19050">
            <a:solidFill>
              <a:srgbClr val="C8E0B8"/>
            </a:solidFill>
            <a:prstDash val="solid"/>
          </a:ln>
        </p:spPr>
      </p:sp>
      <p:sp>
        <p:nvSpPr>
          <p:cNvPr id="8" name="Text 6"/>
          <p:cNvSpPr/>
          <p:nvPr/>
        </p:nvSpPr>
        <p:spPr>
          <a:xfrm>
            <a:off x="502920" y="126187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481328"/>
            <a:ext cx="8138160" cy="65836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Heating makes matter change from solid to liquid to gas. Cooling makes it change back. These changes happen because of temperature.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NATURE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Lava Is Melted Rock</a:t>
            </a:r>
            <a:endParaRPr lang="en-US" sz="2100" dirty="0"/>
          </a:p>
        </p:txBody>
      </p:sp>
      <p:sp>
        <p:nvSpPr>
          <p:cNvPr id="7" name="Text 5"/>
          <p:cNvSpPr/>
          <p:nvPr/>
        </p:nvSpPr>
        <p:spPr>
          <a:xfrm>
            <a:off x="320040" y="1097280"/>
            <a:ext cx="8503920" cy="1188720"/>
          </a:xfrm>
          <a:prstGeom prst="rect">
            <a:avLst/>
          </a:prstGeom>
          <a:noFill/>
          <a:ln/>
        </p:spPr>
        <p:txBody>
          <a:bodyPr wrap="square" rtlCol="0" anchor="t"/>
          <a:lstStyle/>
          <a:p>
            <a:pPr indent="0" marL="0">
              <a:lnSpc>
                <a:spcPts val="2000"/>
              </a:lnSpc>
              <a:buNone/>
            </a:pPr>
            <a:r>
              <a:rPr lang="en-US" sz="1600" dirty="0">
                <a:solidFill>
                  <a:srgbClr val="2B1D12"/>
                </a:solidFill>
                <a:latin typeface="Calibri" pitchFamily="34" charset="0"/>
                <a:ea typeface="Calibri" pitchFamily="34" charset="-122"/>
                <a:cs typeface="Calibri" pitchFamily="34" charset="-120"/>
              </a:rPr>
              <a:t>Lava from a volcano is melted rock — it is so hot (over 1,000°C) that solid rock turns into a glowing liquid!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CURIOUS? GO DEEPER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Sun and State Changes</a:t>
            </a:r>
            <a:endParaRPr lang="en-US" sz="2100" dirty="0"/>
          </a:p>
        </p:txBody>
      </p:sp>
      <p:sp>
        <p:nvSpPr>
          <p:cNvPr id="7" name="Text 5"/>
          <p:cNvSpPr/>
          <p:nvPr/>
        </p:nvSpPr>
        <p:spPr>
          <a:xfrm>
            <a:off x="320040" y="1051560"/>
            <a:ext cx="8503920" cy="173736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The Sun is the biggest source of heat energy on Earth. It warms water in oceans, lakes, and puddles, causing evaporation — liquid water turning into invisible water vapor. When that vapor rises high into the sky, it cools down and turns back into tiny water droplets, forming clouds. When the drops get heavy enough, they fall as rain.</a:t>
            </a:r>
            <a:endParaRPr lang="en-US" sz="1250" dirty="0"/>
          </a:p>
        </p:txBody>
      </p:sp>
      <p:sp>
        <p:nvSpPr>
          <p:cNvPr id="8" name="Shape 6"/>
          <p:cNvSpPr/>
          <p:nvPr/>
        </p:nvSpPr>
        <p:spPr>
          <a:xfrm>
            <a:off x="320040" y="288036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9535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20954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This cycle — evaporation, condensation, and rain — happens because of heating and cooling. The Sun drives the whole system.</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ACTIVITY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State Change Sequence</a:t>
            </a:r>
            <a:endParaRPr lang="en-US" sz="2100" dirty="0"/>
          </a:p>
        </p:txBody>
      </p:sp>
      <p:sp>
        <p:nvSpPr>
          <p:cNvPr id="7" name="Text 5"/>
          <p:cNvSpPr/>
          <p:nvPr/>
        </p:nvSpPr>
        <p:spPr>
          <a:xfrm>
            <a:off x="320040" y="1097280"/>
            <a:ext cx="8503920" cy="91440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Trace how water changes from solid to liquid to gas. You'll need your science notebook and colored pencils.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STEPS 1–2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Start With Ice &amp; Heat It Up</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1 — Start with Ice: Draw an ice cube in your notebook. Label it SOLID. Write FREEZING on an arrow pointing toward it.</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2 — Heat It Up: Draw a puddle next to your ice cube. Label it LIQUID. Draw an arrow from solid to liquid and write MELTING.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STEPS 3–4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Keep Heating &amp; Cool It Down</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3 — Keep Heating: Draw water vapor (wavy lines rising up). Label it GAS. Draw an arrow from liquid to gas and write EVAPORATION.</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4 — Cool It Down: Draw arrows going backward: gas to liquid (CONDENSATION), liquid to solid (FREEZING). Your diagram should show the full cycle.</a:t>
            </a:r>
            <a:endParaRPr lang="en-US" sz="1300" dirty="0"/>
          </a:p>
        </p:txBody>
      </p:sp>
      <p:sp>
        <p:nvSpPr>
          <p:cNvPr id="8" name="Shape 6"/>
          <p:cNvSpPr/>
          <p:nvPr/>
        </p:nvSpPr>
        <p:spPr>
          <a:xfrm>
            <a:off x="320040" y="315468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32278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48386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In your diagram, what causes matter to move from one state to the next? What is the energy source?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Organize What You Observed</a:t>
            </a:r>
            <a:endParaRPr lang="en-US" sz="2100" dirty="0"/>
          </a:p>
        </p:txBody>
      </p:sp>
      <p:sp>
        <p:nvSpPr>
          <p:cNvPr id="7" name="Text 5"/>
          <p:cNvSpPr/>
          <p:nvPr/>
        </p:nvSpPr>
        <p:spPr>
          <a:xfrm>
            <a:off x="320040" y="1051560"/>
            <a:ext cx="8503920" cy="246888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are the three states of water? Describe each one in your own words.</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causes water to change from solid to liquid? From liquid to gas?</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Draw your state-change diagram with arrows showing melting, evaporation, condensation, and freezing.</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Tell the story of your investigation from beginning to end — what you did, what you noticed, and what you figured out.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 · THINK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Through Each Question On Your Own</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What did you notice happens to water when heat is added? When heat is removed?</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What evidence from everyday life shows you that water can be a solid, liquid, and gas?</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Where do you see evaporation happening in the real world? (Think about wet sidewalks, puddles, or laundry.)</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If you left a glass of water outside on a very hot day, what would eventually happen? Why?</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Happens When Ice Is Heated?</a:t>
            </a:r>
            <a:endParaRPr lang="en-US" sz="2100" dirty="0"/>
          </a:p>
        </p:txBody>
      </p:sp>
      <p:sp>
        <p:nvSpPr>
          <p:cNvPr id="7" name="Text 5"/>
          <p:cNvSpPr/>
          <p:nvPr/>
        </p:nvSpPr>
        <p:spPr>
          <a:xfrm>
            <a:off x="320040" y="1005840"/>
            <a:ext cx="8503920" cy="1257300"/>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What happens to ice when it is heated?</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It melts and becomes liquid water</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It gets harder and stronger</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It turns directly into a gas</a:t>
            </a:r>
            <a:endParaRPr lang="en-US" sz="1500" dirty="0"/>
          </a:p>
        </p:txBody>
      </p:sp>
      <p:sp>
        <p:nvSpPr>
          <p:cNvPr id="8" name="Shape 6"/>
          <p:cNvSpPr/>
          <p:nvPr/>
        </p:nvSpPr>
        <p:spPr>
          <a:xfrm>
            <a:off x="320040" y="235458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277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471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39471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44957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61416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happens to an ice cube left on a warm plate. Does it stay solid?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Happens When Ice Is Heated?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When ice is heated, it melts, changing from a solid to a liquid.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Evaporation?</a:t>
            </a:r>
            <a:endParaRPr lang="en-US" sz="2100" dirty="0"/>
          </a:p>
        </p:txBody>
      </p:sp>
      <p:sp>
        <p:nvSpPr>
          <p:cNvPr id="7" name="Text 5"/>
          <p:cNvSpPr/>
          <p:nvPr/>
        </p:nvSpPr>
        <p:spPr>
          <a:xfrm>
            <a:off x="320040" y="1005840"/>
            <a:ext cx="8503920" cy="1257300"/>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What is evaporation?</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When a gas turns into a liquid</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When a liquid heats up and turns into a gas</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When a solid breaks into smaller pieces</a:t>
            </a:r>
            <a:endParaRPr lang="en-US" sz="1500" dirty="0"/>
          </a:p>
        </p:txBody>
      </p:sp>
      <p:sp>
        <p:nvSpPr>
          <p:cNvPr id="8" name="Shape 6"/>
          <p:cNvSpPr/>
          <p:nvPr/>
        </p:nvSpPr>
        <p:spPr>
          <a:xfrm>
            <a:off x="320040" y="235458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277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471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39471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44957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61416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Evaporation involves a liquid changing. Think about what happens to puddles on a hot sidewalk.</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Evaporation?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Evaporation is when a liquid gets warm enough to turn into a gas, like puddles drying on a sunny day.</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Water Freezes Overnight</a:t>
            </a:r>
            <a:endParaRPr lang="en-US" sz="2100" dirty="0"/>
          </a:p>
        </p:txBody>
      </p:sp>
      <p:sp>
        <p:nvSpPr>
          <p:cNvPr id="7" name="Text 5"/>
          <p:cNvSpPr/>
          <p:nvPr/>
        </p:nvSpPr>
        <p:spPr>
          <a:xfrm>
            <a:off x="320040" y="1005840"/>
            <a:ext cx="8503920" cy="1514475"/>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student leaves a glass of water in the freezer overnight. In the morning, the water is ice. What change happened?</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Melting</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Evaporation</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Freezing</a:t>
            </a:r>
            <a:endParaRPr lang="en-US" sz="1500" dirty="0"/>
          </a:p>
        </p:txBody>
      </p:sp>
      <p:sp>
        <p:nvSpPr>
          <p:cNvPr id="8" name="Shape 6"/>
          <p:cNvSpPr/>
          <p:nvPr/>
        </p:nvSpPr>
        <p:spPr>
          <a:xfrm>
            <a:off x="320040" y="2611755"/>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684907"/>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904363"/>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651885"/>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706749"/>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871341"/>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The water was liquid, and now it is solid ice. What is the name for a liquid turning into a solid?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Water Freezes Overnight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The liquid water froze, changing from a liquid to a solid because it was cooled.</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Label the State Changes</a:t>
            </a:r>
            <a:endParaRPr lang="en-US" sz="2100" dirty="0"/>
          </a:p>
        </p:txBody>
      </p:sp>
      <p:sp>
        <p:nvSpPr>
          <p:cNvPr id="7" name="Text 5"/>
          <p:cNvSpPr/>
          <p:nvPr/>
        </p:nvSpPr>
        <p:spPr>
          <a:xfrm>
            <a:off x="320040" y="1051560"/>
            <a:ext cx="8503920" cy="1371600"/>
          </a:xfrm>
          <a:prstGeom prst="rect">
            <a:avLst/>
          </a:prstGeom>
          <a:noFill/>
          <a:ln/>
        </p:spPr>
        <p:txBody>
          <a:bodyPr wrap="square" rtlCol="0" anchor="t"/>
          <a:lstStyle/>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Solid → Liquid: _______ (what process?)</a:t>
            </a:r>
            <a:endParaRPr lang="en-US" sz="1400" dirty="0"/>
          </a:p>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Liquid → Gas: _______ (what process?)</a:t>
            </a:r>
            <a:endParaRPr lang="en-US" sz="1400" dirty="0"/>
          </a:p>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Gas → Liquid: _______ (what process?)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 &amp; WRITE AND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 + Explain the Cycle</a:t>
            </a:r>
            <a:endParaRPr lang="en-US" sz="2100" dirty="0"/>
          </a:p>
        </p:txBody>
      </p:sp>
      <p:sp>
        <p:nvSpPr>
          <p:cNvPr id="7" name="Text 5"/>
          <p:cNvSpPr/>
          <p:nvPr/>
        </p:nvSpPr>
        <p:spPr>
          <a:xfrm>
            <a:off x="320040" y="1051560"/>
            <a:ext cx="8503920" cy="118872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Part B (complete sentences): 1) What causes matter to change from one state to another? Use "temperature" or "heat." 2) Give one real-life example of melting and one of freezing. 3) How is evaporation different from melting?</a:t>
            </a:r>
            <a:endParaRPr lang="en-US" sz="1200" dirty="0"/>
          </a:p>
        </p:txBody>
      </p:sp>
      <p:sp>
        <p:nvSpPr>
          <p:cNvPr id="8" name="Shape 6"/>
          <p:cNvSpPr/>
          <p:nvPr/>
        </p:nvSpPr>
        <p:spPr>
          <a:xfrm>
            <a:off x="320040" y="2331720"/>
            <a:ext cx="8503920" cy="1234440"/>
          </a:xfrm>
          <a:prstGeom prst="roundRect">
            <a:avLst>
              <a:gd name="adj" fmla="val 5926"/>
            </a:avLst>
          </a:prstGeom>
          <a:solidFill>
            <a:srgbClr val="F3EEFB"/>
          </a:solidFill>
          <a:ln w="19050">
            <a:solidFill>
              <a:srgbClr val="7B5EA7"/>
            </a:solidFill>
            <a:prstDash val="solid"/>
          </a:ln>
        </p:spPr>
      </p:sp>
      <p:sp>
        <p:nvSpPr>
          <p:cNvPr id="9" name="Text 7"/>
          <p:cNvSpPr/>
          <p:nvPr/>
        </p:nvSpPr>
        <p:spPr>
          <a:xfrm>
            <a:off x="502920" y="2423160"/>
            <a:ext cx="8138160" cy="274320"/>
          </a:xfrm>
          <a:prstGeom prst="rect">
            <a:avLst/>
          </a:prstGeom>
          <a:noFill/>
          <a:ln/>
        </p:spPr>
        <p:txBody>
          <a:bodyPr wrap="square" rtlCol="0" anchor="ctr"/>
          <a:lstStyle/>
          <a:p>
            <a:pPr indent="0" marL="0">
              <a:buNone/>
            </a:pPr>
            <a:r>
              <a:rPr lang="en-US" sz="1100" b="1" dirty="0">
                <a:solidFill>
                  <a:srgbClr val="3A2B5C"/>
                </a:solidFill>
                <a:latin typeface="Calibri" pitchFamily="34" charset="0"/>
                <a:ea typeface="Calibri" pitchFamily="34" charset="-122"/>
                <a:cs typeface="Calibri" pitchFamily="34" charset="-120"/>
              </a:rPr>
              <a:t>WRITE &amp; EXPLAIN — How does heating and cooling cause water to change from one state to another?</a:t>
            </a:r>
            <a:endParaRPr lang="en-US" sz="1100" dirty="0"/>
          </a:p>
        </p:txBody>
      </p:sp>
      <p:sp>
        <p:nvSpPr>
          <p:cNvPr id="10" name="Text 8"/>
          <p:cNvSpPr/>
          <p:nvPr/>
        </p:nvSpPr>
        <p:spPr>
          <a:xfrm>
            <a:off x="502920" y="2715768"/>
            <a:ext cx="8138160" cy="777240"/>
          </a:xfrm>
          <a:prstGeom prst="rect">
            <a:avLst/>
          </a:prstGeom>
          <a:noFill/>
          <a:ln/>
        </p:spPr>
        <p:txBody>
          <a:bodyPr wrap="square" rtlCol="0" anchor="t"/>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Start with: "I think heating and cooling change water because…"</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Then: "I know this because I learned that when heat is added…"</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Finish with: "This makes sense because the Sun heats water and…"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&amp; SUBMISSION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What to Turn In</a:t>
            </a:r>
            <a:endParaRPr lang="en-US" sz="2100" dirty="0"/>
          </a:p>
        </p:txBody>
      </p:sp>
      <p:sp>
        <p:nvSpPr>
          <p:cNvPr id="7" name="Text 5"/>
          <p:cNvSpPr/>
          <p:nvPr/>
        </p:nvSpPr>
        <p:spPr>
          <a:xfrm>
            <a:off x="320040" y="1051560"/>
            <a:ext cx="8503920" cy="100584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Part C: Draw the full state-change cycle for water. Show all three states (solid, liquid, gas) with arrows between them. Label each arrow with the correct change. Use color to show hot and cold.</a:t>
            </a:r>
            <a:endParaRPr lang="en-US" sz="1200" dirty="0"/>
          </a:p>
        </p:txBody>
      </p:sp>
      <p:sp>
        <p:nvSpPr>
          <p:cNvPr id="8" name="Shape 6"/>
          <p:cNvSpPr/>
          <p:nvPr/>
        </p:nvSpPr>
        <p:spPr>
          <a:xfrm>
            <a:off x="320040" y="2148840"/>
            <a:ext cx="8503920" cy="1234440"/>
          </a:xfrm>
          <a:prstGeom prst="roundRect">
            <a:avLst>
              <a:gd name="adj" fmla="val 5926"/>
            </a:avLst>
          </a:prstGeom>
          <a:solidFill>
            <a:srgbClr val="EEF8F0"/>
          </a:solidFill>
          <a:ln w="19050">
            <a:solidFill>
              <a:srgbClr val="52B788"/>
            </a:solidFill>
            <a:prstDash val="solid"/>
          </a:ln>
        </p:spPr>
      </p:sp>
      <p:sp>
        <p:nvSpPr>
          <p:cNvPr id="9" name="Text 7"/>
          <p:cNvSpPr/>
          <p:nvPr/>
        </p:nvSpPr>
        <p:spPr>
          <a:xfrm>
            <a:off x="502920" y="2240280"/>
            <a:ext cx="8138160" cy="228600"/>
          </a:xfrm>
          <a:prstGeom prst="rect">
            <a:avLst/>
          </a:prstGeom>
          <a:noFill/>
          <a:ln/>
        </p:spPr>
        <p:txBody>
          <a:bodyPr wrap="square" rtlCol="0" anchor="ctr"/>
          <a:lstStyle/>
          <a:p>
            <a:pPr indent="0" marL="0">
              <a:buNone/>
            </a:pPr>
            <a:r>
              <a:rPr lang="en-US" sz="1100" b="1" dirty="0">
                <a:solidFill>
                  <a:srgbClr val="1B4332"/>
                </a:solidFill>
                <a:latin typeface="Calibri" pitchFamily="34" charset="0"/>
                <a:ea typeface="Calibri" pitchFamily="34" charset="-122"/>
                <a:cs typeface="Calibri" pitchFamily="34" charset="-120"/>
              </a:rPr>
              <a:t>SUBMIT ON CANVAS — must include:</a:t>
            </a:r>
            <a:endParaRPr lang="en-US" sz="1100" dirty="0"/>
          </a:p>
        </p:txBody>
      </p:sp>
      <p:sp>
        <p:nvSpPr>
          <p:cNvPr id="10" name="Text 8"/>
          <p:cNvSpPr/>
          <p:nvPr/>
        </p:nvSpPr>
        <p:spPr>
          <a:xfrm>
            <a:off x="502920" y="2496312"/>
            <a:ext cx="8138160" cy="822960"/>
          </a:xfrm>
          <a:prstGeom prst="rect">
            <a:avLst/>
          </a:prstGeom>
          <a:noFill/>
          <a:ln/>
        </p:spPr>
        <p:txBody>
          <a:bodyPr wrap="square" rtlCol="0" anchor="t"/>
          <a:lstStyle/>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State-change sequence diagram from the Explore activity</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Three-state chart with descriptions and examples</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Short answer responses to Part B (complete sentences)</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Write &amp; Explain response using at least one vocabulary word</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Part C state-change cycle drawing with all labels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645920"/>
            <a:ext cx="8229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377440"/>
            <a:ext cx="8229600" cy="914400"/>
          </a:xfrm>
          <a:prstGeom prst="rect">
            <a:avLst/>
          </a:prstGeom>
          <a:noFill/>
          <a:ln/>
        </p:spPr>
        <p:txBody>
          <a:bodyPr wrap="square" rtlCol="0" anchor="ctr"/>
          <a:lstStyle/>
          <a:p>
            <a:pPr indent="0" marL="0">
              <a:lnSpc>
                <a:spcPts val="2000"/>
              </a:lnSpc>
              <a:buNone/>
            </a:pPr>
            <a:r>
              <a:rPr lang="en-US" sz="1500" i="1" dirty="0">
                <a:solidFill>
                  <a:srgbClr val="FFCA28"/>
                </a:solidFill>
                <a:latin typeface="Calibri" pitchFamily="34" charset="0"/>
                <a:ea typeface="Calibri" pitchFamily="34" charset="-122"/>
                <a:cs typeface="Calibri" pitchFamily="34" charset="-120"/>
              </a:rPr>
              <a:t>Water can be ice, liquid, or vapor — and it changes back and forth depending on the temperature!</a:t>
            </a:r>
            <a:endParaRPr lang="en-US" sz="1500" dirty="0"/>
          </a:p>
        </p:txBody>
      </p:sp>
      <p:sp>
        <p:nvSpPr>
          <p:cNvPr id="6" name="Text 4"/>
          <p:cNvSpPr/>
          <p:nvPr/>
        </p:nvSpPr>
        <p:spPr>
          <a:xfrm>
            <a:off x="457200" y="4206240"/>
            <a:ext cx="8229600" cy="365760"/>
          </a:xfrm>
          <a:prstGeom prst="rect">
            <a:avLst/>
          </a:prstGeom>
          <a:noFill/>
          <a:ln/>
        </p:spPr>
        <p:txBody>
          <a:bodyPr wrap="square" rtlCol="0" anchor="ctr"/>
          <a:lstStyle/>
          <a:p>
            <a:pPr indent="0" marL="0">
              <a:buNone/>
            </a:pPr>
            <a:r>
              <a:rPr lang="en-US" sz="1200" dirty="0">
                <a:solidFill>
                  <a:srgbClr val="55C8E8"/>
                </a:solidFill>
                <a:latin typeface="Calibri" pitchFamily="34" charset="0"/>
                <a:ea typeface="Calibri" pitchFamily="34" charset="-122"/>
                <a:cs typeface="Calibri" pitchFamily="34" charset="-120"/>
              </a:rPr>
              <a:t>Lesson 27.02 · Heating and Cooling Water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2026-07-13T18:44:22Z</dcterms:created>
  <dcterms:modified xsi:type="dcterms:W3CDTF">2026-07-13T18:44:22Z</dcterms:modified>
</cp:coreProperties>
</file>