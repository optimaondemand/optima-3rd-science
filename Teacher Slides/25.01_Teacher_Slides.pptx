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(protected land, example) rehearsed in Section 1 (Slide 10) and the national park biodiversity photo (Slide 9). I Can #2 (biodiversity keeps habitat healthy) rehearsed in Section 2 (Slide 11) and the roles-in-a-food-web tap diagram (Slide 13). I Can #3 (human choices harm/help habitats) rehearsed in Section 3 (Slide 12), the Compare Two Places investigation (Slides 19-21), and the formal Write &amp; Explain (Slide 28). All three assessed in Self-Check (Slides 23-25) and Assignment (Slides 26-28).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core definition of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biodiversity is about variety of species, not visitor count or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cause-and-effect reasoning about habitat destruction.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habitat loss directly harms the species that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classification of conservation vs. habitat-damaging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conservation actively protects rather than removes or alters wild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25.01 · WEEK 25</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Why Do We Protect</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National Parks?</a:t>
            </a:r>
            <a:endParaRPr lang="en-US" sz="34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NGSS 3-LS4-4 · Earth &amp; Human Activity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280160"/>
          </a:xfrm>
          <a:prstGeom prst="roundRect">
            <a:avLst>
              <a:gd name="adj" fmla="val 7143"/>
            </a:avLst>
          </a:prstGeom>
          <a:solidFill>
            <a:srgbClr val="F3EEFB"/>
          </a:solidFill>
          <a:ln w="25400">
            <a:solidFill>
              <a:srgbClr val="7B5EA7"/>
            </a:solidFill>
            <a:prstDash val="solid"/>
          </a:ln>
        </p:spPr>
      </p:sp>
      <p:sp>
        <p:nvSpPr>
          <p:cNvPr id="8" name="Text 6"/>
          <p:cNvSpPr/>
          <p:nvPr/>
        </p:nvSpPr>
        <p:spPr>
          <a:xfrm>
            <a:off x="548640" y="1371600"/>
            <a:ext cx="8046720" cy="914400"/>
          </a:xfrm>
          <a:prstGeom prst="rect">
            <a:avLst/>
          </a:prstGeom>
          <a:noFill/>
          <a:ln/>
        </p:spPr>
        <p:txBody>
          <a:bodyPr wrap="square" rtlCol="0" anchor="t"/>
          <a:lstStyle/>
          <a:p>
            <a:pPr indent="0" marL="0">
              <a:lnSpc>
                <a:spcPts val="2500"/>
              </a:lnSpc>
              <a:buNone/>
            </a:pPr>
            <a:r>
              <a:rPr lang="en-US" sz="1900" i="1" dirty="0">
                <a:solidFill>
                  <a:srgbClr val="3A2B5C"/>
                </a:solidFill>
                <a:latin typeface="Cambria" pitchFamily="34" charset="0"/>
                <a:ea typeface="Cambria" pitchFamily="34" charset="-122"/>
                <a:cs typeface="Cambria" pitchFamily="34" charset="-120"/>
              </a:rPr>
              <a:t>"Why do people work hard to protect certain pieces of wild land?"</a:t>
            </a:r>
            <a:endParaRPr lang="en-US" sz="1900" dirty="0"/>
          </a:p>
        </p:txBody>
      </p:sp>
      <p:sp>
        <p:nvSpPr>
          <p:cNvPr id="9" name="Text 7"/>
          <p:cNvSpPr/>
          <p:nvPr/>
        </p:nvSpPr>
        <p:spPr>
          <a:xfrm>
            <a:off x="320040" y="274320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Hold this question in your mind as you work through the lesson. By the end, you should be able to answer it with evidence!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450" b="1" dirty="0">
                <a:solidFill>
                  <a:srgbClr val="3A2410"/>
                </a:solidFill>
                <a:latin typeface="Calibri" pitchFamily="34" charset="0"/>
                <a:ea typeface="Calibri" pitchFamily="34" charset="-122"/>
                <a:cs typeface="Calibri" pitchFamily="34" charset="-120"/>
              </a:rPr>
              <a:t>I can explain what protected land is and give an example.</a:t>
            </a:r>
            <a:endParaRPr lang="en-US" sz="145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450" b="1" dirty="0">
                <a:solidFill>
                  <a:srgbClr val="3A2410"/>
                </a:solidFill>
                <a:latin typeface="Calibri" pitchFamily="34" charset="0"/>
                <a:ea typeface="Calibri" pitchFamily="34" charset="-122"/>
                <a:cs typeface="Calibri" pitchFamily="34" charset="-120"/>
              </a:rPr>
              <a:t>I can describe how biodiversity helps a habitat stay healthy.</a:t>
            </a:r>
            <a:endParaRPr lang="en-US" sz="145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450" b="1" dirty="0">
                <a:solidFill>
                  <a:srgbClr val="3A2410"/>
                </a:solidFill>
                <a:latin typeface="Calibri" pitchFamily="34" charset="0"/>
                <a:ea typeface="Calibri" pitchFamily="34" charset="-122"/>
                <a:cs typeface="Calibri" pitchFamily="34" charset="-120"/>
              </a:rPr>
              <a:t>I can explain how human choices can harm or help wild habitats.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143000"/>
          </a:xfrm>
          <a:prstGeom prst="roundRect">
            <a:avLst>
              <a:gd name="adj" fmla="val 6400"/>
            </a:avLst>
          </a:prstGeom>
          <a:solidFill>
            <a:srgbClr val="EEF8F0"/>
          </a:solidFill>
          <a:ln w="19050">
            <a:solidFill>
              <a:srgbClr val="52B788"/>
            </a:solidFill>
            <a:prstDash val="solid"/>
          </a:ln>
        </p:spPr>
      </p:sp>
      <p:sp>
        <p:nvSpPr>
          <p:cNvPr id="8" name="Text 6"/>
          <p:cNvSpPr/>
          <p:nvPr/>
        </p:nvSpPr>
        <p:spPr>
          <a:xfrm>
            <a:off x="548640" y="1325880"/>
            <a:ext cx="8046720" cy="868680"/>
          </a:xfrm>
          <a:prstGeom prst="rect">
            <a:avLst/>
          </a:prstGeom>
          <a:noFill/>
          <a:ln/>
        </p:spPr>
        <p:txBody>
          <a:bodyPr wrap="square" rtlCol="0" anchor="t"/>
          <a:lstStyle/>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Science notebook</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Pencil &amp; colored pencils</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Ruler (for charts)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Think about a wild place — a forest, a wetland, a mountain. Wild places are full of living things. Some are easy to spot, like deer or oak trees. Many are small and hidden, like beetles and mosses.</a:t>
            </a:r>
            <a:endParaRPr lang="en-US" sz="1400" dirty="0"/>
          </a:p>
        </p:txBody>
      </p:sp>
      <p:sp>
        <p:nvSpPr>
          <p:cNvPr id="8" name="Shape 6"/>
          <p:cNvSpPr/>
          <p:nvPr/>
        </p:nvSpPr>
        <p:spPr>
          <a:xfrm>
            <a:off x="320040" y="2103120"/>
            <a:ext cx="8503920" cy="822960"/>
          </a:xfrm>
          <a:prstGeom prst="roundRect">
            <a:avLst>
              <a:gd name="adj" fmla="val 8889"/>
            </a:avLst>
          </a:prstGeom>
          <a:solidFill>
            <a:srgbClr val="FFF9E8"/>
          </a:solidFill>
          <a:ln w="19050">
            <a:solidFill>
              <a:srgbClr val="F9A825"/>
            </a:solidFill>
            <a:prstDash val="solid"/>
          </a:ln>
        </p:spPr>
      </p:sp>
      <p:sp>
        <p:nvSpPr>
          <p:cNvPr id="9" name="Text 7"/>
          <p:cNvSpPr/>
          <p:nvPr/>
        </p:nvSpPr>
        <p:spPr>
          <a:xfrm>
            <a:off x="502920" y="2176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9572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down 3 things you think you'd find in a national park. Then write 1 question: why do you think people protect these places?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Protected Land</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Land the government sets aside to keep wild and safe from harmful development.</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Biodiversity</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variety of different plants and animals living together in one place.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Habitat</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natural home where a plant or animal finds food, water, and shelter.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Conservation</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Working to protect and care for nature so it stays healthy over time.</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Ecosystem</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All the living things in a place — plus the soil, water, and air they share.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Preserve</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To keep something safe and unchanged so it lasts for future generations.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600" i="1" dirty="0">
                <a:solidFill>
                  <a:srgbClr val="3A2410"/>
                </a:solidFill>
                <a:latin typeface="Cambria" pitchFamily="34" charset="0"/>
                <a:ea typeface="Cambria" pitchFamily="34" charset="-122"/>
                <a:cs typeface="Cambria" pitchFamily="34" charset="-120"/>
              </a:rPr>
              <a:t>"When we protect wild land, we protect the plants, animals, and ecosystems that depend on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NATIONAL PARK BIODIVERSITY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Many Habitats, One Protected Place</a:t>
            </a:r>
            <a:endParaRPr lang="en-US" sz="2100" dirty="0"/>
          </a:p>
        </p:txBody>
      </p:sp>
      <p:sp>
        <p:nvSpPr>
          <p:cNvPr id="7" name="Shape 5"/>
          <p:cNvSpPr/>
          <p:nvPr/>
        </p:nvSpPr>
        <p:spPr>
          <a:xfrm>
            <a:off x="1691640" y="960120"/>
            <a:ext cx="5760720" cy="2423160"/>
          </a:xfrm>
          <a:prstGeom prst="roundRect">
            <a:avLst>
              <a:gd name="adj" fmla="val 2264"/>
            </a:avLst>
          </a:prstGeom>
          <a:solidFill>
            <a:srgbClr val="FFFFFF"/>
          </a:solidFill>
          <a:ln w="19050">
            <a:solidFill>
              <a:srgbClr val="E8DDD2"/>
            </a:solidFill>
            <a:prstDash val="solid"/>
          </a:ln>
        </p:spPr>
      </p:sp>
      <p:pic>
        <p:nvPicPr>
          <p:cNvPr id="8" name="Image 0" descr="/sessions/modest-gifted-goldberg/mnt/optima-3rd-science/images/25-01-national-park-biodiversity.png">    </p:cNvPr>
          <p:cNvPicPr>
            <a:picLocks noChangeAspect="1"/>
          </p:cNvPicPr>
          <p:nvPr/>
        </p:nvPicPr>
        <p:blipFill>
          <a:blip r:embed="rId1"/>
          <a:srcRect l="0" r="0" t="0" b="0"/>
          <a:stretch/>
        </p:blipFill>
        <p:spPr>
          <a:xfrm>
            <a:off x="1737360" y="1005840"/>
            <a:ext cx="5669280" cy="2331720"/>
          </a:xfrm>
          <a:prstGeom prst="rect">
            <a:avLst/>
          </a:prstGeom>
        </p:spPr>
      </p:pic>
      <p:sp>
        <p:nvSpPr>
          <p:cNvPr id="9" name="Text 6"/>
          <p:cNvSpPr/>
          <p:nvPr/>
        </p:nvSpPr>
        <p:spPr>
          <a:xfrm>
            <a:off x="1737360" y="3410712"/>
            <a:ext cx="5669280" cy="469773"/>
          </a:xfrm>
          <a:prstGeom prst="rect">
            <a:avLst/>
          </a:prstGeom>
          <a:noFill/>
          <a:ln/>
        </p:spPr>
        <p:txBody>
          <a:bodyPr wrap="square" rtlCol="0" anchor="t"/>
          <a:lstStyle/>
          <a:p>
            <a:pPr algn="ctr" indent="0" marL="0">
              <a:buNone/>
            </a:pPr>
            <a:r>
              <a:rPr lang="en-US" sz="1050" i="1" dirty="0">
                <a:solidFill>
                  <a:srgbClr val="5A4D3E"/>
                </a:solidFill>
                <a:latin typeface="Calibri" pitchFamily="34" charset="0"/>
                <a:ea typeface="Calibri" pitchFamily="34" charset="-122"/>
                <a:cs typeface="Calibri" pitchFamily="34" charset="-120"/>
              </a:rPr>
              <a:t>National parks protect many kinds of habitats at once — forests, wetlands, meadows, and more.</a:t>
            </a:r>
            <a:endParaRPr lang="en-US" sz="1050" dirty="0"/>
          </a:p>
        </p:txBody>
      </p:sp>
      <p:sp>
        <p:nvSpPr>
          <p:cNvPr id="10" name="Text 7"/>
          <p:cNvSpPr/>
          <p:nvPr/>
        </p:nvSpPr>
        <p:spPr>
          <a:xfrm>
            <a:off x="320040" y="3971925"/>
            <a:ext cx="8503920" cy="8229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National parks protect many kinds of habitats at once — forests, wetlands, meadows, and more. Each one is home to hundreds of species.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Protected Land?</a:t>
            </a:r>
            <a:endParaRPr lang="en-US" sz="2100" dirty="0"/>
          </a:p>
        </p:txBody>
      </p:sp>
      <p:sp>
        <p:nvSpPr>
          <p:cNvPr id="7" name="Text 5"/>
          <p:cNvSpPr/>
          <p:nvPr/>
        </p:nvSpPr>
        <p:spPr>
          <a:xfrm>
            <a:off x="320040" y="1097280"/>
            <a:ext cx="8503920" cy="14630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Some land in the United States is set aside by law. Nobody can build houses, factories, or farms there — these are called protected lands. National parks are one kind. People can visit and explore them, but the plants, animals, and water inside are kept safe from the kind of damage people can cause.</a:t>
            </a:r>
            <a:endParaRPr lang="en-US" sz="1300" dirty="0"/>
          </a:p>
        </p:txBody>
      </p:sp>
      <p:sp>
        <p:nvSpPr>
          <p:cNvPr id="8" name="Shape 6"/>
          <p:cNvSpPr/>
          <p:nvPr/>
        </p:nvSpPr>
        <p:spPr>
          <a:xfrm>
            <a:off x="320040" y="265176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7249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98094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a forest has no protection, what kinds of things might happen to it over time?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Biodiversity Matters</a:t>
            </a:r>
            <a:endParaRPr lang="en-US" sz="2100" dirty="0"/>
          </a:p>
        </p:txBody>
      </p:sp>
      <p:sp>
        <p:nvSpPr>
          <p:cNvPr id="7" name="Text 5"/>
          <p:cNvSpPr/>
          <p:nvPr/>
        </p:nvSpPr>
        <p:spPr>
          <a:xfrm>
            <a:off x="320040" y="1097280"/>
            <a:ext cx="8503920" cy="15544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A healthy ecosystem has many different kinds of living things — that variety is biodiversity. Each species plays a role: bees pollinate flowers, owls control the mouse population, decomposers break down dead leaves. When one species disappears, others can be affected. A place with high biodiversity is more stable and harder to break.</a:t>
            </a:r>
            <a:endParaRPr lang="en-US" sz="1250" dirty="0"/>
          </a:p>
        </p:txBody>
      </p:sp>
      <p:sp>
        <p:nvSpPr>
          <p:cNvPr id="8" name="Shape 6"/>
          <p:cNvSpPr/>
          <p:nvPr/>
        </p:nvSpPr>
        <p:spPr>
          <a:xfrm>
            <a:off x="320040" y="274320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8163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7238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might happen to the plants if all the bees in a park suddenly disappeared?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Conservation Works</a:t>
            </a:r>
            <a:endParaRPr lang="en-US" sz="2100" dirty="0"/>
          </a:p>
        </p:txBody>
      </p:sp>
      <p:sp>
        <p:nvSpPr>
          <p:cNvPr id="7" name="Text 5"/>
          <p:cNvSpPr/>
          <p:nvPr/>
        </p:nvSpPr>
        <p:spPr>
          <a:xfrm>
            <a:off x="320040" y="1051560"/>
            <a:ext cx="8503920" cy="73152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Rangers and scientists work inside national parks — tracking animal populations, removing invasive plants, and reducing pollution. This work is called conservation.</a:t>
            </a:r>
            <a:endParaRPr lang="en-US" sz="1250" dirty="0"/>
          </a:p>
        </p:txBody>
      </p:sp>
      <p:sp>
        <p:nvSpPr>
          <p:cNvPr id="8" name="Shape 6"/>
          <p:cNvSpPr/>
          <p:nvPr/>
        </p:nvSpPr>
        <p:spPr>
          <a:xfrm>
            <a:off x="320040" y="1874520"/>
            <a:ext cx="8503920" cy="777240"/>
          </a:xfrm>
          <a:prstGeom prst="roundRect">
            <a:avLst>
              <a:gd name="adj" fmla="val 9412"/>
            </a:avLst>
          </a:prstGeom>
          <a:solidFill>
            <a:srgbClr val="E3F2FD"/>
          </a:solidFill>
          <a:ln w="19050">
            <a:solidFill>
              <a:srgbClr val="0288D1"/>
            </a:solidFill>
            <a:prstDash val="solid"/>
          </a:ln>
        </p:spPr>
      </p:sp>
      <p:sp>
        <p:nvSpPr>
          <p:cNvPr id="9" name="Text 7"/>
          <p:cNvSpPr/>
          <p:nvPr/>
        </p:nvSpPr>
        <p:spPr>
          <a:xfrm>
            <a:off x="502920" y="194767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167128"/>
            <a:ext cx="8138160" cy="45720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The Everglades in Florida: over 50% of the original Everglades was drained for farms and cities. Today it is a protected national park, and scientists are slowly helping it recover.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TAP EACH ROLE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Remove One, All Are Affected</a:t>
            </a:r>
            <a:endParaRPr lang="en-US" sz="2100" dirty="0"/>
          </a:p>
        </p:txBody>
      </p:sp>
      <p:sp>
        <p:nvSpPr>
          <p:cNvPr id="7" name="Text 5"/>
          <p:cNvSpPr/>
          <p:nvPr/>
        </p:nvSpPr>
        <p:spPr>
          <a:xfrm>
            <a:off x="320040" y="1097280"/>
            <a:ext cx="8503920" cy="5486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The interactive shows four roles in an ecosystem. Students tap each role to learn what it does — and what breaks without it.</a:t>
            </a:r>
            <a:endParaRPr lang="en-US" sz="1300" dirty="0"/>
          </a:p>
        </p:txBody>
      </p:sp>
      <p:sp>
        <p:nvSpPr>
          <p:cNvPr id="8" name="Shape 6"/>
          <p:cNvSpPr/>
          <p:nvPr/>
        </p:nvSpPr>
        <p:spPr>
          <a:xfrm>
            <a:off x="320040" y="1737360"/>
            <a:ext cx="8503920" cy="502920"/>
          </a:xfrm>
          <a:prstGeom prst="roundRect">
            <a:avLst>
              <a:gd name="adj" fmla="val 14545"/>
            </a:avLst>
          </a:prstGeom>
          <a:solidFill>
            <a:srgbClr val="F3EEFB"/>
          </a:solidFill>
          <a:ln w="12700">
            <a:solidFill>
              <a:srgbClr val="7B5EA7"/>
            </a:solidFill>
            <a:prstDash val="solid"/>
          </a:ln>
        </p:spPr>
      </p:sp>
      <p:sp>
        <p:nvSpPr>
          <p:cNvPr id="9" name="Text 7"/>
          <p:cNvSpPr/>
          <p:nvPr/>
        </p:nvSpPr>
        <p:spPr>
          <a:xfrm>
            <a:off x="502920" y="1810512"/>
            <a:ext cx="8138160" cy="365760"/>
          </a:xfrm>
          <a:prstGeom prst="rect">
            <a:avLst/>
          </a:prstGeom>
          <a:noFill/>
          <a:ln/>
        </p:spPr>
        <p:txBody>
          <a:bodyPr wrap="square" rtlCol="0" anchor="ctr"/>
          <a:lstStyle/>
          <a:p>
            <a:pPr indent="0" marL="0">
              <a:buNone/>
            </a:pPr>
            <a:r>
              <a:rPr lang="en-US" sz="1250" b="1" dirty="0">
                <a:solidFill>
                  <a:srgbClr val="3A2B5C"/>
                </a:solidFill>
                <a:latin typeface="Calibri" pitchFamily="34" charset="0"/>
                <a:ea typeface="Calibri" pitchFamily="34" charset="-122"/>
                <a:cs typeface="Calibri" pitchFamily="34" charset="-120"/>
              </a:rPr>
              <a:t>Plants — Make food from sunlight.</a:t>
            </a:r>
            <a:endParaRPr lang="en-US" sz="1250" dirty="0"/>
          </a:p>
        </p:txBody>
      </p:sp>
      <p:sp>
        <p:nvSpPr>
          <p:cNvPr id="10" name="Shape 8"/>
          <p:cNvSpPr/>
          <p:nvPr/>
        </p:nvSpPr>
        <p:spPr>
          <a:xfrm>
            <a:off x="320040" y="2304288"/>
            <a:ext cx="8503920" cy="502920"/>
          </a:xfrm>
          <a:prstGeom prst="roundRect">
            <a:avLst>
              <a:gd name="adj" fmla="val 14545"/>
            </a:avLst>
          </a:prstGeom>
          <a:solidFill>
            <a:srgbClr val="F3EEFB"/>
          </a:solidFill>
          <a:ln w="12700">
            <a:solidFill>
              <a:srgbClr val="7B5EA7"/>
            </a:solidFill>
            <a:prstDash val="solid"/>
          </a:ln>
        </p:spPr>
      </p:sp>
      <p:sp>
        <p:nvSpPr>
          <p:cNvPr id="11" name="Text 9"/>
          <p:cNvSpPr/>
          <p:nvPr/>
        </p:nvSpPr>
        <p:spPr>
          <a:xfrm>
            <a:off x="502920" y="2377440"/>
            <a:ext cx="8138160" cy="365760"/>
          </a:xfrm>
          <a:prstGeom prst="rect">
            <a:avLst/>
          </a:prstGeom>
          <a:noFill/>
          <a:ln/>
        </p:spPr>
        <p:txBody>
          <a:bodyPr wrap="square" rtlCol="0" anchor="ctr"/>
          <a:lstStyle/>
          <a:p>
            <a:pPr indent="0" marL="0">
              <a:buNone/>
            </a:pPr>
            <a:r>
              <a:rPr lang="en-US" sz="1250" b="1" dirty="0">
                <a:solidFill>
                  <a:srgbClr val="3A2B5C"/>
                </a:solidFill>
                <a:latin typeface="Calibri" pitchFamily="34" charset="0"/>
                <a:ea typeface="Calibri" pitchFamily="34" charset="-122"/>
                <a:cs typeface="Calibri" pitchFamily="34" charset="-120"/>
              </a:rPr>
              <a:t>Pollinators — Carry pollen, help plants reproduce.</a:t>
            </a:r>
            <a:endParaRPr lang="en-US" sz="1250" dirty="0"/>
          </a:p>
        </p:txBody>
      </p:sp>
      <p:sp>
        <p:nvSpPr>
          <p:cNvPr id="12" name="Shape 10"/>
          <p:cNvSpPr/>
          <p:nvPr/>
        </p:nvSpPr>
        <p:spPr>
          <a:xfrm>
            <a:off x="320040" y="2871216"/>
            <a:ext cx="8503920" cy="502920"/>
          </a:xfrm>
          <a:prstGeom prst="roundRect">
            <a:avLst>
              <a:gd name="adj" fmla="val 14545"/>
            </a:avLst>
          </a:prstGeom>
          <a:solidFill>
            <a:srgbClr val="F3EEFB"/>
          </a:solidFill>
          <a:ln w="12700">
            <a:solidFill>
              <a:srgbClr val="7B5EA7"/>
            </a:solidFill>
            <a:prstDash val="solid"/>
          </a:ln>
        </p:spPr>
      </p:sp>
      <p:sp>
        <p:nvSpPr>
          <p:cNvPr id="13" name="Text 11"/>
          <p:cNvSpPr/>
          <p:nvPr/>
        </p:nvSpPr>
        <p:spPr>
          <a:xfrm>
            <a:off x="502920" y="2944368"/>
            <a:ext cx="8138160" cy="365760"/>
          </a:xfrm>
          <a:prstGeom prst="rect">
            <a:avLst/>
          </a:prstGeom>
          <a:noFill/>
          <a:ln/>
        </p:spPr>
        <p:txBody>
          <a:bodyPr wrap="square" rtlCol="0" anchor="ctr"/>
          <a:lstStyle/>
          <a:p>
            <a:pPr indent="0" marL="0">
              <a:buNone/>
            </a:pPr>
            <a:r>
              <a:rPr lang="en-US" sz="1250" b="1" dirty="0">
                <a:solidFill>
                  <a:srgbClr val="3A2B5C"/>
                </a:solidFill>
                <a:latin typeface="Calibri" pitchFamily="34" charset="0"/>
                <a:ea typeface="Calibri" pitchFamily="34" charset="-122"/>
                <a:cs typeface="Calibri" pitchFamily="34" charset="-120"/>
              </a:rPr>
              <a:t>Grazers — Eat plants, spread seeds.</a:t>
            </a:r>
            <a:endParaRPr lang="en-US" sz="1250" dirty="0"/>
          </a:p>
        </p:txBody>
      </p:sp>
      <p:sp>
        <p:nvSpPr>
          <p:cNvPr id="14" name="Shape 12"/>
          <p:cNvSpPr/>
          <p:nvPr/>
        </p:nvSpPr>
        <p:spPr>
          <a:xfrm>
            <a:off x="320040" y="3438144"/>
            <a:ext cx="8503920" cy="502920"/>
          </a:xfrm>
          <a:prstGeom prst="roundRect">
            <a:avLst>
              <a:gd name="adj" fmla="val 14545"/>
            </a:avLst>
          </a:prstGeom>
          <a:solidFill>
            <a:srgbClr val="F3EEFB"/>
          </a:solidFill>
          <a:ln w="12700">
            <a:solidFill>
              <a:srgbClr val="7B5EA7"/>
            </a:solidFill>
            <a:prstDash val="solid"/>
          </a:ln>
        </p:spPr>
      </p:sp>
      <p:sp>
        <p:nvSpPr>
          <p:cNvPr id="15" name="Text 13"/>
          <p:cNvSpPr/>
          <p:nvPr/>
        </p:nvSpPr>
        <p:spPr>
          <a:xfrm>
            <a:off x="502920" y="3511296"/>
            <a:ext cx="8138160" cy="365760"/>
          </a:xfrm>
          <a:prstGeom prst="rect">
            <a:avLst/>
          </a:prstGeom>
          <a:noFill/>
          <a:ln/>
        </p:spPr>
        <p:txBody>
          <a:bodyPr wrap="square" rtlCol="0" anchor="ctr"/>
          <a:lstStyle/>
          <a:p>
            <a:pPr indent="0" marL="0">
              <a:buNone/>
            </a:pPr>
            <a:r>
              <a:rPr lang="en-US" sz="1250" b="1" dirty="0">
                <a:solidFill>
                  <a:srgbClr val="3A2B5C"/>
                </a:solidFill>
                <a:latin typeface="Calibri" pitchFamily="34" charset="0"/>
                <a:ea typeface="Calibri" pitchFamily="34" charset="-122"/>
                <a:cs typeface="Calibri" pitchFamily="34" charset="-120"/>
              </a:rPr>
              <a:t>Predators — Keep grazer populations in check.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One Web, Many Parts</a:t>
            </a:r>
            <a:endParaRPr lang="en-US" sz="2100" dirty="0"/>
          </a:p>
        </p:txBody>
      </p:sp>
      <p:sp>
        <p:nvSpPr>
          <p:cNvPr id="7" name="Shape 5"/>
          <p:cNvSpPr/>
          <p:nvPr/>
        </p:nvSpPr>
        <p:spPr>
          <a:xfrm>
            <a:off x="320040" y="1188720"/>
            <a:ext cx="8503920" cy="1005840"/>
          </a:xfrm>
          <a:prstGeom prst="roundRect">
            <a:avLst>
              <a:gd name="adj" fmla="val 7273"/>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6583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Protecting land protects the entire ecosystem — the soil, water, plants, and animals that all depend on each other.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MIND-BLOWING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Alligators and Crocodiles Together</a:t>
            </a:r>
            <a:endParaRPr lang="en-US" sz="2100" dirty="0"/>
          </a:p>
        </p:txBody>
      </p:sp>
      <p:sp>
        <p:nvSpPr>
          <p:cNvPr id="7" name="Text 5"/>
          <p:cNvSpPr/>
          <p:nvPr/>
        </p:nvSpPr>
        <p:spPr>
          <a:xfrm>
            <a:off x="320040" y="1097280"/>
            <a:ext cx="8503920" cy="1188720"/>
          </a:xfrm>
          <a:prstGeom prst="rect">
            <a:avLst/>
          </a:prstGeom>
          <a:noFill/>
          <a:ln/>
        </p:spPr>
        <p:txBody>
          <a:bodyPr wrap="square" rtlCol="0" anchor="t"/>
          <a:lstStyle/>
          <a:p>
            <a:pPr indent="0" marL="0">
              <a:lnSpc>
                <a:spcPts val="2000"/>
              </a:lnSpc>
              <a:buNone/>
            </a:pPr>
            <a:r>
              <a:rPr lang="en-US" sz="1500" dirty="0">
                <a:solidFill>
                  <a:srgbClr val="2B1D12"/>
                </a:solidFill>
                <a:latin typeface="Calibri" pitchFamily="34" charset="0"/>
                <a:ea typeface="Calibri" pitchFamily="34" charset="-122"/>
                <a:cs typeface="Calibri" pitchFamily="34" charset="-120"/>
              </a:rPr>
              <a:t>The Everglades is the only place on Earth where alligators and crocodiles live together in the wild — but over half of the original Everglades was destroyed before people started protecting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Ecologists and Keystone Species</a:t>
            </a:r>
            <a:endParaRPr lang="en-US" sz="2100" dirty="0"/>
          </a:p>
        </p:txBody>
      </p:sp>
      <p:sp>
        <p:nvSpPr>
          <p:cNvPr id="7" name="Text 5"/>
          <p:cNvSpPr/>
          <p:nvPr/>
        </p:nvSpPr>
        <p:spPr>
          <a:xfrm>
            <a:off x="320040" y="1051560"/>
            <a:ext cx="8503920" cy="173736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Scientists who study ecosystems are called ecologists. They count species, measure water quality, and track animal movements over years — sometimes decades. One of their most important tools is the 'keystone species' idea — a species that holds the whole ecosystem together. Sea otters, wolves, and beavers are classic examples. Remove one, and the whole ecosystem can shift dramatically.</a:t>
            </a:r>
            <a:endParaRPr lang="en-US" sz="1250" dirty="0"/>
          </a:p>
        </p:txBody>
      </p:sp>
      <p:sp>
        <p:nvSpPr>
          <p:cNvPr id="8" name="Shape 6"/>
          <p:cNvSpPr/>
          <p:nvPr/>
        </p:nvSpPr>
        <p:spPr>
          <a:xfrm>
            <a:off x="320040" y="28803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9535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2095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Can you think of a keystone species that might live in the Everglades? What do you think would happen if it disappeared?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Compare Two Places</a:t>
            </a:r>
            <a:endParaRPr lang="en-US" sz="2100" dirty="0"/>
          </a:p>
        </p:txBody>
      </p:sp>
      <p:sp>
        <p:nvSpPr>
          <p:cNvPr id="7" name="Text 5"/>
          <p:cNvSpPr/>
          <p:nvPr/>
        </p:nvSpPr>
        <p:spPr>
          <a:xfrm>
            <a:off x="320040" y="1097280"/>
            <a:ext cx="8503920" cy="100584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Use the descriptions below to compare a protected and an unprotected area. Read about the two places, then fill out the comparison chart in your notebook.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READ THE TWO PLACES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Place A (Protected) vs. Place B (Unprotected)</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Place A — Protected National Park: Protected for 80 years. Logging, hunting, and building are not allowed. Rangers monitor every season. Over 300 bird species, 50 mammal species, dozens of native tree types. Streams run clear.</a:t>
            </a:r>
            <a:endParaRPr lang="en-US" sz="1100" dirty="0"/>
          </a:p>
        </p:txBody>
      </p:sp>
      <p:sp>
        <p:nvSpPr>
          <p:cNvPr id="8" name="Text 6"/>
          <p:cNvSpPr/>
          <p:nvPr/>
        </p:nvSpPr>
        <p:spPr>
          <a:xfrm>
            <a:off x="320040" y="2057400"/>
            <a:ext cx="8503920" cy="91440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Place B — Unprotected Forest: Sits next to a growing town. Trees cut for lumber, some land turned into parking lots. Fewer than 80 bird species. Several mammal species not seen in years. Streams run muddy after rain.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COPY THIS CHART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Category | Place A | Place B</a:t>
            </a:r>
            <a:endParaRPr lang="en-US" sz="2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097280"/>
          <a:ext cx="8503920" cy="1737360"/>
        </p:xfrm>
        <a:graphic>
          <a:graphicData uri="http://schemas.openxmlformats.org/drawingml/2006/table">
            <a:tbl>
              <a:tblPr/>
              <a:tblGrid>
                <a:gridCol w="2834640"/>
                <a:gridCol w="2834640"/>
                <a:gridCol w="283464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Place A (Protected)</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Place B (Unprotected)</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r>
              <a:tr h="347472">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Bird species</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47472">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Water quality</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47472">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Mammals present</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47472">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Human activities allowed</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150" dirty="0">
                          <a:solidFill>
                            <a:srgbClr val="2B1D12"/>
                          </a:solidFill>
                          <a:latin typeface="Calibri" pitchFamily="34" charset="0"/>
                          <a:ea typeface="Calibri" pitchFamily="34" charset="-122"/>
                          <a:cs typeface="Calibri" pitchFamily="34" charset="-120"/>
                        </a:rPr>
                        <a:t>write here</a:t>
                      </a:r>
                      <a:endParaRPr lang="en-US" sz="11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CIRCLE, SKETCH, PREDICT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Three More Steps</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Circle one difference in your chart that surprises you most. Write a sentence explaining why you chose it.</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Sketch one animal you would most likely find in Place A but NOT Place B. Label its habitat needs: food, shelter, water.</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Write a prediction: If Place B became a protected area starting today, what do you think would happen over the next 20 years?</a:t>
            </a:r>
            <a:endParaRPr lang="en-US" sz="1300" dirty="0"/>
          </a:p>
        </p:txBody>
      </p:sp>
      <p:sp>
        <p:nvSpPr>
          <p:cNvPr id="8" name="Shape 6"/>
          <p:cNvSpPr/>
          <p:nvPr/>
        </p:nvSpPr>
        <p:spPr>
          <a:xfrm>
            <a:off x="320040" y="31546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3227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4838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Looking at your chart — what pattern do you notice? What does that pattern tell you about what protection actually does for a place?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What You Observed</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was the biggest difference you noticed between Place A and Place B?</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do you think caused that difference? Use the word "protection" or "habitat" in your answer.</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Draw and label the animal you sketched. Show at least 3 things it needs to survive.</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story of what you noticed — what you compared, what surprised you, and what it taught you about why protection matters.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happened to biodiversity when Place B lost its tree cover — and why do you think that happened?</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evidence in your chart supports the idea that protecting land helps animals survive?</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If the Everglades were not protected, what kinds of animals do you think would be hardest hit? Why?</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is one human action — other than logging — that could reduce biodiversity in a wild place? What would you do to stop it?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Biodiversity?</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biodiversity?</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number of people who visit a national park each year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variety of different plants and animals living in one place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amount of rainfall a forest receives each year</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back to the vocab card for biodiversity. It's about how many different kinds of living things share a space.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Biodiversity?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Biodiversity means variety: many different kinds of living things sharing the same place.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When a Habitat Is Destroyed</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most likely happens when a wild habitat is destroyed?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Animals find more food because there's more open space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Biodiversity in that area increases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Animals lose shelter and food, so some species may disappear</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animals need from their habitat: food, water, and shelter. What happens when those are gone?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When a Habitat Is Destroyed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When habitat is destroyed, animals lose the things they need, and some can't survive without them.</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Best Example of Conservation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of these is the best example of conservation?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Rangers monitoring and protecting a wetland from pollution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Cutting down trees to build a new road through a forest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Draining a swamp to create more farmland</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Conservation means protecting nature and keeping it healthy. Which option does that — instead of changing or removing the wild place?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Best Example of Conservation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Conservation means working to protect and care for nature. Monitoring a wetland is exactly that kind of work.</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Sort the Actions</a:t>
            </a:r>
            <a:endParaRPr lang="en-US" sz="2100" dirty="0"/>
          </a:p>
        </p:txBody>
      </p:sp>
      <p:sp>
        <p:nvSpPr>
          <p:cNvPr id="7" name="Text 5"/>
          <p:cNvSpPr/>
          <p:nvPr/>
        </p:nvSpPr>
        <p:spPr>
          <a:xfrm>
            <a:off x="320040" y="1051560"/>
            <a:ext cx="8503920" cy="6858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In your notebook, write each action under one of two headings: "Helps the Ecosystem" or "Harms the Ecosystem." Then write one sentence explaining your most important choice.</a:t>
            </a:r>
            <a:endParaRPr lang="en-US" sz="1300" dirty="0"/>
          </a:p>
        </p:txBody>
      </p:sp>
      <p:sp>
        <p:nvSpPr>
          <p:cNvPr id="8" name="Text 6"/>
          <p:cNvSpPr/>
          <p:nvPr/>
        </p:nvSpPr>
        <p:spPr>
          <a:xfrm>
            <a:off x="320040" y="1828800"/>
            <a:ext cx="8503920" cy="1645920"/>
          </a:xfrm>
          <a:prstGeom prst="rect">
            <a:avLst/>
          </a:prstGeom>
          <a:noFill/>
          <a:ln/>
        </p:spPr>
        <p:txBody>
          <a:bodyPr wrap="square" rtlCol="0" anchor="t"/>
          <a:lstStyle/>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A ranger removes invasive plants that are crowding out native wildflowers.</a:t>
            </a:r>
            <a:endParaRPr lang="en-US" sz="1200" dirty="0"/>
          </a:p>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A developer drains a wetland to build a shopping center.</a:t>
            </a:r>
            <a:endParaRPr lang="en-US" sz="1200" dirty="0"/>
          </a:p>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Scientists track wolf populations to make sure the forest ecosystem stays balanced.</a:t>
            </a:r>
            <a:endParaRPr lang="en-US" sz="1200" dirty="0"/>
          </a:p>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A logging company cuts down a large section of old-growth trees.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Make Your Case</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Part B (complete sentences): 1) What is a national park? Give one reason protected land matters for animals. 2) Why is high biodiversity a sign of a healthy ecosystem? Give one example. 3) Describe one way humans harmed a wild ecosystem and one way people are trying to repair it.</a:t>
            </a:r>
            <a:endParaRPr lang="en-US" sz="110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36576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Is it worth protecting wild land, even if it means people can't build or farm there? Use what you learned today.</a:t>
            </a:r>
            <a:endParaRPr lang="en-US" sz="1100" dirty="0"/>
          </a:p>
        </p:txBody>
      </p:sp>
      <p:sp>
        <p:nvSpPr>
          <p:cNvPr id="10" name="Text 8"/>
          <p:cNvSpPr/>
          <p:nvPr/>
        </p:nvSpPr>
        <p:spPr>
          <a:xfrm>
            <a:off x="502920" y="2807208"/>
            <a:ext cx="8138160" cy="68580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think protecting wild land is important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"I know this because the lesson showed that…"</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"This makes sense because…"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Part C: Draw a national park scene showing at least 3 different zones (like sky, forest, and wetland). Label each zone and write the name of one plant or animal that lives there. Show one human action that protects that zone.</a:t>
            </a:r>
            <a:endParaRPr lang="en-US" sz="1200" dirty="0"/>
          </a:p>
        </p:txBody>
      </p:sp>
      <p:sp>
        <p:nvSpPr>
          <p:cNvPr id="8" name="Shape 6"/>
          <p:cNvSpPr/>
          <p:nvPr/>
        </p:nvSpPr>
        <p:spPr>
          <a:xfrm>
            <a:off x="320040" y="2148840"/>
            <a:ext cx="8503920" cy="1097280"/>
          </a:xfrm>
          <a:prstGeom prst="roundRect">
            <a:avLst>
              <a:gd name="adj" fmla="val 6667"/>
            </a:avLst>
          </a:prstGeom>
          <a:solidFill>
            <a:srgbClr val="EEF8F0"/>
          </a:solidFill>
          <a:ln w="19050">
            <a:solidFill>
              <a:srgbClr val="52B788"/>
            </a:solidFill>
            <a:prstDash val="solid"/>
          </a:ln>
        </p:spPr>
      </p:sp>
      <p:sp>
        <p:nvSpPr>
          <p:cNvPr id="9" name="Text 7"/>
          <p:cNvSpPr/>
          <p:nvPr/>
        </p:nvSpPr>
        <p:spPr>
          <a:xfrm>
            <a:off x="502920" y="224028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96312"/>
            <a:ext cx="8138160" cy="731520"/>
          </a:xfrm>
          <a:prstGeom prst="rect">
            <a:avLst/>
          </a:prstGeom>
          <a:noFill/>
          <a:ln/>
        </p:spPr>
        <p:txBody>
          <a:bodyPr wrap="square" rtlCol="0" anchor="t"/>
          <a:lstStyle/>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Completed comparison chart for Place A and Place B</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Part A sort (four actions labeled) and Part B short answers in complete sentences</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Write &amp; Explain response using at least one science vocabulary word</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Part C national park drawing with 3 zones labeled and one conservation action shown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377440"/>
            <a:ext cx="8229600" cy="548640"/>
          </a:xfrm>
          <a:prstGeom prst="rect">
            <a:avLst/>
          </a:prstGeom>
          <a:noFill/>
          <a:ln/>
        </p:spPr>
        <p:txBody>
          <a:bodyPr wrap="square" rtlCol="0" anchor="ctr"/>
          <a:lstStyle/>
          <a:p>
            <a:pPr indent="0" marL="0">
              <a:buNone/>
            </a:pPr>
            <a:r>
              <a:rPr lang="en-US" sz="1600" i="1" dirty="0">
                <a:solidFill>
                  <a:srgbClr val="FFCA28"/>
                </a:solidFill>
                <a:latin typeface="Calibri" pitchFamily="34" charset="0"/>
                <a:ea typeface="Calibri" pitchFamily="34" charset="-122"/>
                <a:cs typeface="Calibri" pitchFamily="34" charset="-120"/>
              </a:rPr>
              <a:t>Coming up next: design your own park protection proposal.</a:t>
            </a:r>
            <a:endParaRPr lang="en-US" sz="1600" dirty="0"/>
          </a:p>
        </p:txBody>
      </p:sp>
      <p:sp>
        <p:nvSpPr>
          <p:cNvPr id="6" name="Text 4"/>
          <p:cNvSpPr/>
          <p:nvPr/>
        </p:nvSpPr>
        <p:spPr>
          <a:xfrm>
            <a:off x="457200" y="420624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25.02 · Protect a Park Proposal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2026-07-13T18:32:11Z</dcterms:created>
  <dcterms:modified xsi:type="dcterms:W3CDTF">2026-07-13T18:32:11Z</dcterms:modified>
</cp:coreProperties>
</file>