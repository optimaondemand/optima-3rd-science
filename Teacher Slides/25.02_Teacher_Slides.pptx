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(identify a threat, explain why it matters) rehearsed in Section 1 (Slide 10) and the tap-a-threat-zone diagram (Slide 12). I Can #2 (write a proposal with problem/evidence/solution/criteria) rehearsed in Section 2 (Slide 11), the Proposal Planning Chart (Slides 18-19), and Record Your Thinking (Slide 20). I Can #3 (use evidence to make a claim) rehearsed in the Strengthen Your Claim step (Slide 17), Self-Check Q2-Q3 (Slides 24-26), and the formal Write &amp; Explain (Slide 28). All three assessed in Self-Check (Slides 22-26) and Assignment (Slides 27-29).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core vocabulary distinction between habitat, proposal, and park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habitat refers to the living space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understanding of proposal structure: problem + evidence +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evidence and a specific solution both must be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distinguishing measurable criteria from vague goals or statements of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criteria must be observable and time-bound, not just aspirational.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71600"/>
            <a:ext cx="8229600" cy="365760"/>
          </a:xfrm>
          <a:prstGeom prst="rect">
            <a:avLst/>
          </a:prstGeom>
          <a:noFill/>
          <a:ln/>
        </p:spPr>
        <p:txBody>
          <a:bodyPr wrap="square" rtlCol="0" anchor="ctr"/>
          <a:lstStyle/>
          <a:p>
            <a:pPr indent="0" marL="0">
              <a:buNone/>
            </a:pPr>
            <a:r>
              <a:rPr lang="en-US" sz="1400" b="1" spc="150" kern="0" dirty="0">
                <a:solidFill>
                  <a:srgbClr val="55C8E8"/>
                </a:solidFill>
                <a:latin typeface="Calibri" pitchFamily="34" charset="0"/>
                <a:ea typeface="Calibri" pitchFamily="34" charset="-122"/>
                <a:cs typeface="Calibri" pitchFamily="34" charset="-120"/>
              </a:rPr>
              <a:t>LESSON 25.02 · WEEK 25</a:t>
            </a:r>
            <a:endParaRPr lang="en-US" sz="1400" dirty="0"/>
          </a:p>
        </p:txBody>
      </p:sp>
      <p:sp>
        <p:nvSpPr>
          <p:cNvPr id="5" name="Text 3"/>
          <p:cNvSpPr/>
          <p:nvPr/>
        </p:nvSpPr>
        <p:spPr>
          <a:xfrm>
            <a:off x="457200" y="1828800"/>
            <a:ext cx="8229600" cy="1463040"/>
          </a:xfrm>
          <a:prstGeom prst="rect">
            <a:avLst/>
          </a:prstGeom>
          <a:noFill/>
          <a:ln/>
        </p:spPr>
        <p:txBody>
          <a:bodyPr wrap="square" rtlCol="0" anchor="ctr"/>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Investigation: Protect</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a Park Proposal</a:t>
            </a:r>
            <a:endParaRPr lang="en-US" sz="3400" dirty="0"/>
          </a:p>
        </p:txBody>
      </p:sp>
      <p:sp>
        <p:nvSpPr>
          <p:cNvPr id="6" name="Text 4"/>
          <p:cNvSpPr/>
          <p:nvPr/>
        </p:nvSpPr>
        <p:spPr>
          <a:xfrm>
            <a:off x="457200" y="3931920"/>
            <a:ext cx="8229600" cy="365760"/>
          </a:xfrm>
          <a:prstGeom prst="rect">
            <a:avLst/>
          </a:prstGeom>
          <a:noFill/>
          <a:ln/>
        </p:spPr>
        <p:txBody>
          <a:bodyPr wrap="square" rtlCol="0" anchor="ctr"/>
          <a:lstStyle/>
          <a:p>
            <a:pPr indent="0" marL="0">
              <a:buNone/>
            </a:pPr>
            <a:r>
              <a:rPr lang="en-US" sz="1300" i="1" dirty="0">
                <a:solidFill>
                  <a:srgbClr val="FFCA28"/>
                </a:solidFill>
                <a:latin typeface="Calibri" pitchFamily="34" charset="0"/>
                <a:ea typeface="Calibri" pitchFamily="34" charset="-122"/>
                <a:cs typeface="Calibri" pitchFamily="34" charset="-120"/>
              </a:rPr>
              <a:t>NGSS 3-LS4-4 · Earth &amp; Human Activity / ETS1-1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320040" y="1188720"/>
            <a:ext cx="8503920" cy="1463040"/>
          </a:xfrm>
          <a:prstGeom prst="roundRect">
            <a:avLst>
              <a:gd name="adj" fmla="val 6250"/>
            </a:avLst>
          </a:prstGeom>
          <a:solidFill>
            <a:srgbClr val="F3EEFB"/>
          </a:solidFill>
          <a:ln w="25400">
            <a:solidFill>
              <a:srgbClr val="7B5EA7"/>
            </a:solidFill>
            <a:prstDash val="solid"/>
          </a:ln>
        </p:spPr>
      </p:sp>
      <p:sp>
        <p:nvSpPr>
          <p:cNvPr id="8" name="Text 6"/>
          <p:cNvSpPr/>
          <p:nvPr/>
        </p:nvSpPr>
        <p:spPr>
          <a:xfrm>
            <a:off x="548640" y="1371600"/>
            <a:ext cx="8046720" cy="1097280"/>
          </a:xfrm>
          <a:prstGeom prst="rect">
            <a:avLst/>
          </a:prstGeom>
          <a:noFill/>
          <a:ln/>
        </p:spPr>
        <p:txBody>
          <a:bodyPr wrap="square" rtlCol="0" anchor="t"/>
          <a:lstStyle/>
          <a:p>
            <a:pPr indent="0" marL="0">
              <a:lnSpc>
                <a:spcPts val="2200"/>
              </a:lnSpc>
              <a:buNone/>
            </a:pPr>
            <a:r>
              <a:rPr lang="en-US" sz="1600" i="1" dirty="0">
                <a:solidFill>
                  <a:srgbClr val="3A2B5C"/>
                </a:solidFill>
                <a:latin typeface="Cambria" pitchFamily="34" charset="0"/>
                <a:ea typeface="Cambria" pitchFamily="34" charset="-122"/>
                <a:cs typeface="Cambria" pitchFamily="34" charset="-120"/>
              </a:rPr>
              <a:t>"If a park habitat is being damaged, how do you figure out what to do — and how do you convince others that your plan will actually help?"</a:t>
            </a:r>
            <a:endParaRPr lang="en-US" sz="1600" dirty="0"/>
          </a:p>
        </p:txBody>
      </p:sp>
      <p:sp>
        <p:nvSpPr>
          <p:cNvPr id="9" name="Text 7"/>
          <p:cNvSpPr/>
          <p:nvPr/>
        </p:nvSpPr>
        <p:spPr>
          <a:xfrm>
            <a:off x="320040" y="2926080"/>
            <a:ext cx="8503920" cy="64008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Hold this question in your mind as you work. By the end, your proposal should be your answer.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320040" y="1097280"/>
            <a:ext cx="8503920" cy="777240"/>
          </a:xfrm>
          <a:prstGeom prst="roundRect">
            <a:avLst>
              <a:gd name="adj" fmla="val 9412"/>
            </a:avLst>
          </a:prstGeom>
          <a:solidFill>
            <a:srgbClr val="FFF3E0"/>
          </a:solidFill>
          <a:ln w="12700">
            <a:solidFill>
              <a:srgbClr val="F57C00"/>
            </a:solidFill>
            <a:prstDash val="solid"/>
          </a:ln>
        </p:spPr>
      </p:sp>
      <p:sp>
        <p:nvSpPr>
          <p:cNvPr id="8" name="Text 6"/>
          <p:cNvSpPr/>
          <p:nvPr/>
        </p:nvSpPr>
        <p:spPr>
          <a:xfrm>
            <a:off x="548640" y="1207008"/>
            <a:ext cx="8046720" cy="548640"/>
          </a:xfrm>
          <a:prstGeom prst="rect">
            <a:avLst/>
          </a:prstGeom>
          <a:noFill/>
          <a:ln/>
        </p:spPr>
        <p:txBody>
          <a:bodyPr wrap="square" rtlCol="0" anchor="ctr"/>
          <a:lstStyle/>
          <a:p>
            <a:pPr indent="0" marL="0">
              <a:buNone/>
            </a:pPr>
            <a:r>
              <a:rPr lang="en-US" sz="1350" b="1" dirty="0">
                <a:solidFill>
                  <a:srgbClr val="3A2410"/>
                </a:solidFill>
                <a:latin typeface="Calibri" pitchFamily="34" charset="0"/>
                <a:ea typeface="Calibri" pitchFamily="34" charset="-122"/>
                <a:cs typeface="Calibri" pitchFamily="34" charset="-120"/>
              </a:rPr>
              <a:t>I can identify a threat to a park habitat and explain why it matters.</a:t>
            </a:r>
            <a:endParaRPr lang="en-US" sz="1350" dirty="0"/>
          </a:p>
        </p:txBody>
      </p:sp>
      <p:sp>
        <p:nvSpPr>
          <p:cNvPr id="9" name="Shape 7"/>
          <p:cNvSpPr/>
          <p:nvPr/>
        </p:nvSpPr>
        <p:spPr>
          <a:xfrm>
            <a:off x="320040" y="2011680"/>
            <a:ext cx="8503920" cy="777240"/>
          </a:xfrm>
          <a:prstGeom prst="roundRect">
            <a:avLst>
              <a:gd name="adj" fmla="val 9412"/>
            </a:avLst>
          </a:prstGeom>
          <a:solidFill>
            <a:srgbClr val="FFF3E0"/>
          </a:solidFill>
          <a:ln w="12700">
            <a:solidFill>
              <a:srgbClr val="F57C00"/>
            </a:solidFill>
            <a:prstDash val="solid"/>
          </a:ln>
        </p:spPr>
      </p:sp>
      <p:sp>
        <p:nvSpPr>
          <p:cNvPr id="10" name="Text 8"/>
          <p:cNvSpPr/>
          <p:nvPr/>
        </p:nvSpPr>
        <p:spPr>
          <a:xfrm>
            <a:off x="548640" y="2121408"/>
            <a:ext cx="8046720" cy="548640"/>
          </a:xfrm>
          <a:prstGeom prst="rect">
            <a:avLst/>
          </a:prstGeom>
          <a:noFill/>
          <a:ln/>
        </p:spPr>
        <p:txBody>
          <a:bodyPr wrap="square" rtlCol="0" anchor="ctr"/>
          <a:lstStyle/>
          <a:p>
            <a:pPr indent="0" marL="0">
              <a:buNone/>
            </a:pPr>
            <a:r>
              <a:rPr lang="en-US" sz="1350" b="1" dirty="0">
                <a:solidFill>
                  <a:srgbClr val="3A2410"/>
                </a:solidFill>
                <a:latin typeface="Calibri" pitchFamily="34" charset="0"/>
                <a:ea typeface="Calibri" pitchFamily="34" charset="-122"/>
                <a:cs typeface="Calibri" pitchFamily="34" charset="-120"/>
              </a:rPr>
              <a:t>I can write a habitat protection proposal that includes a problem, evidence, solution, and criteria.</a:t>
            </a:r>
            <a:endParaRPr lang="en-US" sz="1350" dirty="0"/>
          </a:p>
        </p:txBody>
      </p:sp>
      <p:sp>
        <p:nvSpPr>
          <p:cNvPr id="11" name="Shape 9"/>
          <p:cNvSpPr/>
          <p:nvPr/>
        </p:nvSpPr>
        <p:spPr>
          <a:xfrm>
            <a:off x="320040" y="2926080"/>
            <a:ext cx="8503920" cy="777240"/>
          </a:xfrm>
          <a:prstGeom prst="roundRect">
            <a:avLst>
              <a:gd name="adj" fmla="val 9412"/>
            </a:avLst>
          </a:prstGeom>
          <a:solidFill>
            <a:srgbClr val="FFF3E0"/>
          </a:solidFill>
          <a:ln w="12700">
            <a:solidFill>
              <a:srgbClr val="F57C00"/>
            </a:solidFill>
            <a:prstDash val="solid"/>
          </a:ln>
        </p:spPr>
      </p:sp>
      <p:sp>
        <p:nvSpPr>
          <p:cNvPr id="12" name="Text 10"/>
          <p:cNvSpPr/>
          <p:nvPr/>
        </p:nvSpPr>
        <p:spPr>
          <a:xfrm>
            <a:off x="548640" y="3035808"/>
            <a:ext cx="8046720" cy="548640"/>
          </a:xfrm>
          <a:prstGeom prst="rect">
            <a:avLst/>
          </a:prstGeom>
          <a:noFill/>
          <a:ln/>
        </p:spPr>
        <p:txBody>
          <a:bodyPr wrap="square" rtlCol="0" anchor="ctr"/>
          <a:lstStyle/>
          <a:p>
            <a:pPr indent="0" marL="0">
              <a:buNone/>
            </a:pPr>
            <a:r>
              <a:rPr lang="en-US" sz="1350" b="1" dirty="0">
                <a:solidFill>
                  <a:srgbClr val="3A2410"/>
                </a:solidFill>
                <a:latin typeface="Calibri" pitchFamily="34" charset="0"/>
                <a:ea typeface="Calibri" pitchFamily="34" charset="-122"/>
                <a:cs typeface="Calibri" pitchFamily="34" charset="-120"/>
              </a:rPr>
              <a:t>I can use evidence to make a claim about why my proposed solution would reduce harm.</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Materials</a:t>
            </a:r>
            <a:endParaRPr lang="en-US" sz="2100" dirty="0"/>
          </a:p>
        </p:txBody>
      </p:sp>
      <p:sp>
        <p:nvSpPr>
          <p:cNvPr id="7" name="Shape 5"/>
          <p:cNvSpPr/>
          <p:nvPr/>
        </p:nvSpPr>
        <p:spPr>
          <a:xfrm>
            <a:off x="320040" y="1188720"/>
            <a:ext cx="8503920" cy="1143000"/>
          </a:xfrm>
          <a:prstGeom prst="roundRect">
            <a:avLst>
              <a:gd name="adj" fmla="val 6400"/>
            </a:avLst>
          </a:prstGeom>
          <a:solidFill>
            <a:srgbClr val="EEF8F0"/>
          </a:solidFill>
          <a:ln w="19050">
            <a:solidFill>
              <a:srgbClr val="52B788"/>
            </a:solidFill>
            <a:prstDash val="solid"/>
          </a:ln>
        </p:spPr>
      </p:sp>
      <p:sp>
        <p:nvSpPr>
          <p:cNvPr id="8" name="Text 6"/>
          <p:cNvSpPr/>
          <p:nvPr/>
        </p:nvSpPr>
        <p:spPr>
          <a:xfrm>
            <a:off x="548640" y="1325880"/>
            <a:ext cx="8046720" cy="868680"/>
          </a:xfrm>
          <a:prstGeom prst="rect">
            <a:avLst/>
          </a:prstGeom>
          <a:noFill/>
          <a:ln/>
        </p:spPr>
        <p:txBody>
          <a:bodyPr wrap="square" rtlCol="0" anchor="t"/>
          <a:lstStyle/>
          <a:p>
            <a:pPr marL="342900" indent="-342900">
              <a:lnSpc>
                <a:spcPts val="2400"/>
              </a:lnSpc>
              <a:buSzPct val="100000"/>
              <a:buChar char="•"/>
            </a:pPr>
            <a:r>
              <a:rPr lang="en-US" sz="1400" dirty="0">
                <a:solidFill>
                  <a:srgbClr val="1B4332"/>
                </a:solidFill>
                <a:latin typeface="Calibri" pitchFamily="34" charset="0"/>
                <a:ea typeface="Calibri" pitchFamily="34" charset="-122"/>
                <a:cs typeface="Calibri" pitchFamily="34" charset="-120"/>
              </a:rPr>
              <a:t>Science notebook</a:t>
            </a:r>
            <a:endParaRPr lang="en-US" sz="1400" dirty="0"/>
          </a:p>
          <a:p>
            <a:pPr marL="342900" indent="-342900">
              <a:lnSpc>
                <a:spcPts val="2400"/>
              </a:lnSpc>
              <a:buSzPct val="100000"/>
              <a:buChar char="•"/>
            </a:pPr>
            <a:r>
              <a:rPr lang="en-US" sz="1400" dirty="0">
                <a:solidFill>
                  <a:srgbClr val="1B4332"/>
                </a:solidFill>
                <a:latin typeface="Calibri" pitchFamily="34" charset="0"/>
                <a:ea typeface="Calibri" pitchFamily="34" charset="-122"/>
                <a:cs typeface="Calibri" pitchFamily="34" charset="-120"/>
              </a:rPr>
              <a:t>Pencil &amp; colored pencils</a:t>
            </a:r>
            <a:endParaRPr lang="en-US" sz="1400" dirty="0"/>
          </a:p>
          <a:p>
            <a:pPr marL="342900" indent="-342900">
              <a:lnSpc>
                <a:spcPts val="2400"/>
              </a:lnSpc>
              <a:buSzPct val="100000"/>
              <a:buChar char="•"/>
            </a:pPr>
            <a:r>
              <a:rPr lang="en-US" sz="1400" dirty="0">
                <a:solidFill>
                  <a:srgbClr val="1B4332"/>
                </a:solidFill>
                <a:latin typeface="Calibri" pitchFamily="34" charset="0"/>
                <a:ea typeface="Calibri" pitchFamily="34" charset="-122"/>
                <a:cs typeface="Calibri" pitchFamily="34" charset="-120"/>
              </a:rPr>
              <a:t>Proposal Planning Chart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 &amp; WONDER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 You Already Know?</a:t>
            </a:r>
            <a:endParaRPr lang="en-US" sz="2100" dirty="0"/>
          </a:p>
        </p:txBody>
      </p:sp>
      <p:sp>
        <p:nvSpPr>
          <p:cNvPr id="7" name="Text 5"/>
          <p:cNvSpPr/>
          <p:nvPr/>
        </p:nvSpPr>
        <p:spPr>
          <a:xfrm>
            <a:off x="320040" y="1097280"/>
            <a:ext cx="8503920" cy="100584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Think about a wild place you care about — a forest, a beach, a park, a swamp. Now imagine something is hurting it. Before we start today's work, take a minute to think about what you already know.</a:t>
            </a:r>
            <a:endParaRPr lang="en-US" sz="1350" dirty="0"/>
          </a:p>
        </p:txBody>
      </p:sp>
      <p:sp>
        <p:nvSpPr>
          <p:cNvPr id="8" name="Shape 6"/>
          <p:cNvSpPr/>
          <p:nvPr/>
        </p:nvSpPr>
        <p:spPr>
          <a:xfrm>
            <a:off x="320040" y="2194560"/>
            <a:ext cx="8503920" cy="822960"/>
          </a:xfrm>
          <a:prstGeom prst="roundRect">
            <a:avLst>
              <a:gd name="adj" fmla="val 8889"/>
            </a:avLst>
          </a:prstGeom>
          <a:solidFill>
            <a:srgbClr val="FFF9E8"/>
          </a:solidFill>
          <a:ln w="19050">
            <a:solidFill>
              <a:srgbClr val="F9A825"/>
            </a:solidFill>
            <a:prstDash val="solid"/>
          </a:ln>
        </p:spPr>
      </p:sp>
      <p:sp>
        <p:nvSpPr>
          <p:cNvPr id="9" name="Text 7"/>
          <p:cNvSpPr/>
          <p:nvPr/>
        </p:nvSpPr>
        <p:spPr>
          <a:xfrm>
            <a:off x="502920" y="226771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487168"/>
            <a:ext cx="8138160" cy="47548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is one thing that could damage a wild habitat? Write it down. Then write 1 question: What would you do about it if you were in charge?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 WALL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Key Vocabulary — Part 1</a:t>
            </a:r>
            <a:endParaRPr lang="en-US" sz="2100" dirty="0"/>
          </a:p>
        </p:txBody>
      </p:sp>
      <p:sp>
        <p:nvSpPr>
          <p:cNvPr id="7" name="Shape 5"/>
          <p:cNvSpPr/>
          <p:nvPr/>
        </p:nvSpPr>
        <p:spPr>
          <a:xfrm>
            <a:off x="320040" y="1097280"/>
            <a:ext cx="8503920" cy="868680"/>
          </a:xfrm>
          <a:prstGeom prst="roundRect">
            <a:avLst>
              <a:gd name="adj" fmla="val 8421"/>
            </a:avLst>
          </a:prstGeom>
          <a:solidFill>
            <a:srgbClr val="FFFFFF"/>
          </a:solidFill>
          <a:ln w="19050">
            <a:solidFill>
              <a:srgbClr val="55C8E8"/>
            </a:solidFill>
            <a:prstDash val="solid"/>
          </a:ln>
        </p:spPr>
      </p:sp>
      <p:sp>
        <p:nvSpPr>
          <p:cNvPr id="8" name="Text 6"/>
          <p:cNvSpPr/>
          <p:nvPr/>
        </p:nvSpPr>
        <p:spPr>
          <a:xfrm>
            <a:off x="502920" y="117043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Habitat</a:t>
            </a:r>
            <a:endParaRPr lang="en-US" sz="1500" dirty="0"/>
          </a:p>
        </p:txBody>
      </p:sp>
      <p:sp>
        <p:nvSpPr>
          <p:cNvPr id="9" name="Text 7"/>
          <p:cNvSpPr/>
          <p:nvPr/>
        </p:nvSpPr>
        <p:spPr>
          <a:xfrm>
            <a:off x="502920" y="146304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The place where a plant or animal lives and gets the food, water, and shelter it needs to survive.</a:t>
            </a:r>
            <a:endParaRPr lang="en-US" sz="1250" dirty="0"/>
          </a:p>
        </p:txBody>
      </p:sp>
      <p:sp>
        <p:nvSpPr>
          <p:cNvPr id="10" name="Shape 8"/>
          <p:cNvSpPr/>
          <p:nvPr/>
        </p:nvSpPr>
        <p:spPr>
          <a:xfrm>
            <a:off x="320040" y="2057400"/>
            <a:ext cx="8503920" cy="868680"/>
          </a:xfrm>
          <a:prstGeom prst="roundRect">
            <a:avLst>
              <a:gd name="adj" fmla="val 8421"/>
            </a:avLst>
          </a:prstGeom>
          <a:solidFill>
            <a:srgbClr val="FFFFFF"/>
          </a:solidFill>
          <a:ln w="19050">
            <a:solidFill>
              <a:srgbClr val="55C8E8"/>
            </a:solidFill>
            <a:prstDash val="solid"/>
          </a:ln>
        </p:spPr>
      </p:sp>
      <p:sp>
        <p:nvSpPr>
          <p:cNvPr id="11" name="Text 9"/>
          <p:cNvSpPr/>
          <p:nvPr/>
        </p:nvSpPr>
        <p:spPr>
          <a:xfrm>
            <a:off x="502920" y="213055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Threat</a:t>
            </a:r>
            <a:endParaRPr lang="en-US" sz="1500" dirty="0"/>
          </a:p>
        </p:txBody>
      </p:sp>
      <p:sp>
        <p:nvSpPr>
          <p:cNvPr id="12" name="Text 10"/>
          <p:cNvSpPr/>
          <p:nvPr/>
        </p:nvSpPr>
        <p:spPr>
          <a:xfrm>
            <a:off x="502920" y="242316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A danger that could harm a living thing or damage the place where it lives.</a:t>
            </a:r>
            <a:endParaRPr lang="en-US" sz="1250" dirty="0"/>
          </a:p>
        </p:txBody>
      </p:sp>
      <p:sp>
        <p:nvSpPr>
          <p:cNvPr id="13" name="Shape 11"/>
          <p:cNvSpPr/>
          <p:nvPr/>
        </p:nvSpPr>
        <p:spPr>
          <a:xfrm>
            <a:off x="320040" y="3017520"/>
            <a:ext cx="8503920" cy="868680"/>
          </a:xfrm>
          <a:prstGeom prst="roundRect">
            <a:avLst>
              <a:gd name="adj" fmla="val 8421"/>
            </a:avLst>
          </a:prstGeom>
          <a:solidFill>
            <a:srgbClr val="FFFFFF"/>
          </a:solidFill>
          <a:ln w="19050">
            <a:solidFill>
              <a:srgbClr val="55C8E8"/>
            </a:solidFill>
            <a:prstDash val="solid"/>
          </a:ln>
        </p:spPr>
      </p:sp>
      <p:sp>
        <p:nvSpPr>
          <p:cNvPr id="14" name="Text 12"/>
          <p:cNvSpPr/>
          <p:nvPr/>
        </p:nvSpPr>
        <p:spPr>
          <a:xfrm>
            <a:off x="502920" y="309067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Conservation</a:t>
            </a:r>
            <a:endParaRPr lang="en-US" sz="1500" dirty="0"/>
          </a:p>
        </p:txBody>
      </p:sp>
      <p:sp>
        <p:nvSpPr>
          <p:cNvPr id="15" name="Text 13"/>
          <p:cNvSpPr/>
          <p:nvPr/>
        </p:nvSpPr>
        <p:spPr>
          <a:xfrm>
            <a:off x="502920" y="338328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Protecting nature so that plants, animals, and ecosystems stay healthy for the future.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 WALL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Key Vocabulary — Part 2</a:t>
            </a:r>
            <a:endParaRPr lang="en-US" sz="2100" dirty="0"/>
          </a:p>
        </p:txBody>
      </p:sp>
      <p:sp>
        <p:nvSpPr>
          <p:cNvPr id="7" name="Shape 5"/>
          <p:cNvSpPr/>
          <p:nvPr/>
        </p:nvSpPr>
        <p:spPr>
          <a:xfrm>
            <a:off x="320040" y="1097280"/>
            <a:ext cx="8503920" cy="868680"/>
          </a:xfrm>
          <a:prstGeom prst="roundRect">
            <a:avLst>
              <a:gd name="adj" fmla="val 8421"/>
            </a:avLst>
          </a:prstGeom>
          <a:solidFill>
            <a:srgbClr val="FFFFFF"/>
          </a:solidFill>
          <a:ln w="19050">
            <a:solidFill>
              <a:srgbClr val="55C8E8"/>
            </a:solidFill>
            <a:prstDash val="solid"/>
          </a:ln>
        </p:spPr>
      </p:sp>
      <p:sp>
        <p:nvSpPr>
          <p:cNvPr id="8" name="Text 6"/>
          <p:cNvSpPr/>
          <p:nvPr/>
        </p:nvSpPr>
        <p:spPr>
          <a:xfrm>
            <a:off x="502920" y="117043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Proposal</a:t>
            </a:r>
            <a:endParaRPr lang="en-US" sz="1500" dirty="0"/>
          </a:p>
        </p:txBody>
      </p:sp>
      <p:sp>
        <p:nvSpPr>
          <p:cNvPr id="9" name="Text 7"/>
          <p:cNvSpPr/>
          <p:nvPr/>
        </p:nvSpPr>
        <p:spPr>
          <a:xfrm>
            <a:off x="502920" y="146304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A written plan that describes a problem and explains a solution that could fix it.</a:t>
            </a:r>
            <a:endParaRPr lang="en-US" sz="1250" dirty="0"/>
          </a:p>
        </p:txBody>
      </p:sp>
      <p:sp>
        <p:nvSpPr>
          <p:cNvPr id="10" name="Shape 8"/>
          <p:cNvSpPr/>
          <p:nvPr/>
        </p:nvSpPr>
        <p:spPr>
          <a:xfrm>
            <a:off x="320040" y="2057400"/>
            <a:ext cx="8503920" cy="868680"/>
          </a:xfrm>
          <a:prstGeom prst="roundRect">
            <a:avLst>
              <a:gd name="adj" fmla="val 8421"/>
            </a:avLst>
          </a:prstGeom>
          <a:solidFill>
            <a:srgbClr val="FFFFFF"/>
          </a:solidFill>
          <a:ln w="19050">
            <a:solidFill>
              <a:srgbClr val="55C8E8"/>
            </a:solidFill>
            <a:prstDash val="solid"/>
          </a:ln>
        </p:spPr>
      </p:sp>
      <p:sp>
        <p:nvSpPr>
          <p:cNvPr id="11" name="Text 9"/>
          <p:cNvSpPr/>
          <p:nvPr/>
        </p:nvSpPr>
        <p:spPr>
          <a:xfrm>
            <a:off x="502920" y="213055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Criteria</a:t>
            </a:r>
            <a:endParaRPr lang="en-US" sz="1500" dirty="0"/>
          </a:p>
        </p:txBody>
      </p:sp>
      <p:sp>
        <p:nvSpPr>
          <p:cNvPr id="12" name="Text 10"/>
          <p:cNvSpPr/>
          <p:nvPr/>
        </p:nvSpPr>
        <p:spPr>
          <a:xfrm>
            <a:off x="502920" y="242316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The list of things a solution needs to do to count as successful — what "working" looks like.</a:t>
            </a:r>
            <a:endParaRPr lang="en-US" sz="1250" dirty="0"/>
          </a:p>
        </p:txBody>
      </p:sp>
      <p:sp>
        <p:nvSpPr>
          <p:cNvPr id="13" name="Shape 11"/>
          <p:cNvSpPr/>
          <p:nvPr/>
        </p:nvSpPr>
        <p:spPr>
          <a:xfrm>
            <a:off x="320040" y="3017520"/>
            <a:ext cx="8503920" cy="868680"/>
          </a:xfrm>
          <a:prstGeom prst="roundRect">
            <a:avLst>
              <a:gd name="adj" fmla="val 8421"/>
            </a:avLst>
          </a:prstGeom>
          <a:solidFill>
            <a:srgbClr val="FFFFFF"/>
          </a:solidFill>
          <a:ln w="19050">
            <a:solidFill>
              <a:srgbClr val="55C8E8"/>
            </a:solidFill>
            <a:prstDash val="solid"/>
          </a:ln>
        </p:spPr>
      </p:sp>
      <p:sp>
        <p:nvSpPr>
          <p:cNvPr id="14" name="Text 12"/>
          <p:cNvSpPr/>
          <p:nvPr/>
        </p:nvSpPr>
        <p:spPr>
          <a:xfrm>
            <a:off x="502920" y="309067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Evidence</a:t>
            </a:r>
            <a:endParaRPr lang="en-US" sz="1500" dirty="0"/>
          </a:p>
        </p:txBody>
      </p:sp>
      <p:sp>
        <p:nvSpPr>
          <p:cNvPr id="15" name="Text 13"/>
          <p:cNvSpPr/>
          <p:nvPr/>
        </p:nvSpPr>
        <p:spPr>
          <a:xfrm>
            <a:off x="502920" y="338328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Facts, observations, or data that support an idea or show that something is true.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In Your Science Notebook</a:t>
            </a:r>
            <a:endParaRPr lang="en-US" sz="2100" dirty="0"/>
          </a:p>
        </p:txBody>
      </p:sp>
      <p:sp>
        <p:nvSpPr>
          <p:cNvPr id="7" name="Shape 5"/>
          <p:cNvSpPr/>
          <p:nvPr/>
        </p:nvSpPr>
        <p:spPr>
          <a:xfrm>
            <a:off x="320040" y="1371600"/>
            <a:ext cx="8503920" cy="1188720"/>
          </a:xfrm>
          <a:prstGeom prst="roundRect">
            <a:avLst>
              <a:gd name="adj" fmla="val 7692"/>
            </a:avLst>
          </a:prstGeom>
          <a:solidFill>
            <a:srgbClr val="FFF3E0"/>
          </a:solidFill>
          <a:ln w="25400">
            <a:solidFill>
              <a:srgbClr val="F57C00"/>
            </a:solidFill>
            <a:prstDash val="solid"/>
          </a:ln>
        </p:spPr>
      </p:sp>
      <p:sp>
        <p:nvSpPr>
          <p:cNvPr id="8" name="Text 6"/>
          <p:cNvSpPr/>
          <p:nvPr/>
        </p:nvSpPr>
        <p:spPr>
          <a:xfrm>
            <a:off x="548640" y="1554480"/>
            <a:ext cx="8046720" cy="868680"/>
          </a:xfrm>
          <a:prstGeom prst="rect">
            <a:avLst/>
          </a:prstGeom>
          <a:noFill/>
          <a:ln/>
        </p:spPr>
        <p:txBody>
          <a:bodyPr wrap="square" rtlCol="0" anchor="ctr"/>
          <a:lstStyle/>
          <a:p>
            <a:pPr algn="ctr" indent="0" marL="0">
              <a:buNone/>
            </a:pPr>
            <a:r>
              <a:rPr lang="en-US" sz="1500" i="1" dirty="0">
                <a:solidFill>
                  <a:srgbClr val="3A2410"/>
                </a:solidFill>
                <a:latin typeface="Cambria" pitchFamily="34" charset="0"/>
                <a:ea typeface="Cambria" pitchFamily="34" charset="-122"/>
                <a:cs typeface="Cambria" pitchFamily="34" charset="-120"/>
              </a:rPr>
              <a:t>"A habitat protection proposal explains the problem, describes the solution, and uses evidence to show why it would work."</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PHOTO · CONSERVATION IN ACTION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Scientists Write Plans, Not Just Notice Problems</a:t>
            </a:r>
            <a:endParaRPr lang="en-US" sz="2100" dirty="0"/>
          </a:p>
        </p:txBody>
      </p:sp>
      <p:sp>
        <p:nvSpPr>
          <p:cNvPr id="7" name="Shape 5"/>
          <p:cNvSpPr/>
          <p:nvPr/>
        </p:nvSpPr>
        <p:spPr>
          <a:xfrm>
            <a:off x="1691640" y="960120"/>
            <a:ext cx="5760720" cy="2423160"/>
          </a:xfrm>
          <a:prstGeom prst="roundRect">
            <a:avLst>
              <a:gd name="adj" fmla="val 2264"/>
            </a:avLst>
          </a:prstGeom>
          <a:solidFill>
            <a:srgbClr val="FFFFFF"/>
          </a:solidFill>
          <a:ln w="19050">
            <a:solidFill>
              <a:srgbClr val="E8DDD2"/>
            </a:solidFill>
            <a:prstDash val="solid"/>
          </a:ln>
        </p:spPr>
      </p:sp>
      <p:pic>
        <p:nvPicPr>
          <p:cNvPr id="8" name="Image 0" descr="/sessions/modest-gifted-goldberg/mnt/optima-3rd-science/images/25-02-conservation-proposal.png">    </p:cNvPr>
          <p:cNvPicPr>
            <a:picLocks noChangeAspect="1"/>
          </p:cNvPicPr>
          <p:nvPr/>
        </p:nvPicPr>
        <p:blipFill>
          <a:blip r:embed="rId1"/>
          <a:srcRect l="0" r="0" t="0" b="0"/>
          <a:stretch/>
        </p:blipFill>
        <p:spPr>
          <a:xfrm>
            <a:off x="1737360" y="1005840"/>
            <a:ext cx="5669280" cy="2331720"/>
          </a:xfrm>
          <a:prstGeom prst="rect">
            <a:avLst/>
          </a:prstGeom>
        </p:spPr>
      </p:pic>
      <p:sp>
        <p:nvSpPr>
          <p:cNvPr id="9" name="Text 6"/>
          <p:cNvSpPr/>
          <p:nvPr/>
        </p:nvSpPr>
        <p:spPr>
          <a:xfrm>
            <a:off x="1737360" y="3410712"/>
            <a:ext cx="5669280" cy="469773"/>
          </a:xfrm>
          <a:prstGeom prst="rect">
            <a:avLst/>
          </a:prstGeom>
          <a:noFill/>
          <a:ln/>
        </p:spPr>
        <p:txBody>
          <a:bodyPr wrap="square" rtlCol="0" anchor="t"/>
          <a:lstStyle/>
          <a:p>
            <a:pPr algn="ctr" indent="0" marL="0">
              <a:buNone/>
            </a:pPr>
            <a:r>
              <a:rPr lang="en-US" sz="1050" i="1" dirty="0">
                <a:solidFill>
                  <a:srgbClr val="5A4D3E"/>
                </a:solidFill>
                <a:latin typeface="Calibri" pitchFamily="34" charset="0"/>
                <a:ea typeface="Calibri" pitchFamily="34" charset="-122"/>
                <a:cs typeface="Calibri" pitchFamily="34" charset="-120"/>
              </a:rPr>
              <a:t>A habitat protection proposal gives decision-makers the information they need to take action.</a:t>
            </a:r>
            <a:endParaRPr lang="en-US" sz="1050" dirty="0"/>
          </a:p>
        </p:txBody>
      </p:sp>
      <p:sp>
        <p:nvSpPr>
          <p:cNvPr id="10" name="Text 7"/>
          <p:cNvSpPr/>
          <p:nvPr/>
        </p:nvSpPr>
        <p:spPr>
          <a:xfrm>
            <a:off x="320040" y="3971925"/>
            <a:ext cx="8503920" cy="82296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Scientists don't just notice problems — they write plans. A habitat protection proposal gives decision-makers the information they need to take action.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Threatens a Habitat?</a:t>
            </a:r>
            <a:endParaRPr lang="en-US" sz="2100" dirty="0"/>
          </a:p>
        </p:txBody>
      </p:sp>
      <p:sp>
        <p:nvSpPr>
          <p:cNvPr id="7" name="Text 5"/>
          <p:cNvSpPr/>
          <p:nvPr/>
        </p:nvSpPr>
        <p:spPr>
          <a:xfrm>
            <a:off x="320040" y="1097280"/>
            <a:ext cx="8503920" cy="1554480"/>
          </a:xfrm>
          <a:prstGeom prst="rect">
            <a:avLst/>
          </a:prstGeom>
          <a:noFill/>
          <a:ln/>
        </p:spPr>
        <p:txBody>
          <a:bodyPr wrap="square" rtlCol="0" anchor="t"/>
          <a:lstStyle/>
          <a:p>
            <a:pPr indent="0" marL="0">
              <a:lnSpc>
                <a:spcPts val="2000"/>
              </a:lnSpc>
              <a:buNone/>
            </a:pPr>
            <a:r>
              <a:rPr lang="en-US" sz="1200" dirty="0">
                <a:solidFill>
                  <a:srgbClr val="2B1D12"/>
                </a:solidFill>
                <a:latin typeface="Calibri" pitchFamily="34" charset="0"/>
                <a:ea typeface="Calibri" pitchFamily="34" charset="-122"/>
                <a:cs typeface="Calibri" pitchFamily="34" charset="-120"/>
              </a:rPr>
              <a:t>Every habitat has things that could hurt it. Threats can come from pollution washing into a river, invasive plants crowding out native ones, or too many visitors trampling a fragile marsh. Sometimes the threat is slow — habitat loss from roads and buildings creeping into wild land. Scientists notice patterns over time: counting species, measuring water quality, tracking which plants are disappearing.</a:t>
            </a:r>
            <a:endParaRPr lang="en-US" sz="1200" dirty="0"/>
          </a:p>
        </p:txBody>
      </p:sp>
      <p:sp>
        <p:nvSpPr>
          <p:cNvPr id="8" name="Shape 6"/>
          <p:cNvSpPr/>
          <p:nvPr/>
        </p:nvSpPr>
        <p:spPr>
          <a:xfrm>
            <a:off x="320040" y="274320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8163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07238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If you walked into a park and noticed the water looked brown and the fish were gone, what would you want to know next?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Four Parts of a Proposal</a:t>
            </a:r>
            <a:endParaRPr lang="en-US" sz="2100" dirty="0"/>
          </a:p>
        </p:txBody>
      </p:sp>
      <p:sp>
        <p:nvSpPr>
          <p:cNvPr id="7" name="Text 5"/>
          <p:cNvSpPr/>
          <p:nvPr/>
        </p:nvSpPr>
        <p:spPr>
          <a:xfrm>
            <a:off x="320040" y="1051560"/>
            <a:ext cx="8503920" cy="36576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A habitat protection proposal has four parts:</a:t>
            </a:r>
            <a:endParaRPr lang="en-US" sz="1300" dirty="0"/>
          </a:p>
        </p:txBody>
      </p:sp>
      <p:sp>
        <p:nvSpPr>
          <p:cNvPr id="8" name="Shape 6"/>
          <p:cNvSpPr/>
          <p:nvPr/>
        </p:nvSpPr>
        <p:spPr>
          <a:xfrm>
            <a:off x="320040" y="1508760"/>
            <a:ext cx="8503920" cy="502920"/>
          </a:xfrm>
          <a:prstGeom prst="roundRect">
            <a:avLst>
              <a:gd name="adj" fmla="val 14545"/>
            </a:avLst>
          </a:prstGeom>
          <a:solidFill>
            <a:srgbClr val="E8F5E9"/>
          </a:solidFill>
          <a:ln w="12700">
            <a:solidFill>
              <a:srgbClr val="52B788"/>
            </a:solidFill>
            <a:prstDash val="solid"/>
          </a:ln>
        </p:spPr>
      </p:sp>
      <p:sp>
        <p:nvSpPr>
          <p:cNvPr id="9" name="Text 7"/>
          <p:cNvSpPr/>
          <p:nvPr/>
        </p:nvSpPr>
        <p:spPr>
          <a:xfrm>
            <a:off x="502920" y="1581912"/>
            <a:ext cx="8138160" cy="365760"/>
          </a:xfrm>
          <a:prstGeom prst="rect">
            <a:avLst/>
          </a:prstGeom>
          <a:noFill/>
          <a:ln/>
        </p:spPr>
        <p:txBody>
          <a:bodyPr wrap="square"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The Problem — What's happening and why it matters.</a:t>
            </a:r>
            <a:endParaRPr lang="en-US" sz="1150" dirty="0"/>
          </a:p>
        </p:txBody>
      </p:sp>
      <p:sp>
        <p:nvSpPr>
          <p:cNvPr id="10" name="Shape 8"/>
          <p:cNvSpPr/>
          <p:nvPr/>
        </p:nvSpPr>
        <p:spPr>
          <a:xfrm>
            <a:off x="320040" y="2075688"/>
            <a:ext cx="8503920" cy="502920"/>
          </a:xfrm>
          <a:prstGeom prst="roundRect">
            <a:avLst>
              <a:gd name="adj" fmla="val 14545"/>
            </a:avLst>
          </a:prstGeom>
          <a:solidFill>
            <a:srgbClr val="E8F5E9"/>
          </a:solidFill>
          <a:ln w="12700">
            <a:solidFill>
              <a:srgbClr val="52B788"/>
            </a:solidFill>
            <a:prstDash val="solid"/>
          </a:ln>
        </p:spPr>
      </p:sp>
      <p:sp>
        <p:nvSpPr>
          <p:cNvPr id="11" name="Text 9"/>
          <p:cNvSpPr/>
          <p:nvPr/>
        </p:nvSpPr>
        <p:spPr>
          <a:xfrm>
            <a:off x="502920" y="2148840"/>
            <a:ext cx="8138160" cy="365760"/>
          </a:xfrm>
          <a:prstGeom prst="rect">
            <a:avLst/>
          </a:prstGeom>
          <a:noFill/>
          <a:ln/>
        </p:spPr>
        <p:txBody>
          <a:bodyPr wrap="square"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The Evidence — The facts and observations that prove the problem is real.</a:t>
            </a:r>
            <a:endParaRPr lang="en-US" sz="1150" dirty="0"/>
          </a:p>
        </p:txBody>
      </p:sp>
      <p:sp>
        <p:nvSpPr>
          <p:cNvPr id="12" name="Shape 10"/>
          <p:cNvSpPr/>
          <p:nvPr/>
        </p:nvSpPr>
        <p:spPr>
          <a:xfrm>
            <a:off x="320040" y="2642616"/>
            <a:ext cx="8503920" cy="502920"/>
          </a:xfrm>
          <a:prstGeom prst="roundRect">
            <a:avLst>
              <a:gd name="adj" fmla="val 14545"/>
            </a:avLst>
          </a:prstGeom>
          <a:solidFill>
            <a:srgbClr val="E8F5E9"/>
          </a:solidFill>
          <a:ln w="12700">
            <a:solidFill>
              <a:srgbClr val="52B788"/>
            </a:solidFill>
            <a:prstDash val="solid"/>
          </a:ln>
        </p:spPr>
      </p:sp>
      <p:sp>
        <p:nvSpPr>
          <p:cNvPr id="13" name="Text 11"/>
          <p:cNvSpPr/>
          <p:nvPr/>
        </p:nvSpPr>
        <p:spPr>
          <a:xfrm>
            <a:off x="502920" y="2715768"/>
            <a:ext cx="8138160" cy="365760"/>
          </a:xfrm>
          <a:prstGeom prst="rect">
            <a:avLst/>
          </a:prstGeom>
          <a:noFill/>
          <a:ln/>
        </p:spPr>
        <p:txBody>
          <a:bodyPr wrap="square"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The Solution — What you think should be done.</a:t>
            </a:r>
            <a:endParaRPr lang="en-US" sz="1150" dirty="0"/>
          </a:p>
        </p:txBody>
      </p:sp>
      <p:sp>
        <p:nvSpPr>
          <p:cNvPr id="14" name="Shape 12"/>
          <p:cNvSpPr/>
          <p:nvPr/>
        </p:nvSpPr>
        <p:spPr>
          <a:xfrm>
            <a:off x="320040" y="3209544"/>
            <a:ext cx="8503920" cy="502920"/>
          </a:xfrm>
          <a:prstGeom prst="roundRect">
            <a:avLst>
              <a:gd name="adj" fmla="val 14545"/>
            </a:avLst>
          </a:prstGeom>
          <a:solidFill>
            <a:srgbClr val="E8F5E9"/>
          </a:solidFill>
          <a:ln w="12700">
            <a:solidFill>
              <a:srgbClr val="52B788"/>
            </a:solidFill>
            <a:prstDash val="solid"/>
          </a:ln>
        </p:spPr>
      </p:sp>
      <p:sp>
        <p:nvSpPr>
          <p:cNvPr id="15" name="Text 13"/>
          <p:cNvSpPr/>
          <p:nvPr/>
        </p:nvSpPr>
        <p:spPr>
          <a:xfrm>
            <a:off x="502920" y="3282696"/>
            <a:ext cx="8138160" cy="365760"/>
          </a:xfrm>
          <a:prstGeom prst="rect">
            <a:avLst/>
          </a:prstGeom>
          <a:noFill/>
          <a:ln/>
        </p:spPr>
        <p:txBody>
          <a:bodyPr wrap="square"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The Criteria — How you'll know if it worked.</a:t>
            </a:r>
            <a:endParaRPr lang="en-US" sz="1150" dirty="0"/>
          </a:p>
        </p:txBody>
      </p:sp>
      <p:sp>
        <p:nvSpPr>
          <p:cNvPr id="16" name="Text 14"/>
          <p:cNvSpPr/>
          <p:nvPr/>
        </p:nvSpPr>
        <p:spPr>
          <a:xfrm>
            <a:off x="320040" y="3776472"/>
            <a:ext cx="8503920" cy="457200"/>
          </a:xfrm>
          <a:prstGeom prst="rect">
            <a:avLst/>
          </a:prstGeom>
          <a:noFill/>
          <a:ln/>
        </p:spPr>
        <p:txBody>
          <a:bodyPr wrap="square" rtlCol="0" anchor="t"/>
          <a:lstStyle/>
          <a:p>
            <a:pPr indent="0" marL="0">
              <a:lnSpc>
                <a:spcPts val="2000"/>
              </a:lnSpc>
              <a:buNone/>
            </a:pPr>
            <a:r>
              <a:rPr lang="en-US" sz="1150" i="1" dirty="0">
                <a:solidFill>
                  <a:srgbClr val="2B1D12"/>
                </a:solidFill>
                <a:latin typeface="Calibri" pitchFamily="34" charset="0"/>
                <a:ea typeface="Calibri" pitchFamily="34" charset="-122"/>
                <a:cs typeface="Calibri" pitchFamily="34" charset="-120"/>
              </a:rPr>
              <a:t>A proposal without evidence is just an opinion. With evidence, it becomes a case.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TAP A THREAT ZONE</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Five Common Threats</a:t>
            </a:r>
            <a:endParaRPr lang="en-US" sz="2100" dirty="0"/>
          </a:p>
        </p:txBody>
      </p:sp>
      <p:sp>
        <p:nvSpPr>
          <p:cNvPr id="7" name="Text 5"/>
          <p:cNvSpPr/>
          <p:nvPr/>
        </p:nvSpPr>
        <p:spPr>
          <a:xfrm>
            <a:off x="320040" y="1097280"/>
            <a:ext cx="8503920" cy="73152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The interactive shows five common threats that conservation scientists study and write proposals to address. Each one needs a different kind of solution.</a:t>
            </a:r>
            <a:endParaRPr lang="en-US" sz="1300" dirty="0"/>
          </a:p>
        </p:txBody>
      </p:sp>
      <p:sp>
        <p:nvSpPr>
          <p:cNvPr id="8" name="Text 6"/>
          <p:cNvSpPr/>
          <p:nvPr/>
        </p:nvSpPr>
        <p:spPr>
          <a:xfrm>
            <a:off x="320040" y="1920240"/>
            <a:ext cx="8503920" cy="1463040"/>
          </a:xfrm>
          <a:prstGeom prst="rect">
            <a:avLst/>
          </a:prstGeom>
          <a:noFill/>
          <a:ln/>
        </p:spPr>
        <p:txBody>
          <a:bodyPr wrap="square" rtlCol="0" anchor="t"/>
          <a:lstStyle/>
          <a:p>
            <a:pPr marL="342900" indent="-342900">
              <a:lnSpc>
                <a:spcPts val="2600"/>
              </a:lnSpc>
              <a:buSzPct val="100000"/>
              <a:buChar char="•"/>
            </a:pPr>
            <a:r>
              <a:rPr lang="en-US" sz="1350" b="1" dirty="0">
                <a:solidFill>
                  <a:srgbClr val="3A2B5C"/>
                </a:solidFill>
                <a:latin typeface="Calibri" pitchFamily="34" charset="0"/>
                <a:ea typeface="Calibri" pitchFamily="34" charset="-122"/>
                <a:cs typeface="Calibri" pitchFamily="34" charset="-120"/>
              </a:rPr>
              <a:t>Pollution</a:t>
            </a:r>
            <a:endParaRPr lang="en-US" sz="1350" dirty="0"/>
          </a:p>
          <a:p>
            <a:pPr marL="342900" indent="-342900">
              <a:lnSpc>
                <a:spcPts val="2600"/>
              </a:lnSpc>
              <a:buSzPct val="100000"/>
              <a:buChar char="•"/>
            </a:pPr>
            <a:r>
              <a:rPr lang="en-US" sz="1350" b="1" dirty="0">
                <a:solidFill>
                  <a:srgbClr val="3A2B5C"/>
                </a:solidFill>
                <a:latin typeface="Calibri" pitchFamily="34" charset="0"/>
                <a:ea typeface="Calibri" pitchFamily="34" charset="-122"/>
                <a:cs typeface="Calibri" pitchFamily="34" charset="-120"/>
              </a:rPr>
              <a:t>Invasive Species</a:t>
            </a:r>
            <a:endParaRPr lang="en-US" sz="1350" dirty="0"/>
          </a:p>
          <a:p>
            <a:pPr marL="342900" indent="-342900">
              <a:lnSpc>
                <a:spcPts val="2600"/>
              </a:lnSpc>
              <a:buSzPct val="100000"/>
              <a:buChar char="•"/>
            </a:pPr>
            <a:r>
              <a:rPr lang="en-US" sz="1350" b="1" dirty="0">
                <a:solidFill>
                  <a:srgbClr val="3A2B5C"/>
                </a:solidFill>
                <a:latin typeface="Calibri" pitchFamily="34" charset="0"/>
                <a:ea typeface="Calibri" pitchFamily="34" charset="-122"/>
                <a:cs typeface="Calibri" pitchFamily="34" charset="-120"/>
              </a:rPr>
              <a:t>Habitat Loss</a:t>
            </a:r>
            <a:endParaRPr lang="en-US" sz="1350" dirty="0"/>
          </a:p>
          <a:p>
            <a:pPr marL="342900" indent="-342900">
              <a:lnSpc>
                <a:spcPts val="2600"/>
              </a:lnSpc>
              <a:buSzPct val="100000"/>
              <a:buChar char="•"/>
            </a:pPr>
            <a:r>
              <a:rPr lang="en-US" sz="1350" b="1" dirty="0">
                <a:solidFill>
                  <a:srgbClr val="3A2B5C"/>
                </a:solidFill>
                <a:latin typeface="Calibri" pitchFamily="34" charset="0"/>
                <a:ea typeface="Calibri" pitchFamily="34" charset="-122"/>
                <a:cs typeface="Calibri" pitchFamily="34" charset="-120"/>
              </a:rPr>
              <a:t>Over-Visitation</a:t>
            </a:r>
            <a:endParaRPr lang="en-US" sz="1350" dirty="0"/>
          </a:p>
          <a:p>
            <a:pPr marL="342900" indent="-342900">
              <a:lnSpc>
                <a:spcPts val="2600"/>
              </a:lnSpc>
              <a:buSzPct val="100000"/>
              <a:buChar char="•"/>
            </a:pPr>
            <a:r>
              <a:rPr lang="en-US" sz="1350" b="1" dirty="0">
                <a:solidFill>
                  <a:srgbClr val="3A2B5C"/>
                </a:solidFill>
                <a:latin typeface="Calibri" pitchFamily="34" charset="0"/>
                <a:ea typeface="Calibri" pitchFamily="34" charset="-122"/>
                <a:cs typeface="Calibri" pitchFamily="34" charset="-120"/>
              </a:rPr>
              <a:t>Climate Threats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Evidence Turns Opinion Into a Case</a:t>
            </a:r>
            <a:endParaRPr lang="en-US" sz="2100" dirty="0"/>
          </a:p>
        </p:txBody>
      </p:sp>
      <p:sp>
        <p:nvSpPr>
          <p:cNvPr id="7" name="Shape 5"/>
          <p:cNvSpPr/>
          <p:nvPr/>
        </p:nvSpPr>
        <p:spPr>
          <a:xfrm>
            <a:off x="320040" y="1188720"/>
            <a:ext cx="8503920" cy="1097280"/>
          </a:xfrm>
          <a:prstGeom prst="roundRect">
            <a:avLst>
              <a:gd name="adj" fmla="val 6667"/>
            </a:avLst>
          </a:prstGeom>
          <a:solidFill>
            <a:srgbClr val="F0F8E8"/>
          </a:solidFill>
          <a:ln w="19050">
            <a:solidFill>
              <a:srgbClr val="C8E0B8"/>
            </a:solidFill>
            <a:prstDash val="solid"/>
          </a:ln>
        </p:spPr>
      </p:sp>
      <p:sp>
        <p:nvSpPr>
          <p:cNvPr id="8" name="Text 6"/>
          <p:cNvSpPr/>
          <p:nvPr/>
        </p:nvSpPr>
        <p:spPr>
          <a:xfrm>
            <a:off x="502920" y="126187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481328"/>
            <a:ext cx="8138160" cy="74980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When a habitat is threatened, scientists and citizens write protection proposals. A strong proposal names the problem, presents evidence, describes a solution, and explains how you'll know if it worked.</a:t>
            </a:r>
            <a:endParaRPr lang="en-US" sz="1400" dirty="0"/>
          </a:p>
        </p:txBody>
      </p:sp>
      <p:sp>
        <p:nvSpPr>
          <p:cNvPr id="10" name="Text 8"/>
          <p:cNvSpPr/>
          <p:nvPr/>
        </p:nvSpPr>
        <p:spPr>
          <a:xfrm>
            <a:off x="320040" y="2423160"/>
            <a:ext cx="8503920" cy="548640"/>
          </a:xfrm>
          <a:prstGeom prst="rect">
            <a:avLst/>
          </a:prstGeom>
          <a:noFill/>
          <a:ln/>
        </p:spPr>
        <p:txBody>
          <a:bodyPr wrap="square" rtlCol="0" anchor="t"/>
          <a:lstStyle/>
          <a:p>
            <a:pPr indent="0" marL="0">
              <a:lnSpc>
                <a:spcPts val="2000"/>
              </a:lnSpc>
              <a:buNone/>
            </a:pPr>
            <a:r>
              <a:rPr lang="en-US" sz="1250" i="1" dirty="0">
                <a:solidFill>
                  <a:srgbClr val="2B1D12"/>
                </a:solidFill>
                <a:latin typeface="Calibri" pitchFamily="34" charset="0"/>
                <a:ea typeface="Calibri" pitchFamily="34" charset="-122"/>
                <a:cs typeface="Calibri" pitchFamily="34" charset="-120"/>
              </a:rPr>
              <a:t>A proposal without evidence is just an opinion. Evidence turns an opinion into a case.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AMAZING NATURE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Everglades Restoration Project</a:t>
            </a:r>
            <a:endParaRPr lang="en-US" sz="2100" dirty="0"/>
          </a:p>
        </p:txBody>
      </p:sp>
      <p:sp>
        <p:nvSpPr>
          <p:cNvPr id="7" name="Text 5"/>
          <p:cNvSpPr/>
          <p:nvPr/>
        </p:nvSpPr>
        <p:spPr>
          <a:xfrm>
            <a:off x="320040" y="1097280"/>
            <a:ext cx="8503920" cy="146304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The Florida Everglades Restoration Project is one of the largest habitat protection efforts in history — covering 18,000 square miles. Scientists spent 30 years gathering evidence before the plan was approved. Their proposals convinced the government to spend more than $10 billion to restore the water flow.</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CURIOUS? GO DEEPER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Proposals Matter So Much</a:t>
            </a:r>
            <a:endParaRPr lang="en-US" sz="2100" dirty="0"/>
          </a:p>
        </p:txBody>
      </p:sp>
      <p:sp>
        <p:nvSpPr>
          <p:cNvPr id="7" name="Text 5"/>
          <p:cNvSpPr/>
          <p:nvPr/>
        </p:nvSpPr>
        <p:spPr>
          <a:xfrm>
            <a:off x="320040" y="1051560"/>
            <a:ext cx="8503920" cy="1737360"/>
          </a:xfrm>
          <a:prstGeom prst="rect">
            <a:avLst/>
          </a:prstGeom>
          <a:noFill/>
          <a:ln/>
        </p:spPr>
        <p:txBody>
          <a:bodyPr wrap="square" rtlCol="0" anchor="t"/>
          <a:lstStyle/>
          <a:p>
            <a:pPr indent="0" marL="0">
              <a:lnSpc>
                <a:spcPts val="2000"/>
              </a:lnSpc>
              <a:buNone/>
            </a:pPr>
            <a:r>
              <a:rPr lang="en-US" sz="1200" dirty="0">
                <a:solidFill>
                  <a:srgbClr val="2B1D12"/>
                </a:solidFill>
                <a:latin typeface="Calibri" pitchFamily="34" charset="0"/>
                <a:ea typeface="Calibri" pitchFamily="34" charset="-122"/>
                <a:cs typeface="Calibri" pitchFamily="34" charset="-120"/>
              </a:rPr>
              <a:t>Scientists who discover a problem can't fix it alone — they need resources, permission, and people to do the work. A well-written proposal communicates urgency to the people with power to act. In the 1960s, Rachel Carson wrote 'Silent Spring' about pesticides killing birds. It had evidence, vivid descriptions, and a clear argument. It changed how the country thought about chemical pollution and led to the creation of the EPA.</a:t>
            </a:r>
            <a:endParaRPr lang="en-US" sz="1200" dirty="0"/>
          </a:p>
        </p:txBody>
      </p:sp>
      <p:sp>
        <p:nvSpPr>
          <p:cNvPr id="8" name="Shape 6"/>
          <p:cNvSpPr/>
          <p:nvPr/>
        </p:nvSpPr>
        <p:spPr>
          <a:xfrm>
            <a:off x="320040" y="288036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9535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20954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made Rachel Carson's book so convincing? Think about the difference between just saying something is wrong and proving it.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ENGINEERING CHALLENGE</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Write Your Habitat Protection Proposal</a:t>
            </a:r>
            <a:endParaRPr lang="en-US" sz="2100" dirty="0"/>
          </a:p>
        </p:txBody>
      </p:sp>
      <p:sp>
        <p:nvSpPr>
          <p:cNvPr id="7" name="Text 5"/>
          <p:cNvSpPr/>
          <p:nvPr/>
        </p:nvSpPr>
        <p:spPr>
          <a:xfrm>
            <a:off x="320040" y="1097280"/>
            <a:ext cx="8503920" cy="64008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Identify a real threat, then design and argue for a solution. Pick Your Park Problem — choose one threat to focus on:</a:t>
            </a:r>
            <a:endParaRPr lang="en-US" sz="1300" dirty="0"/>
          </a:p>
        </p:txBody>
      </p:sp>
      <p:sp>
        <p:nvSpPr>
          <p:cNvPr id="8" name="Text 6"/>
          <p:cNvSpPr/>
          <p:nvPr/>
        </p:nvSpPr>
        <p:spPr>
          <a:xfrm>
            <a:off x="320040" y="1828800"/>
            <a:ext cx="8503920" cy="1554480"/>
          </a:xfrm>
          <a:prstGeom prst="rect">
            <a:avLst/>
          </a:prstGeom>
          <a:noFill/>
          <a:ln/>
        </p:spPr>
        <p:txBody>
          <a:bodyPr wrap="square" rtlCol="0" anchor="t"/>
          <a:lstStyle/>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Pollution</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Invasive Species</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Habitat Loss</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Over-Visitation</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Climate Threats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BUILD YOUR PROPOSAL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Gather, Design, Set, Strengthen</a:t>
            </a:r>
            <a:endParaRPr lang="en-US" sz="2100" dirty="0"/>
          </a:p>
        </p:txBody>
      </p:sp>
      <p:sp>
        <p:nvSpPr>
          <p:cNvPr id="7" name="Text 5"/>
          <p:cNvSpPr/>
          <p:nvPr/>
        </p:nvSpPr>
        <p:spPr>
          <a:xfrm>
            <a:off x="320040" y="1051560"/>
            <a:ext cx="8503920" cy="2560320"/>
          </a:xfrm>
          <a:prstGeom prst="rect">
            <a:avLst/>
          </a:prstGeom>
          <a:noFill/>
          <a:ln/>
        </p:spPr>
        <p:txBody>
          <a:bodyPr wrap="square" rtlCol="0" anchor="t"/>
          <a:lstStyle/>
          <a:p>
            <a:pPr marL="342900" indent="-342900">
              <a:lnSpc>
                <a:spcPts val="2100"/>
              </a:lnSpc>
              <a:buSzPct val="100000"/>
              <a:buChar char="•"/>
            </a:pPr>
            <a:r>
              <a:rPr lang="en-US" sz="1150" dirty="0">
                <a:solidFill>
                  <a:srgbClr val="2B1D12"/>
                </a:solidFill>
                <a:latin typeface="Calibri" pitchFamily="34" charset="0"/>
                <a:ea typeface="Calibri" pitchFamily="34" charset="-122"/>
                <a:cs typeface="Calibri" pitchFamily="34" charset="-120"/>
              </a:rPr>
              <a:t>Gather What You Know: In the Evidence row, write at least two things you know about this threat — specific facts, not just 'it's bad.'</a:t>
            </a:r>
            <a:endParaRPr lang="en-US" sz="1150" dirty="0"/>
          </a:p>
          <a:p>
            <a:pPr marL="342900" indent="-342900">
              <a:lnSpc>
                <a:spcPts val="2100"/>
              </a:lnSpc>
              <a:buSzPct val="100000"/>
              <a:buChar char="•"/>
            </a:pPr>
            <a:r>
              <a:rPr lang="en-US" sz="1150" dirty="0">
                <a:solidFill>
                  <a:srgbClr val="2B1D12"/>
                </a:solidFill>
                <a:latin typeface="Calibri" pitchFamily="34" charset="0"/>
                <a:ea typeface="Calibri" pitchFamily="34" charset="-122"/>
                <a:cs typeface="Calibri" pitchFamily="34" charset="-120"/>
              </a:rPr>
              <a:t>Design Your Solution: In the Solution row, write what you'd actually do. Think about who would help and what resources you'd need.</a:t>
            </a:r>
            <a:endParaRPr lang="en-US" sz="1150" dirty="0"/>
          </a:p>
          <a:p>
            <a:pPr marL="342900" indent="-342900">
              <a:lnSpc>
                <a:spcPts val="2100"/>
              </a:lnSpc>
              <a:buSzPct val="100000"/>
              <a:buChar char="•"/>
            </a:pPr>
            <a:r>
              <a:rPr lang="en-US" sz="1150" dirty="0">
                <a:solidFill>
                  <a:srgbClr val="2B1D12"/>
                </a:solidFill>
                <a:latin typeface="Calibri" pitchFamily="34" charset="0"/>
                <a:ea typeface="Calibri" pitchFamily="34" charset="-122"/>
                <a:cs typeface="Calibri" pitchFamily="34" charset="-120"/>
              </a:rPr>
              <a:t>Set Your Criteria: Describe what success would look like — something you could measure or observe.</a:t>
            </a:r>
            <a:endParaRPr lang="en-US" sz="1150" dirty="0"/>
          </a:p>
          <a:p>
            <a:pPr marL="342900" indent="-342900">
              <a:lnSpc>
                <a:spcPts val="2100"/>
              </a:lnSpc>
              <a:buSzPct val="100000"/>
              <a:buChar char="•"/>
            </a:pPr>
            <a:r>
              <a:rPr lang="en-US" sz="1150" dirty="0">
                <a:solidFill>
                  <a:srgbClr val="2B1D12"/>
                </a:solidFill>
                <a:latin typeface="Calibri" pitchFamily="34" charset="0"/>
                <a:ea typeface="Calibri" pitchFamily="34" charset="-122"/>
                <a:cs typeface="Calibri" pitchFamily="34" charset="-120"/>
              </a:rPr>
              <a:t>Strengthen Your Claim: Write one sentence that starts "I believe this proposal would work because…" — this is your claim.</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CHART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Proposal Planning Chart</a:t>
            </a:r>
            <a:endParaRPr lang="en-US" sz="2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1097280"/>
          <a:ext cx="8503920" cy="2377440"/>
        </p:xfrm>
        <a:graphic>
          <a:graphicData uri="http://schemas.openxmlformats.org/drawingml/2006/table">
            <a:tbl>
              <a:tblPr/>
              <a:tblGrid>
                <a:gridCol w="4251960"/>
                <a:gridCol w="4251960"/>
              </a:tblGrid>
              <a:tr h="39624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Part of Proposal</a:t>
                      </a:r>
                      <a:endParaRPr lang="en-US" sz="10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solidFill>
                      <a:srgbClr val="0E1C4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I'll Write</a:t>
                      </a:r>
                      <a:endParaRPr lang="en-US" sz="10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solidFill>
                      <a:srgbClr val="0E1C42"/>
                    </a:solidFill>
                  </a:tcPr>
                </a:tc>
              </a:tr>
              <a:tr h="396240">
                <a:tc>
                  <a:txBody>
                    <a:bodyPr/>
                    <a:lstStyle/>
                    <a:p>
                      <a:pPr indent="0" marL="0">
                        <a:buNone/>
                      </a:pPr>
                      <a:r>
                        <a:rPr lang="en-US" sz="1050" dirty="0">
                          <a:solidFill>
                            <a:srgbClr val="2B1D12"/>
                          </a:solidFill>
                          <a:latin typeface="Calibri" pitchFamily="34" charset="0"/>
                          <a:ea typeface="Calibri" pitchFamily="34" charset="-122"/>
                          <a:cs typeface="Calibri" pitchFamily="34" charset="-120"/>
                        </a:rPr>
                        <a:t>The Problem — What's happening?</a:t>
                      </a:r>
                      <a:endParaRPr lang="en-US" sz="10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1050" dirty="0">
                          <a:solidFill>
                            <a:srgbClr val="2B1D12"/>
                          </a:solidFill>
                          <a:latin typeface="Calibri" pitchFamily="34" charset="0"/>
                          <a:ea typeface="Calibri" pitchFamily="34" charset="-122"/>
                          <a:cs typeface="Calibri" pitchFamily="34" charset="-120"/>
                        </a:rPr>
                        <a:t>write here…</a:t>
                      </a:r>
                      <a:endParaRPr lang="en-US" sz="10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r>
              <a:tr h="396240">
                <a:tc>
                  <a:txBody>
                    <a:bodyPr/>
                    <a:lstStyle/>
                    <a:p>
                      <a:pPr indent="0" marL="0">
                        <a:buNone/>
                      </a:pPr>
                      <a:r>
                        <a:rPr lang="en-US" sz="1050" dirty="0">
                          <a:solidFill>
                            <a:srgbClr val="2B1D12"/>
                          </a:solidFill>
                          <a:latin typeface="Calibri" pitchFamily="34" charset="0"/>
                          <a:ea typeface="Calibri" pitchFamily="34" charset="-122"/>
                          <a:cs typeface="Calibri" pitchFamily="34" charset="-120"/>
                        </a:rPr>
                        <a:t>My Evidence — How do I know it's real?</a:t>
                      </a:r>
                      <a:endParaRPr lang="en-US" sz="10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1050" dirty="0">
                          <a:solidFill>
                            <a:srgbClr val="2B1D12"/>
                          </a:solidFill>
                          <a:latin typeface="Calibri" pitchFamily="34" charset="0"/>
                          <a:ea typeface="Calibri" pitchFamily="34" charset="-122"/>
                          <a:cs typeface="Calibri" pitchFamily="34" charset="-120"/>
                        </a:rPr>
                        <a:t>write here…</a:t>
                      </a:r>
                      <a:endParaRPr lang="en-US" sz="10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r>
              <a:tr h="396240">
                <a:tc>
                  <a:txBody>
                    <a:bodyPr/>
                    <a:lstStyle/>
                    <a:p>
                      <a:pPr indent="0" marL="0">
                        <a:buNone/>
                      </a:pPr>
                      <a:r>
                        <a:rPr lang="en-US" sz="1050" dirty="0">
                          <a:solidFill>
                            <a:srgbClr val="2B1D12"/>
                          </a:solidFill>
                          <a:latin typeface="Calibri" pitchFamily="34" charset="0"/>
                          <a:ea typeface="Calibri" pitchFamily="34" charset="-122"/>
                          <a:cs typeface="Calibri" pitchFamily="34" charset="-120"/>
                        </a:rPr>
                        <a:t>My Solution — What would I do?</a:t>
                      </a:r>
                      <a:endParaRPr lang="en-US" sz="10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1050" dirty="0">
                          <a:solidFill>
                            <a:srgbClr val="2B1D12"/>
                          </a:solidFill>
                          <a:latin typeface="Calibri" pitchFamily="34" charset="0"/>
                          <a:ea typeface="Calibri" pitchFamily="34" charset="-122"/>
                          <a:cs typeface="Calibri" pitchFamily="34" charset="-120"/>
                        </a:rPr>
                        <a:t>write here…</a:t>
                      </a:r>
                      <a:endParaRPr lang="en-US" sz="10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r>
              <a:tr h="396240">
                <a:tc>
                  <a:txBody>
                    <a:bodyPr/>
                    <a:lstStyle/>
                    <a:p>
                      <a:pPr indent="0" marL="0">
                        <a:buNone/>
                      </a:pPr>
                      <a:r>
                        <a:rPr lang="en-US" sz="1050" dirty="0">
                          <a:solidFill>
                            <a:srgbClr val="2B1D12"/>
                          </a:solidFill>
                          <a:latin typeface="Calibri" pitchFamily="34" charset="0"/>
                          <a:ea typeface="Calibri" pitchFamily="34" charset="-122"/>
                          <a:cs typeface="Calibri" pitchFamily="34" charset="-120"/>
                        </a:rPr>
                        <a:t>Criteria for Success — How will I know it worked?</a:t>
                      </a:r>
                      <a:endParaRPr lang="en-US" sz="10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1050" dirty="0">
                          <a:solidFill>
                            <a:srgbClr val="2B1D12"/>
                          </a:solidFill>
                          <a:latin typeface="Calibri" pitchFamily="34" charset="0"/>
                          <a:ea typeface="Calibri" pitchFamily="34" charset="-122"/>
                          <a:cs typeface="Calibri" pitchFamily="34" charset="-120"/>
                        </a:rPr>
                        <a:t>write here…</a:t>
                      </a:r>
                      <a:endParaRPr lang="en-US" sz="10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r>
              <a:tr h="396240">
                <a:tc>
                  <a:txBody>
                    <a:bodyPr/>
                    <a:lstStyle/>
                    <a:p>
                      <a:pPr indent="0" marL="0">
                        <a:buNone/>
                      </a:pPr>
                      <a:r>
                        <a:rPr lang="en-US" sz="1050" dirty="0">
                          <a:solidFill>
                            <a:srgbClr val="2B1D12"/>
                          </a:solidFill>
                          <a:latin typeface="Calibri" pitchFamily="34" charset="0"/>
                          <a:ea typeface="Calibri" pitchFamily="34" charset="-122"/>
                          <a:cs typeface="Calibri" pitchFamily="34" charset="-120"/>
                        </a:rPr>
                        <a:t>My Claim — "I believe this would work because…"</a:t>
                      </a:r>
                      <a:endParaRPr lang="en-US" sz="10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1050" dirty="0">
                          <a:solidFill>
                            <a:srgbClr val="2B1D12"/>
                          </a:solidFill>
                          <a:latin typeface="Calibri" pitchFamily="34" charset="0"/>
                          <a:ea typeface="Calibri" pitchFamily="34" charset="-122"/>
                          <a:cs typeface="Calibri" pitchFamily="34" charset="-120"/>
                        </a:rPr>
                        <a:t>write here…</a:t>
                      </a:r>
                      <a:endParaRPr lang="en-US" sz="10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THINK LIKE A SCIENTIST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Every Solution Has Trade-Offs</a:t>
            </a:r>
            <a:endParaRPr lang="en-US" sz="2100" dirty="0"/>
          </a:p>
        </p:txBody>
      </p:sp>
      <p:sp>
        <p:nvSpPr>
          <p:cNvPr id="7" name="Shape 5"/>
          <p:cNvSpPr/>
          <p:nvPr/>
        </p:nvSpPr>
        <p:spPr>
          <a:xfrm>
            <a:off x="320040" y="1188720"/>
            <a:ext cx="8503920" cy="1086485"/>
          </a:xfrm>
          <a:prstGeom prst="roundRect">
            <a:avLst>
              <a:gd name="adj" fmla="val 6733"/>
            </a:avLst>
          </a:prstGeom>
          <a:solidFill>
            <a:srgbClr val="EEF8F0"/>
          </a:solidFill>
          <a:ln w="19050">
            <a:solidFill>
              <a:srgbClr val="52B788"/>
            </a:solidFill>
            <a:prstDash val="solid"/>
          </a:ln>
        </p:spPr>
      </p:sp>
      <p:sp>
        <p:nvSpPr>
          <p:cNvPr id="8" name="Text 6"/>
          <p:cNvSpPr/>
          <p:nvPr/>
        </p:nvSpPr>
        <p:spPr>
          <a:xfrm>
            <a:off x="502920" y="126187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51790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A solution that costs nothing and fixes everything in one week is probably too good to be true. What limits or trade-offs does your solution have? What might be hard about making it actually happen?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RECORD YOUR THINKING</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Organize and Defend Your Proposal</a:t>
            </a:r>
            <a:endParaRPr lang="en-US" sz="2100" dirty="0"/>
          </a:p>
        </p:txBody>
      </p:sp>
      <p:sp>
        <p:nvSpPr>
          <p:cNvPr id="7" name="Text 5"/>
          <p:cNvSpPr/>
          <p:nvPr/>
        </p:nvSpPr>
        <p:spPr>
          <a:xfrm>
            <a:off x="320040" y="1051560"/>
            <a:ext cx="8503920" cy="2468880"/>
          </a:xfrm>
          <a:prstGeom prst="rect">
            <a:avLst/>
          </a:prstGeom>
          <a:noFill/>
          <a:ln/>
        </p:spPr>
        <p:txBody>
          <a:bodyPr wrap="square" rtlCol="0" anchor="t"/>
          <a:lstStyle/>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Write the Problem section — name the habitat, the threat, and the effect on plants or animals.</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Write the Evidence section — list at least two pieces of evidence and explain why each shows the threat is real.</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Write the Solution + Criteria section — explain what you'd do and how you'd know it worked. Sketch your solution, labeling at least two parts.</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Tell the whole story of your proposal out loud — from problem to evidence to solution.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 · THINK IT THROUGH</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Through Each Question On Your Own</a:t>
            </a:r>
            <a:endParaRPr lang="en-US" sz="2100" dirty="0"/>
          </a:p>
        </p:txBody>
      </p:sp>
      <p:sp>
        <p:nvSpPr>
          <p:cNvPr id="7" name="Text 5"/>
          <p:cNvSpPr/>
          <p:nvPr/>
        </p:nvSpPr>
        <p:spPr>
          <a:xfrm>
            <a:off x="320040" y="1051560"/>
            <a:ext cx="8503920" cy="2560320"/>
          </a:xfrm>
          <a:prstGeom prst="rect">
            <a:avLst/>
          </a:prstGeom>
          <a:noFill/>
          <a:ln/>
        </p:spPr>
        <p:txBody>
          <a:bodyPr wrap="square" rtlCol="0" anchor="t"/>
          <a:lstStyle/>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What specific evidence makes you confident that your chosen threat is a real problem — not just something that might happen someday?</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What makes your solution better than doing nothing at all? What would the habitat look like in 10 years if nobody acted?</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What might go wrong with your solution? What's one thing you'd change if you could redesign it?</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If a park ranger read your proposal, what question do you think they'd ask you — and how would you answer it?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a Habitat?</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What is a habitat?</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The place where a plant or animal lives and gets the food, water, and shelter it needs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A plan that scientists write to protect nature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A list of rules for visitors at a national park</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back to the vocab card. Habitat is about a living thing's home, not a written plan or a rulebook.</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a Habitat?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A — A habitat is the place where a plant or animal lives and finds what it needs to survive.</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Makes a Strong Proposal?</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Which best describes what makes a habitat protection proposal strong?</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It only lists species that live in the park</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It connects the problem to real evidence and explains a specific solution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It just says the park needs to be protected</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A proposal needs both evidence AND a solution. A drawing or a species list alone doesn't explain what to do or why it would help.</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Makes a Strong Proposal?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A strong proposal always connects the problem to real evidence and explains a specific solution, not just what's wrong.</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Criteria for Success</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Which of the following is the best example of a criteria for success in a habitat protection proposal?</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"The park has many different animals living in it"</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"We want to protect the Everglades wetlands"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"The number of nesting birds increases within two years of the cleanup"</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Criteria for success should be specific and measurable, something you can actually observe and count. 'We want to protect' is a goal, not a measure of success.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Criteria for Success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Criteria need to be specific and measurable. 'Nesting birds increase within two years' is something you can actually check.</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Identify and Classify</a:t>
            </a:r>
            <a:endParaRPr lang="en-US" sz="2100" dirty="0"/>
          </a:p>
        </p:txBody>
      </p:sp>
      <p:sp>
        <p:nvSpPr>
          <p:cNvPr id="7" name="Text 5"/>
          <p:cNvSpPr/>
          <p:nvPr/>
        </p:nvSpPr>
        <p:spPr>
          <a:xfrm>
            <a:off x="320040" y="1051560"/>
            <a:ext cx="8503920" cy="182880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In your notebook: 1) List three different threats that could damage a national park habitat, with one sentence about each. 2) For each threat, write one type of evidence a scientist could use to show the threat is real. 3) Circle the threat your proposal is about.</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 &amp; WRITE AND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 + Defend Your Proposal</a:t>
            </a:r>
            <a:endParaRPr lang="en-US" sz="2100" dirty="0"/>
          </a:p>
        </p:txBody>
      </p:sp>
      <p:sp>
        <p:nvSpPr>
          <p:cNvPr id="7" name="Text 5"/>
          <p:cNvSpPr/>
          <p:nvPr/>
        </p:nvSpPr>
        <p:spPr>
          <a:xfrm>
            <a:off x="320040" y="1051560"/>
            <a:ext cx="8503920" cy="1188720"/>
          </a:xfrm>
          <a:prstGeom prst="rect">
            <a:avLst/>
          </a:prstGeom>
          <a:noFill/>
          <a:ln/>
        </p:spPr>
        <p:txBody>
          <a:bodyPr wrap="square" rtlCol="0" anchor="t"/>
          <a:lstStyle/>
          <a:p>
            <a:pPr indent="0" marL="0">
              <a:lnSpc>
                <a:spcPts val="2000"/>
              </a:lnSpc>
              <a:buNone/>
            </a:pPr>
            <a:r>
              <a:rPr lang="en-US" sz="1100" dirty="0">
                <a:solidFill>
                  <a:srgbClr val="2B1D12"/>
                </a:solidFill>
                <a:latin typeface="Calibri" pitchFamily="34" charset="0"/>
                <a:ea typeface="Calibri" pitchFamily="34" charset="-122"/>
                <a:cs typeface="Calibri" pitchFamily="34" charset="-120"/>
              </a:rPr>
              <a:t>Part B (complete sentences): 1) What problem did you describe in your proposal? Be specific. 2) Why is evidence important in a habitat protection proposal? Give a specific example. 3) What criteria did you choose? How would you know your solution is working?</a:t>
            </a:r>
            <a:endParaRPr lang="en-US" sz="1100" dirty="0"/>
          </a:p>
        </p:txBody>
      </p:sp>
      <p:sp>
        <p:nvSpPr>
          <p:cNvPr id="8" name="Shape 6"/>
          <p:cNvSpPr/>
          <p:nvPr/>
        </p:nvSpPr>
        <p:spPr>
          <a:xfrm>
            <a:off x="320040" y="2331720"/>
            <a:ext cx="8503920" cy="1234440"/>
          </a:xfrm>
          <a:prstGeom prst="roundRect">
            <a:avLst>
              <a:gd name="adj" fmla="val 5926"/>
            </a:avLst>
          </a:prstGeom>
          <a:solidFill>
            <a:srgbClr val="F3EEFB"/>
          </a:solidFill>
          <a:ln w="19050">
            <a:solidFill>
              <a:srgbClr val="7B5EA7"/>
            </a:solidFill>
            <a:prstDash val="solid"/>
          </a:ln>
        </p:spPr>
      </p:sp>
      <p:sp>
        <p:nvSpPr>
          <p:cNvPr id="9" name="Text 7"/>
          <p:cNvSpPr/>
          <p:nvPr/>
        </p:nvSpPr>
        <p:spPr>
          <a:xfrm>
            <a:off x="502920" y="2423160"/>
            <a:ext cx="8138160" cy="274320"/>
          </a:xfrm>
          <a:prstGeom prst="rect">
            <a:avLst/>
          </a:prstGeom>
          <a:noFill/>
          <a:ln/>
        </p:spPr>
        <p:txBody>
          <a:bodyPr wrap="square" rtlCol="0" anchor="ctr"/>
          <a:lstStyle/>
          <a:p>
            <a:pPr indent="0" marL="0">
              <a:buNone/>
            </a:pPr>
            <a:r>
              <a:rPr lang="en-US" sz="1100" b="1" dirty="0">
                <a:solidFill>
                  <a:srgbClr val="3A2B5C"/>
                </a:solidFill>
                <a:latin typeface="Calibri" pitchFamily="34" charset="0"/>
                <a:ea typeface="Calibri" pitchFamily="34" charset="-122"/>
                <a:cs typeface="Calibri" pitchFamily="34" charset="-120"/>
              </a:rPr>
              <a:t>WRITE &amp; EXPLAIN — Explain your habitat protection proposal and make the case for why it would work.</a:t>
            </a:r>
            <a:endParaRPr lang="en-US" sz="1100" dirty="0"/>
          </a:p>
        </p:txBody>
      </p:sp>
      <p:sp>
        <p:nvSpPr>
          <p:cNvPr id="10" name="Text 8"/>
          <p:cNvSpPr/>
          <p:nvPr/>
        </p:nvSpPr>
        <p:spPr>
          <a:xfrm>
            <a:off x="502920" y="2715768"/>
            <a:ext cx="8138160" cy="777240"/>
          </a:xfrm>
          <a:prstGeom prst="rect">
            <a:avLst/>
          </a:prstGeom>
          <a:noFill/>
          <a:ln/>
        </p:spPr>
        <p:txBody>
          <a:bodyPr wrap="square" rtlCol="0" anchor="t"/>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Start with: "The threat I chose is ___, and I know it's a problem because…"</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Then: "This evidence shows that…"</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Finish with: "My solution would work because…"</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 &amp; SUBMISSION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&amp; Label + What to Turn In</a:t>
            </a:r>
            <a:endParaRPr lang="en-US" sz="2100" dirty="0"/>
          </a:p>
        </p:txBody>
      </p:sp>
      <p:sp>
        <p:nvSpPr>
          <p:cNvPr id="7" name="Text 5"/>
          <p:cNvSpPr/>
          <p:nvPr/>
        </p:nvSpPr>
        <p:spPr>
          <a:xfrm>
            <a:off x="320040" y="1051560"/>
            <a:ext cx="8503920" cy="1005840"/>
          </a:xfrm>
          <a:prstGeom prst="rect">
            <a:avLst/>
          </a:prstGeom>
          <a:noFill/>
          <a:ln/>
        </p:spPr>
        <p:txBody>
          <a:bodyPr wrap="square" rtlCol="0" anchor="t"/>
          <a:lstStyle/>
          <a:p>
            <a:pPr indent="0" marL="0">
              <a:lnSpc>
                <a:spcPts val="2000"/>
              </a:lnSpc>
              <a:buNone/>
            </a:pPr>
            <a:r>
              <a:rPr lang="en-US" sz="1150" dirty="0">
                <a:solidFill>
                  <a:srgbClr val="2B1D12"/>
                </a:solidFill>
                <a:latin typeface="Calibri" pitchFamily="34" charset="0"/>
                <a:ea typeface="Calibri" pitchFamily="34" charset="-122"/>
                <a:cs typeface="Calibri" pitchFamily="34" charset="-120"/>
              </a:rPr>
              <a:t>Part C: Draw a simple map or diagram of your park habitat. Show (1) where the threat is happening, (2) where your solution would take place, and (3) at least two plants or animals that would be helped. Label all parts.</a:t>
            </a:r>
            <a:endParaRPr lang="en-US" sz="1150" dirty="0"/>
          </a:p>
        </p:txBody>
      </p:sp>
      <p:sp>
        <p:nvSpPr>
          <p:cNvPr id="8" name="Shape 6"/>
          <p:cNvSpPr/>
          <p:nvPr/>
        </p:nvSpPr>
        <p:spPr>
          <a:xfrm>
            <a:off x="320040" y="2148840"/>
            <a:ext cx="8503920" cy="1097280"/>
          </a:xfrm>
          <a:prstGeom prst="roundRect">
            <a:avLst>
              <a:gd name="adj" fmla="val 6667"/>
            </a:avLst>
          </a:prstGeom>
          <a:solidFill>
            <a:srgbClr val="EEF8F0"/>
          </a:solidFill>
          <a:ln w="19050">
            <a:solidFill>
              <a:srgbClr val="52B788"/>
            </a:solidFill>
            <a:prstDash val="solid"/>
          </a:ln>
        </p:spPr>
      </p:sp>
      <p:sp>
        <p:nvSpPr>
          <p:cNvPr id="9" name="Text 7"/>
          <p:cNvSpPr/>
          <p:nvPr/>
        </p:nvSpPr>
        <p:spPr>
          <a:xfrm>
            <a:off x="502920" y="2240280"/>
            <a:ext cx="8138160" cy="228600"/>
          </a:xfrm>
          <a:prstGeom prst="rect">
            <a:avLst/>
          </a:prstGeom>
          <a:noFill/>
          <a:ln/>
        </p:spPr>
        <p:txBody>
          <a:bodyPr wrap="square" rtlCol="0" anchor="ctr"/>
          <a:lstStyle/>
          <a:p>
            <a:pPr indent="0" marL="0">
              <a:buNone/>
            </a:pPr>
            <a:r>
              <a:rPr lang="en-US" sz="1100" b="1" dirty="0">
                <a:solidFill>
                  <a:srgbClr val="1B4332"/>
                </a:solidFill>
                <a:latin typeface="Calibri" pitchFamily="34" charset="0"/>
                <a:ea typeface="Calibri" pitchFamily="34" charset="-122"/>
                <a:cs typeface="Calibri" pitchFamily="34" charset="-120"/>
              </a:rPr>
              <a:t>SUBMIT ON CANVAS — must include:</a:t>
            </a:r>
            <a:endParaRPr lang="en-US" sz="1100" dirty="0"/>
          </a:p>
        </p:txBody>
      </p:sp>
      <p:sp>
        <p:nvSpPr>
          <p:cNvPr id="10" name="Text 8"/>
          <p:cNvSpPr/>
          <p:nvPr/>
        </p:nvSpPr>
        <p:spPr>
          <a:xfrm>
            <a:off x="502920" y="2496312"/>
            <a:ext cx="8138160" cy="731520"/>
          </a:xfrm>
          <a:prstGeom prst="rect">
            <a:avLst/>
          </a:prstGeom>
          <a:noFill/>
          <a:ln/>
        </p:spPr>
        <p:txBody>
          <a:bodyPr wrap="square" rtlCol="0" anchor="t"/>
          <a:lstStyle/>
          <a:p>
            <a:pPr marL="342900" indent="-342900">
              <a:lnSpc>
                <a:spcPts val="1300"/>
              </a:lnSpc>
              <a:buSzPct val="100000"/>
              <a:buChar char="•"/>
            </a:pPr>
            <a:r>
              <a:rPr lang="en-US" sz="1000" dirty="0">
                <a:solidFill>
                  <a:srgbClr val="1B4332"/>
                </a:solidFill>
                <a:latin typeface="Calibri" pitchFamily="34" charset="0"/>
                <a:ea typeface="Calibri" pitchFamily="34" charset="-122"/>
                <a:cs typeface="Calibri" pitchFamily="34" charset="-120"/>
              </a:rPr>
              <a:t>Completed Proposal Planning Chart with all five rows filled in</a:t>
            </a:r>
            <a:endParaRPr lang="en-US" sz="1000" dirty="0"/>
          </a:p>
          <a:p>
            <a:pPr marL="342900" indent="-342900">
              <a:lnSpc>
                <a:spcPts val="1300"/>
              </a:lnSpc>
              <a:buSzPct val="100000"/>
              <a:buChar char="•"/>
            </a:pPr>
            <a:r>
              <a:rPr lang="en-US" sz="1000" dirty="0">
                <a:solidFill>
                  <a:srgbClr val="1B4332"/>
                </a:solidFill>
                <a:latin typeface="Calibri" pitchFamily="34" charset="0"/>
                <a:ea typeface="Calibri" pitchFamily="34" charset="-122"/>
                <a:cs typeface="Calibri" pitchFamily="34" charset="-120"/>
              </a:rPr>
              <a:t>Part A and Part B answers identifying threats, evidence, and criteria</a:t>
            </a:r>
            <a:endParaRPr lang="en-US" sz="1000" dirty="0"/>
          </a:p>
          <a:p>
            <a:pPr marL="342900" indent="-342900">
              <a:lnSpc>
                <a:spcPts val="1300"/>
              </a:lnSpc>
              <a:buSzPct val="100000"/>
              <a:buChar char="•"/>
            </a:pPr>
            <a:r>
              <a:rPr lang="en-US" sz="1000" dirty="0">
                <a:solidFill>
                  <a:srgbClr val="1B4332"/>
                </a:solidFill>
                <a:latin typeface="Calibri" pitchFamily="34" charset="0"/>
                <a:ea typeface="Calibri" pitchFamily="34" charset="-122"/>
                <a:cs typeface="Calibri" pitchFamily="34" charset="-120"/>
              </a:rPr>
              <a:t>Write &amp; Explain response using science vocabulary (habitat, threat, evidence, criteria)</a:t>
            </a:r>
            <a:endParaRPr lang="en-US" sz="1000" dirty="0"/>
          </a:p>
          <a:p>
            <a:pPr marL="342900" indent="-342900">
              <a:lnSpc>
                <a:spcPts val="1300"/>
              </a:lnSpc>
              <a:buSzPct val="100000"/>
              <a:buChar char="•"/>
            </a:pPr>
            <a:r>
              <a:rPr lang="en-US" sz="1000" dirty="0">
                <a:solidFill>
                  <a:srgbClr val="1B4332"/>
                </a:solidFill>
                <a:latin typeface="Calibri" pitchFamily="34" charset="0"/>
                <a:ea typeface="Calibri" pitchFamily="34" charset="-122"/>
                <a:cs typeface="Calibri" pitchFamily="34" charset="-120"/>
              </a:rPr>
              <a:t>Part C habitat diagram with labels showing threat, solution, and affected species</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645920"/>
            <a:ext cx="82296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Great Work, Park Scientist!</a:t>
            </a:r>
            <a:endParaRPr lang="en-US" sz="2800" dirty="0"/>
          </a:p>
        </p:txBody>
      </p:sp>
      <p:sp>
        <p:nvSpPr>
          <p:cNvPr id="5" name="Text 3"/>
          <p:cNvSpPr/>
          <p:nvPr/>
        </p:nvSpPr>
        <p:spPr>
          <a:xfrm>
            <a:off x="457200" y="2468880"/>
            <a:ext cx="8229600" cy="548640"/>
          </a:xfrm>
          <a:prstGeom prst="rect">
            <a:avLst/>
          </a:prstGeom>
          <a:noFill/>
          <a:ln/>
        </p:spPr>
        <p:txBody>
          <a:bodyPr wrap="square" rtlCol="0" anchor="ctr"/>
          <a:lstStyle/>
          <a:p>
            <a:pPr indent="0" marL="0">
              <a:buNone/>
            </a:pPr>
            <a:r>
              <a:rPr lang="en-US" sz="1600" i="1" dirty="0">
                <a:solidFill>
                  <a:srgbClr val="FFCA28"/>
                </a:solidFill>
                <a:latin typeface="Calibri" pitchFamily="34" charset="0"/>
                <a:ea typeface="Calibri" pitchFamily="34" charset="-122"/>
                <a:cs typeface="Calibri" pitchFamily="34" charset="-120"/>
              </a:rPr>
              <a:t>Coming up next: properties of matter.</a:t>
            </a:r>
            <a:endParaRPr lang="en-US" sz="1600" dirty="0"/>
          </a:p>
        </p:txBody>
      </p:sp>
      <p:sp>
        <p:nvSpPr>
          <p:cNvPr id="6" name="Text 4"/>
          <p:cNvSpPr/>
          <p:nvPr/>
        </p:nvSpPr>
        <p:spPr>
          <a:xfrm>
            <a:off x="457200" y="4206240"/>
            <a:ext cx="8229600" cy="365760"/>
          </a:xfrm>
          <a:prstGeom prst="rect">
            <a:avLst/>
          </a:prstGeom>
          <a:noFill/>
          <a:ln/>
        </p:spPr>
        <p:txBody>
          <a:bodyPr wrap="square" rtlCol="0" anchor="ctr"/>
          <a:lstStyle/>
          <a:p>
            <a:pPr indent="0" marL="0">
              <a:buNone/>
            </a:pPr>
            <a:r>
              <a:rPr lang="en-US" sz="1200" dirty="0">
                <a:solidFill>
                  <a:srgbClr val="55C8E8"/>
                </a:solidFill>
                <a:latin typeface="Calibri" pitchFamily="34" charset="0"/>
                <a:ea typeface="Calibri" pitchFamily="34" charset="-122"/>
                <a:cs typeface="Calibri" pitchFamily="34" charset="-120"/>
              </a:rPr>
              <a:t>Lesson 26.01 · Properties of Matter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2026-07-13T18:34:06Z</dcterms:created>
  <dcterms:modified xsi:type="dcterms:W3CDTF">2026-07-13T18:34:06Z</dcterms:modified>
</cp:coreProperties>
</file>