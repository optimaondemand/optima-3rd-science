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run a true fair test: change ramp height (the variable), measure distance, and look for a pattern. Builds directly on 5.01's force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answer will come from real measurements students collect themselves — not just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(force strength -&gt; distance) -&gt; Section 2, investigation steps 1-3, Self-Check Q2. I Can #2 (data table, pattern) -&gt; investigation step 4 data table, Self-Check Q3. I Can #3 (evidence-based explanation) -&gt; Think Like a Scientist rehearsal, Write &amp; Explain. Write &amp; Explain frame rehearsed via the investigation's pattern question and again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stiff board works as a ramp; any small ball works fine — don't worry about exact specs.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ramps, three heights — let students predict out loud before reading any lesson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from 5.01: force and motion are already familiar. Speed is the connector word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is new and important today — ramp height is the ONE thing students change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prediction students will test with real data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Gravity pulling down + the ramp surface pushing back — this sets up the 'Curious? Go Deeper' net force content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cause-and-effect relationship students will test themselves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who design skate ramps and roller coasters think about force and distance the same way — a steeper ramp means more speed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crosscutting concept here: cause and effect. Higher ramp -&gt; stronger force -&gt; greater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Connects the tiny classroom ramp investigation to a massive real-world example of the exact same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the ramp physically set up and the Start mark placed before moving to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physically re-stack books between each height test — this is the hands-on core of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table shape students should copy into their notebooks before testing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frame. Have 2-3 students share their pattern sentence out loud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Talk-only reflection. Have students physically point to their own bar graph while answering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connects to the skate ramp and roller coaster examples from earlier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vocabulary review carried over from Lesson 5.01.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gravity itself counts as a force, even though nothing is visibly 'pushing.'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able to answer this directly from their own measurements, not just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student's own data doesn't show this pattern, discuss possible sources of measurement error rather than dismissing their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fair-testing concept of the whole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today's vocabulary word 'variable'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bank overlaps directly with today's two vocabulary clusters — a nice full-circle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questions require students to cite their OWN data — not a general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same reasoning structure as the investigation's pattern-question rehearsal, now formalized with sentence starters. Have 1-2 more students rehearse aloud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6 — motion patterns students can use to make predictions, like swings and pendulums.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Investigation: Ramp &amp; Ball Motion</a:t>
            </a:r>
            <a:endParaRPr lang="en-US" sz="3000" dirty="0"/>
          </a:p>
        </p:txBody>
      </p:sp>
      <p:sp>
        <p:nvSpPr>
          <p:cNvPr id="6" name="Text 4"/>
          <p:cNvSpPr/>
          <p:nvPr/>
        </p:nvSpPr>
        <p:spPr>
          <a:xfrm>
            <a:off x="457200" y="269748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5.02  ·  Week 5  ·  NGSS 3-PS2-1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463040"/>
            <a:ext cx="8046720" cy="1463040"/>
          </a:xfrm>
          <a:prstGeom prst="roundRect">
            <a:avLst>
              <a:gd name="adj" fmla="val 6250"/>
            </a:avLst>
          </a:prstGeom>
          <a:solidFill>
            <a:srgbClr val="0E1C42"/>
          </a:solidFill>
          <a:ln w="25400">
            <a:solidFill>
              <a:srgbClr val="55C8E8"/>
            </a:solidFill>
            <a:prstDash val="solid"/>
          </a:ln>
        </p:spPr>
      </p:sp>
      <p:sp>
        <p:nvSpPr>
          <p:cNvPr id="8" name="Text 6"/>
          <p:cNvSpPr/>
          <p:nvPr/>
        </p:nvSpPr>
        <p:spPr>
          <a:xfrm>
            <a:off x="822960" y="1691640"/>
            <a:ext cx="7498080" cy="1005840"/>
          </a:xfrm>
          <a:prstGeom prst="rect">
            <a:avLst/>
          </a:prstGeom>
          <a:noFill/>
          <a:ln/>
        </p:spPr>
        <p:txBody>
          <a:bodyPr wrap="square"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"What happens to a ball's motion when the force pushing it gets stronger?"</a:t>
            </a:r>
            <a:endParaRPr lang="en-US" sz="1900" dirty="0"/>
          </a:p>
        </p:txBody>
      </p:sp>
      <p:sp>
        <p:nvSpPr>
          <p:cNvPr id="9" name="Text 7"/>
          <p:cNvSpPr/>
          <p:nvPr/>
        </p:nvSpPr>
        <p:spPr>
          <a:xfrm>
            <a:off x="822960" y="3063240"/>
            <a:ext cx="7498080" cy="457200"/>
          </a:xfrm>
          <a:prstGeom prst="rect">
            <a:avLst/>
          </a:prstGeom>
          <a:noFill/>
          <a:ln/>
        </p:spPr>
        <p:txBody>
          <a:bodyPr wrap="square" rtlCol="0" anchor="t"/>
          <a:lstStyle/>
          <a:p>
            <a:pPr algn="ctr" indent="0" marL="0">
              <a:buNone/>
            </a:pPr>
            <a:r>
              <a:rPr lang="en-US" sz="1300" dirty="0">
                <a:solidFill>
                  <a:srgbClr val="5A4D3E"/>
                </a:solidFill>
                <a:latin typeface="Calibri" pitchFamily="34" charset="0"/>
                <a:ea typeface="Calibri" pitchFamily="34" charset="-122"/>
                <a:cs typeface="Calibri" pitchFamily="34" charset="-120"/>
              </a:rPr>
              <a:t>Hold this in mind as you investigate. By the end, you should be able to answer it with your own data!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test how changing force strength changes how far a ball moves.</a:t>
            </a:r>
            <a:endParaRPr lang="en-US" sz="140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collect data in a table and look for a pattern.</a:t>
            </a:r>
            <a:endParaRPr lang="en-US" sz="140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use my evidence to explain how force and distance are related.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143000"/>
            <a:ext cx="8046720" cy="530352"/>
          </a:xfrm>
          <a:prstGeom prst="roundRect">
            <a:avLst>
              <a:gd name="adj" fmla="val 13793"/>
            </a:avLst>
          </a:prstGeom>
          <a:solidFill>
            <a:srgbClr val="FFFFFF"/>
          </a:solidFill>
          <a:ln w="12700">
            <a:solidFill>
              <a:srgbClr val="E8DDD2"/>
            </a:solidFill>
            <a:prstDash val="solid"/>
          </a:ln>
        </p:spPr>
      </p:sp>
      <p:sp>
        <p:nvSpPr>
          <p:cNvPr id="8" name="Shape 6"/>
          <p:cNvSpPr/>
          <p:nvPr/>
        </p:nvSpPr>
        <p:spPr>
          <a:xfrm>
            <a:off x="777240" y="1316736"/>
            <a:ext cx="182880" cy="182880"/>
          </a:xfrm>
          <a:prstGeom prst="ellipse">
            <a:avLst/>
          </a:prstGeom>
          <a:solidFill>
            <a:srgbClr val="0288D1"/>
          </a:solidFill>
          <a:ln/>
        </p:spPr>
      </p:sp>
      <p:sp>
        <p:nvSpPr>
          <p:cNvPr id="9" name="Text 7"/>
          <p:cNvSpPr/>
          <p:nvPr/>
        </p:nvSpPr>
        <p:spPr>
          <a:xfrm>
            <a:off x="1143000" y="117043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Science notebook, pencil &amp; ruler</a:t>
            </a:r>
            <a:endParaRPr lang="en-US" sz="1300" dirty="0"/>
          </a:p>
        </p:txBody>
      </p:sp>
      <p:sp>
        <p:nvSpPr>
          <p:cNvPr id="10" name="Shape 8"/>
          <p:cNvSpPr/>
          <p:nvPr/>
        </p:nvSpPr>
        <p:spPr>
          <a:xfrm>
            <a:off x="548640" y="1783080"/>
            <a:ext cx="8046720" cy="530352"/>
          </a:xfrm>
          <a:prstGeom prst="roundRect">
            <a:avLst>
              <a:gd name="adj" fmla="val 13793"/>
            </a:avLst>
          </a:prstGeom>
          <a:solidFill>
            <a:srgbClr val="FFFFFF"/>
          </a:solidFill>
          <a:ln w="12700">
            <a:solidFill>
              <a:srgbClr val="E8DDD2"/>
            </a:solidFill>
            <a:prstDash val="solid"/>
          </a:ln>
        </p:spPr>
      </p:sp>
      <p:sp>
        <p:nvSpPr>
          <p:cNvPr id="11" name="Shape 9"/>
          <p:cNvSpPr/>
          <p:nvPr/>
        </p:nvSpPr>
        <p:spPr>
          <a:xfrm>
            <a:off x="777240" y="1956816"/>
            <a:ext cx="182880" cy="182880"/>
          </a:xfrm>
          <a:prstGeom prst="ellipse">
            <a:avLst/>
          </a:prstGeom>
          <a:solidFill>
            <a:srgbClr val="0288D1"/>
          </a:solidFill>
          <a:ln/>
        </p:spPr>
      </p:sp>
      <p:sp>
        <p:nvSpPr>
          <p:cNvPr id="12" name="Text 10"/>
          <p:cNvSpPr/>
          <p:nvPr/>
        </p:nvSpPr>
        <p:spPr>
          <a:xfrm>
            <a:off x="1143000" y="181051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Cardboard or a stiff board</a:t>
            </a:r>
            <a:endParaRPr lang="en-US" sz="1300" dirty="0"/>
          </a:p>
        </p:txBody>
      </p:sp>
      <p:sp>
        <p:nvSpPr>
          <p:cNvPr id="13" name="Shape 11"/>
          <p:cNvSpPr/>
          <p:nvPr/>
        </p:nvSpPr>
        <p:spPr>
          <a:xfrm>
            <a:off x="548640" y="2423160"/>
            <a:ext cx="8046720" cy="530352"/>
          </a:xfrm>
          <a:prstGeom prst="roundRect">
            <a:avLst>
              <a:gd name="adj" fmla="val 13793"/>
            </a:avLst>
          </a:prstGeom>
          <a:solidFill>
            <a:srgbClr val="FFFFFF"/>
          </a:solidFill>
          <a:ln w="12700">
            <a:solidFill>
              <a:srgbClr val="E8DDD2"/>
            </a:solidFill>
            <a:prstDash val="solid"/>
          </a:ln>
        </p:spPr>
      </p:sp>
      <p:sp>
        <p:nvSpPr>
          <p:cNvPr id="14" name="Shape 12"/>
          <p:cNvSpPr/>
          <p:nvPr/>
        </p:nvSpPr>
        <p:spPr>
          <a:xfrm>
            <a:off x="777240" y="2596896"/>
            <a:ext cx="182880" cy="182880"/>
          </a:xfrm>
          <a:prstGeom prst="ellipse">
            <a:avLst/>
          </a:prstGeom>
          <a:solidFill>
            <a:srgbClr val="0288D1"/>
          </a:solidFill>
          <a:ln/>
        </p:spPr>
      </p:sp>
      <p:sp>
        <p:nvSpPr>
          <p:cNvPr id="15" name="Text 13"/>
          <p:cNvSpPr/>
          <p:nvPr/>
        </p:nvSpPr>
        <p:spPr>
          <a:xfrm>
            <a:off x="1143000" y="245059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2-4 books (for stacking)</a:t>
            </a:r>
            <a:endParaRPr lang="en-US" sz="1300" dirty="0"/>
          </a:p>
        </p:txBody>
      </p:sp>
      <p:sp>
        <p:nvSpPr>
          <p:cNvPr id="16" name="Shape 14"/>
          <p:cNvSpPr/>
          <p:nvPr/>
        </p:nvSpPr>
        <p:spPr>
          <a:xfrm>
            <a:off x="548640" y="3063240"/>
            <a:ext cx="8046720" cy="530352"/>
          </a:xfrm>
          <a:prstGeom prst="roundRect">
            <a:avLst>
              <a:gd name="adj" fmla="val 13793"/>
            </a:avLst>
          </a:prstGeom>
          <a:solidFill>
            <a:srgbClr val="FFFFFF"/>
          </a:solidFill>
          <a:ln w="12700">
            <a:solidFill>
              <a:srgbClr val="E8DDD2"/>
            </a:solidFill>
            <a:prstDash val="solid"/>
          </a:ln>
        </p:spPr>
      </p:sp>
      <p:sp>
        <p:nvSpPr>
          <p:cNvPr id="17" name="Shape 15"/>
          <p:cNvSpPr/>
          <p:nvPr/>
        </p:nvSpPr>
        <p:spPr>
          <a:xfrm>
            <a:off x="777240" y="3236976"/>
            <a:ext cx="182880" cy="182880"/>
          </a:xfrm>
          <a:prstGeom prst="ellipse">
            <a:avLst/>
          </a:prstGeom>
          <a:solidFill>
            <a:srgbClr val="0288D1"/>
          </a:solidFill>
          <a:ln/>
        </p:spPr>
      </p:sp>
      <p:sp>
        <p:nvSpPr>
          <p:cNvPr id="18" name="Text 16"/>
          <p:cNvSpPr/>
          <p:nvPr/>
        </p:nvSpPr>
        <p:spPr>
          <a:xfrm>
            <a:off x="1143000" y="309067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Small ball</a:t>
            </a:r>
            <a:endParaRPr lang="en-US" sz="1300" dirty="0"/>
          </a:p>
        </p:txBody>
      </p:sp>
      <p:sp>
        <p:nvSpPr>
          <p:cNvPr id="19" name="Shape 17"/>
          <p:cNvSpPr/>
          <p:nvPr/>
        </p:nvSpPr>
        <p:spPr>
          <a:xfrm>
            <a:off x="548640" y="3703320"/>
            <a:ext cx="8046720" cy="530352"/>
          </a:xfrm>
          <a:prstGeom prst="roundRect">
            <a:avLst>
              <a:gd name="adj" fmla="val 13793"/>
            </a:avLst>
          </a:prstGeom>
          <a:solidFill>
            <a:srgbClr val="FFFFFF"/>
          </a:solidFill>
          <a:ln w="12700">
            <a:solidFill>
              <a:srgbClr val="E8DDD2"/>
            </a:solidFill>
            <a:prstDash val="solid"/>
          </a:ln>
        </p:spPr>
      </p:sp>
      <p:sp>
        <p:nvSpPr>
          <p:cNvPr id="20" name="Shape 18"/>
          <p:cNvSpPr/>
          <p:nvPr/>
        </p:nvSpPr>
        <p:spPr>
          <a:xfrm>
            <a:off x="777240" y="3877056"/>
            <a:ext cx="182880" cy="182880"/>
          </a:xfrm>
          <a:prstGeom prst="ellipse">
            <a:avLst/>
          </a:prstGeom>
          <a:solidFill>
            <a:srgbClr val="0288D1"/>
          </a:solidFill>
          <a:ln/>
        </p:spPr>
      </p:sp>
      <p:sp>
        <p:nvSpPr>
          <p:cNvPr id="21" name="Text 19"/>
          <p:cNvSpPr/>
          <p:nvPr/>
        </p:nvSpPr>
        <p:spPr>
          <a:xfrm>
            <a:off x="1143000" y="373075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Measuring tape or meter stick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Notice?</a:t>
            </a:r>
            <a:endParaRPr lang="en-US" sz="2100" dirty="0"/>
          </a:p>
        </p:txBody>
      </p:sp>
      <p:sp>
        <p:nvSpPr>
          <p:cNvPr id="7" name="Shape 5"/>
          <p:cNvSpPr/>
          <p:nvPr/>
        </p:nvSpPr>
        <p:spPr>
          <a:xfrm>
            <a:off x="457200" y="1097280"/>
            <a:ext cx="8229600" cy="1828800"/>
          </a:xfrm>
          <a:prstGeom prst="roundRect">
            <a:avLst>
              <a:gd name="adj" fmla="val 4000"/>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11556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Three cardboard ramps set up side-by-side on a wooden classroom table. Each ramp propped at a different height using stacked textbooks: one book on the left, two in the middle, three on the right. A small rubber ball rests near the top of each ramp. Corrugated cardboard ramps. Warm natural light from a classroom window. A measuring tape visible stretched out on the table. No white background. Real classroom setting, slightly low angle, photorealistic, bright and inviting.</a:t>
            </a:r>
            <a:endParaRPr lang="en-US" sz="1100" dirty="0"/>
          </a:p>
        </p:txBody>
      </p:sp>
      <p:sp>
        <p:nvSpPr>
          <p:cNvPr id="10" name="Text 8"/>
          <p:cNvSpPr/>
          <p:nvPr/>
        </p:nvSpPr>
        <p:spPr>
          <a:xfrm>
            <a:off x="640080" y="263347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images/5-02-three-ramp-heights.png</a:t>
            </a:r>
            <a:endParaRPr lang="en-US" sz="950" dirty="0"/>
          </a:p>
        </p:txBody>
      </p:sp>
      <p:sp>
        <p:nvSpPr>
          <p:cNvPr id="11" name="Shape 9"/>
          <p:cNvSpPr/>
          <p:nvPr/>
        </p:nvSpPr>
        <p:spPr>
          <a:xfrm>
            <a:off x="320040" y="3063240"/>
            <a:ext cx="8503920" cy="902970"/>
          </a:xfrm>
          <a:prstGeom prst="roundRect">
            <a:avLst>
              <a:gd name="adj" fmla="val 8101"/>
            </a:avLst>
          </a:prstGeom>
          <a:solidFill>
            <a:srgbClr val="FFF9E8"/>
          </a:solidFill>
          <a:ln w="19050">
            <a:solidFill>
              <a:srgbClr val="F9A825"/>
            </a:solidFill>
            <a:prstDash val="solid"/>
          </a:ln>
        </p:spPr>
      </p:sp>
      <p:sp>
        <p:nvSpPr>
          <p:cNvPr id="12" name="Text 10"/>
          <p:cNvSpPr/>
          <p:nvPr/>
        </p:nvSpPr>
        <p:spPr>
          <a:xfrm>
            <a:off x="502920" y="3136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3" name="Text 11"/>
          <p:cNvSpPr/>
          <p:nvPr/>
        </p:nvSpPr>
        <p:spPr>
          <a:xfrm>
            <a:off x="502920" y="3355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see in the setup? What do you wonder about what the ball might do? Write at least 2 observations and 1 question.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Forces in Motion</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force</a:t>
            </a:r>
            <a:endParaRPr lang="en-US" sz="16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push or a pull. Forces can change the way an object moves.</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motion</a:t>
            </a:r>
            <a:endParaRPr lang="en-US" sz="16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Movement from one place to another. An object is in motion when its position changes.</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speed</a:t>
            </a:r>
            <a:endParaRPr lang="en-US" sz="16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How fast an object moves. A ball rolling quickly has more speed than one rolling slowly.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Tools for Fair Testing</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distance</a:t>
            </a:r>
            <a:endParaRPr lang="en-US" sz="16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How far an object travels. We can measure distance in centimeters or meters.</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data</a:t>
            </a:r>
            <a:endParaRPr lang="en-US" sz="16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Information collected during an investigation, like measurements and observations.</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variable</a:t>
            </a:r>
            <a:endParaRPr lang="en-US" sz="16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The one thing you change in an investigation. Everything else stays the same.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188720"/>
          </a:xfrm>
          <a:prstGeom prst="roundRect">
            <a:avLst>
              <a:gd name="adj" fmla="val 615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8412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"A stronger force can make an object move faster and travel farther."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Force?</a:t>
            </a:r>
            <a:endParaRPr lang="en-US" sz="2100" dirty="0"/>
          </a:p>
        </p:txBody>
      </p:sp>
      <p:sp>
        <p:nvSpPr>
          <p:cNvPr id="7" name="Text 5"/>
          <p:cNvSpPr/>
          <p:nvPr/>
        </p:nvSpPr>
        <p:spPr>
          <a:xfrm>
            <a:off x="320040" y="1143000"/>
            <a:ext cx="8503920" cy="100584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A force is any push or pull. Forces are what make things start moving, stop moving, or change direction. When you push a shopping cart, you're applying a force. When gravity pulls a ball toward the ground, that's a force too.</a:t>
            </a:r>
            <a:endParaRPr lang="en-US" sz="1350" dirty="0"/>
          </a:p>
        </p:txBody>
      </p:sp>
      <p:sp>
        <p:nvSpPr>
          <p:cNvPr id="8" name="Shape 6"/>
          <p:cNvSpPr/>
          <p:nvPr/>
        </p:nvSpPr>
        <p:spPr>
          <a:xfrm>
            <a:off x="320040" y="2240280"/>
            <a:ext cx="8503920" cy="685800"/>
          </a:xfrm>
          <a:prstGeom prst="roundRect">
            <a:avLst>
              <a:gd name="adj" fmla="val 10667"/>
            </a:avLst>
          </a:prstGeom>
          <a:solidFill>
            <a:srgbClr val="FFF9E8"/>
          </a:solidFill>
          <a:ln w="19050">
            <a:solidFill>
              <a:srgbClr val="F9A825"/>
            </a:solidFill>
            <a:prstDash val="solid"/>
          </a:ln>
        </p:spPr>
      </p:sp>
      <p:sp>
        <p:nvSpPr>
          <p:cNvPr id="9" name="Text 7"/>
          <p:cNvSpPr/>
          <p:nvPr/>
        </p:nvSpPr>
        <p:spPr>
          <a:xfrm>
            <a:off x="502920" y="23134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532888"/>
            <a:ext cx="8138160" cy="3383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Can you think of two forces acting on the ball the moment it leaves the ramp?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Ramp Height Changes the Force</a:t>
            </a:r>
            <a:endParaRPr lang="en-US" sz="2100" dirty="0"/>
          </a:p>
        </p:txBody>
      </p:sp>
      <p:sp>
        <p:nvSpPr>
          <p:cNvPr id="7" name="Text 5"/>
          <p:cNvSpPr/>
          <p:nvPr/>
        </p:nvSpPr>
        <p:spPr>
          <a:xfrm>
            <a:off x="320040" y="1143000"/>
            <a:ext cx="8503920" cy="10972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When you raise the ramp higher, gravity pulls the ball down a steeper slope — a stronger force is acting on the ball. A stronger force makes the ball speed up faster and travel a greater distance. A lower ramp means a weaker force and a shorter roll.</a:t>
            </a:r>
            <a:endParaRPr lang="en-US" sz="1300" dirty="0"/>
          </a:p>
        </p:txBody>
      </p:sp>
      <p:sp>
        <p:nvSpPr>
          <p:cNvPr id="8" name="Shape 6"/>
          <p:cNvSpPr/>
          <p:nvPr/>
        </p:nvSpPr>
        <p:spPr>
          <a:xfrm>
            <a:off x="320040" y="233172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404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66090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a low ramp gives a weak force and a high ramp gives a strong force, what do you predict will happen to distance as the ramp gets taller?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Collecting Evidence</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Scientists don't just watch — they measure. In this investigation, ramp height is your variable. Distance is what you measure. Everything else stays the same. Recording data carefully is what turns an experiment into evidence.</a:t>
            </a:r>
            <a:endParaRPr lang="en-US" sz="1250" dirty="0"/>
          </a:p>
        </p:txBody>
      </p:sp>
      <p:sp>
        <p:nvSpPr>
          <p:cNvPr id="8" name="Shape 6"/>
          <p:cNvSpPr/>
          <p:nvPr/>
        </p:nvSpPr>
        <p:spPr>
          <a:xfrm>
            <a:off x="457200" y="2103120"/>
            <a:ext cx="8229600" cy="1691640"/>
          </a:xfrm>
          <a:prstGeom prst="roundRect">
            <a:avLst>
              <a:gd name="adj" fmla="val 4324"/>
            </a:avLst>
          </a:prstGeom>
          <a:solidFill>
            <a:srgbClr val="FFF3E0"/>
          </a:solidFill>
          <a:ln w="25400">
            <a:solidFill>
              <a:srgbClr val="F9A825"/>
            </a:solidFill>
            <a:prstDash val="dash"/>
          </a:ln>
        </p:spPr>
      </p:sp>
      <p:sp>
        <p:nvSpPr>
          <p:cNvPr id="9" name="Text 7"/>
          <p:cNvSpPr/>
          <p:nvPr/>
        </p:nvSpPr>
        <p:spPr>
          <a:xfrm>
            <a:off x="640080" y="219456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68880"/>
            <a:ext cx="7863840" cy="9784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skateboarder at the bottom of a very steep concrete skate ramp at an outdoor skate park, caught mid-motion moving fast across the flat ground after riding down the steep drop. The ramp's tall curved wall visible in background, showing height contrast between top and flat bottom. Sunlit outdoor scene, dynamic action shot from a low angle. No white edges. Photorealistic, bright vivid colors.</a:t>
            </a:r>
            <a:endParaRPr lang="en-US" sz="1100" dirty="0"/>
          </a:p>
        </p:txBody>
      </p:sp>
      <p:sp>
        <p:nvSpPr>
          <p:cNvPr id="11" name="Text 9"/>
          <p:cNvSpPr/>
          <p:nvPr/>
        </p:nvSpPr>
        <p:spPr>
          <a:xfrm>
            <a:off x="640080" y="350215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images/5-02-skate-ramp-steep.png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371600"/>
          </a:xfrm>
          <a:prstGeom prst="roundRect">
            <a:avLst>
              <a:gd name="adj" fmla="val 5333"/>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 · CAUSE AND EFFECT</a:t>
            </a:r>
            <a:endParaRPr lang="en-US" sz="1100" dirty="0"/>
          </a:p>
        </p:txBody>
      </p:sp>
      <p:sp>
        <p:nvSpPr>
          <p:cNvPr id="9" name="Text 7"/>
          <p:cNvSpPr/>
          <p:nvPr/>
        </p:nvSpPr>
        <p:spPr>
          <a:xfrm>
            <a:off x="502920" y="1572768"/>
            <a:ext cx="8138160" cy="102412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A stronger force causes greater motion. When the ramp height increases, the force on the ball increases — and the ball travels farther. Changing the force causes a change in distance.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WAIT — REALLY?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0 to 240 km/h in Under 5 Seconds</a:t>
            </a:r>
            <a:endParaRPr lang="en-US" sz="2100" dirty="0"/>
          </a:p>
        </p:txBody>
      </p:sp>
      <p:sp>
        <p:nvSpPr>
          <p:cNvPr id="7" name="Text 5"/>
          <p:cNvSpPr/>
          <p:nvPr/>
        </p:nvSpPr>
        <p:spPr>
          <a:xfrm>
            <a:off x="457200" y="1143000"/>
            <a:ext cx="8229600" cy="118872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The world's fastest roller coaster starts from a ramp-like launch track. At full height, the cars accelerate from 0 to 240 km/h in under five seconds — all because of one strong downhill force.</a:t>
            </a:r>
            <a:endParaRPr lang="en-US" sz="1450" dirty="0"/>
          </a:p>
        </p:txBody>
      </p:sp>
      <p:sp>
        <p:nvSpPr>
          <p:cNvPr id="8" name="Shape 6"/>
          <p:cNvSpPr/>
          <p:nvPr/>
        </p:nvSpPr>
        <p:spPr>
          <a:xfrm>
            <a:off x="320040" y="260604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6791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93522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a steeper ramp made your ball go farther today, what do you think a much steeper (and much bigger) launch track does to a roller coaster car?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20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Set Up Your Ramp</a:t>
            </a:r>
            <a:endParaRPr lang="en-US" sz="2100" dirty="0"/>
          </a:p>
        </p:txBody>
      </p:sp>
      <p:sp>
        <p:nvSpPr>
          <p:cNvPr id="7" name="Text 5"/>
          <p:cNvSpPr/>
          <p:nvPr/>
        </p:nvSpPr>
        <p:spPr>
          <a:xfrm>
            <a:off x="320040" y="1097280"/>
            <a:ext cx="8503920" cy="6858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Lay your cardboard on a flat table. Put one book under one end — that's your low ramp. Mark the spot where the ramp meets the table as 'Start.'</a:t>
            </a:r>
            <a:endParaRPr lang="en-US" sz="1300" dirty="0"/>
          </a:p>
        </p:txBody>
      </p:sp>
      <p:sp>
        <p:nvSpPr>
          <p:cNvPr id="8" name="Shape 6"/>
          <p:cNvSpPr/>
          <p:nvPr/>
        </p:nvSpPr>
        <p:spPr>
          <a:xfrm>
            <a:off x="320040" y="1874520"/>
            <a:ext cx="8503920" cy="777240"/>
          </a:xfrm>
          <a:prstGeom prst="roundRect">
            <a:avLst>
              <a:gd name="adj" fmla="val 9412"/>
            </a:avLst>
          </a:prstGeom>
          <a:solidFill>
            <a:srgbClr val="FFF3E0"/>
          </a:solidFill>
          <a:ln w="19050">
            <a:solidFill>
              <a:srgbClr val="F57C00"/>
            </a:solidFill>
            <a:prstDash val="solid"/>
          </a:ln>
        </p:spPr>
      </p:sp>
      <p:sp>
        <p:nvSpPr>
          <p:cNvPr id="9" name="Text 7"/>
          <p:cNvSpPr/>
          <p:nvPr/>
        </p:nvSpPr>
        <p:spPr>
          <a:xfrm>
            <a:off x="502920" y="192938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0" name="Text 8"/>
          <p:cNvSpPr/>
          <p:nvPr/>
        </p:nvSpPr>
        <p:spPr>
          <a:xfrm>
            <a:off x="502920" y="2093976"/>
            <a:ext cx="8138160" cy="52120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Make a prediction: what do you think will happen to the distance when you raise the ramp higher? Write a prediction sentence — predictions don't have to be right, just honest.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 Three Heights</a:t>
            </a:r>
            <a:endParaRPr lang="en-US" sz="2100" dirty="0"/>
          </a:p>
        </p:txBody>
      </p:sp>
      <p:sp>
        <p:nvSpPr>
          <p:cNvPr id="7" name="Text 5"/>
          <p:cNvSpPr/>
          <p:nvPr/>
        </p:nvSpPr>
        <p:spPr>
          <a:xfrm>
            <a:off x="320040" y="1097280"/>
            <a:ext cx="8503920" cy="77724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For each height, place the ball at the top and release it gently (don't push!). Measure how far it travels from the Start mark. Do each height twice and record both measurements.</a:t>
            </a:r>
            <a:endParaRPr lang="en-US" sz="1250" dirty="0"/>
          </a:p>
        </p:txBody>
      </p:sp>
      <p:sp>
        <p:nvSpPr>
          <p:cNvPr id="8" name="Shape 6"/>
          <p:cNvSpPr/>
          <p:nvPr/>
        </p:nvSpPr>
        <p:spPr>
          <a:xfrm>
            <a:off x="457200" y="1965960"/>
            <a:ext cx="2651760" cy="1005840"/>
          </a:xfrm>
          <a:prstGeom prst="roundRect">
            <a:avLst>
              <a:gd name="adj" fmla="val 7273"/>
            </a:avLst>
          </a:prstGeom>
          <a:solidFill>
            <a:srgbClr val="FFFFFF"/>
          </a:solidFill>
          <a:ln w="25400">
            <a:solidFill>
              <a:srgbClr val="52B788"/>
            </a:solidFill>
            <a:prstDash val="solid"/>
          </a:ln>
        </p:spPr>
      </p:sp>
      <p:sp>
        <p:nvSpPr>
          <p:cNvPr id="9" name="Text 7"/>
          <p:cNvSpPr/>
          <p:nvPr/>
        </p:nvSpPr>
        <p:spPr>
          <a:xfrm>
            <a:off x="457200" y="2103120"/>
            <a:ext cx="2651760" cy="365760"/>
          </a:xfrm>
          <a:prstGeom prst="rect">
            <a:avLst/>
          </a:prstGeom>
          <a:noFill/>
          <a:ln/>
        </p:spPr>
        <p:txBody>
          <a:bodyPr wrap="square" rtlCol="0" anchor="ctr"/>
          <a:lstStyle/>
          <a:p>
            <a:pPr algn="ctr" indent="0" marL="0">
              <a:buNone/>
            </a:pPr>
            <a:r>
              <a:rPr lang="en-US" sz="1600" b="1" dirty="0">
                <a:solidFill>
                  <a:srgbClr val="2D6A4F"/>
                </a:solidFill>
                <a:latin typeface="Cambria" pitchFamily="34" charset="0"/>
                <a:ea typeface="Cambria" pitchFamily="34" charset="-122"/>
                <a:cs typeface="Cambria" pitchFamily="34" charset="-120"/>
              </a:rPr>
              <a:t>LOW</a:t>
            </a:r>
            <a:endParaRPr lang="en-US" sz="1600" dirty="0"/>
          </a:p>
        </p:txBody>
      </p:sp>
      <p:sp>
        <p:nvSpPr>
          <p:cNvPr id="10" name="Text 8"/>
          <p:cNvSpPr/>
          <p:nvPr/>
        </p:nvSpPr>
        <p:spPr>
          <a:xfrm>
            <a:off x="457200" y="2514600"/>
            <a:ext cx="2651760" cy="320040"/>
          </a:xfrm>
          <a:prstGeom prst="rect">
            <a:avLst/>
          </a:prstGeom>
          <a:noFill/>
          <a:ln/>
        </p:spPr>
        <p:txBody>
          <a:bodyPr wrap="square" rtlCol="0" anchor="ctr"/>
          <a:lstStyle/>
          <a:p>
            <a:pPr algn="ctr" indent="0" marL="0">
              <a:buNone/>
            </a:pPr>
            <a:r>
              <a:rPr lang="en-US" sz="1200" dirty="0">
                <a:solidFill>
                  <a:srgbClr val="2B1D12"/>
                </a:solidFill>
                <a:latin typeface="Calibri" pitchFamily="34" charset="0"/>
                <a:ea typeface="Calibri" pitchFamily="34" charset="-122"/>
                <a:cs typeface="Calibri" pitchFamily="34" charset="-120"/>
              </a:rPr>
              <a:t>1 book</a:t>
            </a:r>
            <a:endParaRPr lang="en-US" sz="1200" dirty="0"/>
          </a:p>
        </p:txBody>
      </p:sp>
      <p:sp>
        <p:nvSpPr>
          <p:cNvPr id="11" name="Shape 9"/>
          <p:cNvSpPr/>
          <p:nvPr/>
        </p:nvSpPr>
        <p:spPr>
          <a:xfrm>
            <a:off x="3246120" y="1965960"/>
            <a:ext cx="2651760" cy="1005840"/>
          </a:xfrm>
          <a:prstGeom prst="roundRect">
            <a:avLst>
              <a:gd name="adj" fmla="val 7273"/>
            </a:avLst>
          </a:prstGeom>
          <a:solidFill>
            <a:srgbClr val="FFFFFF"/>
          </a:solidFill>
          <a:ln w="25400">
            <a:solidFill>
              <a:srgbClr val="52B788"/>
            </a:solidFill>
            <a:prstDash val="solid"/>
          </a:ln>
        </p:spPr>
      </p:sp>
      <p:sp>
        <p:nvSpPr>
          <p:cNvPr id="12" name="Text 10"/>
          <p:cNvSpPr/>
          <p:nvPr/>
        </p:nvSpPr>
        <p:spPr>
          <a:xfrm>
            <a:off x="3246120" y="2103120"/>
            <a:ext cx="2651760" cy="365760"/>
          </a:xfrm>
          <a:prstGeom prst="rect">
            <a:avLst/>
          </a:prstGeom>
          <a:noFill/>
          <a:ln/>
        </p:spPr>
        <p:txBody>
          <a:bodyPr wrap="square" rtlCol="0" anchor="ctr"/>
          <a:lstStyle/>
          <a:p>
            <a:pPr algn="ctr" indent="0" marL="0">
              <a:buNone/>
            </a:pPr>
            <a:r>
              <a:rPr lang="en-US" sz="1600" b="1" dirty="0">
                <a:solidFill>
                  <a:srgbClr val="2D6A4F"/>
                </a:solidFill>
                <a:latin typeface="Cambria" pitchFamily="34" charset="0"/>
                <a:ea typeface="Cambria" pitchFamily="34" charset="-122"/>
                <a:cs typeface="Cambria" pitchFamily="34" charset="-120"/>
              </a:rPr>
              <a:t>MEDIUM</a:t>
            </a:r>
            <a:endParaRPr lang="en-US" sz="1600" dirty="0"/>
          </a:p>
        </p:txBody>
      </p:sp>
      <p:sp>
        <p:nvSpPr>
          <p:cNvPr id="13" name="Text 11"/>
          <p:cNvSpPr/>
          <p:nvPr/>
        </p:nvSpPr>
        <p:spPr>
          <a:xfrm>
            <a:off x="3246120" y="2514600"/>
            <a:ext cx="2651760" cy="320040"/>
          </a:xfrm>
          <a:prstGeom prst="rect">
            <a:avLst/>
          </a:prstGeom>
          <a:noFill/>
          <a:ln/>
        </p:spPr>
        <p:txBody>
          <a:bodyPr wrap="square" rtlCol="0" anchor="ctr"/>
          <a:lstStyle/>
          <a:p>
            <a:pPr algn="ctr" indent="0" marL="0">
              <a:buNone/>
            </a:pPr>
            <a:r>
              <a:rPr lang="en-US" sz="1200" dirty="0">
                <a:solidFill>
                  <a:srgbClr val="2B1D12"/>
                </a:solidFill>
                <a:latin typeface="Calibri" pitchFamily="34" charset="0"/>
                <a:ea typeface="Calibri" pitchFamily="34" charset="-122"/>
                <a:cs typeface="Calibri" pitchFamily="34" charset="-120"/>
              </a:rPr>
              <a:t>2 books</a:t>
            </a:r>
            <a:endParaRPr lang="en-US" sz="1200" dirty="0"/>
          </a:p>
        </p:txBody>
      </p:sp>
      <p:sp>
        <p:nvSpPr>
          <p:cNvPr id="14" name="Shape 12"/>
          <p:cNvSpPr/>
          <p:nvPr/>
        </p:nvSpPr>
        <p:spPr>
          <a:xfrm>
            <a:off x="6035040" y="1965960"/>
            <a:ext cx="2651760" cy="1005840"/>
          </a:xfrm>
          <a:prstGeom prst="roundRect">
            <a:avLst>
              <a:gd name="adj" fmla="val 7273"/>
            </a:avLst>
          </a:prstGeom>
          <a:solidFill>
            <a:srgbClr val="FFFFFF"/>
          </a:solidFill>
          <a:ln w="25400">
            <a:solidFill>
              <a:srgbClr val="52B788"/>
            </a:solidFill>
            <a:prstDash val="solid"/>
          </a:ln>
        </p:spPr>
      </p:sp>
      <p:sp>
        <p:nvSpPr>
          <p:cNvPr id="15" name="Text 13"/>
          <p:cNvSpPr/>
          <p:nvPr/>
        </p:nvSpPr>
        <p:spPr>
          <a:xfrm>
            <a:off x="6035040" y="2103120"/>
            <a:ext cx="2651760" cy="365760"/>
          </a:xfrm>
          <a:prstGeom prst="rect">
            <a:avLst/>
          </a:prstGeom>
          <a:noFill/>
          <a:ln/>
        </p:spPr>
        <p:txBody>
          <a:bodyPr wrap="square" rtlCol="0" anchor="ctr"/>
          <a:lstStyle/>
          <a:p>
            <a:pPr algn="ctr" indent="0" marL="0">
              <a:buNone/>
            </a:pPr>
            <a:r>
              <a:rPr lang="en-US" sz="1600" b="1" dirty="0">
                <a:solidFill>
                  <a:srgbClr val="2D6A4F"/>
                </a:solidFill>
                <a:latin typeface="Cambria" pitchFamily="34" charset="0"/>
                <a:ea typeface="Cambria" pitchFamily="34" charset="-122"/>
                <a:cs typeface="Cambria" pitchFamily="34" charset="-120"/>
              </a:rPr>
              <a:t>HIGH</a:t>
            </a:r>
            <a:endParaRPr lang="en-US" sz="1600" dirty="0"/>
          </a:p>
        </p:txBody>
      </p:sp>
      <p:sp>
        <p:nvSpPr>
          <p:cNvPr id="16" name="Text 14"/>
          <p:cNvSpPr/>
          <p:nvPr/>
        </p:nvSpPr>
        <p:spPr>
          <a:xfrm>
            <a:off x="6035040" y="2514600"/>
            <a:ext cx="2651760" cy="320040"/>
          </a:xfrm>
          <a:prstGeom prst="rect">
            <a:avLst/>
          </a:prstGeom>
          <a:noFill/>
          <a:ln/>
        </p:spPr>
        <p:txBody>
          <a:bodyPr wrap="square" rtlCol="0" anchor="ctr"/>
          <a:lstStyle/>
          <a:p>
            <a:pPr algn="ctr" indent="0" marL="0">
              <a:buNone/>
            </a:pPr>
            <a:r>
              <a:rPr lang="en-US" sz="1200" dirty="0">
                <a:solidFill>
                  <a:srgbClr val="2B1D12"/>
                </a:solidFill>
                <a:latin typeface="Calibri" pitchFamily="34" charset="0"/>
                <a:ea typeface="Calibri" pitchFamily="34" charset="-122"/>
                <a:cs typeface="Calibri" pitchFamily="34" charset="-120"/>
              </a:rPr>
              <a:t>3-4 books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Fill In Your Data Table</a:t>
            </a:r>
            <a:endParaRPr lang="en-US" sz="2100" dirty="0"/>
          </a:p>
        </p:txBody>
      </p:sp>
      <p:sp>
        <p:nvSpPr>
          <p:cNvPr id="7" name="Shape 5"/>
          <p:cNvSpPr/>
          <p:nvPr/>
        </p:nvSpPr>
        <p:spPr>
          <a:xfrm>
            <a:off x="457200" y="1188720"/>
            <a:ext cx="2377440" cy="457200"/>
          </a:xfrm>
          <a:prstGeom prst="rect">
            <a:avLst/>
          </a:prstGeom>
          <a:solidFill>
            <a:srgbClr val="0288D1"/>
          </a:solidFill>
          <a:ln w="6350">
            <a:solidFill>
              <a:srgbClr val="FFFFFF"/>
            </a:solidFill>
            <a:prstDash val="solid"/>
          </a:ln>
        </p:spPr>
      </p:sp>
      <p:sp>
        <p:nvSpPr>
          <p:cNvPr id="8" name="Text 6"/>
          <p:cNvSpPr/>
          <p:nvPr/>
        </p:nvSpPr>
        <p:spPr>
          <a:xfrm>
            <a:off x="457200" y="1188720"/>
            <a:ext cx="23774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Ramp Height</a:t>
            </a:r>
            <a:endParaRPr lang="en-US" sz="1100" dirty="0"/>
          </a:p>
        </p:txBody>
      </p:sp>
      <p:sp>
        <p:nvSpPr>
          <p:cNvPr id="9" name="Shape 7"/>
          <p:cNvSpPr/>
          <p:nvPr/>
        </p:nvSpPr>
        <p:spPr>
          <a:xfrm>
            <a:off x="2834640" y="1188720"/>
            <a:ext cx="1737360" cy="457200"/>
          </a:xfrm>
          <a:prstGeom prst="rect">
            <a:avLst/>
          </a:prstGeom>
          <a:solidFill>
            <a:srgbClr val="0288D1"/>
          </a:solidFill>
          <a:ln w="6350">
            <a:solidFill>
              <a:srgbClr val="FFFFFF"/>
            </a:solidFill>
            <a:prstDash val="solid"/>
          </a:ln>
        </p:spPr>
      </p:sp>
      <p:sp>
        <p:nvSpPr>
          <p:cNvPr id="10" name="Text 8"/>
          <p:cNvSpPr/>
          <p:nvPr/>
        </p:nvSpPr>
        <p:spPr>
          <a:xfrm>
            <a:off x="2834640" y="1188720"/>
            <a:ext cx="17373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1 (cm)</a:t>
            </a:r>
            <a:endParaRPr lang="en-US" sz="1100" dirty="0"/>
          </a:p>
        </p:txBody>
      </p:sp>
      <p:sp>
        <p:nvSpPr>
          <p:cNvPr id="11" name="Shape 9"/>
          <p:cNvSpPr/>
          <p:nvPr/>
        </p:nvSpPr>
        <p:spPr>
          <a:xfrm>
            <a:off x="4572000" y="1188720"/>
            <a:ext cx="1737360" cy="457200"/>
          </a:xfrm>
          <a:prstGeom prst="rect">
            <a:avLst/>
          </a:prstGeom>
          <a:solidFill>
            <a:srgbClr val="0288D1"/>
          </a:solidFill>
          <a:ln w="6350">
            <a:solidFill>
              <a:srgbClr val="FFFFFF"/>
            </a:solidFill>
            <a:prstDash val="solid"/>
          </a:ln>
        </p:spPr>
      </p:sp>
      <p:sp>
        <p:nvSpPr>
          <p:cNvPr id="12" name="Text 10"/>
          <p:cNvSpPr/>
          <p:nvPr/>
        </p:nvSpPr>
        <p:spPr>
          <a:xfrm>
            <a:off x="4572000" y="1188720"/>
            <a:ext cx="17373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2 (cm)</a:t>
            </a:r>
            <a:endParaRPr lang="en-US" sz="1100" dirty="0"/>
          </a:p>
        </p:txBody>
      </p:sp>
      <p:sp>
        <p:nvSpPr>
          <p:cNvPr id="13" name="Shape 11"/>
          <p:cNvSpPr/>
          <p:nvPr/>
        </p:nvSpPr>
        <p:spPr>
          <a:xfrm>
            <a:off x="6309360" y="1188720"/>
            <a:ext cx="2377440" cy="457200"/>
          </a:xfrm>
          <a:prstGeom prst="rect">
            <a:avLst/>
          </a:prstGeom>
          <a:solidFill>
            <a:srgbClr val="0288D1"/>
          </a:solidFill>
          <a:ln w="6350">
            <a:solidFill>
              <a:srgbClr val="FFFFFF"/>
            </a:solidFill>
            <a:prstDash val="solid"/>
          </a:ln>
        </p:spPr>
      </p:sp>
      <p:sp>
        <p:nvSpPr>
          <p:cNvPr id="14" name="Text 12"/>
          <p:cNvSpPr/>
          <p:nvPr/>
        </p:nvSpPr>
        <p:spPr>
          <a:xfrm>
            <a:off x="6309360" y="1188720"/>
            <a:ext cx="23774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p>
        </p:txBody>
      </p:sp>
      <p:sp>
        <p:nvSpPr>
          <p:cNvPr id="15" name="Shape 13"/>
          <p:cNvSpPr/>
          <p:nvPr/>
        </p:nvSpPr>
        <p:spPr>
          <a:xfrm>
            <a:off x="457200" y="1645920"/>
            <a:ext cx="2377440" cy="457200"/>
          </a:xfrm>
          <a:prstGeom prst="rect">
            <a:avLst/>
          </a:prstGeom>
          <a:solidFill>
            <a:srgbClr val="FFFFFF"/>
          </a:solidFill>
          <a:ln w="6350">
            <a:solidFill>
              <a:srgbClr val="E8DDD2"/>
            </a:solidFill>
            <a:prstDash val="solid"/>
          </a:ln>
        </p:spPr>
      </p:sp>
      <p:sp>
        <p:nvSpPr>
          <p:cNvPr id="16" name="Text 14"/>
          <p:cNvSpPr/>
          <p:nvPr/>
        </p:nvSpPr>
        <p:spPr>
          <a:xfrm>
            <a:off x="457200" y="1645920"/>
            <a:ext cx="237744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Low (1 book)</a:t>
            </a:r>
            <a:endParaRPr lang="en-US" sz="1050" dirty="0"/>
          </a:p>
        </p:txBody>
      </p:sp>
      <p:sp>
        <p:nvSpPr>
          <p:cNvPr id="17" name="Shape 15"/>
          <p:cNvSpPr/>
          <p:nvPr/>
        </p:nvSpPr>
        <p:spPr>
          <a:xfrm>
            <a:off x="2834640" y="1645920"/>
            <a:ext cx="1737360" cy="457200"/>
          </a:xfrm>
          <a:prstGeom prst="rect">
            <a:avLst/>
          </a:prstGeom>
          <a:solidFill>
            <a:srgbClr val="FFFFFF"/>
          </a:solidFill>
          <a:ln w="6350">
            <a:solidFill>
              <a:srgbClr val="E8DDD2"/>
            </a:solidFill>
            <a:prstDash val="solid"/>
          </a:ln>
        </p:spPr>
      </p:sp>
      <p:sp>
        <p:nvSpPr>
          <p:cNvPr id="18" name="Text 16"/>
          <p:cNvSpPr/>
          <p:nvPr/>
        </p:nvSpPr>
        <p:spPr>
          <a:xfrm>
            <a:off x="2834640" y="1645920"/>
            <a:ext cx="17373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a:t>
            </a:r>
            <a:endParaRPr lang="en-US" sz="1050" dirty="0"/>
          </a:p>
        </p:txBody>
      </p:sp>
      <p:sp>
        <p:nvSpPr>
          <p:cNvPr id="19" name="Shape 17"/>
          <p:cNvSpPr/>
          <p:nvPr/>
        </p:nvSpPr>
        <p:spPr>
          <a:xfrm>
            <a:off x="4572000" y="1645920"/>
            <a:ext cx="1737360" cy="457200"/>
          </a:xfrm>
          <a:prstGeom prst="rect">
            <a:avLst/>
          </a:prstGeom>
          <a:solidFill>
            <a:srgbClr val="FFFFFF"/>
          </a:solidFill>
          <a:ln w="6350">
            <a:solidFill>
              <a:srgbClr val="E8DDD2"/>
            </a:solidFill>
            <a:prstDash val="solid"/>
          </a:ln>
        </p:spPr>
      </p:sp>
      <p:sp>
        <p:nvSpPr>
          <p:cNvPr id="20" name="Text 18"/>
          <p:cNvSpPr/>
          <p:nvPr/>
        </p:nvSpPr>
        <p:spPr>
          <a:xfrm>
            <a:off x="4572000" y="1645920"/>
            <a:ext cx="17373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a:t>
            </a:r>
            <a:endParaRPr lang="en-US" sz="1050" dirty="0"/>
          </a:p>
        </p:txBody>
      </p:sp>
      <p:sp>
        <p:nvSpPr>
          <p:cNvPr id="21" name="Shape 19"/>
          <p:cNvSpPr/>
          <p:nvPr/>
        </p:nvSpPr>
        <p:spPr>
          <a:xfrm>
            <a:off x="6309360" y="1645920"/>
            <a:ext cx="2377440" cy="457200"/>
          </a:xfrm>
          <a:prstGeom prst="rect">
            <a:avLst/>
          </a:prstGeom>
          <a:solidFill>
            <a:srgbClr val="FFFFFF"/>
          </a:solidFill>
          <a:ln w="6350">
            <a:solidFill>
              <a:srgbClr val="E8DDD2"/>
            </a:solidFill>
            <a:prstDash val="solid"/>
          </a:ln>
        </p:spPr>
      </p:sp>
      <p:sp>
        <p:nvSpPr>
          <p:cNvPr id="22" name="Text 20"/>
          <p:cNvSpPr/>
          <p:nvPr/>
        </p:nvSpPr>
        <p:spPr>
          <a:xfrm>
            <a:off x="6309360" y="1645920"/>
            <a:ext cx="237744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__________</a:t>
            </a:r>
            <a:endParaRPr lang="en-US" sz="1050" dirty="0"/>
          </a:p>
        </p:txBody>
      </p:sp>
      <p:sp>
        <p:nvSpPr>
          <p:cNvPr id="23" name="Shape 21"/>
          <p:cNvSpPr/>
          <p:nvPr/>
        </p:nvSpPr>
        <p:spPr>
          <a:xfrm>
            <a:off x="457200" y="2103120"/>
            <a:ext cx="2377440" cy="457200"/>
          </a:xfrm>
          <a:prstGeom prst="rect">
            <a:avLst/>
          </a:prstGeom>
          <a:solidFill>
            <a:srgbClr val="EAF3FB"/>
          </a:solidFill>
          <a:ln w="6350">
            <a:solidFill>
              <a:srgbClr val="E8DDD2"/>
            </a:solidFill>
            <a:prstDash val="solid"/>
          </a:ln>
        </p:spPr>
      </p:sp>
      <p:sp>
        <p:nvSpPr>
          <p:cNvPr id="24" name="Text 22"/>
          <p:cNvSpPr/>
          <p:nvPr/>
        </p:nvSpPr>
        <p:spPr>
          <a:xfrm>
            <a:off x="457200" y="2103120"/>
            <a:ext cx="237744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Medium (2 books)</a:t>
            </a:r>
            <a:endParaRPr lang="en-US" sz="1050" dirty="0"/>
          </a:p>
        </p:txBody>
      </p:sp>
      <p:sp>
        <p:nvSpPr>
          <p:cNvPr id="25" name="Shape 23"/>
          <p:cNvSpPr/>
          <p:nvPr/>
        </p:nvSpPr>
        <p:spPr>
          <a:xfrm>
            <a:off x="2834640" y="2103120"/>
            <a:ext cx="1737360" cy="457200"/>
          </a:xfrm>
          <a:prstGeom prst="rect">
            <a:avLst/>
          </a:prstGeom>
          <a:solidFill>
            <a:srgbClr val="EAF3FB"/>
          </a:solidFill>
          <a:ln w="6350">
            <a:solidFill>
              <a:srgbClr val="E8DDD2"/>
            </a:solidFill>
            <a:prstDash val="solid"/>
          </a:ln>
        </p:spPr>
      </p:sp>
      <p:sp>
        <p:nvSpPr>
          <p:cNvPr id="26" name="Text 24"/>
          <p:cNvSpPr/>
          <p:nvPr/>
        </p:nvSpPr>
        <p:spPr>
          <a:xfrm>
            <a:off x="2834640" y="2103120"/>
            <a:ext cx="17373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a:t>
            </a:r>
            <a:endParaRPr lang="en-US" sz="1050" dirty="0"/>
          </a:p>
        </p:txBody>
      </p:sp>
      <p:sp>
        <p:nvSpPr>
          <p:cNvPr id="27" name="Shape 25"/>
          <p:cNvSpPr/>
          <p:nvPr/>
        </p:nvSpPr>
        <p:spPr>
          <a:xfrm>
            <a:off x="4572000" y="2103120"/>
            <a:ext cx="1737360" cy="457200"/>
          </a:xfrm>
          <a:prstGeom prst="rect">
            <a:avLst/>
          </a:prstGeom>
          <a:solidFill>
            <a:srgbClr val="EAF3FB"/>
          </a:solidFill>
          <a:ln w="6350">
            <a:solidFill>
              <a:srgbClr val="E8DDD2"/>
            </a:solidFill>
            <a:prstDash val="solid"/>
          </a:ln>
        </p:spPr>
      </p:sp>
      <p:sp>
        <p:nvSpPr>
          <p:cNvPr id="28" name="Text 26"/>
          <p:cNvSpPr/>
          <p:nvPr/>
        </p:nvSpPr>
        <p:spPr>
          <a:xfrm>
            <a:off x="4572000" y="2103120"/>
            <a:ext cx="17373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a:t>
            </a:r>
            <a:endParaRPr lang="en-US" sz="1050" dirty="0"/>
          </a:p>
        </p:txBody>
      </p:sp>
      <p:sp>
        <p:nvSpPr>
          <p:cNvPr id="29" name="Shape 27"/>
          <p:cNvSpPr/>
          <p:nvPr/>
        </p:nvSpPr>
        <p:spPr>
          <a:xfrm>
            <a:off x="6309360" y="2103120"/>
            <a:ext cx="2377440" cy="457200"/>
          </a:xfrm>
          <a:prstGeom prst="rect">
            <a:avLst/>
          </a:prstGeom>
          <a:solidFill>
            <a:srgbClr val="EAF3FB"/>
          </a:solidFill>
          <a:ln w="6350">
            <a:solidFill>
              <a:srgbClr val="E8DDD2"/>
            </a:solidFill>
            <a:prstDash val="solid"/>
          </a:ln>
        </p:spPr>
      </p:sp>
      <p:sp>
        <p:nvSpPr>
          <p:cNvPr id="30" name="Text 28"/>
          <p:cNvSpPr/>
          <p:nvPr/>
        </p:nvSpPr>
        <p:spPr>
          <a:xfrm>
            <a:off x="6309360" y="2103120"/>
            <a:ext cx="237744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__________</a:t>
            </a:r>
            <a:endParaRPr lang="en-US" sz="1050" dirty="0"/>
          </a:p>
        </p:txBody>
      </p:sp>
      <p:sp>
        <p:nvSpPr>
          <p:cNvPr id="31" name="Shape 29"/>
          <p:cNvSpPr/>
          <p:nvPr/>
        </p:nvSpPr>
        <p:spPr>
          <a:xfrm>
            <a:off x="457200" y="2560320"/>
            <a:ext cx="2377440" cy="457200"/>
          </a:xfrm>
          <a:prstGeom prst="rect">
            <a:avLst/>
          </a:prstGeom>
          <a:solidFill>
            <a:srgbClr val="FFFFFF"/>
          </a:solidFill>
          <a:ln w="6350">
            <a:solidFill>
              <a:srgbClr val="E8DDD2"/>
            </a:solidFill>
            <a:prstDash val="solid"/>
          </a:ln>
        </p:spPr>
      </p:sp>
      <p:sp>
        <p:nvSpPr>
          <p:cNvPr id="32" name="Text 30"/>
          <p:cNvSpPr/>
          <p:nvPr/>
        </p:nvSpPr>
        <p:spPr>
          <a:xfrm>
            <a:off x="457200" y="2560320"/>
            <a:ext cx="237744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High (3-4 books)</a:t>
            </a:r>
            <a:endParaRPr lang="en-US" sz="1050" dirty="0"/>
          </a:p>
        </p:txBody>
      </p:sp>
      <p:sp>
        <p:nvSpPr>
          <p:cNvPr id="33" name="Shape 31"/>
          <p:cNvSpPr/>
          <p:nvPr/>
        </p:nvSpPr>
        <p:spPr>
          <a:xfrm>
            <a:off x="2834640" y="2560320"/>
            <a:ext cx="1737360" cy="457200"/>
          </a:xfrm>
          <a:prstGeom prst="rect">
            <a:avLst/>
          </a:prstGeom>
          <a:solidFill>
            <a:srgbClr val="FFFFFF"/>
          </a:solidFill>
          <a:ln w="6350">
            <a:solidFill>
              <a:srgbClr val="E8DDD2"/>
            </a:solidFill>
            <a:prstDash val="solid"/>
          </a:ln>
        </p:spPr>
      </p:sp>
      <p:sp>
        <p:nvSpPr>
          <p:cNvPr id="34" name="Text 32"/>
          <p:cNvSpPr/>
          <p:nvPr/>
        </p:nvSpPr>
        <p:spPr>
          <a:xfrm>
            <a:off x="2834640" y="2560320"/>
            <a:ext cx="17373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a:t>
            </a:r>
            <a:endParaRPr lang="en-US" sz="1050" dirty="0"/>
          </a:p>
        </p:txBody>
      </p:sp>
      <p:sp>
        <p:nvSpPr>
          <p:cNvPr id="35" name="Shape 33"/>
          <p:cNvSpPr/>
          <p:nvPr/>
        </p:nvSpPr>
        <p:spPr>
          <a:xfrm>
            <a:off x="4572000" y="2560320"/>
            <a:ext cx="1737360" cy="457200"/>
          </a:xfrm>
          <a:prstGeom prst="rect">
            <a:avLst/>
          </a:prstGeom>
          <a:solidFill>
            <a:srgbClr val="FFFFFF"/>
          </a:solidFill>
          <a:ln w="6350">
            <a:solidFill>
              <a:srgbClr val="E8DDD2"/>
            </a:solidFill>
            <a:prstDash val="solid"/>
          </a:ln>
        </p:spPr>
      </p:sp>
      <p:sp>
        <p:nvSpPr>
          <p:cNvPr id="36" name="Text 34"/>
          <p:cNvSpPr/>
          <p:nvPr/>
        </p:nvSpPr>
        <p:spPr>
          <a:xfrm>
            <a:off x="4572000" y="2560320"/>
            <a:ext cx="17373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a:t>
            </a:r>
            <a:endParaRPr lang="en-US" sz="1050" dirty="0"/>
          </a:p>
        </p:txBody>
      </p:sp>
      <p:sp>
        <p:nvSpPr>
          <p:cNvPr id="37" name="Shape 35"/>
          <p:cNvSpPr/>
          <p:nvPr/>
        </p:nvSpPr>
        <p:spPr>
          <a:xfrm>
            <a:off x="6309360" y="2560320"/>
            <a:ext cx="2377440" cy="457200"/>
          </a:xfrm>
          <a:prstGeom prst="rect">
            <a:avLst/>
          </a:prstGeom>
          <a:solidFill>
            <a:srgbClr val="FFFFFF"/>
          </a:solidFill>
          <a:ln w="6350">
            <a:solidFill>
              <a:srgbClr val="E8DDD2"/>
            </a:solidFill>
            <a:prstDash val="solid"/>
          </a:ln>
        </p:spPr>
      </p:sp>
      <p:sp>
        <p:nvSpPr>
          <p:cNvPr id="38" name="Text 36"/>
          <p:cNvSpPr/>
          <p:nvPr/>
        </p:nvSpPr>
        <p:spPr>
          <a:xfrm>
            <a:off x="6309360" y="2560320"/>
            <a:ext cx="237744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__________</a:t>
            </a:r>
            <a:endParaRPr lang="en-US" sz="1050" dirty="0"/>
          </a:p>
        </p:txBody>
      </p:sp>
      <p:sp>
        <p:nvSpPr>
          <p:cNvPr id="39" name="Text 37"/>
          <p:cNvSpPr/>
          <p:nvPr/>
        </p:nvSpPr>
        <p:spPr>
          <a:xfrm>
            <a:off x="457200" y="3154680"/>
            <a:ext cx="8229600" cy="365760"/>
          </a:xfrm>
          <a:prstGeom prst="rect">
            <a:avLst/>
          </a:prstGeom>
          <a:noFill/>
          <a:ln/>
        </p:spPr>
        <p:txBody>
          <a:bodyPr wrap="square" rtlCol="0" anchor="ctr"/>
          <a:lstStyle/>
          <a:p>
            <a:pPr indent="0" marL="0">
              <a:buNone/>
            </a:pPr>
            <a:r>
              <a:rPr lang="en-US" sz="1150" i="1" dirty="0">
                <a:solidFill>
                  <a:srgbClr val="5A4D3E"/>
                </a:solidFill>
                <a:latin typeface="Calibri" pitchFamily="34" charset="0"/>
                <a:ea typeface="Calibri" pitchFamily="34" charset="-122"/>
                <a:cs typeface="Calibri" pitchFamily="34" charset="-120"/>
              </a:rPr>
              <a:t>Draw this table in your own notebook and fill it in as you test each height.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5</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Make a Bar Graph</a:t>
            </a:r>
            <a:endParaRPr lang="en-US" sz="2100" dirty="0"/>
          </a:p>
        </p:txBody>
      </p:sp>
      <p:sp>
        <p:nvSpPr>
          <p:cNvPr id="7" name="Text 5"/>
          <p:cNvSpPr/>
          <p:nvPr/>
        </p:nvSpPr>
        <p:spPr>
          <a:xfrm>
            <a:off x="320040" y="1097280"/>
            <a:ext cx="8503920" cy="77724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Draw a bar graph: ramp height on the bottom (Low, Medium, High), distance in cm on the side. Draw a bar for each height using either trial or the one you think was most accurate.</a:t>
            </a:r>
            <a:endParaRPr lang="en-US" sz="1250" dirty="0"/>
          </a:p>
        </p:txBody>
      </p:sp>
      <p:sp>
        <p:nvSpPr>
          <p:cNvPr id="8" name="Shape 6"/>
          <p:cNvSpPr/>
          <p:nvPr/>
        </p:nvSpPr>
        <p:spPr>
          <a:xfrm>
            <a:off x="320040" y="19659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0391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2951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pattern do you see in your data? As the ramp got higher, what happened to the distance — and why do you think that is?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43000"/>
            <a:ext cx="8503920" cy="1609598"/>
          </a:xfrm>
          <a:prstGeom prst="roundRect">
            <a:avLst>
              <a:gd name="adj" fmla="val 4545"/>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225550"/>
          </a:xfrm>
          <a:prstGeom prst="rect">
            <a:avLst/>
          </a:prstGeom>
          <a:noFill/>
          <a:ln/>
        </p:spPr>
        <p:txBody>
          <a:bodyPr wrap="square" rtlCol="0" anchor="t"/>
          <a:lstStyle/>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Which ramp height made the ball travel the farthest? How far did it go, in cm?</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What happened to the distance each time you raised the ramp? Describe the pattern in your data.</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Tell the story of your investigation from beginning to end — what you set up, changed, measured, and figured out.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1792415"/>
          </a:xfrm>
          <a:prstGeom prst="roundRect">
            <a:avLst>
              <a:gd name="adj" fmla="val 4081"/>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408367"/>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changed in your results when you raised the ramp? What stayed the same?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evidence in your data tells you that ramp height and distance are connected?</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Where in the real world have you seen a bigger drop making something move farther or faster? Think of at least two examples.</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would happen if you used a heavier ball, or a more slippery surface? What new question do you want to test next?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"force" mean in science?</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does "force" mean in science?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How far an object travels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push or a pull that changes motion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weight of an object</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Look at your vocab card for 'force' — it says push or pull. Distance and weight are different ideas.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"force" mean in science?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A force is any push or pull. In this investigation, gravity pulls the ball down the ramp — that's the force.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Raise the ramp from 1 book to 3 — what happens?</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You raise the ramp from 1 book to 3 books. What do you expect to happen to the ball's distance?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ball will travel a shorter distance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distance will stay the same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ball will travel a greater distance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you tested — what happened in real life when you raised the ramp? The data tells you the answer.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Raise the ramp from 1 book to 3 — what happens?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A higher ramp creates a stronger force, and a stronger force means the ball travels farther. Your data should show this.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was the one thing you changed on purpose?</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In this investigation, what was the one thing you changed on purpose?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height of the ramp</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size of the ball</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surface of the table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Remember what a 'variable' is — the one thing you change on purpose. You used the same ball and the same table every time.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was the one thing you changed on purpose?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Ramp height was the variable. Changing only one thing at a time is how scientists know which change caused the result.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Label the Setup</a:t>
            </a:r>
            <a:endParaRPr lang="en-US" sz="2100" dirty="0"/>
          </a:p>
        </p:txBody>
      </p:sp>
      <p:sp>
        <p:nvSpPr>
          <p:cNvPr id="7" name="Text 5"/>
          <p:cNvSpPr/>
          <p:nvPr/>
        </p:nvSpPr>
        <p:spPr>
          <a:xfrm>
            <a:off x="320040" y="1097280"/>
            <a:ext cx="8503920" cy="54864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Draw a simple side-view sketch of the ramp investigation. Label using the word bank: force, ramp, ramp height, ball, distance, Start.</a:t>
            </a:r>
            <a:endParaRPr lang="en-US" sz="1250" dirty="0"/>
          </a:p>
        </p:txBody>
      </p:sp>
      <p:sp>
        <p:nvSpPr>
          <p:cNvPr id="8" name="Text 6"/>
          <p:cNvSpPr/>
          <p:nvPr/>
        </p:nvSpPr>
        <p:spPr>
          <a:xfrm>
            <a:off x="457200" y="1737360"/>
            <a:ext cx="8229600" cy="1737360"/>
          </a:xfrm>
          <a:prstGeom prst="rect">
            <a:avLst/>
          </a:prstGeom>
          <a:noFill/>
          <a:ln/>
        </p:spPr>
        <p:txBody>
          <a:bodyPr wrap="square" rtlCol="0" anchor="t"/>
          <a:lstStyle/>
          <a:p>
            <a:pPr indent="0" marL="0">
              <a:lnSpc>
                <a:spcPts val="2400"/>
              </a:lnSpc>
              <a:buNone/>
            </a:pPr>
            <a:r>
              <a:rPr lang="en-US" sz="1200" dirty="0">
                <a:solidFill>
                  <a:srgbClr val="2B1D12"/>
                </a:solidFill>
                <a:latin typeface="Calibri" pitchFamily="34" charset="0"/>
                <a:ea typeface="Calibri" pitchFamily="34" charset="-122"/>
                <a:cs typeface="Calibri" pitchFamily="34" charset="-120"/>
              </a:rPr>
              <a:t>1. Draw your sketch. Label at least 4 of the 6 words from the word bank.</a:t>
            </a:r>
            <a:endParaRPr lang="en-US" sz="1200" dirty="0"/>
          </a:p>
          <a:p>
            <a:pPr indent="0" marL="0">
              <a:lnSpc>
                <a:spcPts val="2400"/>
              </a:lnSpc>
              <a:buNone/>
            </a:pPr>
            <a:r>
              <a:rPr lang="en-US" sz="1200" dirty="0">
                <a:solidFill>
                  <a:srgbClr val="2B1D12"/>
                </a:solidFill>
                <a:latin typeface="Calibri" pitchFamily="34" charset="0"/>
                <a:ea typeface="Calibri" pitchFamily="34" charset="-122"/>
                <a:cs typeface="Calibri" pitchFamily="34" charset="-120"/>
              </a:rPr>
              <a:t>2. Draw a small arrow on your sketch showing which direction the force acts on the ball.</a:t>
            </a:r>
            <a:endParaRPr lang="en-US" sz="1200" dirty="0"/>
          </a:p>
          <a:p>
            <a:pPr indent="0" marL="0">
              <a:lnSpc>
                <a:spcPts val="2400"/>
              </a:lnSpc>
              <a:buNone/>
            </a:pPr>
            <a:r>
              <a:rPr lang="en-US" sz="1200" dirty="0">
                <a:solidFill>
                  <a:srgbClr val="2B1D12"/>
                </a:solidFill>
                <a:latin typeface="Calibri" pitchFamily="34" charset="0"/>
                <a:ea typeface="Calibri" pitchFamily="34" charset="-122"/>
                <a:cs typeface="Calibri" pitchFamily="34" charset="-120"/>
              </a:rPr>
              <a:t>3. Mark where the ball was measured from and to.</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4. Which ramp height made the ball travel the farthest? Write the actual distance from your data.</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5. What happened to the distance each time the ramp got higher? Explain the pattern you saw.</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6. Why do you think a higher ramp made the ball go farther? Use the word 'force' in your answer.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Ramp Height Changes Motion</a:t>
            </a:r>
            <a:endParaRPr lang="en-US" sz="2100" dirty="0"/>
          </a:p>
        </p:txBody>
      </p:sp>
      <p:sp>
        <p:nvSpPr>
          <p:cNvPr id="7" name="Text 5"/>
          <p:cNvSpPr/>
          <p:nvPr/>
        </p:nvSpPr>
        <p:spPr>
          <a:xfrm>
            <a:off x="365760" y="1097280"/>
            <a:ext cx="8412480" cy="411480"/>
          </a:xfrm>
          <a:prstGeom prst="rect">
            <a:avLst/>
          </a:prstGeom>
          <a:noFill/>
          <a:ln/>
        </p:spPr>
        <p:txBody>
          <a:bodyPr wrap="square" rtlCol="0" anchor="ctr"/>
          <a:lstStyle/>
          <a:p>
            <a:pPr indent="0" marL="0">
              <a:buNone/>
            </a:pPr>
            <a:r>
              <a:rPr lang="en-US" sz="1300" i="1" dirty="0">
                <a:solidFill>
                  <a:srgbClr val="5A4D3E"/>
                </a:solidFill>
                <a:latin typeface="Calibri" pitchFamily="34" charset="0"/>
                <a:ea typeface="Calibri" pitchFamily="34" charset="-122"/>
                <a:cs typeface="Calibri" pitchFamily="34" charset="-120"/>
              </a:rPr>
              <a:t>Use your data to explain: How does changing the ramp height change the ball's motion?</a:t>
            </a:r>
            <a:endParaRPr lang="en-US" sz="1300" dirty="0"/>
          </a:p>
        </p:txBody>
      </p:sp>
      <p:sp>
        <p:nvSpPr>
          <p:cNvPr id="8" name="Shape 6"/>
          <p:cNvSpPr/>
          <p:nvPr/>
        </p:nvSpPr>
        <p:spPr>
          <a:xfrm>
            <a:off x="365760" y="160020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65506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a:t>
            </a:r>
            <a:endParaRPr lang="en-US" sz="1150" dirty="0"/>
          </a:p>
        </p:txBody>
      </p:sp>
      <p:sp>
        <p:nvSpPr>
          <p:cNvPr id="10" name="Text 8"/>
          <p:cNvSpPr/>
          <p:nvPr/>
        </p:nvSpPr>
        <p:spPr>
          <a:xfrm>
            <a:off x="548640" y="1892808"/>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"When I raised the ramp, I noticed that…"</a:t>
            </a:r>
            <a:endParaRPr lang="en-US" sz="1200" dirty="0"/>
          </a:p>
        </p:txBody>
      </p:sp>
      <p:sp>
        <p:nvSpPr>
          <p:cNvPr id="11" name="Shape 9"/>
          <p:cNvSpPr/>
          <p:nvPr/>
        </p:nvSpPr>
        <p:spPr>
          <a:xfrm>
            <a:off x="365760" y="235000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0487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does your data tell you?</a:t>
            </a:r>
            <a:endParaRPr lang="en-US" sz="1150" dirty="0"/>
          </a:p>
        </p:txBody>
      </p:sp>
      <p:sp>
        <p:nvSpPr>
          <p:cNvPr id="13" name="Text 11"/>
          <p:cNvSpPr/>
          <p:nvPr/>
        </p:nvSpPr>
        <p:spPr>
          <a:xfrm>
            <a:off x="548640" y="2642616"/>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"I know this because when I measured… my data showed…"</a:t>
            </a:r>
            <a:endParaRPr lang="en-US" sz="1200" dirty="0"/>
          </a:p>
        </p:txBody>
      </p:sp>
      <p:sp>
        <p:nvSpPr>
          <p:cNvPr id="14" name="Shape 12"/>
          <p:cNvSpPr/>
          <p:nvPr/>
        </p:nvSpPr>
        <p:spPr>
          <a:xfrm>
            <a:off x="365760" y="309981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15468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392424"/>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"This makes sense because a stronger force…"</a:t>
            </a:r>
            <a:endParaRPr lang="en-US" sz="1200" dirty="0"/>
          </a:p>
        </p:txBody>
      </p:sp>
      <p:sp>
        <p:nvSpPr>
          <p:cNvPr id="17" name="Text 15"/>
          <p:cNvSpPr/>
          <p:nvPr/>
        </p:nvSpPr>
        <p:spPr>
          <a:xfrm>
            <a:off x="365760" y="3895344"/>
            <a:ext cx="8412480" cy="320040"/>
          </a:xfrm>
          <a:prstGeom prst="rect">
            <a:avLst/>
          </a:prstGeom>
          <a:noFill/>
          <a:ln/>
        </p:spPr>
        <p:txBody>
          <a:bodyPr wrap="square" rtlCol="0" anchor="ctr"/>
          <a:lstStyle/>
          <a:p>
            <a:pPr indent="0" marL="0">
              <a:buNone/>
            </a:pPr>
            <a:r>
              <a:rPr lang="en-US" sz="1100" i="1" dirty="0">
                <a:solidFill>
                  <a:srgbClr val="5A4D3E"/>
                </a:solidFill>
                <a:latin typeface="Calibri" pitchFamily="34" charset="0"/>
                <a:ea typeface="Calibri" pitchFamily="34" charset="-122"/>
                <a:cs typeface="Calibri" pitchFamily="34" charset="-120"/>
              </a:rPr>
              <a:t>Try to use at least one of these words: force, distance, variable, data</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Bar Graph + Turn It In</a:t>
            </a:r>
            <a:endParaRPr lang="en-US" sz="2100" dirty="0"/>
          </a:p>
        </p:txBody>
      </p:sp>
      <p:sp>
        <p:nvSpPr>
          <p:cNvPr id="7" name="Text 5"/>
          <p:cNvSpPr/>
          <p:nvPr/>
        </p:nvSpPr>
        <p:spPr>
          <a:xfrm>
            <a:off x="320040" y="1005840"/>
            <a:ext cx="8503920" cy="86868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Draw a neat bar graph using your data: ramp height on the bottom, distance in cm on the side. Title it and label both axes. Then reflect: was your prediction from Step 2 right? What did the data show you that you didn't expect?</a:t>
            </a:r>
            <a:endParaRPr lang="en-US" sz="1150" dirty="0"/>
          </a:p>
        </p:txBody>
      </p:sp>
      <p:sp>
        <p:nvSpPr>
          <p:cNvPr id="8" name="Shape 6"/>
          <p:cNvSpPr/>
          <p:nvPr/>
        </p:nvSpPr>
        <p:spPr>
          <a:xfrm>
            <a:off x="365760" y="1965960"/>
            <a:ext cx="8412480" cy="1371600"/>
          </a:xfrm>
          <a:prstGeom prst="roundRect">
            <a:avLst>
              <a:gd name="adj" fmla="val 5333"/>
            </a:avLst>
          </a:prstGeom>
          <a:solidFill>
            <a:srgbClr val="FFFFFF"/>
          </a:solidFill>
          <a:ln w="19050">
            <a:solidFill>
              <a:srgbClr val="E8DDD2"/>
            </a:solidFill>
            <a:prstDash val="solid"/>
          </a:ln>
        </p:spPr>
      </p:sp>
      <p:sp>
        <p:nvSpPr>
          <p:cNvPr id="9" name="Text 7"/>
          <p:cNvSpPr/>
          <p:nvPr/>
        </p:nvSpPr>
        <p:spPr>
          <a:xfrm>
            <a:off x="548640" y="205740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331720"/>
            <a:ext cx="8046720" cy="96012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completed data table with measurements for all 3 ramp heights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labeled sketch from Part A with the force arrow</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using evidence from my data</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labeled bar graph from Part C with a title and axis labels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Next up: Patterns of Motion!</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5.02 · NGSS 3-PS2-1 · CPALMS SC.3.N.1.1, SC.3.N.1.3, SC.3.P.10.2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2026-07-12T02:58:46Z</dcterms:created>
  <dcterms:modified xsi:type="dcterms:W3CDTF">2026-07-12T02:58:46Z</dcterms:modified>
</cp:coreProperties>
</file>