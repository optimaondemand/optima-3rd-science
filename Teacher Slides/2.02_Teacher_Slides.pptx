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Today we take the weather data we've been noticing and turn it into a bar graph. Frame it as: yesterday we observed, today we organize and see the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question aloud. Don't answer it yet — tell students we're going to find out together by the end of the investigation. This is the thread that ties the whole lesson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&amp; Assignment Readiness map: I Can #1 (organize data in a table) -&gt; rehearsed on the investigation steps 1 slide and the sample data table slide. I Can #2 (create a bar graph) -&gt; rehearsed on the bar-graph-works slide, the interactive weekly data slide, and investigation steps 2 slide. I Can #3 (identify pattern, make prediction) -&gt; rehearsed on patterns-lead-to-predictions slide, investigation step 5 rehearsal, and both self-checks. All three map directly to Assignment Part A questions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students to physically grab these before you start — a ruler especially matters today since we're drawing precise bars.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look at both for a moment before writing. Facilitation move: ask 'Raise your hand if the graph was faster to read.' Don't tell them why yet — that's the whole point of today's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each word aloud, have students repeat it, then give the plain-language definition before revealing the card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'prediction' is not a guess — it's evidence-based. This matters for the Write &amp; Explain assignment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real time to copy this — don't rush. This sentence is the thesis of the whole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move: let a few students share real examples (weather app, sports stats, growth chart at the doctor). Connect it back — graphs help us see things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real photo of a rain gauge is available, swap it in here. This is a concrete, real-world touchpoint for where 'data' physically comes from before it becomes a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move: pull up the class's own warm-up bar graph again and ask them to answer 'tallest bar' and 'same height' questions live using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bridge to the assignment's pattern statement + prediction with evidence. Don't rush past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sample data students will graph in the investigation. Point at the temp column and ask a student to trace the pattern with their finger before they ever draw a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class say this back in their own words before moving on — don't just read it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scales up the 'one rain gauge' idea from earlier to a whole national network — helps students see data collection as a massive, ongoing real-world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drawing the axes on the board as you narrate step 2 — this is the trickiest setup step for 3rd graders.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while students draw. Ruler use and consistent bar width are the two most common trouble spots — check in on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REHEARSAL 1 of 2 for the reasoning frame students will use on the assignment. Have 2-3 students say their pattern statement and prediction OUT LOUD right now, before they ever see the Part B assignment box. This is the exact structure — not a preview, the real rehearsal.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talk-only, not written — let students discuss with a partner or the whole group. Facilitation moves: after Observe, ask 'show me with your fingers how big a gap that is.' After Evidence, ask a student to point at the graph and explain. After Connect, let a student suggest their own real-world use. After Improve, this seeds curiosity for future data lessons.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think time before revealing. Reference the warm-up slide's list-vs-graph comparison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the warm-up: the graph won every time because it's visual.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'most likely' and 'evidence-based' — a prediction is not a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reasoning move students need for their own prediction with evidence in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these using the class's own graph from the investigation — every question here has already been rehearsed on prior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REHEARSAL 2 of 2 — this is the exact same 3-part frame students already said out loud on the Investigation Step 5 slide. Point that out explicitly: 'You already did this once with your pattern statement — now you're just writing it down using these same three sentence starters.' Have 1-2 more students rehearse it verbally here before they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they can Type It, Photo It, or Record It on Canvas — whichever they're most comfortable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by asking one more time: 'So — how CAN a graph help a scientist see something a list of numbers might not?' Let a student answer using today's work as their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417320"/>
            <a:ext cx="8229600" cy="292608"/>
          </a:xfrm>
          <a:prstGeom prst="rect">
            <a:avLst/>
          </a:prstGeom>
          <a:noFill/>
          <a:ln/>
        </p:spPr>
        <p:txBody>
          <a:bodyPr wrap="square" rtlCol="0" anchor="ctr"/>
          <a:lstStyle/>
          <a:p>
            <a:pPr algn="ctr" indent="0" marL="0">
              <a:buNone/>
            </a:pPr>
            <a:r>
              <a:rPr lang="en-US" sz="1300" b="1" spc="150" kern="0" dirty="0">
                <a:solidFill>
                  <a:srgbClr val="55C8E8"/>
                </a:solidFill>
                <a:latin typeface="Calibri" pitchFamily="34" charset="0"/>
                <a:ea typeface="Calibri" pitchFamily="34" charset="-122"/>
                <a:cs typeface="Calibri" pitchFamily="34" charset="-120"/>
              </a:rPr>
              <a:t>OPTIMA ACADEMY ONLINE · 3RD GRADE SCIENCE</a:t>
            </a:r>
            <a:endParaRPr lang="en-US" sz="1300" dirty="0"/>
          </a:p>
        </p:txBody>
      </p:sp>
      <p:sp>
        <p:nvSpPr>
          <p:cNvPr id="5" name="Text 3"/>
          <p:cNvSpPr/>
          <p:nvPr/>
        </p:nvSpPr>
        <p:spPr>
          <a:xfrm>
            <a:off x="457200" y="1828800"/>
            <a:ext cx="8229600" cy="914400"/>
          </a:xfrm>
          <a:prstGeom prst="rect">
            <a:avLst/>
          </a:prstGeom>
          <a:noFill/>
          <a:ln/>
        </p:spPr>
        <p:txBody>
          <a:bodyPr wrap="square"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Investigation: Graphing Weekly Weather</a:t>
            </a:r>
            <a:endParaRPr lang="en-US" sz="3200" dirty="0"/>
          </a:p>
        </p:txBody>
      </p:sp>
      <p:sp>
        <p:nvSpPr>
          <p:cNvPr id="6" name="Text 4"/>
          <p:cNvSpPr/>
          <p:nvPr/>
        </p:nvSpPr>
        <p:spPr>
          <a:xfrm>
            <a:off x="457200" y="2788920"/>
            <a:ext cx="8229600" cy="365760"/>
          </a:xfrm>
          <a:prstGeom prst="rect">
            <a:avLst/>
          </a:prstGeom>
          <a:noFill/>
          <a:ln/>
        </p:spPr>
        <p:txBody>
          <a:bodyPr wrap="square" rtlCol="0" anchor="ctr"/>
          <a:lstStyle/>
          <a:p>
            <a:pPr algn="ctr" indent="0" marL="0">
              <a:buNone/>
            </a:pPr>
            <a:r>
              <a:rPr lang="en-US" sz="1400" dirty="0">
                <a:solidFill>
                  <a:srgbClr val="FFCA28"/>
                </a:solidFill>
                <a:latin typeface="Calibri" pitchFamily="34" charset="0"/>
                <a:ea typeface="Calibri" pitchFamily="34" charset="-122"/>
                <a:cs typeface="Calibri" pitchFamily="34" charset="-120"/>
              </a:rPr>
              <a:t>Lesson 2.02  ·  Week 2  ·  NGSS 3-ESS2-1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OUR BIG QUESTION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About This...</a:t>
            </a:r>
            <a:endParaRPr lang="en-US" sz="2100" dirty="0"/>
          </a:p>
        </p:txBody>
      </p:sp>
      <p:sp>
        <p:nvSpPr>
          <p:cNvPr id="7" name="Shape 5"/>
          <p:cNvSpPr/>
          <p:nvPr/>
        </p:nvSpPr>
        <p:spPr>
          <a:xfrm>
            <a:off x="548640" y="1280160"/>
            <a:ext cx="8046720" cy="1737360"/>
          </a:xfrm>
          <a:prstGeom prst="roundRect">
            <a:avLst>
              <a:gd name="adj" fmla="val 5263"/>
            </a:avLst>
          </a:prstGeom>
          <a:solidFill>
            <a:srgbClr val="0E1C42"/>
          </a:solidFill>
          <a:ln w="25400">
            <a:solidFill>
              <a:srgbClr val="55C8E8"/>
            </a:solidFill>
            <a:prstDash val="solid"/>
          </a:ln>
        </p:spPr>
      </p:sp>
      <p:sp>
        <p:nvSpPr>
          <p:cNvPr id="8" name="Text 6"/>
          <p:cNvSpPr/>
          <p:nvPr/>
        </p:nvSpPr>
        <p:spPr>
          <a:xfrm>
            <a:off x="822960" y="1508760"/>
            <a:ext cx="7498080" cy="1005840"/>
          </a:xfrm>
          <a:prstGeom prst="rect">
            <a:avLst/>
          </a:prstGeom>
          <a:noFill/>
          <a:ln/>
        </p:spPr>
        <p:txBody>
          <a:bodyPr wrap="square" rtlCol="0" anchor="ctr"/>
          <a:lstStyle/>
          <a:p>
            <a:pPr algn="ctr" indent="0" marL="0">
              <a:buNone/>
            </a:pPr>
            <a:r>
              <a:rPr lang="en-US" sz="1900" i="1" dirty="0">
                <a:solidFill>
                  <a:srgbClr val="FFFFFF"/>
                </a:solidFill>
                <a:latin typeface="Cambria" pitchFamily="34" charset="0"/>
                <a:ea typeface="Cambria" pitchFamily="34" charset="-122"/>
                <a:cs typeface="Cambria" pitchFamily="34" charset="-120"/>
              </a:rPr>
              <a:t>"How can a graph help a scientist see something that a list of numbers might not?"</a:t>
            </a:r>
            <a:endParaRPr lang="en-US" sz="1900" dirty="0"/>
          </a:p>
        </p:txBody>
      </p:sp>
      <p:sp>
        <p:nvSpPr>
          <p:cNvPr id="9" name="Text 7"/>
          <p:cNvSpPr/>
          <p:nvPr/>
        </p:nvSpPr>
        <p:spPr>
          <a:xfrm>
            <a:off x="822960" y="3200400"/>
            <a:ext cx="7498080" cy="731520"/>
          </a:xfrm>
          <a:prstGeom prst="rect">
            <a:avLst/>
          </a:prstGeom>
          <a:noFill/>
          <a:ln/>
        </p:spPr>
        <p:txBody>
          <a:bodyPr wrap="square" rtlCol="0" anchor="t"/>
          <a:lstStyle/>
          <a:p>
            <a:pPr algn="ctr" indent="0" marL="0">
              <a:buNone/>
            </a:pPr>
            <a:r>
              <a:rPr lang="en-US" sz="1350" dirty="0">
                <a:solidFill>
                  <a:srgbClr val="5A4D3E"/>
                </a:solidFill>
                <a:latin typeface="Calibri" pitchFamily="34" charset="0"/>
                <a:ea typeface="Calibri" pitchFamily="34" charset="-122"/>
                <a:cs typeface="Calibri" pitchFamily="34" charset="-120"/>
              </a:rPr>
              <a:t>Keep this question in mind as you work through the investigation. By the end, you should have a good answer — and some data to prove it!</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 Can Statements</a:t>
            </a:r>
            <a:endParaRPr lang="en-US" sz="2100" dirty="0"/>
          </a:p>
        </p:txBody>
      </p:sp>
      <p:sp>
        <p:nvSpPr>
          <p:cNvPr id="7" name="Shape 5"/>
          <p:cNvSpPr/>
          <p:nvPr/>
        </p:nvSpPr>
        <p:spPr>
          <a:xfrm>
            <a:off x="457200" y="1143000"/>
            <a:ext cx="8229600" cy="868680"/>
          </a:xfrm>
          <a:prstGeom prst="roundRect">
            <a:avLst>
              <a:gd name="adj" fmla="val 8421"/>
            </a:avLst>
          </a:prstGeom>
          <a:solidFill>
            <a:srgbClr val="FFFFFF"/>
          </a:solidFill>
          <a:ln w="19050">
            <a:solidFill>
              <a:srgbClr val="E8DDD2"/>
            </a:solidFill>
            <a:prstDash val="solid"/>
          </a:ln>
        </p:spPr>
      </p:sp>
      <p:sp>
        <p:nvSpPr>
          <p:cNvPr id="8" name="Shape 6"/>
          <p:cNvSpPr/>
          <p:nvPr/>
        </p:nvSpPr>
        <p:spPr>
          <a:xfrm>
            <a:off x="640080" y="1371600"/>
            <a:ext cx="411480" cy="411480"/>
          </a:xfrm>
          <a:prstGeom prst="ellipse">
            <a:avLst/>
          </a:prstGeom>
          <a:solidFill>
            <a:srgbClr val="F57C00"/>
          </a:solidFill>
          <a:ln/>
        </p:spPr>
      </p:sp>
      <p:sp>
        <p:nvSpPr>
          <p:cNvPr id="9" name="Text 7"/>
          <p:cNvSpPr/>
          <p:nvPr/>
        </p:nvSpPr>
        <p:spPr>
          <a:xfrm>
            <a:off x="640080" y="1371600"/>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0" name="Text 8"/>
          <p:cNvSpPr/>
          <p:nvPr/>
        </p:nvSpPr>
        <p:spPr>
          <a:xfrm>
            <a:off x="1234440" y="1234440"/>
            <a:ext cx="7223760" cy="685800"/>
          </a:xfrm>
          <a:prstGeom prst="rect">
            <a:avLst/>
          </a:prstGeom>
          <a:noFill/>
          <a:ln/>
        </p:spPr>
        <p:txBody>
          <a:bodyPr wrap="square" rtlCol="0" anchor="ctr"/>
          <a:lstStyle/>
          <a:p>
            <a:pPr indent="0" marL="0">
              <a:buNone/>
            </a:pPr>
            <a:r>
              <a:rPr lang="en-US" sz="1450" dirty="0">
                <a:solidFill>
                  <a:srgbClr val="2B1D12"/>
                </a:solidFill>
                <a:latin typeface="Calibri" pitchFamily="34" charset="0"/>
                <a:ea typeface="Calibri" pitchFamily="34" charset="-122"/>
                <a:cs typeface="Calibri" pitchFamily="34" charset="-120"/>
              </a:rPr>
              <a:t>I can organize weather data in a table.</a:t>
            </a:r>
            <a:endParaRPr lang="en-US" sz="1450" dirty="0"/>
          </a:p>
        </p:txBody>
      </p:sp>
      <p:sp>
        <p:nvSpPr>
          <p:cNvPr id="11" name="Shape 9"/>
          <p:cNvSpPr/>
          <p:nvPr/>
        </p:nvSpPr>
        <p:spPr>
          <a:xfrm>
            <a:off x="457200" y="2148840"/>
            <a:ext cx="8229600" cy="868680"/>
          </a:xfrm>
          <a:prstGeom prst="roundRect">
            <a:avLst>
              <a:gd name="adj" fmla="val 8421"/>
            </a:avLst>
          </a:prstGeom>
          <a:solidFill>
            <a:srgbClr val="FFFFFF"/>
          </a:solidFill>
          <a:ln w="19050">
            <a:solidFill>
              <a:srgbClr val="E8DDD2"/>
            </a:solidFill>
            <a:prstDash val="solid"/>
          </a:ln>
        </p:spPr>
      </p:sp>
      <p:sp>
        <p:nvSpPr>
          <p:cNvPr id="12" name="Shape 10"/>
          <p:cNvSpPr/>
          <p:nvPr/>
        </p:nvSpPr>
        <p:spPr>
          <a:xfrm>
            <a:off x="640080" y="2377440"/>
            <a:ext cx="411480" cy="411480"/>
          </a:xfrm>
          <a:prstGeom prst="ellipse">
            <a:avLst/>
          </a:prstGeom>
          <a:solidFill>
            <a:srgbClr val="F57C00"/>
          </a:solidFill>
          <a:ln/>
        </p:spPr>
      </p:sp>
      <p:sp>
        <p:nvSpPr>
          <p:cNvPr id="13" name="Text 11"/>
          <p:cNvSpPr/>
          <p:nvPr/>
        </p:nvSpPr>
        <p:spPr>
          <a:xfrm>
            <a:off x="640080" y="2377440"/>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p:nvPr/>
        </p:nvSpPr>
        <p:spPr>
          <a:xfrm>
            <a:off x="1234440" y="2240280"/>
            <a:ext cx="7223760" cy="685800"/>
          </a:xfrm>
          <a:prstGeom prst="rect">
            <a:avLst/>
          </a:prstGeom>
          <a:noFill/>
          <a:ln/>
        </p:spPr>
        <p:txBody>
          <a:bodyPr wrap="square" rtlCol="0" anchor="ctr"/>
          <a:lstStyle/>
          <a:p>
            <a:pPr indent="0" marL="0">
              <a:buNone/>
            </a:pPr>
            <a:r>
              <a:rPr lang="en-US" sz="1450" dirty="0">
                <a:solidFill>
                  <a:srgbClr val="2B1D12"/>
                </a:solidFill>
                <a:latin typeface="Calibri" pitchFamily="34" charset="0"/>
                <a:ea typeface="Calibri" pitchFamily="34" charset="-122"/>
                <a:cs typeface="Calibri" pitchFamily="34" charset="-120"/>
              </a:rPr>
              <a:t>I can create a bar graph to show a week of temperatures.</a:t>
            </a:r>
            <a:endParaRPr lang="en-US" sz="1450" dirty="0"/>
          </a:p>
        </p:txBody>
      </p:sp>
      <p:sp>
        <p:nvSpPr>
          <p:cNvPr id="15" name="Shape 13"/>
          <p:cNvSpPr/>
          <p:nvPr/>
        </p:nvSpPr>
        <p:spPr>
          <a:xfrm>
            <a:off x="457200" y="3154680"/>
            <a:ext cx="8229600" cy="868680"/>
          </a:xfrm>
          <a:prstGeom prst="roundRect">
            <a:avLst>
              <a:gd name="adj" fmla="val 8421"/>
            </a:avLst>
          </a:prstGeom>
          <a:solidFill>
            <a:srgbClr val="FFFFFF"/>
          </a:solidFill>
          <a:ln w="19050">
            <a:solidFill>
              <a:srgbClr val="E8DDD2"/>
            </a:solidFill>
            <a:prstDash val="solid"/>
          </a:ln>
        </p:spPr>
      </p:sp>
      <p:sp>
        <p:nvSpPr>
          <p:cNvPr id="16" name="Shape 14"/>
          <p:cNvSpPr/>
          <p:nvPr/>
        </p:nvSpPr>
        <p:spPr>
          <a:xfrm>
            <a:off x="640080" y="3383280"/>
            <a:ext cx="411480" cy="411480"/>
          </a:xfrm>
          <a:prstGeom prst="ellipse">
            <a:avLst/>
          </a:prstGeom>
          <a:solidFill>
            <a:srgbClr val="F57C00"/>
          </a:solidFill>
          <a:ln/>
        </p:spPr>
      </p:sp>
      <p:sp>
        <p:nvSpPr>
          <p:cNvPr id="17" name="Text 15"/>
          <p:cNvSpPr/>
          <p:nvPr/>
        </p:nvSpPr>
        <p:spPr>
          <a:xfrm>
            <a:off x="640080" y="3383280"/>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1234440" y="3246120"/>
            <a:ext cx="7223760" cy="685800"/>
          </a:xfrm>
          <a:prstGeom prst="rect">
            <a:avLst/>
          </a:prstGeom>
          <a:noFill/>
          <a:ln/>
        </p:spPr>
        <p:txBody>
          <a:bodyPr wrap="square" rtlCol="0" anchor="ctr"/>
          <a:lstStyle/>
          <a:p>
            <a:pPr indent="0" marL="0">
              <a:buNone/>
            </a:pPr>
            <a:r>
              <a:rPr lang="en-US" sz="1450" dirty="0">
                <a:solidFill>
                  <a:srgbClr val="2B1D12"/>
                </a:solidFill>
                <a:latin typeface="Calibri" pitchFamily="34" charset="0"/>
                <a:ea typeface="Calibri" pitchFamily="34" charset="-122"/>
                <a:cs typeface="Calibri" pitchFamily="34" charset="-120"/>
              </a:rPr>
              <a:t>I can identify a weather pattern and use it to make a prediction.</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5C8E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YOU'LL NEED</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Gather Your Materials</a:t>
            </a:r>
            <a:endParaRPr lang="en-US" sz="2100" dirty="0"/>
          </a:p>
        </p:txBody>
      </p:sp>
      <p:sp>
        <p:nvSpPr>
          <p:cNvPr id="7" name="Shape 5"/>
          <p:cNvSpPr/>
          <p:nvPr/>
        </p:nvSpPr>
        <p:spPr>
          <a:xfrm>
            <a:off x="548640" y="1280160"/>
            <a:ext cx="8046720" cy="594360"/>
          </a:xfrm>
          <a:prstGeom prst="roundRect">
            <a:avLst>
              <a:gd name="adj" fmla="val 12308"/>
            </a:avLst>
          </a:prstGeom>
          <a:solidFill>
            <a:srgbClr val="FFFFFF"/>
          </a:solidFill>
          <a:ln w="12700">
            <a:solidFill>
              <a:srgbClr val="E8DDD2"/>
            </a:solidFill>
            <a:prstDash val="solid"/>
          </a:ln>
        </p:spPr>
      </p:sp>
      <p:sp>
        <p:nvSpPr>
          <p:cNvPr id="8" name="Shape 6"/>
          <p:cNvSpPr/>
          <p:nvPr/>
        </p:nvSpPr>
        <p:spPr>
          <a:xfrm>
            <a:off x="777240" y="1481328"/>
            <a:ext cx="182880" cy="182880"/>
          </a:xfrm>
          <a:prstGeom prst="ellipse">
            <a:avLst/>
          </a:prstGeom>
          <a:solidFill>
            <a:srgbClr val="0288D1"/>
          </a:solidFill>
          <a:ln/>
        </p:spPr>
      </p:sp>
      <p:sp>
        <p:nvSpPr>
          <p:cNvPr id="9" name="Text 7"/>
          <p:cNvSpPr/>
          <p:nvPr/>
        </p:nvSpPr>
        <p:spPr>
          <a:xfrm>
            <a:off x="1143000" y="1325880"/>
            <a:ext cx="7315200" cy="502920"/>
          </a:xfrm>
          <a:prstGeom prst="rect">
            <a:avLst/>
          </a:prstGeom>
          <a:noFill/>
          <a:ln/>
        </p:spPr>
        <p:txBody>
          <a:bodyPr wrap="square" rtlCol="0" anchor="ctr"/>
          <a:lstStyle/>
          <a:p>
            <a:pPr indent="0" marL="0">
              <a:buNone/>
            </a:pPr>
            <a:r>
              <a:rPr lang="en-US" sz="1400" dirty="0">
                <a:solidFill>
                  <a:srgbClr val="2B1D12"/>
                </a:solidFill>
                <a:latin typeface="Calibri" pitchFamily="34" charset="0"/>
                <a:ea typeface="Calibri" pitchFamily="34" charset="-122"/>
                <a:cs typeface="Calibri" pitchFamily="34" charset="-120"/>
              </a:rPr>
              <a:t>Science notebook</a:t>
            </a:r>
            <a:endParaRPr lang="en-US" sz="1400" dirty="0"/>
          </a:p>
        </p:txBody>
      </p:sp>
      <p:sp>
        <p:nvSpPr>
          <p:cNvPr id="10" name="Shape 8"/>
          <p:cNvSpPr/>
          <p:nvPr/>
        </p:nvSpPr>
        <p:spPr>
          <a:xfrm>
            <a:off x="548640" y="2011680"/>
            <a:ext cx="8046720" cy="594360"/>
          </a:xfrm>
          <a:prstGeom prst="roundRect">
            <a:avLst>
              <a:gd name="adj" fmla="val 12308"/>
            </a:avLst>
          </a:prstGeom>
          <a:solidFill>
            <a:srgbClr val="FFFFFF"/>
          </a:solidFill>
          <a:ln w="12700">
            <a:solidFill>
              <a:srgbClr val="E8DDD2"/>
            </a:solidFill>
            <a:prstDash val="solid"/>
          </a:ln>
        </p:spPr>
      </p:sp>
      <p:sp>
        <p:nvSpPr>
          <p:cNvPr id="11" name="Shape 9"/>
          <p:cNvSpPr/>
          <p:nvPr/>
        </p:nvSpPr>
        <p:spPr>
          <a:xfrm>
            <a:off x="777240" y="2212848"/>
            <a:ext cx="182880" cy="182880"/>
          </a:xfrm>
          <a:prstGeom prst="ellipse">
            <a:avLst/>
          </a:prstGeom>
          <a:solidFill>
            <a:srgbClr val="0288D1"/>
          </a:solidFill>
          <a:ln/>
        </p:spPr>
      </p:sp>
      <p:sp>
        <p:nvSpPr>
          <p:cNvPr id="12" name="Text 10"/>
          <p:cNvSpPr/>
          <p:nvPr/>
        </p:nvSpPr>
        <p:spPr>
          <a:xfrm>
            <a:off x="1143000" y="2057400"/>
            <a:ext cx="7315200" cy="502920"/>
          </a:xfrm>
          <a:prstGeom prst="rect">
            <a:avLst/>
          </a:prstGeom>
          <a:noFill/>
          <a:ln/>
        </p:spPr>
        <p:txBody>
          <a:bodyPr wrap="square" rtlCol="0" anchor="ctr"/>
          <a:lstStyle/>
          <a:p>
            <a:pPr indent="0" marL="0">
              <a:buNone/>
            </a:pPr>
            <a:r>
              <a:rPr lang="en-US" sz="1400" dirty="0">
                <a:solidFill>
                  <a:srgbClr val="2B1D12"/>
                </a:solidFill>
                <a:latin typeface="Calibri" pitchFamily="34" charset="0"/>
                <a:ea typeface="Calibri" pitchFamily="34" charset="-122"/>
                <a:cs typeface="Calibri" pitchFamily="34" charset="-120"/>
              </a:rPr>
              <a:t>Pencil &amp; colored pencils</a:t>
            </a:r>
            <a:endParaRPr lang="en-US" sz="1400" dirty="0"/>
          </a:p>
        </p:txBody>
      </p:sp>
      <p:sp>
        <p:nvSpPr>
          <p:cNvPr id="13" name="Shape 11"/>
          <p:cNvSpPr/>
          <p:nvPr/>
        </p:nvSpPr>
        <p:spPr>
          <a:xfrm>
            <a:off x="548640" y="2743200"/>
            <a:ext cx="8046720" cy="594360"/>
          </a:xfrm>
          <a:prstGeom prst="roundRect">
            <a:avLst>
              <a:gd name="adj" fmla="val 12308"/>
            </a:avLst>
          </a:prstGeom>
          <a:solidFill>
            <a:srgbClr val="FFFFFF"/>
          </a:solidFill>
          <a:ln w="12700">
            <a:solidFill>
              <a:srgbClr val="E8DDD2"/>
            </a:solidFill>
            <a:prstDash val="solid"/>
          </a:ln>
        </p:spPr>
      </p:sp>
      <p:sp>
        <p:nvSpPr>
          <p:cNvPr id="14" name="Shape 12"/>
          <p:cNvSpPr/>
          <p:nvPr/>
        </p:nvSpPr>
        <p:spPr>
          <a:xfrm>
            <a:off x="777240" y="2944368"/>
            <a:ext cx="182880" cy="182880"/>
          </a:xfrm>
          <a:prstGeom prst="ellipse">
            <a:avLst/>
          </a:prstGeom>
          <a:solidFill>
            <a:srgbClr val="0288D1"/>
          </a:solidFill>
          <a:ln/>
        </p:spPr>
      </p:sp>
      <p:sp>
        <p:nvSpPr>
          <p:cNvPr id="15" name="Text 13"/>
          <p:cNvSpPr/>
          <p:nvPr/>
        </p:nvSpPr>
        <p:spPr>
          <a:xfrm>
            <a:off x="1143000" y="2788920"/>
            <a:ext cx="7315200" cy="502920"/>
          </a:xfrm>
          <a:prstGeom prst="rect">
            <a:avLst/>
          </a:prstGeom>
          <a:noFill/>
          <a:ln/>
        </p:spPr>
        <p:txBody>
          <a:bodyPr wrap="square" rtlCol="0" anchor="ctr"/>
          <a:lstStyle/>
          <a:p>
            <a:pPr indent="0" marL="0">
              <a:buNone/>
            </a:pPr>
            <a:r>
              <a:rPr lang="en-US" sz="1400" dirty="0">
                <a:solidFill>
                  <a:srgbClr val="2B1D12"/>
                </a:solidFill>
                <a:latin typeface="Calibri" pitchFamily="34" charset="0"/>
                <a:ea typeface="Calibri" pitchFamily="34" charset="-122"/>
                <a:cs typeface="Calibri" pitchFamily="34" charset="-120"/>
              </a:rPr>
              <a:t>Ruler</a:t>
            </a:r>
            <a:endParaRPr lang="en-US" sz="1400" dirty="0"/>
          </a:p>
        </p:txBody>
      </p:sp>
      <p:sp>
        <p:nvSpPr>
          <p:cNvPr id="16" name="Shape 14"/>
          <p:cNvSpPr/>
          <p:nvPr/>
        </p:nvSpPr>
        <p:spPr>
          <a:xfrm>
            <a:off x="548640" y="3474720"/>
            <a:ext cx="8046720" cy="594360"/>
          </a:xfrm>
          <a:prstGeom prst="roundRect">
            <a:avLst>
              <a:gd name="adj" fmla="val 12308"/>
            </a:avLst>
          </a:prstGeom>
          <a:solidFill>
            <a:srgbClr val="FFFFFF"/>
          </a:solidFill>
          <a:ln w="12700">
            <a:solidFill>
              <a:srgbClr val="E8DDD2"/>
            </a:solidFill>
            <a:prstDash val="solid"/>
          </a:ln>
        </p:spPr>
      </p:sp>
      <p:sp>
        <p:nvSpPr>
          <p:cNvPr id="17" name="Shape 15"/>
          <p:cNvSpPr/>
          <p:nvPr/>
        </p:nvSpPr>
        <p:spPr>
          <a:xfrm>
            <a:off x="777240" y="3675888"/>
            <a:ext cx="182880" cy="182880"/>
          </a:xfrm>
          <a:prstGeom prst="ellipse">
            <a:avLst/>
          </a:prstGeom>
          <a:solidFill>
            <a:srgbClr val="0288D1"/>
          </a:solidFill>
          <a:ln/>
        </p:spPr>
      </p:sp>
      <p:sp>
        <p:nvSpPr>
          <p:cNvPr id="18" name="Text 16"/>
          <p:cNvSpPr/>
          <p:nvPr/>
        </p:nvSpPr>
        <p:spPr>
          <a:xfrm>
            <a:off x="1143000" y="3520440"/>
            <a:ext cx="7315200" cy="502920"/>
          </a:xfrm>
          <a:prstGeom prst="rect">
            <a:avLst/>
          </a:prstGeom>
          <a:noFill/>
          <a:ln/>
        </p:spPr>
        <p:txBody>
          <a:bodyPr wrap="square" rtlCol="0" anchor="ctr"/>
          <a:lstStyle/>
          <a:p>
            <a:pPr indent="0" marL="0">
              <a:buNone/>
            </a:pPr>
            <a:r>
              <a:rPr lang="en-US" sz="1400" dirty="0">
                <a:solidFill>
                  <a:srgbClr val="2B1D12"/>
                </a:solidFill>
                <a:latin typeface="Calibri" pitchFamily="34" charset="0"/>
                <a:ea typeface="Calibri" pitchFamily="34" charset="-122"/>
                <a:cs typeface="Calibri" pitchFamily="34" charset="-120"/>
              </a:rPr>
              <a:t>Weather data from Lesson 2.01 (or the sample data we'll provide)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WARM-UP</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Do You Already Know?</a:t>
            </a:r>
            <a:endParaRPr lang="en-US" sz="2100" dirty="0"/>
          </a:p>
        </p:txBody>
      </p:sp>
      <p:sp>
        <p:nvSpPr>
          <p:cNvPr id="7" name="Text 5"/>
          <p:cNvSpPr/>
          <p:nvPr/>
        </p:nvSpPr>
        <p:spPr>
          <a:xfrm>
            <a:off x="365760" y="1143000"/>
            <a:ext cx="8412480" cy="502920"/>
          </a:xfrm>
          <a:prstGeom prst="rect">
            <a:avLst/>
          </a:prstGeom>
          <a:noFill/>
          <a:ln/>
        </p:spPr>
        <p:txBody>
          <a:bodyPr wrap="square" rtlCol="0" anchor="t"/>
          <a:lstStyle/>
          <a:p>
            <a:pPr indent="0" marL="0">
              <a:buNone/>
            </a:pPr>
            <a:r>
              <a:rPr lang="en-US" sz="1350" dirty="0">
                <a:solidFill>
                  <a:srgbClr val="2B1D12"/>
                </a:solidFill>
                <a:latin typeface="Calibri" pitchFamily="34" charset="0"/>
                <a:ea typeface="Calibri" pitchFamily="34" charset="-122"/>
                <a:cs typeface="Calibri" pitchFamily="34" charset="-120"/>
              </a:rPr>
              <a:t>Take a look at these two things — a list of temperatures and a bar graph of the same temperatures.</a:t>
            </a:r>
            <a:endParaRPr lang="en-US" sz="1350" dirty="0"/>
          </a:p>
        </p:txBody>
      </p:sp>
      <p:sp>
        <p:nvSpPr>
          <p:cNvPr id="8" name="Shape 6"/>
          <p:cNvSpPr/>
          <p:nvPr/>
        </p:nvSpPr>
        <p:spPr>
          <a:xfrm>
            <a:off x="365760" y="1691640"/>
            <a:ext cx="4023360" cy="1417320"/>
          </a:xfrm>
          <a:prstGeom prst="roundRect">
            <a:avLst>
              <a:gd name="adj" fmla="val 5161"/>
            </a:avLst>
          </a:prstGeom>
          <a:solidFill>
            <a:srgbClr val="FFFFFF"/>
          </a:solidFill>
          <a:ln w="19050">
            <a:solidFill>
              <a:srgbClr val="E8DDD2"/>
            </a:solidFill>
            <a:prstDash val="solid"/>
          </a:ln>
        </p:spPr>
      </p:sp>
      <p:sp>
        <p:nvSpPr>
          <p:cNvPr id="9" name="Text 7"/>
          <p:cNvSpPr/>
          <p:nvPr/>
        </p:nvSpPr>
        <p:spPr>
          <a:xfrm>
            <a:off x="502920" y="1764792"/>
            <a:ext cx="3749040" cy="228600"/>
          </a:xfrm>
          <a:prstGeom prst="rect">
            <a:avLst/>
          </a:prstGeom>
          <a:noFill/>
          <a:ln/>
        </p:spPr>
        <p:txBody>
          <a:bodyPr wrap="square" rtlCol="0" anchor="ctr"/>
          <a:lstStyle/>
          <a:p>
            <a:pPr indent="0" marL="0">
              <a:buNone/>
            </a:pPr>
            <a:r>
              <a:rPr lang="en-US" sz="1100" b="1" dirty="0">
                <a:solidFill>
                  <a:srgbClr val="5A4D3E"/>
                </a:solidFill>
                <a:latin typeface="Calibri" pitchFamily="34" charset="0"/>
                <a:ea typeface="Calibri" pitchFamily="34" charset="-122"/>
                <a:cs typeface="Calibri" pitchFamily="34" charset="-120"/>
              </a:rPr>
              <a:t>List of Temperatures</a:t>
            </a:r>
            <a:endParaRPr lang="en-US" sz="1100" dirty="0"/>
          </a:p>
        </p:txBody>
      </p:sp>
      <p:sp>
        <p:nvSpPr>
          <p:cNvPr id="10" name="Text 8"/>
          <p:cNvSpPr/>
          <p:nvPr/>
        </p:nvSpPr>
        <p:spPr>
          <a:xfrm>
            <a:off x="502920" y="2011680"/>
            <a:ext cx="3749040" cy="1005840"/>
          </a:xfrm>
          <a:prstGeom prst="rect">
            <a:avLst/>
          </a:prstGeom>
          <a:noFill/>
          <a:ln/>
        </p:spPr>
        <p:txBody>
          <a:bodyPr wrap="square" rtlCol="0" anchor="ctr"/>
          <a:lstStyle/>
          <a:p>
            <a:pPr indent="0" marL="0">
              <a:lnSpc>
                <a:spcPts val="1500"/>
              </a:lnSpc>
              <a:buNone/>
            </a:pPr>
            <a:r>
              <a:rPr lang="en-US" sz="1150" dirty="0">
                <a:solidFill>
                  <a:srgbClr val="2B1D12"/>
                </a:solidFill>
                <a:latin typeface="Calibri" pitchFamily="34" charset="0"/>
                <a:ea typeface="Calibri" pitchFamily="34" charset="-122"/>
                <a:cs typeface="Calibri" pitchFamily="34" charset="-120"/>
              </a:rPr>
              <a:t>Monday: 60°F</a:t>
            </a:r>
            <a:endParaRPr lang="en-US" sz="1150" dirty="0"/>
          </a:p>
          <a:p>
            <a:pPr indent="0" marL="0">
              <a:lnSpc>
                <a:spcPts val="1500"/>
              </a:lnSpc>
              <a:buNone/>
            </a:pPr>
            <a:r>
              <a:rPr lang="en-US" sz="1150" dirty="0">
                <a:solidFill>
                  <a:srgbClr val="2B1D12"/>
                </a:solidFill>
                <a:latin typeface="Calibri" pitchFamily="34" charset="0"/>
                <a:ea typeface="Calibri" pitchFamily="34" charset="-122"/>
                <a:cs typeface="Calibri" pitchFamily="34" charset="-120"/>
              </a:rPr>
              <a:t>Tuesday: 72°F</a:t>
            </a:r>
            <a:endParaRPr lang="en-US" sz="1150" dirty="0"/>
          </a:p>
          <a:p>
            <a:pPr indent="0" marL="0">
              <a:lnSpc>
                <a:spcPts val="1500"/>
              </a:lnSpc>
              <a:buNone/>
            </a:pPr>
            <a:r>
              <a:rPr lang="en-US" sz="1150" dirty="0">
                <a:solidFill>
                  <a:srgbClr val="2B1D12"/>
                </a:solidFill>
                <a:latin typeface="Calibri" pitchFamily="34" charset="0"/>
                <a:ea typeface="Calibri" pitchFamily="34" charset="-122"/>
                <a:cs typeface="Calibri" pitchFamily="34" charset="-120"/>
              </a:rPr>
              <a:t>Wednesday: 80°F</a:t>
            </a:r>
            <a:endParaRPr lang="en-US" sz="1150" dirty="0"/>
          </a:p>
          <a:p>
            <a:pPr indent="0" marL="0">
              <a:lnSpc>
                <a:spcPts val="1500"/>
              </a:lnSpc>
              <a:buNone/>
            </a:pPr>
            <a:r>
              <a:rPr lang="en-US" sz="1150" dirty="0">
                <a:solidFill>
                  <a:srgbClr val="2B1D12"/>
                </a:solidFill>
                <a:latin typeface="Calibri" pitchFamily="34" charset="0"/>
                <a:ea typeface="Calibri" pitchFamily="34" charset="-122"/>
                <a:cs typeface="Calibri" pitchFamily="34" charset="-120"/>
              </a:rPr>
              <a:t>Thursday: 68°F</a:t>
            </a:r>
            <a:endParaRPr lang="en-US" sz="1150" dirty="0"/>
          </a:p>
          <a:p>
            <a:pPr indent="0" marL="0">
              <a:lnSpc>
                <a:spcPts val="1500"/>
              </a:lnSpc>
              <a:buNone/>
            </a:pPr>
            <a:r>
              <a:rPr lang="en-US" sz="1150" dirty="0">
                <a:solidFill>
                  <a:srgbClr val="2B1D12"/>
                </a:solidFill>
                <a:latin typeface="Calibri" pitchFamily="34" charset="0"/>
                <a:ea typeface="Calibri" pitchFamily="34" charset="-122"/>
                <a:cs typeface="Calibri" pitchFamily="34" charset="-120"/>
              </a:rPr>
              <a:t>Friday: 55°F</a:t>
            </a:r>
            <a:endParaRPr lang="en-US" sz="1150" dirty="0"/>
          </a:p>
        </p:txBody>
      </p:sp>
      <p:sp>
        <p:nvSpPr>
          <p:cNvPr id="11" name="Shape 9"/>
          <p:cNvSpPr/>
          <p:nvPr/>
        </p:nvSpPr>
        <p:spPr>
          <a:xfrm>
            <a:off x="4754880" y="1691640"/>
            <a:ext cx="4023360" cy="1417320"/>
          </a:xfrm>
          <a:prstGeom prst="roundRect">
            <a:avLst>
              <a:gd name="adj" fmla="val 5161"/>
            </a:avLst>
          </a:prstGeom>
          <a:solidFill>
            <a:srgbClr val="FFFFFF"/>
          </a:solidFill>
          <a:ln w="19050">
            <a:solidFill>
              <a:srgbClr val="E8DDD2"/>
            </a:solidFill>
            <a:prstDash val="solid"/>
          </a:ln>
        </p:spPr>
      </p:sp>
      <p:sp>
        <p:nvSpPr>
          <p:cNvPr id="12" name="Text 10"/>
          <p:cNvSpPr/>
          <p:nvPr/>
        </p:nvSpPr>
        <p:spPr>
          <a:xfrm>
            <a:off x="4892040" y="1764792"/>
            <a:ext cx="3749040" cy="228600"/>
          </a:xfrm>
          <a:prstGeom prst="rect">
            <a:avLst/>
          </a:prstGeom>
          <a:noFill/>
          <a:ln/>
        </p:spPr>
        <p:txBody>
          <a:bodyPr wrap="square" rtlCol="0" anchor="ctr"/>
          <a:lstStyle/>
          <a:p>
            <a:pPr indent="0" marL="0">
              <a:buNone/>
            </a:pPr>
            <a:r>
              <a:rPr lang="en-US" sz="1100" b="1" dirty="0">
                <a:solidFill>
                  <a:srgbClr val="5A4D3E"/>
                </a:solidFill>
                <a:latin typeface="Calibri" pitchFamily="34" charset="0"/>
                <a:ea typeface="Calibri" pitchFamily="34" charset="-122"/>
                <a:cs typeface="Calibri" pitchFamily="34" charset="-120"/>
              </a:rPr>
              <a:t>Bar Graph</a:t>
            </a:r>
            <a:endParaRPr lang="en-US" sz="1100" dirty="0"/>
          </a:p>
        </p:txBody>
      </p:sp>
      <p:sp>
        <p:nvSpPr>
          <p:cNvPr id="13" name="Shape 11"/>
          <p:cNvSpPr/>
          <p:nvPr/>
        </p:nvSpPr>
        <p:spPr>
          <a:xfrm>
            <a:off x="4892040" y="2362200"/>
            <a:ext cx="502920" cy="609600"/>
          </a:xfrm>
          <a:prstGeom prst="rect">
            <a:avLst/>
          </a:prstGeom>
          <a:solidFill>
            <a:srgbClr val="55C8E8"/>
          </a:solidFill>
          <a:ln/>
        </p:spPr>
      </p:sp>
      <p:sp>
        <p:nvSpPr>
          <p:cNvPr id="14" name="Text 12"/>
          <p:cNvSpPr/>
          <p:nvPr/>
        </p:nvSpPr>
        <p:spPr>
          <a:xfrm>
            <a:off x="4846320" y="2990088"/>
            <a:ext cx="594360" cy="164592"/>
          </a:xfrm>
          <a:prstGeom prst="rect">
            <a:avLst/>
          </a:prstGeom>
          <a:noFill/>
          <a:ln/>
        </p:spPr>
        <p:txBody>
          <a:bodyPr wrap="square" rtlCol="0" anchor="ctr"/>
          <a:lstStyle/>
          <a:p>
            <a:pPr algn="ctr" indent="0" marL="0">
              <a:buNone/>
            </a:pPr>
            <a:r>
              <a:rPr lang="en-US" sz="800" dirty="0">
                <a:solidFill>
                  <a:srgbClr val="5A4D3E"/>
                </a:solidFill>
                <a:latin typeface="Calibri" pitchFamily="34" charset="0"/>
                <a:ea typeface="Calibri" pitchFamily="34" charset="-122"/>
                <a:cs typeface="Calibri" pitchFamily="34" charset="-120"/>
              </a:rPr>
              <a:t>Mon</a:t>
            </a:r>
            <a:endParaRPr lang="en-US" sz="800" dirty="0"/>
          </a:p>
        </p:txBody>
      </p:sp>
      <p:sp>
        <p:nvSpPr>
          <p:cNvPr id="15" name="Shape 13"/>
          <p:cNvSpPr/>
          <p:nvPr/>
        </p:nvSpPr>
        <p:spPr>
          <a:xfrm>
            <a:off x="5577840" y="2240280"/>
            <a:ext cx="502920" cy="731520"/>
          </a:xfrm>
          <a:prstGeom prst="rect">
            <a:avLst/>
          </a:prstGeom>
          <a:solidFill>
            <a:srgbClr val="55C8E8"/>
          </a:solidFill>
          <a:ln/>
        </p:spPr>
      </p:sp>
      <p:sp>
        <p:nvSpPr>
          <p:cNvPr id="16" name="Text 14"/>
          <p:cNvSpPr/>
          <p:nvPr/>
        </p:nvSpPr>
        <p:spPr>
          <a:xfrm>
            <a:off x="5532120" y="2990088"/>
            <a:ext cx="594360" cy="164592"/>
          </a:xfrm>
          <a:prstGeom prst="rect">
            <a:avLst/>
          </a:prstGeom>
          <a:noFill/>
          <a:ln/>
        </p:spPr>
        <p:txBody>
          <a:bodyPr wrap="square" rtlCol="0" anchor="ctr"/>
          <a:lstStyle/>
          <a:p>
            <a:pPr algn="ctr" indent="0" marL="0">
              <a:buNone/>
            </a:pPr>
            <a:r>
              <a:rPr lang="en-US" sz="800" dirty="0">
                <a:solidFill>
                  <a:srgbClr val="5A4D3E"/>
                </a:solidFill>
                <a:latin typeface="Calibri" pitchFamily="34" charset="0"/>
                <a:ea typeface="Calibri" pitchFamily="34" charset="-122"/>
                <a:cs typeface="Calibri" pitchFamily="34" charset="-120"/>
              </a:rPr>
              <a:t>Tue</a:t>
            </a:r>
            <a:endParaRPr lang="en-US" sz="800" dirty="0"/>
          </a:p>
        </p:txBody>
      </p:sp>
      <p:sp>
        <p:nvSpPr>
          <p:cNvPr id="17" name="Shape 15"/>
          <p:cNvSpPr/>
          <p:nvPr/>
        </p:nvSpPr>
        <p:spPr>
          <a:xfrm>
            <a:off x="6263640" y="2159000"/>
            <a:ext cx="502920" cy="812800"/>
          </a:xfrm>
          <a:prstGeom prst="rect">
            <a:avLst/>
          </a:prstGeom>
          <a:solidFill>
            <a:srgbClr val="55C8E8"/>
          </a:solidFill>
          <a:ln/>
        </p:spPr>
      </p:sp>
      <p:sp>
        <p:nvSpPr>
          <p:cNvPr id="18" name="Text 16"/>
          <p:cNvSpPr/>
          <p:nvPr/>
        </p:nvSpPr>
        <p:spPr>
          <a:xfrm>
            <a:off x="6217920" y="2990088"/>
            <a:ext cx="594360" cy="164592"/>
          </a:xfrm>
          <a:prstGeom prst="rect">
            <a:avLst/>
          </a:prstGeom>
          <a:noFill/>
          <a:ln/>
        </p:spPr>
        <p:txBody>
          <a:bodyPr wrap="square" rtlCol="0" anchor="ctr"/>
          <a:lstStyle/>
          <a:p>
            <a:pPr algn="ctr" indent="0" marL="0">
              <a:buNone/>
            </a:pPr>
            <a:r>
              <a:rPr lang="en-US" sz="800" dirty="0">
                <a:solidFill>
                  <a:srgbClr val="5A4D3E"/>
                </a:solidFill>
                <a:latin typeface="Calibri" pitchFamily="34" charset="0"/>
                <a:ea typeface="Calibri" pitchFamily="34" charset="-122"/>
                <a:cs typeface="Calibri" pitchFamily="34" charset="-120"/>
              </a:rPr>
              <a:t>Wed</a:t>
            </a:r>
            <a:endParaRPr lang="en-US" sz="800" dirty="0"/>
          </a:p>
        </p:txBody>
      </p:sp>
      <p:sp>
        <p:nvSpPr>
          <p:cNvPr id="19" name="Shape 17"/>
          <p:cNvSpPr/>
          <p:nvPr/>
        </p:nvSpPr>
        <p:spPr>
          <a:xfrm>
            <a:off x="6949440" y="2280920"/>
            <a:ext cx="502920" cy="690880"/>
          </a:xfrm>
          <a:prstGeom prst="rect">
            <a:avLst/>
          </a:prstGeom>
          <a:solidFill>
            <a:srgbClr val="55C8E8"/>
          </a:solidFill>
          <a:ln/>
        </p:spPr>
      </p:sp>
      <p:sp>
        <p:nvSpPr>
          <p:cNvPr id="20" name="Text 18"/>
          <p:cNvSpPr/>
          <p:nvPr/>
        </p:nvSpPr>
        <p:spPr>
          <a:xfrm>
            <a:off x="6903720" y="2990088"/>
            <a:ext cx="594360" cy="164592"/>
          </a:xfrm>
          <a:prstGeom prst="rect">
            <a:avLst/>
          </a:prstGeom>
          <a:noFill/>
          <a:ln/>
        </p:spPr>
        <p:txBody>
          <a:bodyPr wrap="square" rtlCol="0" anchor="ctr"/>
          <a:lstStyle/>
          <a:p>
            <a:pPr algn="ctr" indent="0" marL="0">
              <a:buNone/>
            </a:pPr>
            <a:r>
              <a:rPr lang="en-US" sz="800" dirty="0">
                <a:solidFill>
                  <a:srgbClr val="5A4D3E"/>
                </a:solidFill>
                <a:latin typeface="Calibri" pitchFamily="34" charset="0"/>
                <a:ea typeface="Calibri" pitchFamily="34" charset="-122"/>
                <a:cs typeface="Calibri" pitchFamily="34" charset="-120"/>
              </a:rPr>
              <a:t>Thu</a:t>
            </a:r>
            <a:endParaRPr lang="en-US" sz="800" dirty="0"/>
          </a:p>
        </p:txBody>
      </p:sp>
      <p:sp>
        <p:nvSpPr>
          <p:cNvPr id="21" name="Shape 19"/>
          <p:cNvSpPr/>
          <p:nvPr/>
        </p:nvSpPr>
        <p:spPr>
          <a:xfrm>
            <a:off x="7635240" y="2413000"/>
            <a:ext cx="502920" cy="558800"/>
          </a:xfrm>
          <a:prstGeom prst="rect">
            <a:avLst/>
          </a:prstGeom>
          <a:solidFill>
            <a:srgbClr val="55C8E8"/>
          </a:solidFill>
          <a:ln/>
        </p:spPr>
      </p:sp>
      <p:sp>
        <p:nvSpPr>
          <p:cNvPr id="22" name="Text 20"/>
          <p:cNvSpPr/>
          <p:nvPr/>
        </p:nvSpPr>
        <p:spPr>
          <a:xfrm>
            <a:off x="7589520" y="2990088"/>
            <a:ext cx="594360" cy="164592"/>
          </a:xfrm>
          <a:prstGeom prst="rect">
            <a:avLst/>
          </a:prstGeom>
          <a:noFill/>
          <a:ln/>
        </p:spPr>
        <p:txBody>
          <a:bodyPr wrap="square" rtlCol="0" anchor="ctr"/>
          <a:lstStyle/>
          <a:p>
            <a:pPr algn="ctr" indent="0" marL="0">
              <a:buNone/>
            </a:pPr>
            <a:r>
              <a:rPr lang="en-US" sz="800" dirty="0">
                <a:solidFill>
                  <a:srgbClr val="5A4D3E"/>
                </a:solidFill>
                <a:latin typeface="Calibri" pitchFamily="34" charset="0"/>
                <a:ea typeface="Calibri" pitchFamily="34" charset="-122"/>
                <a:cs typeface="Calibri" pitchFamily="34" charset="-120"/>
              </a:rPr>
              <a:t>Fri</a:t>
            </a:r>
            <a:endParaRPr lang="en-US" sz="800" dirty="0"/>
          </a:p>
        </p:txBody>
      </p:sp>
      <p:sp>
        <p:nvSpPr>
          <p:cNvPr id="23" name="Shape 21"/>
          <p:cNvSpPr/>
          <p:nvPr/>
        </p:nvSpPr>
        <p:spPr>
          <a:xfrm>
            <a:off x="320040" y="3246120"/>
            <a:ext cx="8503920" cy="902970"/>
          </a:xfrm>
          <a:prstGeom prst="roundRect">
            <a:avLst>
              <a:gd name="adj" fmla="val 8101"/>
            </a:avLst>
          </a:prstGeom>
          <a:solidFill>
            <a:srgbClr val="FFF9E8"/>
          </a:solidFill>
          <a:ln w="19050">
            <a:solidFill>
              <a:srgbClr val="F9A825"/>
            </a:solidFill>
            <a:prstDash val="solid"/>
          </a:ln>
        </p:spPr>
      </p:sp>
      <p:sp>
        <p:nvSpPr>
          <p:cNvPr id="24" name="Text 22"/>
          <p:cNvSpPr/>
          <p:nvPr/>
        </p:nvSpPr>
        <p:spPr>
          <a:xfrm>
            <a:off x="502920" y="331927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25" name="Text 23"/>
          <p:cNvSpPr/>
          <p:nvPr/>
        </p:nvSpPr>
        <p:spPr>
          <a:xfrm>
            <a:off x="502920" y="353872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Write 2 things you notice — one about the list and one about the graph. Then answer: Which one makes it easier to see which day was warmest? Why?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VOCABULARY</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Tools for Seeing Data</a:t>
            </a:r>
            <a:endParaRPr lang="en-US" sz="2100" dirty="0"/>
          </a:p>
        </p:txBody>
      </p:sp>
      <p:sp>
        <p:nvSpPr>
          <p:cNvPr id="7" name="Shape 5"/>
          <p:cNvSpPr/>
          <p:nvPr/>
        </p:nvSpPr>
        <p:spPr>
          <a:xfrm>
            <a:off x="457200" y="1188720"/>
            <a:ext cx="8229600" cy="1005840"/>
          </a:xfrm>
          <a:prstGeom prst="roundRect">
            <a:avLst>
              <a:gd name="adj" fmla="val 7273"/>
            </a:avLst>
          </a:prstGeom>
          <a:solidFill>
            <a:srgbClr val="FFFFFF"/>
          </a:solidFill>
          <a:ln w="19050">
            <a:solidFill>
              <a:srgbClr val="0288D1"/>
            </a:solidFill>
            <a:prstDash val="solid"/>
          </a:ln>
        </p:spPr>
      </p:sp>
      <p:sp>
        <p:nvSpPr>
          <p:cNvPr id="8" name="Text 6"/>
          <p:cNvSpPr/>
          <p:nvPr/>
        </p:nvSpPr>
        <p:spPr>
          <a:xfrm>
            <a:off x="685800" y="1280160"/>
            <a:ext cx="2011680" cy="822960"/>
          </a:xfrm>
          <a:prstGeom prst="rect">
            <a:avLst/>
          </a:prstGeom>
          <a:noFill/>
          <a:ln/>
        </p:spPr>
        <p:txBody>
          <a:bodyPr wrap="square" rtlCol="0" anchor="ctr"/>
          <a:lstStyle/>
          <a:p>
            <a:pPr indent="0" marL="0">
              <a:buNone/>
            </a:pPr>
            <a:r>
              <a:rPr lang="en-US" sz="1800" b="1" dirty="0">
                <a:solidFill>
                  <a:srgbClr val="0288D1"/>
                </a:solidFill>
                <a:latin typeface="Cambria" pitchFamily="34" charset="0"/>
                <a:ea typeface="Cambria" pitchFamily="34" charset="-122"/>
                <a:cs typeface="Cambria" pitchFamily="34" charset="-120"/>
              </a:rPr>
              <a:t>data</a:t>
            </a:r>
            <a:endParaRPr lang="en-US" sz="1800" dirty="0"/>
          </a:p>
        </p:txBody>
      </p:sp>
      <p:sp>
        <p:nvSpPr>
          <p:cNvPr id="9" name="Text 7"/>
          <p:cNvSpPr/>
          <p:nvPr/>
        </p:nvSpPr>
        <p:spPr>
          <a:xfrm>
            <a:off x="2834640" y="1280160"/>
            <a:ext cx="5669280" cy="82296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Information collected by observing or measuring.</a:t>
            </a:r>
            <a:endParaRPr lang="en-US" sz="1300" dirty="0"/>
          </a:p>
        </p:txBody>
      </p:sp>
      <p:sp>
        <p:nvSpPr>
          <p:cNvPr id="10" name="Shape 8"/>
          <p:cNvSpPr/>
          <p:nvPr/>
        </p:nvSpPr>
        <p:spPr>
          <a:xfrm>
            <a:off x="457200" y="2331720"/>
            <a:ext cx="8229600" cy="1005840"/>
          </a:xfrm>
          <a:prstGeom prst="roundRect">
            <a:avLst>
              <a:gd name="adj" fmla="val 7273"/>
            </a:avLst>
          </a:prstGeom>
          <a:solidFill>
            <a:srgbClr val="FFFFFF"/>
          </a:solidFill>
          <a:ln w="19050">
            <a:solidFill>
              <a:srgbClr val="0288D1"/>
            </a:solidFill>
            <a:prstDash val="solid"/>
          </a:ln>
        </p:spPr>
      </p:sp>
      <p:sp>
        <p:nvSpPr>
          <p:cNvPr id="11" name="Text 9"/>
          <p:cNvSpPr/>
          <p:nvPr/>
        </p:nvSpPr>
        <p:spPr>
          <a:xfrm>
            <a:off x="685800" y="2423160"/>
            <a:ext cx="2011680" cy="822960"/>
          </a:xfrm>
          <a:prstGeom prst="rect">
            <a:avLst/>
          </a:prstGeom>
          <a:noFill/>
          <a:ln/>
        </p:spPr>
        <p:txBody>
          <a:bodyPr wrap="square" rtlCol="0" anchor="ctr"/>
          <a:lstStyle/>
          <a:p>
            <a:pPr indent="0" marL="0">
              <a:buNone/>
            </a:pPr>
            <a:r>
              <a:rPr lang="en-US" sz="1800" b="1" dirty="0">
                <a:solidFill>
                  <a:srgbClr val="0288D1"/>
                </a:solidFill>
                <a:latin typeface="Cambria" pitchFamily="34" charset="0"/>
                <a:ea typeface="Cambria" pitchFamily="34" charset="-122"/>
                <a:cs typeface="Cambria" pitchFamily="34" charset="-120"/>
              </a:rPr>
              <a:t>graph</a:t>
            </a:r>
            <a:endParaRPr lang="en-US" sz="1800" dirty="0"/>
          </a:p>
        </p:txBody>
      </p:sp>
      <p:sp>
        <p:nvSpPr>
          <p:cNvPr id="12" name="Text 10"/>
          <p:cNvSpPr/>
          <p:nvPr/>
        </p:nvSpPr>
        <p:spPr>
          <a:xfrm>
            <a:off x="2834640" y="2423160"/>
            <a:ext cx="5669280" cy="82296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A picture that shows information visually, making it easier to compare.</a:t>
            </a:r>
            <a:endParaRPr lang="en-US" sz="1300" dirty="0"/>
          </a:p>
        </p:txBody>
      </p:sp>
      <p:sp>
        <p:nvSpPr>
          <p:cNvPr id="13" name="Shape 11"/>
          <p:cNvSpPr/>
          <p:nvPr/>
        </p:nvSpPr>
        <p:spPr>
          <a:xfrm>
            <a:off x="457200" y="3474720"/>
            <a:ext cx="8229600" cy="1005840"/>
          </a:xfrm>
          <a:prstGeom prst="roundRect">
            <a:avLst>
              <a:gd name="adj" fmla="val 7273"/>
            </a:avLst>
          </a:prstGeom>
          <a:solidFill>
            <a:srgbClr val="FFFFFF"/>
          </a:solidFill>
          <a:ln w="19050">
            <a:solidFill>
              <a:srgbClr val="0288D1"/>
            </a:solidFill>
            <a:prstDash val="solid"/>
          </a:ln>
        </p:spPr>
      </p:sp>
      <p:sp>
        <p:nvSpPr>
          <p:cNvPr id="14" name="Text 12"/>
          <p:cNvSpPr/>
          <p:nvPr/>
        </p:nvSpPr>
        <p:spPr>
          <a:xfrm>
            <a:off x="685800" y="3566160"/>
            <a:ext cx="2011680" cy="822960"/>
          </a:xfrm>
          <a:prstGeom prst="rect">
            <a:avLst/>
          </a:prstGeom>
          <a:noFill/>
          <a:ln/>
        </p:spPr>
        <p:txBody>
          <a:bodyPr wrap="square" rtlCol="0" anchor="ctr"/>
          <a:lstStyle/>
          <a:p>
            <a:pPr indent="0" marL="0">
              <a:buNone/>
            </a:pPr>
            <a:r>
              <a:rPr lang="en-US" sz="1800" b="1" dirty="0">
                <a:solidFill>
                  <a:srgbClr val="0288D1"/>
                </a:solidFill>
                <a:latin typeface="Cambria" pitchFamily="34" charset="0"/>
                <a:ea typeface="Cambria" pitchFamily="34" charset="-122"/>
                <a:cs typeface="Cambria" pitchFamily="34" charset="-120"/>
              </a:rPr>
              <a:t>bar graph</a:t>
            </a:r>
            <a:endParaRPr lang="en-US" sz="1800" dirty="0"/>
          </a:p>
        </p:txBody>
      </p:sp>
      <p:sp>
        <p:nvSpPr>
          <p:cNvPr id="15" name="Text 13"/>
          <p:cNvSpPr/>
          <p:nvPr/>
        </p:nvSpPr>
        <p:spPr>
          <a:xfrm>
            <a:off x="2834640" y="3566160"/>
            <a:ext cx="5669280" cy="82296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A graph using bars of different heights — taller bars mean bigger values.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VOCABULARY</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Seeing What Repeats</a:t>
            </a:r>
            <a:endParaRPr lang="en-US" sz="2100" dirty="0"/>
          </a:p>
        </p:txBody>
      </p:sp>
      <p:sp>
        <p:nvSpPr>
          <p:cNvPr id="7" name="Shape 5"/>
          <p:cNvSpPr/>
          <p:nvPr/>
        </p:nvSpPr>
        <p:spPr>
          <a:xfrm>
            <a:off x="457200" y="1188720"/>
            <a:ext cx="8229600" cy="1005840"/>
          </a:xfrm>
          <a:prstGeom prst="roundRect">
            <a:avLst>
              <a:gd name="adj" fmla="val 7273"/>
            </a:avLst>
          </a:prstGeom>
          <a:solidFill>
            <a:srgbClr val="FFFFFF"/>
          </a:solidFill>
          <a:ln w="19050">
            <a:solidFill>
              <a:srgbClr val="2D6A4F"/>
            </a:solidFill>
            <a:prstDash val="solid"/>
          </a:ln>
        </p:spPr>
      </p:sp>
      <p:sp>
        <p:nvSpPr>
          <p:cNvPr id="8" name="Text 6"/>
          <p:cNvSpPr/>
          <p:nvPr/>
        </p:nvSpPr>
        <p:spPr>
          <a:xfrm>
            <a:off x="685800" y="1280160"/>
            <a:ext cx="2011680" cy="822960"/>
          </a:xfrm>
          <a:prstGeom prst="rect">
            <a:avLst/>
          </a:prstGeom>
          <a:noFill/>
          <a:ln/>
        </p:spPr>
        <p:txBody>
          <a:bodyPr wrap="square" rtlCol="0" anchor="ctr"/>
          <a:lstStyle/>
          <a:p>
            <a:pPr indent="0" marL="0">
              <a:buNone/>
            </a:pPr>
            <a:r>
              <a:rPr lang="en-US" sz="1800" b="1" dirty="0">
                <a:solidFill>
                  <a:srgbClr val="2D6A4F"/>
                </a:solidFill>
                <a:latin typeface="Cambria" pitchFamily="34" charset="0"/>
                <a:ea typeface="Cambria" pitchFamily="34" charset="-122"/>
                <a:cs typeface="Cambria" pitchFamily="34" charset="-120"/>
              </a:rPr>
              <a:t>pattern</a:t>
            </a:r>
            <a:endParaRPr lang="en-US" sz="1800" dirty="0"/>
          </a:p>
        </p:txBody>
      </p:sp>
      <p:sp>
        <p:nvSpPr>
          <p:cNvPr id="9" name="Text 7"/>
          <p:cNvSpPr/>
          <p:nvPr/>
        </p:nvSpPr>
        <p:spPr>
          <a:xfrm>
            <a:off x="2834640" y="1280160"/>
            <a:ext cx="5669280" cy="82296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Something that repeats in a predictable way.</a:t>
            </a:r>
            <a:endParaRPr lang="en-US" sz="1300" dirty="0"/>
          </a:p>
        </p:txBody>
      </p:sp>
      <p:sp>
        <p:nvSpPr>
          <p:cNvPr id="10" name="Shape 8"/>
          <p:cNvSpPr/>
          <p:nvPr/>
        </p:nvSpPr>
        <p:spPr>
          <a:xfrm>
            <a:off x="457200" y="2331720"/>
            <a:ext cx="8229600" cy="1005840"/>
          </a:xfrm>
          <a:prstGeom prst="roundRect">
            <a:avLst>
              <a:gd name="adj" fmla="val 7273"/>
            </a:avLst>
          </a:prstGeom>
          <a:solidFill>
            <a:srgbClr val="FFFFFF"/>
          </a:solidFill>
          <a:ln w="19050">
            <a:solidFill>
              <a:srgbClr val="2D6A4F"/>
            </a:solidFill>
            <a:prstDash val="solid"/>
          </a:ln>
        </p:spPr>
      </p:sp>
      <p:sp>
        <p:nvSpPr>
          <p:cNvPr id="11" name="Text 9"/>
          <p:cNvSpPr/>
          <p:nvPr/>
        </p:nvSpPr>
        <p:spPr>
          <a:xfrm>
            <a:off x="685800" y="2423160"/>
            <a:ext cx="2011680" cy="822960"/>
          </a:xfrm>
          <a:prstGeom prst="rect">
            <a:avLst/>
          </a:prstGeom>
          <a:noFill/>
          <a:ln/>
        </p:spPr>
        <p:txBody>
          <a:bodyPr wrap="square" rtlCol="0" anchor="ctr"/>
          <a:lstStyle/>
          <a:p>
            <a:pPr indent="0" marL="0">
              <a:buNone/>
            </a:pPr>
            <a:r>
              <a:rPr lang="en-US" sz="1800" b="1" dirty="0">
                <a:solidFill>
                  <a:srgbClr val="2D6A4F"/>
                </a:solidFill>
                <a:latin typeface="Cambria" pitchFamily="34" charset="0"/>
                <a:ea typeface="Cambria" pitchFamily="34" charset="-122"/>
                <a:cs typeface="Cambria" pitchFamily="34" charset="-120"/>
              </a:rPr>
              <a:t>prediction</a:t>
            </a:r>
            <a:endParaRPr lang="en-US" sz="1800" dirty="0"/>
          </a:p>
        </p:txBody>
      </p:sp>
      <p:sp>
        <p:nvSpPr>
          <p:cNvPr id="12" name="Text 10"/>
          <p:cNvSpPr/>
          <p:nvPr/>
        </p:nvSpPr>
        <p:spPr>
          <a:xfrm>
            <a:off x="2834640" y="2423160"/>
            <a:ext cx="5669280" cy="82296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A statement about what will probably happen, based on evidence — not just a guess.</a:t>
            </a:r>
            <a:endParaRPr lang="en-US" sz="1300" dirty="0"/>
          </a:p>
        </p:txBody>
      </p:sp>
      <p:sp>
        <p:nvSpPr>
          <p:cNvPr id="13" name="Shape 11"/>
          <p:cNvSpPr/>
          <p:nvPr/>
        </p:nvSpPr>
        <p:spPr>
          <a:xfrm>
            <a:off x="457200" y="3474720"/>
            <a:ext cx="8229600" cy="1005840"/>
          </a:xfrm>
          <a:prstGeom prst="roundRect">
            <a:avLst>
              <a:gd name="adj" fmla="val 7273"/>
            </a:avLst>
          </a:prstGeom>
          <a:solidFill>
            <a:srgbClr val="FFFFFF"/>
          </a:solidFill>
          <a:ln w="19050">
            <a:solidFill>
              <a:srgbClr val="2D6A4F"/>
            </a:solidFill>
            <a:prstDash val="solid"/>
          </a:ln>
        </p:spPr>
      </p:sp>
      <p:sp>
        <p:nvSpPr>
          <p:cNvPr id="14" name="Text 12"/>
          <p:cNvSpPr/>
          <p:nvPr/>
        </p:nvSpPr>
        <p:spPr>
          <a:xfrm>
            <a:off x="685800" y="3566160"/>
            <a:ext cx="2011680" cy="822960"/>
          </a:xfrm>
          <a:prstGeom prst="rect">
            <a:avLst/>
          </a:prstGeom>
          <a:noFill/>
          <a:ln/>
        </p:spPr>
        <p:txBody>
          <a:bodyPr wrap="square" rtlCol="0" anchor="ctr"/>
          <a:lstStyle/>
          <a:p>
            <a:pPr indent="0" marL="0">
              <a:buNone/>
            </a:pPr>
            <a:r>
              <a:rPr lang="en-US" sz="1800" b="1" dirty="0">
                <a:solidFill>
                  <a:srgbClr val="2D6A4F"/>
                </a:solidFill>
                <a:latin typeface="Cambria" pitchFamily="34" charset="0"/>
                <a:ea typeface="Cambria" pitchFamily="34" charset="-122"/>
                <a:cs typeface="Cambria" pitchFamily="34" charset="-120"/>
              </a:rPr>
              <a:t>temperature</a:t>
            </a:r>
            <a:endParaRPr lang="en-US" sz="1800" dirty="0"/>
          </a:p>
        </p:txBody>
      </p:sp>
      <p:sp>
        <p:nvSpPr>
          <p:cNvPr id="15" name="Text 13"/>
          <p:cNvSpPr/>
          <p:nvPr/>
        </p:nvSpPr>
        <p:spPr>
          <a:xfrm>
            <a:off x="2834640" y="3566160"/>
            <a:ext cx="5669280" cy="82296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A measure of how hot or cold something is, in °F or °C.</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COPY THIS DOWN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Notebook Entry</a:t>
            </a:r>
            <a:endParaRPr lang="en-US" sz="2100" dirty="0"/>
          </a:p>
        </p:txBody>
      </p:sp>
      <p:sp>
        <p:nvSpPr>
          <p:cNvPr id="7" name="Shape 5"/>
          <p:cNvSpPr/>
          <p:nvPr/>
        </p:nvSpPr>
        <p:spPr>
          <a:xfrm>
            <a:off x="320040" y="1280160"/>
            <a:ext cx="8503920" cy="1188720"/>
          </a:xfrm>
          <a:prstGeom prst="roundRect">
            <a:avLst>
              <a:gd name="adj" fmla="val 6154"/>
            </a:avLst>
          </a:prstGeom>
          <a:solidFill>
            <a:srgbClr val="F0F8E8"/>
          </a:solidFill>
          <a:ln w="19050">
            <a:solidFill>
              <a:srgbClr val="C8E0B8"/>
            </a:solidFill>
            <a:prstDash val="solid"/>
          </a:ln>
        </p:spPr>
      </p:sp>
      <p:sp>
        <p:nvSpPr>
          <p:cNvPr id="8" name="Text 6"/>
          <p:cNvSpPr/>
          <p:nvPr/>
        </p:nvSpPr>
        <p:spPr>
          <a:xfrm>
            <a:off x="502920" y="1353312"/>
            <a:ext cx="8138160" cy="219456"/>
          </a:xfrm>
          <a:prstGeom prst="rect">
            <a:avLst/>
          </a:prstGeom>
          <a:noFill/>
          <a:ln/>
        </p:spPr>
        <p:txBody>
          <a:bodyPr wrap="square" rtlCol="0" anchor="ctr"/>
          <a:lstStyle/>
          <a:p>
            <a:pPr indent="0" marL="0">
              <a:buNone/>
            </a:pPr>
            <a:r>
              <a:rPr lang="en-US" sz="1100" b="1" spc="100" kern="0" dirty="0">
                <a:solidFill>
                  <a:srgbClr val="558B2F"/>
                </a:solidFill>
                <a:latin typeface="Calibri" pitchFamily="34" charset="0"/>
                <a:ea typeface="Calibri" pitchFamily="34" charset="-122"/>
                <a:cs typeface="Calibri" pitchFamily="34" charset="-120"/>
              </a:rPr>
              <a:t>COPY CAREFULLY INTO YOUR SCIENCE NOTEBOOK</a:t>
            </a:r>
            <a:endParaRPr lang="en-US" sz="1100" dirty="0"/>
          </a:p>
        </p:txBody>
      </p:sp>
      <p:sp>
        <p:nvSpPr>
          <p:cNvPr id="9" name="Text 7"/>
          <p:cNvSpPr/>
          <p:nvPr/>
        </p:nvSpPr>
        <p:spPr>
          <a:xfrm>
            <a:off x="502920" y="1572768"/>
            <a:ext cx="8138160" cy="841248"/>
          </a:xfrm>
          <a:prstGeom prst="rect">
            <a:avLst/>
          </a:prstGeom>
          <a:noFill/>
          <a:ln/>
        </p:spPr>
        <p:txBody>
          <a:bodyPr wrap="square" rtlCol="0" anchor="t"/>
          <a:lstStyle/>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"Scientists record and graph data so they can find patterns and make predictions."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SECTION 1</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Data Is Just the Beginning</a:t>
            </a:r>
            <a:endParaRPr lang="en-US" sz="2100" dirty="0"/>
          </a:p>
        </p:txBody>
      </p:sp>
      <p:sp>
        <p:nvSpPr>
          <p:cNvPr id="7" name="Text 5"/>
          <p:cNvSpPr/>
          <p:nvPr/>
        </p:nvSpPr>
        <p:spPr>
          <a:xfrm>
            <a:off x="320040" y="1143000"/>
            <a:ext cx="8503920" cy="1188720"/>
          </a:xfrm>
          <a:prstGeom prst="rect">
            <a:avLst/>
          </a:prstGeom>
          <a:noFill/>
          <a:ln/>
        </p:spPr>
        <p:txBody>
          <a:bodyPr wrap="square" rtlCol="0" anchor="t"/>
          <a:lstStyle/>
          <a:p>
            <a:pPr indent="0" marL="0">
              <a:lnSpc>
                <a:spcPts val="2000"/>
              </a:lnSpc>
              <a:buNone/>
            </a:pPr>
            <a:r>
              <a:rPr lang="en-US" sz="1350" dirty="0">
                <a:solidFill>
                  <a:srgbClr val="2B1D12"/>
                </a:solidFill>
                <a:latin typeface="Calibri" pitchFamily="34" charset="0"/>
                <a:ea typeface="Calibri" pitchFamily="34" charset="-122"/>
                <a:cs typeface="Calibri" pitchFamily="34" charset="-120"/>
              </a:rPr>
              <a:t>When scientists study weather, they collect data — things like temperature, rain, and wind. Imagine writing down the temperature every day for a whole year. That's 365 numbers. Looking for a pattern in that list would take a long time. That's where graphs come in.</a:t>
            </a:r>
            <a:endParaRPr lang="en-US" sz="1350" dirty="0"/>
          </a:p>
        </p:txBody>
      </p:sp>
      <p:sp>
        <p:nvSpPr>
          <p:cNvPr id="8" name="Shape 6"/>
          <p:cNvSpPr/>
          <p:nvPr/>
        </p:nvSpPr>
        <p:spPr>
          <a:xfrm>
            <a:off x="320040" y="242316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249631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71576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Have you ever seen someone check a chart or graph to make a decision — like checking a weather app? What were they trying to figure out?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REAL WORLD · WEATHER INSTRUMENTS</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Where Weather Data Starts</a:t>
            </a:r>
            <a:endParaRPr lang="en-US" sz="2100" dirty="0"/>
          </a:p>
        </p:txBody>
      </p:sp>
      <p:sp>
        <p:nvSpPr>
          <p:cNvPr id="7" name="Shape 5"/>
          <p:cNvSpPr/>
          <p:nvPr/>
        </p:nvSpPr>
        <p:spPr>
          <a:xfrm>
            <a:off x="457200" y="1143000"/>
            <a:ext cx="8229600" cy="2286000"/>
          </a:xfrm>
          <a:prstGeom prst="roundRect">
            <a:avLst>
              <a:gd name="adj" fmla="val 3200"/>
            </a:avLst>
          </a:prstGeom>
          <a:solidFill>
            <a:srgbClr val="FFF3E0"/>
          </a:solidFill>
          <a:ln w="25400">
            <a:solidFill>
              <a:srgbClr val="F9A825"/>
            </a:solidFill>
            <a:prstDash val="dash"/>
          </a:ln>
        </p:spPr>
      </p:sp>
      <p:sp>
        <p:nvSpPr>
          <p:cNvPr id="8" name="Text 6"/>
          <p:cNvSpPr/>
          <p:nvPr/>
        </p:nvSpPr>
        <p:spPr>
          <a:xfrm>
            <a:off x="640080" y="1234440"/>
            <a:ext cx="786384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9" name="Text 7"/>
          <p:cNvSpPr/>
          <p:nvPr/>
        </p:nvSpPr>
        <p:spPr>
          <a:xfrm>
            <a:off x="640080" y="1508760"/>
            <a:ext cx="7863840" cy="157276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A close-up photograph of a clear plastic rain gauge mounted on a wooden post or fence in an open outdoor field or backyard. Visible measurement markings, small amount of collected rainwater. Blurred natural landscape background, soft natural light. Photorealistic, no people, no cartoons.</a:t>
            </a:r>
            <a:endParaRPr lang="en-US" sz="1100" dirty="0"/>
          </a:p>
        </p:txBody>
      </p:sp>
      <p:sp>
        <p:nvSpPr>
          <p:cNvPr id="10" name="Text 8"/>
          <p:cNvSpPr/>
          <p:nvPr/>
        </p:nvSpPr>
        <p:spPr>
          <a:xfrm>
            <a:off x="640080" y="3136392"/>
            <a:ext cx="786384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images/2-02-rain-gauge-outdoor.png</a:t>
            </a:r>
            <a:endParaRPr lang="en-US" sz="950" dirty="0"/>
          </a:p>
        </p:txBody>
      </p:sp>
      <p:sp>
        <p:nvSpPr>
          <p:cNvPr id="11" name="Text 9"/>
          <p:cNvSpPr/>
          <p:nvPr/>
        </p:nvSpPr>
        <p:spPr>
          <a:xfrm>
            <a:off x="457200" y="3611880"/>
            <a:ext cx="8229600" cy="685800"/>
          </a:xfrm>
          <a:prstGeom prst="rect">
            <a:avLst/>
          </a:prstGeom>
          <a:noFill/>
          <a:ln/>
        </p:spPr>
        <p:txBody>
          <a:bodyPr wrap="square" rtlCol="0" anchor="t"/>
          <a:lstStyle/>
          <a:p>
            <a:pPr indent="0" marL="0">
              <a:buNone/>
            </a:pPr>
            <a:r>
              <a:rPr lang="en-US" sz="1300" dirty="0">
                <a:solidFill>
                  <a:srgbClr val="5A4D3E"/>
                </a:solidFill>
                <a:latin typeface="Calibri" pitchFamily="34" charset="0"/>
                <a:ea typeface="Calibri" pitchFamily="34" charset="-122"/>
                <a:cs typeface="Calibri" pitchFamily="34" charset="-120"/>
              </a:rPr>
              <a:t>A rain gauge records how much rain fell — that number gets written down, collected with other data, and eventually turned into a chart or graph.</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5C8E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SECTION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How a Bar Graph Works</a:t>
            </a:r>
            <a:endParaRPr lang="en-US" sz="2100" dirty="0"/>
          </a:p>
        </p:txBody>
      </p:sp>
      <p:sp>
        <p:nvSpPr>
          <p:cNvPr id="7" name="Text 5"/>
          <p:cNvSpPr/>
          <p:nvPr/>
        </p:nvSpPr>
        <p:spPr>
          <a:xfrm>
            <a:off x="320040" y="1143000"/>
            <a:ext cx="8503920" cy="914400"/>
          </a:xfrm>
          <a:prstGeom prst="rect">
            <a:avLst/>
          </a:prstGeom>
          <a:noFill/>
          <a:ln/>
        </p:spPr>
        <p:txBody>
          <a:bodyPr wrap="square" rtlCol="0" anchor="t"/>
          <a:lstStyle/>
          <a:p>
            <a:pPr indent="0" marL="0">
              <a:lnSpc>
                <a:spcPts val="2000"/>
              </a:lnSpc>
              <a:buNone/>
            </a:pPr>
            <a:r>
              <a:rPr lang="en-US" sz="1350" dirty="0">
                <a:solidFill>
                  <a:srgbClr val="2B1D12"/>
                </a:solidFill>
                <a:latin typeface="Calibri" pitchFamily="34" charset="0"/>
                <a:ea typeface="Calibri" pitchFamily="34" charset="-122"/>
                <a:cs typeface="Calibri" pitchFamily="34" charset="-120"/>
              </a:rPr>
              <a:t>A bar graph turns numbers into shapes you can compare with your eyes — fast. Each bar stands for one category, like a day of the week. The height of the bar shows the value, like the temperature.</a:t>
            </a:r>
            <a:endParaRPr lang="en-US" sz="1350" dirty="0"/>
          </a:p>
        </p:txBody>
      </p:sp>
      <p:sp>
        <p:nvSpPr>
          <p:cNvPr id="8" name="Shape 6"/>
          <p:cNvSpPr/>
          <p:nvPr/>
        </p:nvSpPr>
        <p:spPr>
          <a:xfrm>
            <a:off x="320040" y="2148840"/>
            <a:ext cx="8503920" cy="1387411"/>
          </a:xfrm>
          <a:prstGeom prst="roundRect">
            <a:avLst>
              <a:gd name="adj" fmla="val 5273"/>
            </a:avLst>
          </a:prstGeom>
          <a:solidFill>
            <a:srgbClr val="EEF8F0"/>
          </a:solidFill>
          <a:ln w="19050">
            <a:solidFill>
              <a:srgbClr val="52B788"/>
            </a:solidFill>
            <a:prstDash val="solid"/>
          </a:ln>
        </p:spPr>
      </p:sp>
      <p:sp>
        <p:nvSpPr>
          <p:cNvPr id="9" name="Text 7"/>
          <p:cNvSpPr/>
          <p:nvPr/>
        </p:nvSpPr>
        <p:spPr>
          <a:xfrm>
            <a:off x="502920" y="222199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2478024"/>
            <a:ext cx="8138160" cy="1003363"/>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You can look at a good bar graph for three seconds and answer questions that would take three minutes from a list. What does the tallest bar tell you?</a:t>
            </a:r>
            <a:endParaRPr lang="en-US" sz="1250" dirty="0"/>
          </a:p>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What would it mean if a bunch of bars were all the same height?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SECTION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Patterns Lead to Predictions</a:t>
            </a:r>
            <a:endParaRPr lang="en-US" sz="2100" dirty="0"/>
          </a:p>
        </p:txBody>
      </p:sp>
      <p:sp>
        <p:nvSpPr>
          <p:cNvPr id="7" name="Text 5"/>
          <p:cNvSpPr/>
          <p:nvPr/>
        </p:nvSpPr>
        <p:spPr>
          <a:xfrm>
            <a:off x="320040" y="1143000"/>
            <a:ext cx="8503920" cy="960120"/>
          </a:xfrm>
          <a:prstGeom prst="rect">
            <a:avLst/>
          </a:prstGeom>
          <a:noFill/>
          <a:ln/>
        </p:spPr>
        <p:txBody>
          <a:bodyPr wrap="square" rtlCol="0" anchor="t"/>
          <a:lstStyle/>
          <a:p>
            <a:pPr indent="0" marL="0">
              <a:lnSpc>
                <a:spcPts val="2000"/>
              </a:lnSpc>
              <a:buNone/>
            </a:pPr>
            <a:r>
              <a:rPr lang="en-US" sz="1350" dirty="0">
                <a:solidFill>
                  <a:srgbClr val="2B1D12"/>
                </a:solidFill>
                <a:latin typeface="Calibri" pitchFamily="34" charset="0"/>
                <a:ea typeface="Calibri" pitchFamily="34" charset="-122"/>
                <a:cs typeface="Calibri" pitchFamily="34" charset="-120"/>
              </a:rPr>
              <a:t>Once you can see a pattern, you can make a prediction. If temperatures have been rising all week and the sky is clear, you might predict it will be warm tomorrow. That's not guessing — that's science.</a:t>
            </a:r>
            <a:endParaRPr lang="en-US" sz="1350" dirty="0"/>
          </a:p>
        </p:txBody>
      </p:sp>
      <p:sp>
        <p:nvSpPr>
          <p:cNvPr id="8" name="Shape 6"/>
          <p:cNvSpPr/>
          <p:nvPr/>
        </p:nvSpPr>
        <p:spPr>
          <a:xfrm>
            <a:off x="320040" y="2194560"/>
            <a:ext cx="8503920" cy="1633474"/>
          </a:xfrm>
          <a:prstGeom prst="roundRect">
            <a:avLst>
              <a:gd name="adj" fmla="val 4478"/>
            </a:avLst>
          </a:prstGeom>
          <a:solidFill>
            <a:srgbClr val="EEF8F0"/>
          </a:solidFill>
          <a:ln w="19050">
            <a:solidFill>
              <a:srgbClr val="52B788"/>
            </a:solidFill>
            <a:prstDash val="solid"/>
          </a:ln>
        </p:spPr>
      </p:sp>
      <p:sp>
        <p:nvSpPr>
          <p:cNvPr id="9" name="Text 7"/>
          <p:cNvSpPr/>
          <p:nvPr/>
        </p:nvSpPr>
        <p:spPr>
          <a:xfrm>
            <a:off x="502920" y="226771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2523744"/>
            <a:ext cx="8138160" cy="1249426"/>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Real meteorologists do this every time they say 'expect a high of 75° on Tuesday.' What pattern do you think they found first?</a:t>
            </a:r>
            <a:endParaRPr lang="en-US" sz="1250" dirty="0"/>
          </a:p>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If a pattern breaks — like temperatures suddenly drop — does that mean the pattern was wrong, or that something new happened?</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LOOK CLOSELY</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Weekly Temperature Data</a:t>
            </a:r>
            <a:endParaRPr lang="en-US" sz="2100" dirty="0"/>
          </a:p>
        </p:txBody>
      </p:sp>
      <p:sp>
        <p:nvSpPr>
          <p:cNvPr id="7" name="Shape 5"/>
          <p:cNvSpPr/>
          <p:nvPr/>
        </p:nvSpPr>
        <p:spPr>
          <a:xfrm>
            <a:off x="548640" y="1188720"/>
            <a:ext cx="1737360" cy="384048"/>
          </a:xfrm>
          <a:prstGeom prst="rect">
            <a:avLst/>
          </a:prstGeom>
          <a:solidFill>
            <a:srgbClr val="7B5EA7"/>
          </a:solidFill>
          <a:ln w="6350">
            <a:solidFill>
              <a:srgbClr val="FFFFFF"/>
            </a:solidFill>
            <a:prstDash val="solid"/>
          </a:ln>
        </p:spPr>
      </p:sp>
      <p:sp>
        <p:nvSpPr>
          <p:cNvPr id="8" name="Text 6"/>
          <p:cNvSpPr/>
          <p:nvPr/>
        </p:nvSpPr>
        <p:spPr>
          <a:xfrm>
            <a:off x="548640" y="1188720"/>
            <a:ext cx="1737360" cy="38404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Day</a:t>
            </a:r>
            <a:endParaRPr lang="en-US" sz="1150" dirty="0"/>
          </a:p>
        </p:txBody>
      </p:sp>
      <p:sp>
        <p:nvSpPr>
          <p:cNvPr id="9" name="Shape 7"/>
          <p:cNvSpPr/>
          <p:nvPr/>
        </p:nvSpPr>
        <p:spPr>
          <a:xfrm>
            <a:off x="2286000" y="1188720"/>
            <a:ext cx="1554480" cy="384048"/>
          </a:xfrm>
          <a:prstGeom prst="rect">
            <a:avLst/>
          </a:prstGeom>
          <a:solidFill>
            <a:srgbClr val="7B5EA7"/>
          </a:solidFill>
          <a:ln w="6350">
            <a:solidFill>
              <a:srgbClr val="FFFFFF"/>
            </a:solidFill>
            <a:prstDash val="solid"/>
          </a:ln>
        </p:spPr>
      </p:sp>
      <p:sp>
        <p:nvSpPr>
          <p:cNvPr id="10" name="Text 8"/>
          <p:cNvSpPr/>
          <p:nvPr/>
        </p:nvSpPr>
        <p:spPr>
          <a:xfrm>
            <a:off x="2286000" y="1188720"/>
            <a:ext cx="1554480" cy="38404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Temp (°F)</a:t>
            </a:r>
            <a:endParaRPr lang="en-US" sz="1150" dirty="0"/>
          </a:p>
        </p:txBody>
      </p:sp>
      <p:sp>
        <p:nvSpPr>
          <p:cNvPr id="11" name="Shape 9"/>
          <p:cNvSpPr/>
          <p:nvPr/>
        </p:nvSpPr>
        <p:spPr>
          <a:xfrm>
            <a:off x="3840480" y="1188720"/>
            <a:ext cx="3108960" cy="384048"/>
          </a:xfrm>
          <a:prstGeom prst="rect">
            <a:avLst/>
          </a:prstGeom>
          <a:solidFill>
            <a:srgbClr val="7B5EA7"/>
          </a:solidFill>
          <a:ln w="6350">
            <a:solidFill>
              <a:srgbClr val="FFFFFF"/>
            </a:solidFill>
            <a:prstDash val="solid"/>
          </a:ln>
        </p:spPr>
      </p:sp>
      <p:sp>
        <p:nvSpPr>
          <p:cNvPr id="12" name="Text 10"/>
          <p:cNvSpPr/>
          <p:nvPr/>
        </p:nvSpPr>
        <p:spPr>
          <a:xfrm>
            <a:off x="3840480" y="1188720"/>
            <a:ext cx="3108960" cy="38404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Conditions</a:t>
            </a:r>
            <a:endParaRPr lang="en-US" sz="1150" dirty="0"/>
          </a:p>
        </p:txBody>
      </p:sp>
      <p:sp>
        <p:nvSpPr>
          <p:cNvPr id="13" name="Shape 11"/>
          <p:cNvSpPr/>
          <p:nvPr/>
        </p:nvSpPr>
        <p:spPr>
          <a:xfrm>
            <a:off x="6949440" y="1188720"/>
            <a:ext cx="1463040" cy="384048"/>
          </a:xfrm>
          <a:prstGeom prst="rect">
            <a:avLst/>
          </a:prstGeom>
          <a:solidFill>
            <a:srgbClr val="7B5EA7"/>
          </a:solidFill>
          <a:ln w="6350">
            <a:solidFill>
              <a:srgbClr val="FFFFFF"/>
            </a:solidFill>
            <a:prstDash val="solid"/>
          </a:ln>
        </p:spPr>
      </p:sp>
      <p:sp>
        <p:nvSpPr>
          <p:cNvPr id="14" name="Text 12"/>
          <p:cNvSpPr/>
          <p:nvPr/>
        </p:nvSpPr>
        <p:spPr>
          <a:xfrm>
            <a:off x="6949440" y="1188720"/>
            <a:ext cx="1463040" cy="38404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Rain?</a:t>
            </a:r>
            <a:endParaRPr lang="en-US" sz="1150" dirty="0"/>
          </a:p>
        </p:txBody>
      </p:sp>
      <p:sp>
        <p:nvSpPr>
          <p:cNvPr id="15" name="Shape 13"/>
          <p:cNvSpPr/>
          <p:nvPr/>
        </p:nvSpPr>
        <p:spPr>
          <a:xfrm>
            <a:off x="548640" y="1572768"/>
            <a:ext cx="1737360" cy="384048"/>
          </a:xfrm>
          <a:prstGeom prst="rect">
            <a:avLst/>
          </a:prstGeom>
          <a:solidFill>
            <a:srgbClr val="FFFFFF"/>
          </a:solidFill>
          <a:ln w="6350">
            <a:solidFill>
              <a:srgbClr val="E8DDD2"/>
            </a:solidFill>
            <a:prstDash val="solid"/>
          </a:ln>
        </p:spPr>
      </p:sp>
      <p:sp>
        <p:nvSpPr>
          <p:cNvPr id="16" name="Text 14"/>
          <p:cNvSpPr/>
          <p:nvPr/>
        </p:nvSpPr>
        <p:spPr>
          <a:xfrm>
            <a:off x="548640" y="1572768"/>
            <a:ext cx="1737360" cy="384048"/>
          </a:xfrm>
          <a:prstGeom prst="rect">
            <a:avLst/>
          </a:prstGeom>
          <a:noFill/>
          <a:ln/>
        </p:spPr>
        <p:txBody>
          <a:bodyPr wrap="square" rtlCol="0" anchor="ctr"/>
          <a:lstStyle/>
          <a:p>
            <a:pPr algn="ctr" indent="0" marL="0">
              <a:buNone/>
            </a:pPr>
            <a:r>
              <a:rPr lang="en-US" sz="1100" dirty="0">
                <a:solidFill>
                  <a:srgbClr val="2B1D12"/>
                </a:solidFill>
                <a:latin typeface="Calibri" pitchFamily="34" charset="0"/>
                <a:ea typeface="Calibri" pitchFamily="34" charset="-122"/>
                <a:cs typeface="Calibri" pitchFamily="34" charset="-120"/>
              </a:rPr>
              <a:t>Monday</a:t>
            </a:r>
            <a:endParaRPr lang="en-US" sz="1100" dirty="0"/>
          </a:p>
        </p:txBody>
      </p:sp>
      <p:sp>
        <p:nvSpPr>
          <p:cNvPr id="17" name="Shape 15"/>
          <p:cNvSpPr/>
          <p:nvPr/>
        </p:nvSpPr>
        <p:spPr>
          <a:xfrm>
            <a:off x="2286000" y="1572768"/>
            <a:ext cx="1554480" cy="384048"/>
          </a:xfrm>
          <a:prstGeom prst="rect">
            <a:avLst/>
          </a:prstGeom>
          <a:solidFill>
            <a:srgbClr val="FFFFFF"/>
          </a:solidFill>
          <a:ln w="6350">
            <a:solidFill>
              <a:srgbClr val="E8DDD2"/>
            </a:solidFill>
            <a:prstDash val="solid"/>
          </a:ln>
        </p:spPr>
      </p:sp>
      <p:sp>
        <p:nvSpPr>
          <p:cNvPr id="18" name="Text 16"/>
          <p:cNvSpPr/>
          <p:nvPr/>
        </p:nvSpPr>
        <p:spPr>
          <a:xfrm>
            <a:off x="2286000" y="1572768"/>
            <a:ext cx="1554480" cy="384048"/>
          </a:xfrm>
          <a:prstGeom prst="rect">
            <a:avLst/>
          </a:prstGeom>
          <a:noFill/>
          <a:ln/>
        </p:spPr>
        <p:txBody>
          <a:bodyPr wrap="square" rtlCol="0" anchor="ctr"/>
          <a:lstStyle/>
          <a:p>
            <a:pPr algn="ctr" indent="0" marL="0">
              <a:buNone/>
            </a:pPr>
            <a:r>
              <a:rPr lang="en-US" sz="1100" dirty="0">
                <a:solidFill>
                  <a:srgbClr val="2B1D12"/>
                </a:solidFill>
                <a:latin typeface="Calibri" pitchFamily="34" charset="0"/>
                <a:ea typeface="Calibri" pitchFamily="34" charset="-122"/>
                <a:cs typeface="Calibri" pitchFamily="34" charset="-120"/>
              </a:rPr>
              <a:t>60°F</a:t>
            </a:r>
            <a:endParaRPr lang="en-US" sz="1100" dirty="0"/>
          </a:p>
        </p:txBody>
      </p:sp>
      <p:sp>
        <p:nvSpPr>
          <p:cNvPr id="19" name="Shape 17"/>
          <p:cNvSpPr/>
          <p:nvPr/>
        </p:nvSpPr>
        <p:spPr>
          <a:xfrm>
            <a:off x="3840480" y="1572768"/>
            <a:ext cx="3108960" cy="384048"/>
          </a:xfrm>
          <a:prstGeom prst="rect">
            <a:avLst/>
          </a:prstGeom>
          <a:solidFill>
            <a:srgbClr val="FFFFFF"/>
          </a:solidFill>
          <a:ln w="6350">
            <a:solidFill>
              <a:srgbClr val="E8DDD2"/>
            </a:solidFill>
            <a:prstDash val="solid"/>
          </a:ln>
        </p:spPr>
      </p:sp>
      <p:sp>
        <p:nvSpPr>
          <p:cNvPr id="20" name="Text 18"/>
          <p:cNvSpPr/>
          <p:nvPr/>
        </p:nvSpPr>
        <p:spPr>
          <a:xfrm>
            <a:off x="3840480" y="1572768"/>
            <a:ext cx="3108960" cy="384048"/>
          </a:xfrm>
          <a:prstGeom prst="rect">
            <a:avLst/>
          </a:prstGeom>
          <a:noFill/>
          <a:ln/>
        </p:spPr>
        <p:txBody>
          <a:bodyPr wrap="square" rtlCol="0" anchor="ctr"/>
          <a:lstStyle/>
          <a:p>
            <a:pPr algn="ctr" indent="0" marL="0">
              <a:buNone/>
            </a:pPr>
            <a:r>
              <a:rPr lang="en-US" sz="1100" dirty="0">
                <a:solidFill>
                  <a:srgbClr val="2B1D12"/>
                </a:solidFill>
                <a:latin typeface="Calibri" pitchFamily="34" charset="0"/>
                <a:ea typeface="Calibri" pitchFamily="34" charset="-122"/>
                <a:cs typeface="Calibri" pitchFamily="34" charset="-120"/>
              </a:rPr>
              <a:t>Cloudy</a:t>
            </a:r>
            <a:endParaRPr lang="en-US" sz="1100" dirty="0"/>
          </a:p>
        </p:txBody>
      </p:sp>
      <p:sp>
        <p:nvSpPr>
          <p:cNvPr id="21" name="Shape 19"/>
          <p:cNvSpPr/>
          <p:nvPr/>
        </p:nvSpPr>
        <p:spPr>
          <a:xfrm>
            <a:off x="6949440" y="1572768"/>
            <a:ext cx="1463040" cy="384048"/>
          </a:xfrm>
          <a:prstGeom prst="rect">
            <a:avLst/>
          </a:prstGeom>
          <a:solidFill>
            <a:srgbClr val="FFFFFF"/>
          </a:solidFill>
          <a:ln w="6350">
            <a:solidFill>
              <a:srgbClr val="E8DDD2"/>
            </a:solidFill>
            <a:prstDash val="solid"/>
          </a:ln>
        </p:spPr>
      </p:sp>
      <p:sp>
        <p:nvSpPr>
          <p:cNvPr id="22" name="Text 20"/>
          <p:cNvSpPr/>
          <p:nvPr/>
        </p:nvSpPr>
        <p:spPr>
          <a:xfrm>
            <a:off x="6949440" y="1572768"/>
            <a:ext cx="1463040" cy="384048"/>
          </a:xfrm>
          <a:prstGeom prst="rect">
            <a:avLst/>
          </a:prstGeom>
          <a:noFill/>
          <a:ln/>
        </p:spPr>
        <p:txBody>
          <a:bodyPr wrap="square" rtlCol="0" anchor="ctr"/>
          <a:lstStyle/>
          <a:p>
            <a:pPr algn="ctr" indent="0" marL="0">
              <a:buNone/>
            </a:pPr>
            <a:r>
              <a:rPr lang="en-US" sz="1100" dirty="0">
                <a:solidFill>
                  <a:srgbClr val="2B1D12"/>
                </a:solidFill>
                <a:latin typeface="Calibri" pitchFamily="34" charset="0"/>
                <a:ea typeface="Calibri" pitchFamily="34" charset="-122"/>
                <a:cs typeface="Calibri" pitchFamily="34" charset="-120"/>
              </a:rPr>
              <a:t>No</a:t>
            </a:r>
            <a:endParaRPr lang="en-US" sz="1100" dirty="0"/>
          </a:p>
        </p:txBody>
      </p:sp>
      <p:sp>
        <p:nvSpPr>
          <p:cNvPr id="23" name="Shape 21"/>
          <p:cNvSpPr/>
          <p:nvPr/>
        </p:nvSpPr>
        <p:spPr>
          <a:xfrm>
            <a:off x="548640" y="1956816"/>
            <a:ext cx="1737360" cy="384048"/>
          </a:xfrm>
          <a:prstGeom prst="rect">
            <a:avLst/>
          </a:prstGeom>
          <a:solidFill>
            <a:srgbClr val="F4EEF9"/>
          </a:solidFill>
          <a:ln w="6350">
            <a:solidFill>
              <a:srgbClr val="E8DDD2"/>
            </a:solidFill>
            <a:prstDash val="solid"/>
          </a:ln>
        </p:spPr>
      </p:sp>
      <p:sp>
        <p:nvSpPr>
          <p:cNvPr id="24" name="Text 22"/>
          <p:cNvSpPr/>
          <p:nvPr/>
        </p:nvSpPr>
        <p:spPr>
          <a:xfrm>
            <a:off x="548640" y="1956816"/>
            <a:ext cx="1737360" cy="384048"/>
          </a:xfrm>
          <a:prstGeom prst="rect">
            <a:avLst/>
          </a:prstGeom>
          <a:noFill/>
          <a:ln/>
        </p:spPr>
        <p:txBody>
          <a:bodyPr wrap="square" rtlCol="0" anchor="ctr"/>
          <a:lstStyle/>
          <a:p>
            <a:pPr algn="ctr" indent="0" marL="0">
              <a:buNone/>
            </a:pPr>
            <a:r>
              <a:rPr lang="en-US" sz="1100" dirty="0">
                <a:solidFill>
                  <a:srgbClr val="2B1D12"/>
                </a:solidFill>
                <a:latin typeface="Calibri" pitchFamily="34" charset="0"/>
                <a:ea typeface="Calibri" pitchFamily="34" charset="-122"/>
                <a:cs typeface="Calibri" pitchFamily="34" charset="-120"/>
              </a:rPr>
              <a:t>Tuesday</a:t>
            </a:r>
            <a:endParaRPr lang="en-US" sz="1100" dirty="0"/>
          </a:p>
        </p:txBody>
      </p:sp>
      <p:sp>
        <p:nvSpPr>
          <p:cNvPr id="25" name="Shape 23"/>
          <p:cNvSpPr/>
          <p:nvPr/>
        </p:nvSpPr>
        <p:spPr>
          <a:xfrm>
            <a:off x="2286000" y="1956816"/>
            <a:ext cx="1554480" cy="384048"/>
          </a:xfrm>
          <a:prstGeom prst="rect">
            <a:avLst/>
          </a:prstGeom>
          <a:solidFill>
            <a:srgbClr val="F4EEF9"/>
          </a:solidFill>
          <a:ln w="6350">
            <a:solidFill>
              <a:srgbClr val="E8DDD2"/>
            </a:solidFill>
            <a:prstDash val="solid"/>
          </a:ln>
        </p:spPr>
      </p:sp>
      <p:sp>
        <p:nvSpPr>
          <p:cNvPr id="26" name="Text 24"/>
          <p:cNvSpPr/>
          <p:nvPr/>
        </p:nvSpPr>
        <p:spPr>
          <a:xfrm>
            <a:off x="2286000" y="1956816"/>
            <a:ext cx="1554480" cy="384048"/>
          </a:xfrm>
          <a:prstGeom prst="rect">
            <a:avLst/>
          </a:prstGeom>
          <a:noFill/>
          <a:ln/>
        </p:spPr>
        <p:txBody>
          <a:bodyPr wrap="square" rtlCol="0" anchor="ctr"/>
          <a:lstStyle/>
          <a:p>
            <a:pPr algn="ctr" indent="0" marL="0">
              <a:buNone/>
            </a:pPr>
            <a:r>
              <a:rPr lang="en-US" sz="1100" dirty="0">
                <a:solidFill>
                  <a:srgbClr val="2B1D12"/>
                </a:solidFill>
                <a:latin typeface="Calibri" pitchFamily="34" charset="0"/>
                <a:ea typeface="Calibri" pitchFamily="34" charset="-122"/>
                <a:cs typeface="Calibri" pitchFamily="34" charset="-120"/>
              </a:rPr>
              <a:t>72°F</a:t>
            </a:r>
            <a:endParaRPr lang="en-US" sz="1100" dirty="0"/>
          </a:p>
        </p:txBody>
      </p:sp>
      <p:sp>
        <p:nvSpPr>
          <p:cNvPr id="27" name="Shape 25"/>
          <p:cNvSpPr/>
          <p:nvPr/>
        </p:nvSpPr>
        <p:spPr>
          <a:xfrm>
            <a:off x="3840480" y="1956816"/>
            <a:ext cx="3108960" cy="384048"/>
          </a:xfrm>
          <a:prstGeom prst="rect">
            <a:avLst/>
          </a:prstGeom>
          <a:solidFill>
            <a:srgbClr val="F4EEF9"/>
          </a:solidFill>
          <a:ln w="6350">
            <a:solidFill>
              <a:srgbClr val="E8DDD2"/>
            </a:solidFill>
            <a:prstDash val="solid"/>
          </a:ln>
        </p:spPr>
      </p:sp>
      <p:sp>
        <p:nvSpPr>
          <p:cNvPr id="28" name="Text 26"/>
          <p:cNvSpPr/>
          <p:nvPr/>
        </p:nvSpPr>
        <p:spPr>
          <a:xfrm>
            <a:off x="3840480" y="1956816"/>
            <a:ext cx="3108960" cy="384048"/>
          </a:xfrm>
          <a:prstGeom prst="rect">
            <a:avLst/>
          </a:prstGeom>
          <a:noFill/>
          <a:ln/>
        </p:spPr>
        <p:txBody>
          <a:bodyPr wrap="square" rtlCol="0" anchor="ctr"/>
          <a:lstStyle/>
          <a:p>
            <a:pPr algn="ctr" indent="0" marL="0">
              <a:buNone/>
            </a:pPr>
            <a:r>
              <a:rPr lang="en-US" sz="1100" dirty="0">
                <a:solidFill>
                  <a:srgbClr val="2B1D12"/>
                </a:solidFill>
                <a:latin typeface="Calibri" pitchFamily="34" charset="0"/>
                <a:ea typeface="Calibri" pitchFamily="34" charset="-122"/>
                <a:cs typeface="Calibri" pitchFamily="34" charset="-120"/>
              </a:rPr>
              <a:t>Partly Cloudy</a:t>
            </a:r>
            <a:endParaRPr lang="en-US" sz="1100" dirty="0"/>
          </a:p>
        </p:txBody>
      </p:sp>
      <p:sp>
        <p:nvSpPr>
          <p:cNvPr id="29" name="Shape 27"/>
          <p:cNvSpPr/>
          <p:nvPr/>
        </p:nvSpPr>
        <p:spPr>
          <a:xfrm>
            <a:off x="6949440" y="1956816"/>
            <a:ext cx="1463040" cy="384048"/>
          </a:xfrm>
          <a:prstGeom prst="rect">
            <a:avLst/>
          </a:prstGeom>
          <a:solidFill>
            <a:srgbClr val="F4EEF9"/>
          </a:solidFill>
          <a:ln w="6350">
            <a:solidFill>
              <a:srgbClr val="E8DDD2"/>
            </a:solidFill>
            <a:prstDash val="solid"/>
          </a:ln>
        </p:spPr>
      </p:sp>
      <p:sp>
        <p:nvSpPr>
          <p:cNvPr id="30" name="Text 28"/>
          <p:cNvSpPr/>
          <p:nvPr/>
        </p:nvSpPr>
        <p:spPr>
          <a:xfrm>
            <a:off x="6949440" y="1956816"/>
            <a:ext cx="1463040" cy="384048"/>
          </a:xfrm>
          <a:prstGeom prst="rect">
            <a:avLst/>
          </a:prstGeom>
          <a:noFill/>
          <a:ln/>
        </p:spPr>
        <p:txBody>
          <a:bodyPr wrap="square" rtlCol="0" anchor="ctr"/>
          <a:lstStyle/>
          <a:p>
            <a:pPr algn="ctr" indent="0" marL="0">
              <a:buNone/>
            </a:pPr>
            <a:r>
              <a:rPr lang="en-US" sz="1100" dirty="0">
                <a:solidFill>
                  <a:srgbClr val="2B1D12"/>
                </a:solidFill>
                <a:latin typeface="Calibri" pitchFamily="34" charset="0"/>
                <a:ea typeface="Calibri" pitchFamily="34" charset="-122"/>
                <a:cs typeface="Calibri" pitchFamily="34" charset="-120"/>
              </a:rPr>
              <a:t>No</a:t>
            </a:r>
            <a:endParaRPr lang="en-US" sz="1100" dirty="0"/>
          </a:p>
        </p:txBody>
      </p:sp>
      <p:sp>
        <p:nvSpPr>
          <p:cNvPr id="31" name="Shape 29"/>
          <p:cNvSpPr/>
          <p:nvPr/>
        </p:nvSpPr>
        <p:spPr>
          <a:xfrm>
            <a:off x="548640" y="2340864"/>
            <a:ext cx="1737360" cy="384048"/>
          </a:xfrm>
          <a:prstGeom prst="rect">
            <a:avLst/>
          </a:prstGeom>
          <a:solidFill>
            <a:srgbClr val="FFFFFF"/>
          </a:solidFill>
          <a:ln w="6350">
            <a:solidFill>
              <a:srgbClr val="E8DDD2"/>
            </a:solidFill>
            <a:prstDash val="solid"/>
          </a:ln>
        </p:spPr>
      </p:sp>
      <p:sp>
        <p:nvSpPr>
          <p:cNvPr id="32" name="Text 30"/>
          <p:cNvSpPr/>
          <p:nvPr/>
        </p:nvSpPr>
        <p:spPr>
          <a:xfrm>
            <a:off x="548640" y="2340864"/>
            <a:ext cx="1737360" cy="384048"/>
          </a:xfrm>
          <a:prstGeom prst="rect">
            <a:avLst/>
          </a:prstGeom>
          <a:noFill/>
          <a:ln/>
        </p:spPr>
        <p:txBody>
          <a:bodyPr wrap="square" rtlCol="0" anchor="ctr"/>
          <a:lstStyle/>
          <a:p>
            <a:pPr algn="ctr" indent="0" marL="0">
              <a:buNone/>
            </a:pPr>
            <a:r>
              <a:rPr lang="en-US" sz="1100" dirty="0">
                <a:solidFill>
                  <a:srgbClr val="2B1D12"/>
                </a:solidFill>
                <a:latin typeface="Calibri" pitchFamily="34" charset="0"/>
                <a:ea typeface="Calibri" pitchFamily="34" charset="-122"/>
                <a:cs typeface="Calibri" pitchFamily="34" charset="-120"/>
              </a:rPr>
              <a:t>Wednesday</a:t>
            </a:r>
            <a:endParaRPr lang="en-US" sz="1100" dirty="0"/>
          </a:p>
        </p:txBody>
      </p:sp>
      <p:sp>
        <p:nvSpPr>
          <p:cNvPr id="33" name="Shape 31"/>
          <p:cNvSpPr/>
          <p:nvPr/>
        </p:nvSpPr>
        <p:spPr>
          <a:xfrm>
            <a:off x="2286000" y="2340864"/>
            <a:ext cx="1554480" cy="384048"/>
          </a:xfrm>
          <a:prstGeom prst="rect">
            <a:avLst/>
          </a:prstGeom>
          <a:solidFill>
            <a:srgbClr val="FFFFFF"/>
          </a:solidFill>
          <a:ln w="6350">
            <a:solidFill>
              <a:srgbClr val="E8DDD2"/>
            </a:solidFill>
            <a:prstDash val="solid"/>
          </a:ln>
        </p:spPr>
      </p:sp>
      <p:sp>
        <p:nvSpPr>
          <p:cNvPr id="34" name="Text 32"/>
          <p:cNvSpPr/>
          <p:nvPr/>
        </p:nvSpPr>
        <p:spPr>
          <a:xfrm>
            <a:off x="2286000" y="2340864"/>
            <a:ext cx="1554480" cy="384048"/>
          </a:xfrm>
          <a:prstGeom prst="rect">
            <a:avLst/>
          </a:prstGeom>
          <a:noFill/>
          <a:ln/>
        </p:spPr>
        <p:txBody>
          <a:bodyPr wrap="square" rtlCol="0" anchor="ctr"/>
          <a:lstStyle/>
          <a:p>
            <a:pPr algn="ctr" indent="0" marL="0">
              <a:buNone/>
            </a:pPr>
            <a:r>
              <a:rPr lang="en-US" sz="1100" dirty="0">
                <a:solidFill>
                  <a:srgbClr val="2B1D12"/>
                </a:solidFill>
                <a:latin typeface="Calibri" pitchFamily="34" charset="0"/>
                <a:ea typeface="Calibri" pitchFamily="34" charset="-122"/>
                <a:cs typeface="Calibri" pitchFamily="34" charset="-120"/>
              </a:rPr>
              <a:t>80°F</a:t>
            </a:r>
            <a:endParaRPr lang="en-US" sz="1100" dirty="0"/>
          </a:p>
        </p:txBody>
      </p:sp>
      <p:sp>
        <p:nvSpPr>
          <p:cNvPr id="35" name="Shape 33"/>
          <p:cNvSpPr/>
          <p:nvPr/>
        </p:nvSpPr>
        <p:spPr>
          <a:xfrm>
            <a:off x="3840480" y="2340864"/>
            <a:ext cx="3108960" cy="384048"/>
          </a:xfrm>
          <a:prstGeom prst="rect">
            <a:avLst/>
          </a:prstGeom>
          <a:solidFill>
            <a:srgbClr val="FFFFFF"/>
          </a:solidFill>
          <a:ln w="6350">
            <a:solidFill>
              <a:srgbClr val="E8DDD2"/>
            </a:solidFill>
            <a:prstDash val="solid"/>
          </a:ln>
        </p:spPr>
      </p:sp>
      <p:sp>
        <p:nvSpPr>
          <p:cNvPr id="36" name="Text 34"/>
          <p:cNvSpPr/>
          <p:nvPr/>
        </p:nvSpPr>
        <p:spPr>
          <a:xfrm>
            <a:off x="3840480" y="2340864"/>
            <a:ext cx="3108960" cy="384048"/>
          </a:xfrm>
          <a:prstGeom prst="rect">
            <a:avLst/>
          </a:prstGeom>
          <a:noFill/>
          <a:ln/>
        </p:spPr>
        <p:txBody>
          <a:bodyPr wrap="square" rtlCol="0" anchor="ctr"/>
          <a:lstStyle/>
          <a:p>
            <a:pPr algn="ctr" indent="0" marL="0">
              <a:buNone/>
            </a:pPr>
            <a:r>
              <a:rPr lang="en-US" sz="1100" dirty="0">
                <a:solidFill>
                  <a:srgbClr val="2B1D12"/>
                </a:solidFill>
                <a:latin typeface="Calibri" pitchFamily="34" charset="0"/>
                <a:ea typeface="Calibri" pitchFamily="34" charset="-122"/>
                <a:cs typeface="Calibri" pitchFamily="34" charset="-120"/>
              </a:rPr>
              <a:t>Sunny</a:t>
            </a:r>
            <a:endParaRPr lang="en-US" sz="1100" dirty="0"/>
          </a:p>
        </p:txBody>
      </p:sp>
      <p:sp>
        <p:nvSpPr>
          <p:cNvPr id="37" name="Shape 35"/>
          <p:cNvSpPr/>
          <p:nvPr/>
        </p:nvSpPr>
        <p:spPr>
          <a:xfrm>
            <a:off x="6949440" y="2340864"/>
            <a:ext cx="1463040" cy="384048"/>
          </a:xfrm>
          <a:prstGeom prst="rect">
            <a:avLst/>
          </a:prstGeom>
          <a:solidFill>
            <a:srgbClr val="FFFFFF"/>
          </a:solidFill>
          <a:ln w="6350">
            <a:solidFill>
              <a:srgbClr val="E8DDD2"/>
            </a:solidFill>
            <a:prstDash val="solid"/>
          </a:ln>
        </p:spPr>
      </p:sp>
      <p:sp>
        <p:nvSpPr>
          <p:cNvPr id="38" name="Text 36"/>
          <p:cNvSpPr/>
          <p:nvPr/>
        </p:nvSpPr>
        <p:spPr>
          <a:xfrm>
            <a:off x="6949440" y="2340864"/>
            <a:ext cx="1463040" cy="384048"/>
          </a:xfrm>
          <a:prstGeom prst="rect">
            <a:avLst/>
          </a:prstGeom>
          <a:noFill/>
          <a:ln/>
        </p:spPr>
        <p:txBody>
          <a:bodyPr wrap="square" rtlCol="0" anchor="ctr"/>
          <a:lstStyle/>
          <a:p>
            <a:pPr algn="ctr" indent="0" marL="0">
              <a:buNone/>
            </a:pPr>
            <a:r>
              <a:rPr lang="en-US" sz="1100" dirty="0">
                <a:solidFill>
                  <a:srgbClr val="2B1D12"/>
                </a:solidFill>
                <a:latin typeface="Calibri" pitchFamily="34" charset="0"/>
                <a:ea typeface="Calibri" pitchFamily="34" charset="-122"/>
                <a:cs typeface="Calibri" pitchFamily="34" charset="-120"/>
              </a:rPr>
              <a:t>No</a:t>
            </a:r>
            <a:endParaRPr lang="en-US" sz="1100" dirty="0"/>
          </a:p>
        </p:txBody>
      </p:sp>
      <p:sp>
        <p:nvSpPr>
          <p:cNvPr id="39" name="Shape 37"/>
          <p:cNvSpPr/>
          <p:nvPr/>
        </p:nvSpPr>
        <p:spPr>
          <a:xfrm>
            <a:off x="548640" y="2724912"/>
            <a:ext cx="1737360" cy="384048"/>
          </a:xfrm>
          <a:prstGeom prst="rect">
            <a:avLst/>
          </a:prstGeom>
          <a:solidFill>
            <a:srgbClr val="F4EEF9"/>
          </a:solidFill>
          <a:ln w="6350">
            <a:solidFill>
              <a:srgbClr val="E8DDD2"/>
            </a:solidFill>
            <a:prstDash val="solid"/>
          </a:ln>
        </p:spPr>
      </p:sp>
      <p:sp>
        <p:nvSpPr>
          <p:cNvPr id="40" name="Text 38"/>
          <p:cNvSpPr/>
          <p:nvPr/>
        </p:nvSpPr>
        <p:spPr>
          <a:xfrm>
            <a:off x="548640" y="2724912"/>
            <a:ext cx="1737360" cy="384048"/>
          </a:xfrm>
          <a:prstGeom prst="rect">
            <a:avLst/>
          </a:prstGeom>
          <a:noFill/>
          <a:ln/>
        </p:spPr>
        <p:txBody>
          <a:bodyPr wrap="square" rtlCol="0" anchor="ctr"/>
          <a:lstStyle/>
          <a:p>
            <a:pPr algn="ctr" indent="0" marL="0">
              <a:buNone/>
            </a:pPr>
            <a:r>
              <a:rPr lang="en-US" sz="1100" dirty="0">
                <a:solidFill>
                  <a:srgbClr val="2B1D12"/>
                </a:solidFill>
                <a:latin typeface="Calibri" pitchFamily="34" charset="0"/>
                <a:ea typeface="Calibri" pitchFamily="34" charset="-122"/>
                <a:cs typeface="Calibri" pitchFamily="34" charset="-120"/>
              </a:rPr>
              <a:t>Thursday</a:t>
            </a:r>
            <a:endParaRPr lang="en-US" sz="1100" dirty="0"/>
          </a:p>
        </p:txBody>
      </p:sp>
      <p:sp>
        <p:nvSpPr>
          <p:cNvPr id="41" name="Shape 39"/>
          <p:cNvSpPr/>
          <p:nvPr/>
        </p:nvSpPr>
        <p:spPr>
          <a:xfrm>
            <a:off x="2286000" y="2724912"/>
            <a:ext cx="1554480" cy="384048"/>
          </a:xfrm>
          <a:prstGeom prst="rect">
            <a:avLst/>
          </a:prstGeom>
          <a:solidFill>
            <a:srgbClr val="F4EEF9"/>
          </a:solidFill>
          <a:ln w="6350">
            <a:solidFill>
              <a:srgbClr val="E8DDD2"/>
            </a:solidFill>
            <a:prstDash val="solid"/>
          </a:ln>
        </p:spPr>
      </p:sp>
      <p:sp>
        <p:nvSpPr>
          <p:cNvPr id="42" name="Text 40"/>
          <p:cNvSpPr/>
          <p:nvPr/>
        </p:nvSpPr>
        <p:spPr>
          <a:xfrm>
            <a:off x="2286000" y="2724912"/>
            <a:ext cx="1554480" cy="384048"/>
          </a:xfrm>
          <a:prstGeom prst="rect">
            <a:avLst/>
          </a:prstGeom>
          <a:noFill/>
          <a:ln/>
        </p:spPr>
        <p:txBody>
          <a:bodyPr wrap="square" rtlCol="0" anchor="ctr"/>
          <a:lstStyle/>
          <a:p>
            <a:pPr algn="ctr" indent="0" marL="0">
              <a:buNone/>
            </a:pPr>
            <a:r>
              <a:rPr lang="en-US" sz="1100" dirty="0">
                <a:solidFill>
                  <a:srgbClr val="2B1D12"/>
                </a:solidFill>
                <a:latin typeface="Calibri" pitchFamily="34" charset="0"/>
                <a:ea typeface="Calibri" pitchFamily="34" charset="-122"/>
                <a:cs typeface="Calibri" pitchFamily="34" charset="-120"/>
              </a:rPr>
              <a:t>68°F</a:t>
            </a:r>
            <a:endParaRPr lang="en-US" sz="1100" dirty="0"/>
          </a:p>
        </p:txBody>
      </p:sp>
      <p:sp>
        <p:nvSpPr>
          <p:cNvPr id="43" name="Shape 41"/>
          <p:cNvSpPr/>
          <p:nvPr/>
        </p:nvSpPr>
        <p:spPr>
          <a:xfrm>
            <a:off x="3840480" y="2724912"/>
            <a:ext cx="3108960" cy="384048"/>
          </a:xfrm>
          <a:prstGeom prst="rect">
            <a:avLst/>
          </a:prstGeom>
          <a:solidFill>
            <a:srgbClr val="F4EEF9"/>
          </a:solidFill>
          <a:ln w="6350">
            <a:solidFill>
              <a:srgbClr val="E8DDD2"/>
            </a:solidFill>
            <a:prstDash val="solid"/>
          </a:ln>
        </p:spPr>
      </p:sp>
      <p:sp>
        <p:nvSpPr>
          <p:cNvPr id="44" name="Text 42"/>
          <p:cNvSpPr/>
          <p:nvPr/>
        </p:nvSpPr>
        <p:spPr>
          <a:xfrm>
            <a:off x="3840480" y="2724912"/>
            <a:ext cx="3108960" cy="384048"/>
          </a:xfrm>
          <a:prstGeom prst="rect">
            <a:avLst/>
          </a:prstGeom>
          <a:noFill/>
          <a:ln/>
        </p:spPr>
        <p:txBody>
          <a:bodyPr wrap="square" rtlCol="0" anchor="ctr"/>
          <a:lstStyle/>
          <a:p>
            <a:pPr algn="ctr" indent="0" marL="0">
              <a:buNone/>
            </a:pPr>
            <a:r>
              <a:rPr lang="en-US" sz="1100" dirty="0">
                <a:solidFill>
                  <a:srgbClr val="2B1D12"/>
                </a:solidFill>
                <a:latin typeface="Calibri" pitchFamily="34" charset="0"/>
                <a:ea typeface="Calibri" pitchFamily="34" charset="-122"/>
                <a:cs typeface="Calibri" pitchFamily="34" charset="-120"/>
              </a:rPr>
              <a:t>Partly Cloudy</a:t>
            </a:r>
            <a:endParaRPr lang="en-US" sz="1100" dirty="0"/>
          </a:p>
        </p:txBody>
      </p:sp>
      <p:sp>
        <p:nvSpPr>
          <p:cNvPr id="45" name="Shape 43"/>
          <p:cNvSpPr/>
          <p:nvPr/>
        </p:nvSpPr>
        <p:spPr>
          <a:xfrm>
            <a:off x="6949440" y="2724912"/>
            <a:ext cx="1463040" cy="384048"/>
          </a:xfrm>
          <a:prstGeom prst="rect">
            <a:avLst/>
          </a:prstGeom>
          <a:solidFill>
            <a:srgbClr val="F4EEF9"/>
          </a:solidFill>
          <a:ln w="6350">
            <a:solidFill>
              <a:srgbClr val="E8DDD2"/>
            </a:solidFill>
            <a:prstDash val="solid"/>
          </a:ln>
        </p:spPr>
      </p:sp>
      <p:sp>
        <p:nvSpPr>
          <p:cNvPr id="46" name="Text 44"/>
          <p:cNvSpPr/>
          <p:nvPr/>
        </p:nvSpPr>
        <p:spPr>
          <a:xfrm>
            <a:off x="6949440" y="2724912"/>
            <a:ext cx="1463040" cy="384048"/>
          </a:xfrm>
          <a:prstGeom prst="rect">
            <a:avLst/>
          </a:prstGeom>
          <a:noFill/>
          <a:ln/>
        </p:spPr>
        <p:txBody>
          <a:bodyPr wrap="square" rtlCol="0" anchor="ctr"/>
          <a:lstStyle/>
          <a:p>
            <a:pPr algn="ctr" indent="0" marL="0">
              <a:buNone/>
            </a:pPr>
            <a:r>
              <a:rPr lang="en-US" sz="1100" dirty="0">
                <a:solidFill>
                  <a:srgbClr val="2B1D12"/>
                </a:solidFill>
                <a:latin typeface="Calibri" pitchFamily="34" charset="0"/>
                <a:ea typeface="Calibri" pitchFamily="34" charset="-122"/>
                <a:cs typeface="Calibri" pitchFamily="34" charset="-120"/>
              </a:rPr>
              <a:t>No</a:t>
            </a:r>
            <a:endParaRPr lang="en-US" sz="1100" dirty="0"/>
          </a:p>
        </p:txBody>
      </p:sp>
      <p:sp>
        <p:nvSpPr>
          <p:cNvPr id="47" name="Shape 45"/>
          <p:cNvSpPr/>
          <p:nvPr/>
        </p:nvSpPr>
        <p:spPr>
          <a:xfrm>
            <a:off x="548640" y="3108960"/>
            <a:ext cx="1737360" cy="384048"/>
          </a:xfrm>
          <a:prstGeom prst="rect">
            <a:avLst/>
          </a:prstGeom>
          <a:solidFill>
            <a:srgbClr val="FFFFFF"/>
          </a:solidFill>
          <a:ln w="6350">
            <a:solidFill>
              <a:srgbClr val="E8DDD2"/>
            </a:solidFill>
            <a:prstDash val="solid"/>
          </a:ln>
        </p:spPr>
      </p:sp>
      <p:sp>
        <p:nvSpPr>
          <p:cNvPr id="48" name="Text 46"/>
          <p:cNvSpPr/>
          <p:nvPr/>
        </p:nvSpPr>
        <p:spPr>
          <a:xfrm>
            <a:off x="548640" y="3108960"/>
            <a:ext cx="1737360" cy="384048"/>
          </a:xfrm>
          <a:prstGeom prst="rect">
            <a:avLst/>
          </a:prstGeom>
          <a:noFill/>
          <a:ln/>
        </p:spPr>
        <p:txBody>
          <a:bodyPr wrap="square" rtlCol="0" anchor="ctr"/>
          <a:lstStyle/>
          <a:p>
            <a:pPr algn="ctr" indent="0" marL="0">
              <a:buNone/>
            </a:pPr>
            <a:r>
              <a:rPr lang="en-US" sz="1100" dirty="0">
                <a:solidFill>
                  <a:srgbClr val="2B1D12"/>
                </a:solidFill>
                <a:latin typeface="Calibri" pitchFamily="34" charset="0"/>
                <a:ea typeface="Calibri" pitchFamily="34" charset="-122"/>
                <a:cs typeface="Calibri" pitchFamily="34" charset="-120"/>
              </a:rPr>
              <a:t>Friday</a:t>
            </a:r>
            <a:endParaRPr lang="en-US" sz="1100" dirty="0"/>
          </a:p>
        </p:txBody>
      </p:sp>
      <p:sp>
        <p:nvSpPr>
          <p:cNvPr id="49" name="Shape 47"/>
          <p:cNvSpPr/>
          <p:nvPr/>
        </p:nvSpPr>
        <p:spPr>
          <a:xfrm>
            <a:off x="2286000" y="3108960"/>
            <a:ext cx="1554480" cy="384048"/>
          </a:xfrm>
          <a:prstGeom prst="rect">
            <a:avLst/>
          </a:prstGeom>
          <a:solidFill>
            <a:srgbClr val="FFFFFF"/>
          </a:solidFill>
          <a:ln w="6350">
            <a:solidFill>
              <a:srgbClr val="E8DDD2"/>
            </a:solidFill>
            <a:prstDash val="solid"/>
          </a:ln>
        </p:spPr>
      </p:sp>
      <p:sp>
        <p:nvSpPr>
          <p:cNvPr id="50" name="Text 48"/>
          <p:cNvSpPr/>
          <p:nvPr/>
        </p:nvSpPr>
        <p:spPr>
          <a:xfrm>
            <a:off x="2286000" y="3108960"/>
            <a:ext cx="1554480" cy="384048"/>
          </a:xfrm>
          <a:prstGeom prst="rect">
            <a:avLst/>
          </a:prstGeom>
          <a:noFill/>
          <a:ln/>
        </p:spPr>
        <p:txBody>
          <a:bodyPr wrap="square" rtlCol="0" anchor="ctr"/>
          <a:lstStyle/>
          <a:p>
            <a:pPr algn="ctr" indent="0" marL="0">
              <a:buNone/>
            </a:pPr>
            <a:r>
              <a:rPr lang="en-US" sz="1100" dirty="0">
                <a:solidFill>
                  <a:srgbClr val="2B1D12"/>
                </a:solidFill>
                <a:latin typeface="Calibri" pitchFamily="34" charset="0"/>
                <a:ea typeface="Calibri" pitchFamily="34" charset="-122"/>
                <a:cs typeface="Calibri" pitchFamily="34" charset="-120"/>
              </a:rPr>
              <a:t>55°F</a:t>
            </a:r>
            <a:endParaRPr lang="en-US" sz="1100" dirty="0"/>
          </a:p>
        </p:txBody>
      </p:sp>
      <p:sp>
        <p:nvSpPr>
          <p:cNvPr id="51" name="Shape 49"/>
          <p:cNvSpPr/>
          <p:nvPr/>
        </p:nvSpPr>
        <p:spPr>
          <a:xfrm>
            <a:off x="3840480" y="3108960"/>
            <a:ext cx="3108960" cy="384048"/>
          </a:xfrm>
          <a:prstGeom prst="rect">
            <a:avLst/>
          </a:prstGeom>
          <a:solidFill>
            <a:srgbClr val="FFFFFF"/>
          </a:solidFill>
          <a:ln w="6350">
            <a:solidFill>
              <a:srgbClr val="E8DDD2"/>
            </a:solidFill>
            <a:prstDash val="solid"/>
          </a:ln>
        </p:spPr>
      </p:sp>
      <p:sp>
        <p:nvSpPr>
          <p:cNvPr id="52" name="Text 50"/>
          <p:cNvSpPr/>
          <p:nvPr/>
        </p:nvSpPr>
        <p:spPr>
          <a:xfrm>
            <a:off x="3840480" y="3108960"/>
            <a:ext cx="3108960" cy="384048"/>
          </a:xfrm>
          <a:prstGeom prst="rect">
            <a:avLst/>
          </a:prstGeom>
          <a:noFill/>
          <a:ln/>
        </p:spPr>
        <p:txBody>
          <a:bodyPr wrap="square" rtlCol="0" anchor="ctr"/>
          <a:lstStyle/>
          <a:p>
            <a:pPr algn="ctr" indent="0" marL="0">
              <a:buNone/>
            </a:pPr>
            <a:r>
              <a:rPr lang="en-US" sz="1100" dirty="0">
                <a:solidFill>
                  <a:srgbClr val="2B1D12"/>
                </a:solidFill>
                <a:latin typeface="Calibri" pitchFamily="34" charset="0"/>
                <a:ea typeface="Calibri" pitchFamily="34" charset="-122"/>
                <a:cs typeface="Calibri" pitchFamily="34" charset="-120"/>
              </a:rPr>
              <a:t>Rainy</a:t>
            </a:r>
            <a:endParaRPr lang="en-US" sz="1100" dirty="0"/>
          </a:p>
        </p:txBody>
      </p:sp>
      <p:sp>
        <p:nvSpPr>
          <p:cNvPr id="53" name="Shape 51"/>
          <p:cNvSpPr/>
          <p:nvPr/>
        </p:nvSpPr>
        <p:spPr>
          <a:xfrm>
            <a:off x="6949440" y="3108960"/>
            <a:ext cx="1463040" cy="384048"/>
          </a:xfrm>
          <a:prstGeom prst="rect">
            <a:avLst/>
          </a:prstGeom>
          <a:solidFill>
            <a:srgbClr val="FFFFFF"/>
          </a:solidFill>
          <a:ln w="6350">
            <a:solidFill>
              <a:srgbClr val="E8DDD2"/>
            </a:solidFill>
            <a:prstDash val="solid"/>
          </a:ln>
        </p:spPr>
      </p:sp>
      <p:sp>
        <p:nvSpPr>
          <p:cNvPr id="54" name="Text 52"/>
          <p:cNvSpPr/>
          <p:nvPr/>
        </p:nvSpPr>
        <p:spPr>
          <a:xfrm>
            <a:off x="6949440" y="3108960"/>
            <a:ext cx="1463040" cy="384048"/>
          </a:xfrm>
          <a:prstGeom prst="rect">
            <a:avLst/>
          </a:prstGeom>
          <a:noFill/>
          <a:ln/>
        </p:spPr>
        <p:txBody>
          <a:bodyPr wrap="square" rtlCol="0" anchor="ctr"/>
          <a:lstStyle/>
          <a:p>
            <a:pPr algn="ctr" indent="0" marL="0">
              <a:buNone/>
            </a:pPr>
            <a:r>
              <a:rPr lang="en-US" sz="1100" dirty="0">
                <a:solidFill>
                  <a:srgbClr val="2B1D12"/>
                </a:solidFill>
                <a:latin typeface="Calibri" pitchFamily="34" charset="0"/>
                <a:ea typeface="Calibri" pitchFamily="34" charset="-122"/>
                <a:cs typeface="Calibri" pitchFamily="34" charset="-120"/>
              </a:rPr>
              <a:t>Yes</a:t>
            </a:r>
            <a:endParaRPr lang="en-US" sz="1100" dirty="0"/>
          </a:p>
        </p:txBody>
      </p:sp>
      <p:sp>
        <p:nvSpPr>
          <p:cNvPr id="55" name="Shape 53"/>
          <p:cNvSpPr/>
          <p:nvPr/>
        </p:nvSpPr>
        <p:spPr>
          <a:xfrm>
            <a:off x="320040" y="3630168"/>
            <a:ext cx="8503920" cy="902970"/>
          </a:xfrm>
          <a:prstGeom prst="roundRect">
            <a:avLst>
              <a:gd name="adj" fmla="val 8101"/>
            </a:avLst>
          </a:prstGeom>
          <a:solidFill>
            <a:srgbClr val="FFF9E8"/>
          </a:solidFill>
          <a:ln w="19050">
            <a:solidFill>
              <a:srgbClr val="F9A825"/>
            </a:solidFill>
            <a:prstDash val="solid"/>
          </a:ln>
        </p:spPr>
      </p:sp>
      <p:sp>
        <p:nvSpPr>
          <p:cNvPr id="56" name="Text 54"/>
          <p:cNvSpPr/>
          <p:nvPr/>
        </p:nvSpPr>
        <p:spPr>
          <a:xfrm>
            <a:off x="502920" y="3703320"/>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57" name="Text 55"/>
          <p:cNvSpPr/>
          <p:nvPr/>
        </p:nvSpPr>
        <p:spPr>
          <a:xfrm>
            <a:off x="502920" y="3922776"/>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Look at just the Temp column. What pattern do you notice across the week? What do you wonder caused Friday's drop?</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CONCEPT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Say It Before We Show It</a:t>
            </a:r>
            <a:endParaRPr lang="en-US" sz="2100" dirty="0"/>
          </a:p>
        </p:txBody>
      </p:sp>
      <p:sp>
        <p:nvSpPr>
          <p:cNvPr id="7" name="Shape 5"/>
          <p:cNvSpPr/>
          <p:nvPr/>
        </p:nvSpPr>
        <p:spPr>
          <a:xfrm>
            <a:off x="320040" y="1280160"/>
            <a:ext cx="8503920" cy="1371600"/>
          </a:xfrm>
          <a:prstGeom prst="roundRect">
            <a:avLst>
              <a:gd name="adj" fmla="val 5333"/>
            </a:avLst>
          </a:prstGeom>
          <a:solidFill>
            <a:srgbClr val="F0F8E8"/>
          </a:solidFill>
          <a:ln w="19050">
            <a:solidFill>
              <a:srgbClr val="C8E0B8"/>
            </a:solidFill>
            <a:prstDash val="solid"/>
          </a:ln>
        </p:spPr>
      </p:sp>
      <p:sp>
        <p:nvSpPr>
          <p:cNvPr id="8" name="Text 6"/>
          <p:cNvSpPr/>
          <p:nvPr/>
        </p:nvSpPr>
        <p:spPr>
          <a:xfrm>
            <a:off x="502920" y="1353312"/>
            <a:ext cx="8138160" cy="219456"/>
          </a:xfrm>
          <a:prstGeom prst="rect">
            <a:avLst/>
          </a:prstGeom>
          <a:noFill/>
          <a:ln/>
        </p:spPr>
        <p:txBody>
          <a:bodyPr wrap="square" rtlCol="0" anchor="ctr"/>
          <a:lstStyle/>
          <a:p>
            <a:pPr indent="0" marL="0">
              <a:buNone/>
            </a:pPr>
            <a:r>
              <a:rPr lang="en-US" sz="1100" b="1" spc="100" kern="0" dirty="0">
                <a:solidFill>
                  <a:srgbClr val="558B2F"/>
                </a:solidFill>
                <a:latin typeface="Calibri" pitchFamily="34" charset="0"/>
                <a:ea typeface="Calibri" pitchFamily="34" charset="-122"/>
                <a:cs typeface="Calibri" pitchFamily="34" charset="-120"/>
              </a:rPr>
              <a:t>KEY CONCEPT</a:t>
            </a:r>
            <a:endParaRPr lang="en-US" sz="1100" dirty="0"/>
          </a:p>
        </p:txBody>
      </p:sp>
      <p:sp>
        <p:nvSpPr>
          <p:cNvPr id="9" name="Text 7"/>
          <p:cNvSpPr/>
          <p:nvPr/>
        </p:nvSpPr>
        <p:spPr>
          <a:xfrm>
            <a:off x="502920" y="1572768"/>
            <a:ext cx="8138160" cy="1024128"/>
          </a:xfrm>
          <a:prstGeom prst="rect">
            <a:avLst/>
          </a:prstGeom>
          <a:noFill/>
          <a:ln/>
        </p:spPr>
        <p:txBody>
          <a:bodyPr wrap="square" rtlCol="0" anchor="t"/>
          <a:lstStyle/>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Scientists record and graph data to find patterns they might miss in a list of numbers. When the same pattern repeats week after week, scientists can use it to predict what the weather will probably do next.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AMAZING SCIENCE FACT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10,000+ Weather Stations</a:t>
            </a:r>
            <a:endParaRPr lang="en-US" sz="2100" dirty="0"/>
          </a:p>
        </p:txBody>
      </p:sp>
      <p:sp>
        <p:nvSpPr>
          <p:cNvPr id="7" name="Text 5"/>
          <p:cNvSpPr/>
          <p:nvPr/>
        </p:nvSpPr>
        <p:spPr>
          <a:xfrm>
            <a:off x="457200" y="1143000"/>
            <a:ext cx="8229600" cy="868680"/>
          </a:xfrm>
          <a:prstGeom prst="rect">
            <a:avLst/>
          </a:prstGeom>
          <a:noFill/>
          <a:ln/>
        </p:spPr>
        <p:txBody>
          <a:bodyPr wrap="square" rtlCol="0" anchor="t"/>
          <a:lstStyle/>
          <a:p>
            <a:pPr indent="0" marL="0">
              <a:buNone/>
            </a:pPr>
            <a:r>
              <a:rPr lang="en-US" sz="1400" dirty="0">
                <a:solidFill>
                  <a:srgbClr val="2B1D12"/>
                </a:solidFill>
                <a:latin typeface="Calibri" pitchFamily="34" charset="0"/>
                <a:ea typeface="Calibri" pitchFamily="34" charset="-122"/>
                <a:cs typeface="Calibri" pitchFamily="34" charset="-120"/>
              </a:rPr>
              <a:t>There are more than 10,000 weather stations in the United States alone — and they collect data every single hour. That means scientists graph millions of data points every day just to figure out tomorrow's forecast!</a:t>
            </a:r>
            <a:endParaRPr lang="en-US" sz="1400" dirty="0"/>
          </a:p>
        </p:txBody>
      </p:sp>
      <p:sp>
        <p:nvSpPr>
          <p:cNvPr id="8" name="Shape 6"/>
          <p:cNvSpPr/>
          <p:nvPr/>
        </p:nvSpPr>
        <p:spPr>
          <a:xfrm>
            <a:off x="457200" y="2103120"/>
            <a:ext cx="8229600" cy="2286000"/>
          </a:xfrm>
          <a:prstGeom prst="roundRect">
            <a:avLst>
              <a:gd name="adj" fmla="val 3200"/>
            </a:avLst>
          </a:prstGeom>
          <a:solidFill>
            <a:srgbClr val="FFF3E0"/>
          </a:solidFill>
          <a:ln w="25400">
            <a:solidFill>
              <a:srgbClr val="F9A825"/>
            </a:solidFill>
            <a:prstDash val="dash"/>
          </a:ln>
        </p:spPr>
      </p:sp>
      <p:sp>
        <p:nvSpPr>
          <p:cNvPr id="9" name="Text 7"/>
          <p:cNvSpPr/>
          <p:nvPr/>
        </p:nvSpPr>
        <p:spPr>
          <a:xfrm>
            <a:off x="640080" y="2194560"/>
            <a:ext cx="786384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10" name="Text 8"/>
          <p:cNvSpPr/>
          <p:nvPr/>
        </p:nvSpPr>
        <p:spPr>
          <a:xfrm>
            <a:off x="640080" y="2468880"/>
            <a:ext cx="7863840" cy="157276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A real automated weather station in an open flat grassy field under a wide blue sky with scattered clouds. Metal post with white instrument shelter (Stevenson screen), cup anemometer at top, small solar panel, possibly a rain gauge. Rural, natural, photorealistic, no people, no cartoons.</a:t>
            </a:r>
            <a:endParaRPr lang="en-US" sz="1100" dirty="0"/>
          </a:p>
        </p:txBody>
      </p:sp>
      <p:sp>
        <p:nvSpPr>
          <p:cNvPr id="11" name="Text 9"/>
          <p:cNvSpPr/>
          <p:nvPr/>
        </p:nvSpPr>
        <p:spPr>
          <a:xfrm>
            <a:off x="640080" y="4096512"/>
            <a:ext cx="786384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images/2-02-weather-station-field.png</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E651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 · 20 MIN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Let's Graph Some Weather!</a:t>
            </a:r>
            <a:endParaRPr lang="en-US" sz="2100" dirty="0"/>
          </a:p>
        </p:txBody>
      </p:sp>
      <p:sp>
        <p:nvSpPr>
          <p:cNvPr id="7" name="Text 5"/>
          <p:cNvSpPr/>
          <p:nvPr/>
        </p:nvSpPr>
        <p:spPr>
          <a:xfrm>
            <a:off x="365760" y="1097280"/>
            <a:ext cx="8412480" cy="457200"/>
          </a:xfrm>
          <a:prstGeom prst="rect">
            <a:avLst/>
          </a:prstGeom>
          <a:noFill/>
          <a:ln/>
        </p:spPr>
        <p:txBody>
          <a:bodyPr wrap="square" rtlCol="0" anchor="ctr"/>
          <a:lstStyle/>
          <a:p>
            <a:pPr indent="0" marL="0">
              <a:buNone/>
            </a:pPr>
            <a:r>
              <a:rPr lang="en-US" sz="1250" i="1" dirty="0">
                <a:solidFill>
                  <a:srgbClr val="5A4D3E"/>
                </a:solidFill>
                <a:latin typeface="Calibri" pitchFamily="34" charset="0"/>
                <a:ea typeface="Calibri" pitchFamily="34" charset="-122"/>
                <a:cs typeface="Calibri" pitchFamily="34" charset="-120"/>
              </a:rPr>
              <a:t>Use the weather data from Lesson 2.01, or the sample data table from a few slides ago. Follow each step carefully in your science notebook.</a:t>
            </a:r>
            <a:endParaRPr lang="en-US" sz="1250" dirty="0"/>
          </a:p>
        </p:txBody>
      </p:sp>
      <p:sp>
        <p:nvSpPr>
          <p:cNvPr id="8" name="Shape 6"/>
          <p:cNvSpPr/>
          <p:nvPr/>
        </p:nvSpPr>
        <p:spPr>
          <a:xfrm>
            <a:off x="457200" y="1691640"/>
            <a:ext cx="457200" cy="457200"/>
          </a:xfrm>
          <a:prstGeom prst="ellipse">
            <a:avLst/>
          </a:prstGeom>
          <a:solidFill>
            <a:srgbClr val="E65100"/>
          </a:solidFill>
          <a:ln/>
        </p:spPr>
      </p:sp>
      <p:sp>
        <p:nvSpPr>
          <p:cNvPr id="9" name="Text 7"/>
          <p:cNvSpPr/>
          <p:nvPr/>
        </p:nvSpPr>
        <p:spPr>
          <a:xfrm>
            <a:off x="457200" y="169164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0" name="Text 8"/>
          <p:cNvSpPr/>
          <p:nvPr/>
        </p:nvSpPr>
        <p:spPr>
          <a:xfrm>
            <a:off x="1097280" y="1645920"/>
            <a:ext cx="7589520" cy="822960"/>
          </a:xfrm>
          <a:prstGeom prst="rect">
            <a:avLst/>
          </a:prstGeom>
          <a:noFill/>
          <a:ln/>
        </p:spPr>
        <p:txBody>
          <a:bodyPr wrap="square" rtlCol="0" anchor="t"/>
          <a:lstStyle/>
          <a:p>
            <a:pPr indent="0" marL="0">
              <a:lnSpc>
                <a:spcPts val="1600"/>
              </a:lnSpc>
              <a:buNone/>
            </a:pPr>
            <a:r>
              <a:rPr lang="en-US" sz="1250" b="1" dirty="0">
                <a:solidFill>
                  <a:srgbClr val="2B1D12"/>
                </a:solidFill>
                <a:latin typeface="Calibri" pitchFamily="34" charset="0"/>
                <a:ea typeface="Calibri" pitchFamily="34" charset="-122"/>
                <a:cs typeface="Calibri" pitchFamily="34" charset="-120"/>
              </a:rPr>
              <a:t>Copy the data table.  </a:t>
            </a:r>
            <a:pPr indent="0" marL="0">
              <a:lnSpc>
                <a:spcPts val="1600"/>
              </a:lnSpc>
              <a:buNone/>
            </a:pPr>
            <a:r>
              <a:rPr lang="en-US" sz="1250" dirty="0">
                <a:solidFill>
                  <a:srgbClr val="5A4D3E"/>
                </a:solidFill>
                <a:latin typeface="Calibri" pitchFamily="34" charset="0"/>
                <a:ea typeface="Calibri" pitchFamily="34" charset="-122"/>
                <a:cs typeface="Calibri" pitchFamily="34" charset="-120"/>
              </a:rPr>
              <a:t>Draw a table with 4 columns: Day, Temperature (°F), Conditions, Precipitation. Copy in your data.</a:t>
            </a:r>
            <a:endParaRPr lang="en-US" sz="1250" dirty="0"/>
          </a:p>
        </p:txBody>
      </p:sp>
      <p:sp>
        <p:nvSpPr>
          <p:cNvPr id="11" name="Shape 9"/>
          <p:cNvSpPr/>
          <p:nvPr/>
        </p:nvSpPr>
        <p:spPr>
          <a:xfrm>
            <a:off x="457200" y="2606040"/>
            <a:ext cx="457200" cy="457200"/>
          </a:xfrm>
          <a:prstGeom prst="ellipse">
            <a:avLst/>
          </a:prstGeom>
          <a:solidFill>
            <a:srgbClr val="E65100"/>
          </a:solidFill>
          <a:ln/>
        </p:spPr>
      </p:sp>
      <p:sp>
        <p:nvSpPr>
          <p:cNvPr id="12" name="Text 10"/>
          <p:cNvSpPr/>
          <p:nvPr/>
        </p:nvSpPr>
        <p:spPr>
          <a:xfrm>
            <a:off x="457200" y="260604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1097280" y="2560320"/>
            <a:ext cx="7589520" cy="822960"/>
          </a:xfrm>
          <a:prstGeom prst="rect">
            <a:avLst/>
          </a:prstGeom>
          <a:noFill/>
          <a:ln/>
        </p:spPr>
        <p:txBody>
          <a:bodyPr wrap="square" rtlCol="0" anchor="t"/>
          <a:lstStyle/>
          <a:p>
            <a:pPr indent="0" marL="0">
              <a:lnSpc>
                <a:spcPts val="1600"/>
              </a:lnSpc>
              <a:buNone/>
            </a:pPr>
            <a:r>
              <a:rPr lang="en-US" sz="1250" b="1" dirty="0">
                <a:solidFill>
                  <a:srgbClr val="2B1D12"/>
                </a:solidFill>
                <a:latin typeface="Calibri" pitchFamily="34" charset="0"/>
                <a:ea typeface="Calibri" pitchFamily="34" charset="-122"/>
                <a:cs typeface="Calibri" pitchFamily="34" charset="-120"/>
              </a:rPr>
              <a:t>Set up your bar graph.  </a:t>
            </a:r>
            <a:pPr indent="0" marL="0">
              <a:lnSpc>
                <a:spcPts val="1600"/>
              </a:lnSpc>
              <a:buNone/>
            </a:pPr>
            <a:r>
              <a:rPr lang="en-US" sz="1250" dirty="0">
                <a:solidFill>
                  <a:srgbClr val="5A4D3E"/>
                </a:solidFill>
                <a:latin typeface="Calibri" pitchFamily="34" charset="0"/>
                <a:ea typeface="Calibri" pitchFamily="34" charset="-122"/>
                <a:cs typeface="Calibri" pitchFamily="34" charset="-120"/>
              </a:rPr>
              <a:t>Draw two axes. Label horizontal "Day of the Week" (Mon-Fri). Label vertical "Temperature (°F)" from 40°F to 90°F, steps of 10.</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E651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 CONTINUED</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Draw, Color, Title, Label</a:t>
            </a:r>
            <a:endParaRPr lang="en-US" sz="2100" dirty="0"/>
          </a:p>
        </p:txBody>
      </p:sp>
      <p:sp>
        <p:nvSpPr>
          <p:cNvPr id="7" name="Shape 5"/>
          <p:cNvSpPr/>
          <p:nvPr/>
        </p:nvSpPr>
        <p:spPr>
          <a:xfrm>
            <a:off x="457200" y="1188720"/>
            <a:ext cx="457200" cy="457200"/>
          </a:xfrm>
          <a:prstGeom prst="ellipse">
            <a:avLst/>
          </a:prstGeom>
          <a:solidFill>
            <a:srgbClr val="E65100"/>
          </a:solidFill>
          <a:ln/>
        </p:spPr>
      </p:sp>
      <p:sp>
        <p:nvSpPr>
          <p:cNvPr id="8" name="Text 6"/>
          <p:cNvSpPr/>
          <p:nvPr/>
        </p:nvSpPr>
        <p:spPr>
          <a:xfrm>
            <a:off x="457200" y="118872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9" name="Text 7"/>
          <p:cNvSpPr/>
          <p:nvPr/>
        </p:nvSpPr>
        <p:spPr>
          <a:xfrm>
            <a:off x="1097280" y="1143000"/>
            <a:ext cx="7589520" cy="1051560"/>
          </a:xfrm>
          <a:prstGeom prst="rect">
            <a:avLst/>
          </a:prstGeom>
          <a:noFill/>
          <a:ln/>
        </p:spPr>
        <p:txBody>
          <a:bodyPr wrap="square" rtlCol="0" anchor="t"/>
          <a:lstStyle/>
          <a:p>
            <a:pPr indent="0" marL="0">
              <a:lnSpc>
                <a:spcPts val="1600"/>
              </a:lnSpc>
              <a:buNone/>
            </a:pPr>
            <a:r>
              <a:rPr lang="en-US" sz="1250" b="1" dirty="0">
                <a:solidFill>
                  <a:srgbClr val="2B1D12"/>
                </a:solidFill>
                <a:latin typeface="Calibri" pitchFamily="34" charset="0"/>
                <a:ea typeface="Calibri" pitchFamily="34" charset="-122"/>
                <a:cs typeface="Calibri" pitchFamily="34" charset="-120"/>
              </a:rPr>
              <a:t>Draw and color the bars.  </a:t>
            </a:r>
            <a:pPr indent="0" marL="0">
              <a:lnSpc>
                <a:spcPts val="1600"/>
              </a:lnSpc>
              <a:buNone/>
            </a:pPr>
            <a:r>
              <a:rPr lang="en-US" sz="1250" dirty="0">
                <a:solidFill>
                  <a:srgbClr val="5A4D3E"/>
                </a:solidFill>
                <a:latin typeface="Calibri" pitchFamily="34" charset="0"/>
                <a:ea typeface="Calibri" pitchFamily="34" charset="-122"/>
                <a:cs typeface="Calibri" pitchFamily="34" charset="-120"/>
              </a:rPr>
              <a:t>For each day, find the temperature on your vertical axis and draw a bar up to that height. Use a different color for each bar. Use your ruler. Write the number at the top of each bar.</a:t>
            </a:r>
            <a:endParaRPr lang="en-US" sz="1250" dirty="0"/>
          </a:p>
        </p:txBody>
      </p:sp>
      <p:sp>
        <p:nvSpPr>
          <p:cNvPr id="10" name="Shape 8"/>
          <p:cNvSpPr/>
          <p:nvPr/>
        </p:nvSpPr>
        <p:spPr>
          <a:xfrm>
            <a:off x="457200" y="2331720"/>
            <a:ext cx="457200" cy="457200"/>
          </a:xfrm>
          <a:prstGeom prst="ellipse">
            <a:avLst/>
          </a:prstGeom>
          <a:solidFill>
            <a:srgbClr val="E65100"/>
          </a:solidFill>
          <a:ln/>
        </p:spPr>
      </p:sp>
      <p:sp>
        <p:nvSpPr>
          <p:cNvPr id="11" name="Text 9"/>
          <p:cNvSpPr/>
          <p:nvPr/>
        </p:nvSpPr>
        <p:spPr>
          <a:xfrm>
            <a:off x="457200" y="233172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2" name="Text 10"/>
          <p:cNvSpPr/>
          <p:nvPr/>
        </p:nvSpPr>
        <p:spPr>
          <a:xfrm>
            <a:off x="1097280" y="2286000"/>
            <a:ext cx="7589520" cy="1051560"/>
          </a:xfrm>
          <a:prstGeom prst="rect">
            <a:avLst/>
          </a:prstGeom>
          <a:noFill/>
          <a:ln/>
        </p:spPr>
        <p:txBody>
          <a:bodyPr wrap="square" rtlCol="0" anchor="t"/>
          <a:lstStyle/>
          <a:p>
            <a:pPr indent="0" marL="0">
              <a:lnSpc>
                <a:spcPts val="1600"/>
              </a:lnSpc>
              <a:buNone/>
            </a:pPr>
            <a:r>
              <a:rPr lang="en-US" sz="1250" b="1" dirty="0">
                <a:solidFill>
                  <a:srgbClr val="2B1D12"/>
                </a:solidFill>
                <a:latin typeface="Calibri" pitchFamily="34" charset="0"/>
                <a:ea typeface="Calibri" pitchFamily="34" charset="-122"/>
                <a:cs typeface="Calibri" pitchFamily="34" charset="-120"/>
              </a:rPr>
              <a:t>Add a title and weather symbols.  </a:t>
            </a:r>
            <a:pPr indent="0" marL="0">
              <a:lnSpc>
                <a:spcPts val="1600"/>
              </a:lnSpc>
              <a:buNone/>
            </a:pPr>
            <a:r>
              <a:rPr lang="en-US" sz="1250" dirty="0">
                <a:solidFill>
                  <a:srgbClr val="5A4D3E"/>
                </a:solidFill>
                <a:latin typeface="Calibri" pitchFamily="34" charset="0"/>
                <a:ea typeface="Calibri" pitchFamily="34" charset="-122"/>
                <a:cs typeface="Calibri" pitchFamily="34" charset="-120"/>
              </a:rPr>
              <a:t>Title your graph — like "Weekly Temperatures." Below the day labels, draw a small weather symbol for each day (sunny, cloudy, rainy, etc.).</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 STEP 5</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Find the Pattern, Make a Prediction</a:t>
            </a:r>
            <a:endParaRPr lang="en-US" sz="2100" dirty="0"/>
          </a:p>
        </p:txBody>
      </p:sp>
      <p:sp>
        <p:nvSpPr>
          <p:cNvPr id="7" name="Text 5"/>
          <p:cNvSpPr/>
          <p:nvPr/>
        </p:nvSpPr>
        <p:spPr>
          <a:xfrm>
            <a:off x="320040" y="1143000"/>
            <a:ext cx="8503920" cy="59436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Look at your finished graph. In your notebook, answer these in complete sentences: Which day was warmest? Which was coolest?</a:t>
            </a:r>
            <a:endParaRPr lang="en-US" sz="1300" dirty="0"/>
          </a:p>
        </p:txBody>
      </p:sp>
      <p:sp>
        <p:nvSpPr>
          <p:cNvPr id="8" name="Shape 6"/>
          <p:cNvSpPr/>
          <p:nvPr/>
        </p:nvSpPr>
        <p:spPr>
          <a:xfrm>
            <a:off x="320040" y="1828800"/>
            <a:ext cx="8503920" cy="1387411"/>
          </a:xfrm>
          <a:prstGeom prst="roundRect">
            <a:avLst>
              <a:gd name="adj" fmla="val 5273"/>
            </a:avLst>
          </a:prstGeom>
          <a:solidFill>
            <a:srgbClr val="EEF8F0"/>
          </a:solidFill>
          <a:ln w="19050">
            <a:solidFill>
              <a:srgbClr val="52B788"/>
            </a:solidFill>
            <a:prstDash val="solid"/>
          </a:ln>
        </p:spPr>
      </p:sp>
      <p:sp>
        <p:nvSpPr>
          <p:cNvPr id="9" name="Text 7"/>
          <p:cNvSpPr/>
          <p:nvPr/>
        </p:nvSpPr>
        <p:spPr>
          <a:xfrm>
            <a:off x="502920" y="190195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2157984"/>
            <a:ext cx="8138160" cy="1003363"/>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Pattern statement — "The pattern I see is ________." (Did temperatures rise, fall, or rise and then fall?)</a:t>
            </a:r>
            <a:endParaRPr lang="en-US" sz="1250" dirty="0"/>
          </a:p>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Prediction with evidence — "I predict Saturday will be ________ because the data shows ________."</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DISCUSSION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It Through</a:t>
            </a:r>
            <a:endParaRPr lang="en-US" sz="2100" dirty="0"/>
          </a:p>
        </p:txBody>
      </p:sp>
      <p:sp>
        <p:nvSpPr>
          <p:cNvPr id="7" name="Shape 5"/>
          <p:cNvSpPr/>
          <p:nvPr/>
        </p:nvSpPr>
        <p:spPr>
          <a:xfrm>
            <a:off x="320040" y="1143000"/>
            <a:ext cx="8503920" cy="2343595"/>
          </a:xfrm>
          <a:prstGeom prst="roundRect">
            <a:avLst>
              <a:gd name="adj" fmla="val 3121"/>
            </a:avLst>
          </a:prstGeom>
          <a:solidFill>
            <a:srgbClr val="EEF8F0"/>
          </a:solidFill>
          <a:ln w="19050">
            <a:solidFill>
              <a:srgbClr val="52B788"/>
            </a:solidFill>
            <a:prstDash val="solid"/>
          </a:ln>
        </p:spPr>
      </p:sp>
      <p:sp>
        <p:nvSpPr>
          <p:cNvPr id="8" name="Text 6"/>
          <p:cNvSpPr/>
          <p:nvPr/>
        </p:nvSpPr>
        <p:spPr>
          <a:xfrm>
            <a:off x="502920" y="121615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472184"/>
            <a:ext cx="8138160" cy="1959547"/>
          </a:xfrm>
          <a:prstGeom prst="rect">
            <a:avLst/>
          </a:prstGeom>
          <a:noFill/>
          <a:ln/>
        </p:spPr>
        <p:txBody>
          <a:bodyPr wrap="square" rtlCol="0" anchor="t"/>
          <a:lstStyle/>
          <a:p>
            <a:pPr marL="342900" indent="-342900">
              <a:lnSpc>
                <a:spcPts val="1783"/>
              </a:lnSpc>
              <a:buSzPct val="100000"/>
              <a:buChar char="●"/>
            </a:pPr>
            <a:r>
              <a:rPr lang="en-US" sz="1150" dirty="0">
                <a:solidFill>
                  <a:srgbClr val="1B4332"/>
                </a:solidFill>
                <a:latin typeface="Calibri" pitchFamily="34" charset="0"/>
                <a:ea typeface="Calibri" pitchFamily="34" charset="-122"/>
                <a:cs typeface="Calibri" pitchFamily="34" charset="-120"/>
              </a:rPr>
              <a:t>Observe — What's the difference in temperature between the warmest and coolest days? Big difference or small?</a:t>
            </a:r>
            <a:endParaRPr lang="en-US" sz="1150" dirty="0"/>
          </a:p>
          <a:p>
            <a:pPr marL="342900" indent="-342900">
              <a:lnSpc>
                <a:spcPts val="1783"/>
              </a:lnSpc>
              <a:buSzPct val="100000"/>
              <a:buChar char="●"/>
            </a:pPr>
            <a:r>
              <a:rPr lang="en-US" sz="1150" dirty="0">
                <a:solidFill>
                  <a:srgbClr val="1B4332"/>
                </a:solidFill>
                <a:latin typeface="Calibri" pitchFamily="34" charset="0"/>
                <a:ea typeface="Calibri" pitchFamily="34" charset="-122"/>
                <a:cs typeface="Calibri" pitchFamily="34" charset="-120"/>
              </a:rPr>
              <a:t>Evidence — How does your bar graph make the pattern easier to see than the data table? What in the graph supports that?</a:t>
            </a:r>
            <a:endParaRPr lang="en-US" sz="1150" dirty="0"/>
          </a:p>
          <a:p>
            <a:pPr marL="342900" indent="-342900">
              <a:lnSpc>
                <a:spcPts val="1783"/>
              </a:lnSpc>
              <a:buSzPct val="100000"/>
              <a:buChar char="●"/>
            </a:pPr>
            <a:r>
              <a:rPr lang="en-US" sz="1150" dirty="0">
                <a:solidFill>
                  <a:srgbClr val="1B4332"/>
                </a:solidFill>
                <a:latin typeface="Calibri" pitchFamily="34" charset="0"/>
                <a:ea typeface="Calibri" pitchFamily="34" charset="-122"/>
                <a:cs typeface="Calibri" pitchFamily="34" charset="-120"/>
              </a:rPr>
              <a:t>Connect — If you graphed the same week every year for ten years, what would you be looking for? How could that help you plan something, like a picnic?</a:t>
            </a:r>
            <a:endParaRPr lang="en-US" sz="1150" dirty="0"/>
          </a:p>
          <a:p>
            <a:pPr marL="342900" indent="-342900">
              <a:lnSpc>
                <a:spcPts val="1783"/>
              </a:lnSpc>
              <a:buSzPct val="100000"/>
              <a:buChar char="●"/>
            </a:pPr>
            <a:r>
              <a:rPr lang="en-US" sz="1150" dirty="0">
                <a:solidFill>
                  <a:srgbClr val="1B4332"/>
                </a:solidFill>
                <a:latin typeface="Calibri" pitchFamily="34" charset="0"/>
                <a:ea typeface="Calibri" pitchFamily="34" charset="-122"/>
                <a:cs typeface="Calibri" pitchFamily="34" charset="-120"/>
              </a:rPr>
              <a:t>Improve — What other weather data would you want to graph? What patterns might you find?</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1 OF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does a bar graph help scientists do?</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What does a bar graph help scientists do?</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Measure the temperature outside</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Compare data visually so patterns are easier to see</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Predict the weather without collecting any data</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Think back to the Notice &amp; Wonder warm-up. Which was easier to read — the list or the graph?</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1 OF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does a bar graph help scientists do?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B — Bar graphs are visual tools. They turn numbers into shapes you can compare with your eyes in just a few seconds.</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2 OF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A scientist sees temperatures rise for 5 days. What can she do?</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scientist notices temperatures rise each day for five days. What can she most likely do with that pattern?</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Prove it will never get cold again</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Ignore the pattern and collect more data</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Predict that the next day will probably be warm too</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Remember — patterns lead to predictions. If temperatures have been rising every day, what would you expect tomorrow to be like?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2 OF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A scientist sees temperatures rise for 5 days. What can she do?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C — A prediction based on a pattern isn't a guarantee, but it's a reasonable, evidence-based statement. That's science!</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A</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Read the Graph</a:t>
            </a:r>
            <a:endParaRPr lang="en-US" sz="2100" dirty="0"/>
          </a:p>
        </p:txBody>
      </p:sp>
      <p:sp>
        <p:nvSpPr>
          <p:cNvPr id="7" name="Text 5"/>
          <p:cNvSpPr/>
          <p:nvPr/>
        </p:nvSpPr>
        <p:spPr>
          <a:xfrm>
            <a:off x="457200" y="1097280"/>
            <a:ext cx="8229600" cy="2651760"/>
          </a:xfrm>
          <a:prstGeom prst="rect">
            <a:avLst/>
          </a:prstGeom>
          <a:noFill/>
          <a:ln/>
        </p:spPr>
        <p:txBody>
          <a:bodyPr wrap="square" rtlCol="0" anchor="t"/>
          <a:lstStyle/>
          <a:p>
            <a:pPr indent="0" marL="0">
              <a:lnSpc>
                <a:spcPts val="2600"/>
              </a:lnSpc>
              <a:buNone/>
            </a:pPr>
            <a:r>
              <a:rPr lang="en-US" sz="1350" dirty="0">
                <a:solidFill>
                  <a:srgbClr val="2B1D12"/>
                </a:solidFill>
                <a:latin typeface="Calibri" pitchFamily="34" charset="0"/>
                <a:ea typeface="Calibri" pitchFamily="34" charset="-122"/>
                <a:cs typeface="Calibri" pitchFamily="34" charset="-120"/>
              </a:rPr>
              <a:t>1. Which day had the highest temperature? What was that temperature?</a:t>
            </a:r>
            <a:endParaRPr lang="en-US" sz="1350" dirty="0"/>
          </a:p>
          <a:p>
            <a:pPr indent="0" marL="0">
              <a:lnSpc>
                <a:spcPts val="2600"/>
              </a:lnSpc>
              <a:buNone/>
            </a:pPr>
            <a:r>
              <a:rPr lang="en-US" sz="1350" dirty="0">
                <a:solidFill>
                  <a:srgbClr val="2B1D12"/>
                </a:solidFill>
                <a:latin typeface="Calibri" pitchFamily="34" charset="0"/>
                <a:ea typeface="Calibri" pitchFamily="34" charset="-122"/>
                <a:cs typeface="Calibri" pitchFamily="34" charset="-120"/>
              </a:rPr>
              <a:t>2. Which day had the lowest temperature? What was the difference between the warmest and coolest days?</a:t>
            </a:r>
            <a:endParaRPr lang="en-US" sz="1350" dirty="0"/>
          </a:p>
          <a:p>
            <a:pPr indent="0" marL="0">
              <a:lnSpc>
                <a:spcPts val="2600"/>
              </a:lnSpc>
              <a:buNone/>
            </a:pPr>
            <a:r>
              <a:rPr lang="en-US" sz="1350" dirty="0">
                <a:solidFill>
                  <a:srgbClr val="2B1D12"/>
                </a:solidFill>
                <a:latin typeface="Calibri" pitchFamily="34" charset="0"/>
                <a:ea typeface="Calibri" pitchFamily="34" charset="-122"/>
                <a:cs typeface="Calibri" pitchFamily="34" charset="-120"/>
              </a:rPr>
              <a:t>3. On which day did it rain? Was that day warmer or cooler than the day before it?</a:t>
            </a:r>
            <a:endParaRPr lang="en-US" sz="1350" dirty="0"/>
          </a:p>
          <a:p>
            <a:pPr indent="0" marL="0">
              <a:lnSpc>
                <a:spcPts val="2600"/>
              </a:lnSpc>
              <a:buNone/>
            </a:pPr>
            <a:r>
              <a:rPr lang="en-US" sz="1350" dirty="0">
                <a:solidFill>
                  <a:srgbClr val="2B1D12"/>
                </a:solidFill>
                <a:latin typeface="Calibri" pitchFamily="34" charset="0"/>
                <a:ea typeface="Calibri" pitchFamily="34" charset="-122"/>
                <a:cs typeface="Calibri" pitchFamily="34" charset="-120"/>
              </a:rPr>
              <a:t>4. Write a pattern statement AND a prediction with evidence about Saturday.</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E651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B</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Write &amp; Explain</a:t>
            </a:r>
            <a:endParaRPr lang="en-US" sz="2100" dirty="0"/>
          </a:p>
        </p:txBody>
      </p:sp>
      <p:sp>
        <p:nvSpPr>
          <p:cNvPr id="7" name="Text 5"/>
          <p:cNvSpPr/>
          <p:nvPr/>
        </p:nvSpPr>
        <p:spPr>
          <a:xfrm>
            <a:off x="365760" y="1097280"/>
            <a:ext cx="8412480" cy="502920"/>
          </a:xfrm>
          <a:prstGeom prst="rect">
            <a:avLst/>
          </a:prstGeom>
          <a:noFill/>
          <a:ln/>
        </p:spPr>
        <p:txBody>
          <a:bodyPr wrap="square" rtlCol="0" anchor="ctr"/>
          <a:lstStyle/>
          <a:p>
            <a:pPr indent="0" marL="0">
              <a:buNone/>
            </a:pPr>
            <a:r>
              <a:rPr lang="en-US" sz="1250" i="1" dirty="0">
                <a:solidFill>
                  <a:srgbClr val="5A4D3E"/>
                </a:solidFill>
                <a:latin typeface="Calibri" pitchFamily="34" charset="0"/>
                <a:ea typeface="Calibri" pitchFamily="34" charset="-122"/>
                <a:cs typeface="Calibri" pitchFamily="34" charset="-120"/>
              </a:rPr>
              <a:t>Look at your finished bar graph. What weather pattern does it show — and how could a meteorologist use that pattern?</a:t>
            </a:r>
            <a:endParaRPr lang="en-US" sz="1250" dirty="0"/>
          </a:p>
        </p:txBody>
      </p:sp>
      <p:sp>
        <p:nvSpPr>
          <p:cNvPr id="8" name="Shape 6"/>
          <p:cNvSpPr/>
          <p:nvPr/>
        </p:nvSpPr>
        <p:spPr>
          <a:xfrm>
            <a:off x="365760" y="1645920"/>
            <a:ext cx="8412480" cy="658368"/>
          </a:xfrm>
          <a:prstGeom prst="roundRect">
            <a:avLst>
              <a:gd name="adj" fmla="val 11111"/>
            </a:avLst>
          </a:prstGeom>
          <a:solidFill>
            <a:srgbClr val="FFF3E0"/>
          </a:solidFill>
          <a:ln w="19050">
            <a:solidFill>
              <a:srgbClr val="F57C00"/>
            </a:solidFill>
            <a:prstDash val="solid"/>
          </a:ln>
        </p:spPr>
      </p:sp>
      <p:sp>
        <p:nvSpPr>
          <p:cNvPr id="9" name="Text 7"/>
          <p:cNvSpPr/>
          <p:nvPr/>
        </p:nvSpPr>
        <p:spPr>
          <a:xfrm>
            <a:off x="548640" y="1700784"/>
            <a:ext cx="8046720" cy="237744"/>
          </a:xfrm>
          <a:prstGeom prst="rect">
            <a:avLst/>
          </a:prstGeom>
          <a:noFill/>
          <a:ln/>
        </p:spPr>
        <p:txBody>
          <a:bodyPr wrap="square" rtlCol="0" anchor="ctr"/>
          <a:lstStyle/>
          <a:p>
            <a:pPr indent="0" marL="0">
              <a:buNone/>
            </a:pPr>
            <a:r>
              <a:rPr lang="en-US" sz="1150" b="1" dirty="0">
                <a:solidFill>
                  <a:srgbClr val="E65100"/>
                </a:solidFill>
                <a:latin typeface="Calibri" pitchFamily="34" charset="0"/>
                <a:ea typeface="Calibri" pitchFamily="34" charset="-122"/>
                <a:cs typeface="Calibri" pitchFamily="34" charset="-120"/>
              </a:rPr>
              <a:t>What do you think?</a:t>
            </a:r>
            <a:endParaRPr lang="en-US" sz="1150" dirty="0"/>
          </a:p>
        </p:txBody>
      </p:sp>
      <p:sp>
        <p:nvSpPr>
          <p:cNvPr id="10" name="Text 8"/>
          <p:cNvSpPr/>
          <p:nvPr/>
        </p:nvSpPr>
        <p:spPr>
          <a:xfrm>
            <a:off x="548640" y="1938528"/>
            <a:ext cx="8046720" cy="329184"/>
          </a:xfrm>
          <a:prstGeom prst="rect">
            <a:avLst/>
          </a:prstGeom>
          <a:noFill/>
          <a:ln/>
        </p:spPr>
        <p:txBody>
          <a:bodyPr wrap="square" rtlCol="0" anchor="ctr"/>
          <a:lstStyle/>
          <a:p>
            <a:pPr indent="0" marL="0">
              <a:buNone/>
            </a:pPr>
            <a:r>
              <a:rPr lang="en-US" sz="1250" i="1" dirty="0">
                <a:solidFill>
                  <a:srgbClr val="2B1D12"/>
                </a:solidFill>
                <a:latin typeface="Calibri" pitchFamily="34" charset="0"/>
                <a:ea typeface="Calibri" pitchFamily="34" charset="-122"/>
                <a:cs typeface="Calibri" pitchFamily="34" charset="-120"/>
              </a:rPr>
              <a:t>"The pattern I see in my graph is…"</a:t>
            </a:r>
            <a:endParaRPr lang="en-US" sz="1250" dirty="0"/>
          </a:p>
        </p:txBody>
      </p:sp>
      <p:sp>
        <p:nvSpPr>
          <p:cNvPr id="11" name="Shape 9"/>
          <p:cNvSpPr/>
          <p:nvPr/>
        </p:nvSpPr>
        <p:spPr>
          <a:xfrm>
            <a:off x="365760" y="2395728"/>
            <a:ext cx="8412480" cy="658368"/>
          </a:xfrm>
          <a:prstGeom prst="roundRect">
            <a:avLst>
              <a:gd name="adj" fmla="val 11111"/>
            </a:avLst>
          </a:prstGeom>
          <a:solidFill>
            <a:srgbClr val="FFF3E0"/>
          </a:solidFill>
          <a:ln w="19050">
            <a:solidFill>
              <a:srgbClr val="F57C00"/>
            </a:solidFill>
            <a:prstDash val="solid"/>
          </a:ln>
        </p:spPr>
      </p:sp>
      <p:sp>
        <p:nvSpPr>
          <p:cNvPr id="12" name="Text 10"/>
          <p:cNvSpPr/>
          <p:nvPr/>
        </p:nvSpPr>
        <p:spPr>
          <a:xfrm>
            <a:off x="548640" y="2450592"/>
            <a:ext cx="8046720" cy="237744"/>
          </a:xfrm>
          <a:prstGeom prst="rect">
            <a:avLst/>
          </a:prstGeom>
          <a:noFill/>
          <a:ln/>
        </p:spPr>
        <p:txBody>
          <a:bodyPr wrap="square" rtlCol="0" anchor="ctr"/>
          <a:lstStyle/>
          <a:p>
            <a:pPr indent="0" marL="0">
              <a:buNone/>
            </a:pPr>
            <a:r>
              <a:rPr lang="en-US" sz="1150" b="1" dirty="0">
                <a:solidFill>
                  <a:srgbClr val="E65100"/>
                </a:solidFill>
                <a:latin typeface="Calibri" pitchFamily="34" charset="0"/>
                <a:ea typeface="Calibri" pitchFamily="34" charset="-122"/>
                <a:cs typeface="Calibri" pitchFamily="34" charset="-120"/>
              </a:rPr>
              <a:t>What did you observe that supports your thinking?</a:t>
            </a:r>
            <a:endParaRPr lang="en-US" sz="1150" dirty="0"/>
          </a:p>
        </p:txBody>
      </p:sp>
      <p:sp>
        <p:nvSpPr>
          <p:cNvPr id="13" name="Text 11"/>
          <p:cNvSpPr/>
          <p:nvPr/>
        </p:nvSpPr>
        <p:spPr>
          <a:xfrm>
            <a:off x="548640" y="2688336"/>
            <a:ext cx="8046720" cy="329184"/>
          </a:xfrm>
          <a:prstGeom prst="rect">
            <a:avLst/>
          </a:prstGeom>
          <a:noFill/>
          <a:ln/>
        </p:spPr>
        <p:txBody>
          <a:bodyPr wrap="square" rtlCol="0" anchor="ctr"/>
          <a:lstStyle/>
          <a:p>
            <a:pPr indent="0" marL="0">
              <a:buNone/>
            </a:pPr>
            <a:r>
              <a:rPr lang="en-US" sz="1250" i="1" dirty="0">
                <a:solidFill>
                  <a:srgbClr val="2B1D12"/>
                </a:solidFill>
                <a:latin typeface="Calibri" pitchFamily="34" charset="0"/>
                <a:ea typeface="Calibri" pitchFamily="34" charset="-122"/>
                <a:cs typeface="Calibri" pitchFamily="34" charset="-120"/>
              </a:rPr>
              <a:t>"I know this because when I looked at my graph, I noticed…"</a:t>
            </a:r>
            <a:endParaRPr lang="en-US" sz="1250" dirty="0"/>
          </a:p>
        </p:txBody>
      </p:sp>
      <p:sp>
        <p:nvSpPr>
          <p:cNvPr id="14" name="Shape 12"/>
          <p:cNvSpPr/>
          <p:nvPr/>
        </p:nvSpPr>
        <p:spPr>
          <a:xfrm>
            <a:off x="365760" y="3145536"/>
            <a:ext cx="8412480" cy="658368"/>
          </a:xfrm>
          <a:prstGeom prst="roundRect">
            <a:avLst>
              <a:gd name="adj" fmla="val 11111"/>
            </a:avLst>
          </a:prstGeom>
          <a:solidFill>
            <a:srgbClr val="FFF3E0"/>
          </a:solidFill>
          <a:ln w="19050">
            <a:solidFill>
              <a:srgbClr val="F57C00"/>
            </a:solidFill>
            <a:prstDash val="solid"/>
          </a:ln>
        </p:spPr>
      </p:sp>
      <p:sp>
        <p:nvSpPr>
          <p:cNvPr id="15" name="Text 13"/>
          <p:cNvSpPr/>
          <p:nvPr/>
        </p:nvSpPr>
        <p:spPr>
          <a:xfrm>
            <a:off x="548640" y="3200400"/>
            <a:ext cx="8046720" cy="237744"/>
          </a:xfrm>
          <a:prstGeom prst="rect">
            <a:avLst/>
          </a:prstGeom>
          <a:noFill/>
          <a:ln/>
        </p:spPr>
        <p:txBody>
          <a:bodyPr wrap="square" rtlCol="0" anchor="ctr"/>
          <a:lstStyle/>
          <a:p>
            <a:pPr indent="0" marL="0">
              <a:buNone/>
            </a:pPr>
            <a:r>
              <a:rPr lang="en-US" sz="1150" b="1" dirty="0">
                <a:solidFill>
                  <a:srgbClr val="E65100"/>
                </a:solidFill>
                <a:latin typeface="Calibri" pitchFamily="34" charset="0"/>
                <a:ea typeface="Calibri" pitchFamily="34" charset="-122"/>
                <a:cs typeface="Calibri" pitchFamily="34" charset="-120"/>
              </a:rPr>
              <a:t>Why does that make sense?</a:t>
            </a:r>
            <a:endParaRPr lang="en-US" sz="1150" dirty="0"/>
          </a:p>
        </p:txBody>
      </p:sp>
      <p:sp>
        <p:nvSpPr>
          <p:cNvPr id="16" name="Text 14"/>
          <p:cNvSpPr/>
          <p:nvPr/>
        </p:nvSpPr>
        <p:spPr>
          <a:xfrm>
            <a:off x="548640" y="3438144"/>
            <a:ext cx="8046720" cy="329184"/>
          </a:xfrm>
          <a:prstGeom prst="rect">
            <a:avLst/>
          </a:prstGeom>
          <a:noFill/>
          <a:ln/>
        </p:spPr>
        <p:txBody>
          <a:bodyPr wrap="square" rtlCol="0" anchor="ctr"/>
          <a:lstStyle/>
          <a:p>
            <a:pPr indent="0" marL="0">
              <a:buNone/>
            </a:pPr>
            <a:r>
              <a:rPr lang="en-US" sz="1250" i="1" dirty="0">
                <a:solidFill>
                  <a:srgbClr val="2B1D12"/>
                </a:solidFill>
                <a:latin typeface="Calibri" pitchFamily="34" charset="0"/>
                <a:ea typeface="Calibri" pitchFamily="34" charset="-122"/>
                <a:cs typeface="Calibri" pitchFamily="34" charset="-120"/>
              </a:rPr>
              <a:t>"This makes sense because…"</a:t>
            </a:r>
            <a:endParaRPr lang="en-US" sz="1250" dirty="0"/>
          </a:p>
        </p:txBody>
      </p:sp>
      <p:sp>
        <p:nvSpPr>
          <p:cNvPr id="17" name="Text 15"/>
          <p:cNvSpPr/>
          <p:nvPr/>
        </p:nvSpPr>
        <p:spPr>
          <a:xfrm>
            <a:off x="365760" y="3941064"/>
            <a:ext cx="8412480" cy="320040"/>
          </a:xfrm>
          <a:prstGeom prst="rect">
            <a:avLst/>
          </a:prstGeom>
          <a:noFill/>
          <a:ln/>
        </p:spPr>
        <p:txBody>
          <a:bodyPr wrap="square" rtlCol="0" anchor="ctr"/>
          <a:lstStyle/>
          <a:p>
            <a:pPr indent="0" marL="0">
              <a:buNone/>
            </a:pPr>
            <a:r>
              <a:rPr lang="en-US" sz="1150" i="1" dirty="0">
                <a:solidFill>
                  <a:srgbClr val="5A4D3E"/>
                </a:solidFill>
                <a:latin typeface="Calibri" pitchFamily="34" charset="0"/>
                <a:ea typeface="Calibri" pitchFamily="34" charset="-122"/>
                <a:cs typeface="Calibri" pitchFamily="34" charset="-120"/>
              </a:rPr>
              <a:t>Try to use at least one of these words: data, pattern, prediction, bar graph</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C</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Draw &amp; Label + Turn It In</a:t>
            </a:r>
            <a:endParaRPr lang="en-US" sz="2100" dirty="0"/>
          </a:p>
        </p:txBody>
      </p:sp>
      <p:sp>
        <p:nvSpPr>
          <p:cNvPr id="7" name="Text 5"/>
          <p:cNvSpPr/>
          <p:nvPr/>
        </p:nvSpPr>
        <p:spPr>
          <a:xfrm>
            <a:off x="320040" y="1097280"/>
            <a:ext cx="8503920" cy="64008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Take a photo of the bar graph you made and upload it. Make sure it shows all five days, labeled axes, a title, and your weather symbols.</a:t>
            </a:r>
            <a:endParaRPr lang="en-US" sz="1300" dirty="0"/>
          </a:p>
        </p:txBody>
      </p:sp>
      <p:sp>
        <p:nvSpPr>
          <p:cNvPr id="8" name="Shape 6"/>
          <p:cNvSpPr/>
          <p:nvPr/>
        </p:nvSpPr>
        <p:spPr>
          <a:xfrm>
            <a:off x="365760" y="1828800"/>
            <a:ext cx="8412480" cy="1417320"/>
          </a:xfrm>
          <a:prstGeom prst="roundRect">
            <a:avLst>
              <a:gd name="adj" fmla="val 5161"/>
            </a:avLst>
          </a:prstGeom>
          <a:solidFill>
            <a:srgbClr val="FFFFFF"/>
          </a:solidFill>
          <a:ln w="19050">
            <a:solidFill>
              <a:srgbClr val="E8DDD2"/>
            </a:solidFill>
            <a:prstDash val="solid"/>
          </a:ln>
        </p:spPr>
      </p:sp>
      <p:sp>
        <p:nvSpPr>
          <p:cNvPr id="9" name="Text 7"/>
          <p:cNvSpPr/>
          <p:nvPr/>
        </p:nvSpPr>
        <p:spPr>
          <a:xfrm>
            <a:off x="548640" y="1920240"/>
            <a:ext cx="8046720" cy="228600"/>
          </a:xfrm>
          <a:prstGeom prst="rect">
            <a:avLst/>
          </a:prstGeom>
          <a:noFill/>
          <a:ln/>
        </p:spPr>
        <p:txBody>
          <a:bodyPr wrap="square" rtlCol="0" anchor="ctr"/>
          <a:lstStyle/>
          <a:p>
            <a:pPr indent="0" marL="0">
              <a:buNone/>
            </a:pPr>
            <a:r>
              <a:rPr lang="en-US" sz="1050" b="1" spc="100" kern="0" dirty="0">
                <a:solidFill>
                  <a:srgbClr val="0288D1"/>
                </a:solidFill>
                <a:latin typeface="Calibri" pitchFamily="34" charset="0"/>
                <a:ea typeface="Calibri" pitchFamily="34" charset="-122"/>
                <a:cs typeface="Calibri" pitchFamily="34" charset="-120"/>
              </a:rPr>
              <a:t>MAKE SURE YOUR SUBMISSION INCLUDES</a:t>
            </a:r>
            <a:endParaRPr lang="en-US" sz="1050" dirty="0"/>
          </a:p>
        </p:txBody>
      </p:sp>
      <p:sp>
        <p:nvSpPr>
          <p:cNvPr id="10" name="Text 8"/>
          <p:cNvSpPr/>
          <p:nvPr/>
        </p:nvSpPr>
        <p:spPr>
          <a:xfrm>
            <a:off x="548640" y="2194560"/>
            <a:ext cx="8046720" cy="960120"/>
          </a:xfrm>
          <a:prstGeom prst="rect">
            <a:avLst/>
          </a:prstGeom>
          <a:noFill/>
          <a:ln/>
        </p:spPr>
        <p:txBody>
          <a:bodyPr wrap="square" rtlCol="0" anchor="ctr"/>
          <a:lstStyle/>
          <a:p>
            <a:pPr marL="342900" indent="-342900">
              <a:lnSpc>
                <a:spcPts val="1700"/>
              </a:lnSpc>
              <a:buSzPct val="100000"/>
              <a:buChar char="✓"/>
            </a:pPr>
            <a:r>
              <a:rPr lang="en-US" sz="1150" dirty="0">
                <a:solidFill>
                  <a:srgbClr val="2B1D12"/>
                </a:solidFill>
                <a:latin typeface="Calibri" pitchFamily="34" charset="0"/>
                <a:ea typeface="Calibri" pitchFamily="34" charset="-122"/>
                <a:cs typeface="Calibri" pitchFamily="34" charset="-120"/>
              </a:rPr>
              <a:t>Completed data table and bar graph (photo of notebook work)</a:t>
            </a:r>
            <a:endParaRPr lang="en-US" sz="1150" dirty="0"/>
          </a:p>
          <a:p>
            <a:pPr marL="342900" indent="-342900">
              <a:lnSpc>
                <a:spcPts val="1700"/>
              </a:lnSpc>
              <a:buSzPct val="100000"/>
              <a:buChar char="✓"/>
            </a:pPr>
            <a:r>
              <a:rPr lang="en-US" sz="1150" dirty="0">
                <a:solidFill>
                  <a:srgbClr val="2B1D12"/>
                </a:solidFill>
                <a:latin typeface="Calibri" pitchFamily="34" charset="0"/>
                <a:ea typeface="Calibri" pitchFamily="34" charset="-122"/>
                <a:cs typeface="Calibri" pitchFamily="34" charset="-120"/>
              </a:rPr>
              <a:t>Part A — Read the Graph, answered in complete sentences</a:t>
            </a:r>
            <a:endParaRPr lang="en-US" sz="1150" dirty="0"/>
          </a:p>
          <a:p>
            <a:pPr marL="342900" indent="-342900">
              <a:lnSpc>
                <a:spcPts val="1700"/>
              </a:lnSpc>
              <a:buSzPct val="100000"/>
              <a:buChar char="✓"/>
            </a:pPr>
            <a:r>
              <a:rPr lang="en-US" sz="1150" dirty="0">
                <a:solidFill>
                  <a:srgbClr val="2B1D12"/>
                </a:solidFill>
                <a:latin typeface="Calibri" pitchFamily="34" charset="0"/>
                <a:ea typeface="Calibri" pitchFamily="34" charset="-122"/>
                <a:cs typeface="Calibri" pitchFamily="34" charset="-120"/>
              </a:rPr>
              <a:t>Write &amp; Explain (Part B) using at least one vocabulary word</a:t>
            </a:r>
            <a:endParaRPr lang="en-US" sz="1150" dirty="0"/>
          </a:p>
          <a:p>
            <a:pPr marL="342900" indent="-342900">
              <a:lnSpc>
                <a:spcPts val="1700"/>
              </a:lnSpc>
              <a:buSzPct val="100000"/>
              <a:buChar char="✓"/>
            </a:pPr>
            <a:r>
              <a:rPr lang="en-US" sz="1150" dirty="0">
                <a:solidFill>
                  <a:srgbClr val="2B1D12"/>
                </a:solidFill>
                <a:latin typeface="Calibri" pitchFamily="34" charset="0"/>
                <a:ea typeface="Calibri" pitchFamily="34" charset="-122"/>
                <a:cs typeface="Calibri" pitchFamily="34" charset="-120"/>
              </a:rPr>
              <a:t>Part C — bar graph photo with labeled axes, title, weather symbols</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828800"/>
            <a:ext cx="8229600" cy="64008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Great Work Today!</a:t>
            </a:r>
            <a:endParaRPr lang="en-US" sz="3000" dirty="0"/>
          </a:p>
        </p:txBody>
      </p:sp>
      <p:sp>
        <p:nvSpPr>
          <p:cNvPr id="5" name="Text 3"/>
          <p:cNvSpPr/>
          <p:nvPr/>
        </p:nvSpPr>
        <p:spPr>
          <a:xfrm>
            <a:off x="457200" y="2514600"/>
            <a:ext cx="8229600" cy="457200"/>
          </a:xfrm>
          <a:prstGeom prst="rect">
            <a:avLst/>
          </a:prstGeom>
          <a:noFill/>
          <a:ln/>
        </p:spPr>
        <p:txBody>
          <a:bodyPr wrap="square" rtlCol="0" anchor="ctr"/>
          <a:lstStyle/>
          <a:p>
            <a:pPr algn="ctr" indent="0" marL="0">
              <a:buNone/>
            </a:pPr>
            <a:r>
              <a:rPr lang="en-US" sz="1600" dirty="0">
                <a:solidFill>
                  <a:srgbClr val="FFCA28"/>
                </a:solidFill>
                <a:latin typeface="Calibri" pitchFamily="34" charset="0"/>
                <a:ea typeface="Calibri" pitchFamily="34" charset="-122"/>
                <a:cs typeface="Calibri" pitchFamily="34" charset="-120"/>
              </a:rPr>
              <a:t>See you in Lesson 3.01!</a:t>
            </a:r>
            <a:endParaRPr lang="en-US" sz="1600" dirty="0"/>
          </a:p>
        </p:txBody>
      </p:sp>
      <p:sp>
        <p:nvSpPr>
          <p:cNvPr id="6" name="Text 4"/>
          <p:cNvSpPr/>
          <p:nvPr/>
        </p:nvSpPr>
        <p:spPr>
          <a:xfrm>
            <a:off x="457200" y="4709160"/>
            <a:ext cx="8229600" cy="274320"/>
          </a:xfrm>
          <a:prstGeom prst="rect">
            <a:avLst/>
          </a:prstGeom>
          <a:noFill/>
          <a:ln/>
        </p:spPr>
        <p:txBody>
          <a:bodyPr wrap="square" rtlCol="0" anchor="ctr"/>
          <a:lstStyle/>
          <a:p>
            <a:pPr algn="ctr" indent="0" marL="0">
              <a:buNone/>
            </a:pPr>
            <a:r>
              <a:rPr lang="en-US" sz="900" dirty="0">
                <a:solidFill>
                  <a:srgbClr val="55C8E8"/>
                </a:solidFill>
                <a:latin typeface="Calibri" pitchFamily="34" charset="0"/>
                <a:ea typeface="Calibri" pitchFamily="34" charset="-122"/>
                <a:cs typeface="Calibri" pitchFamily="34" charset="-120"/>
              </a:rPr>
              <a:t>Optima Academy Online · 3rd Grade Science · Lesson 2.02 · NGSS 3-ESS2-1 · CPALMS SC.3.N.1.3, SC.3.N.1.7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2026-07-12T02:36:16Z</dcterms:created>
  <dcterms:modified xsi:type="dcterms:W3CDTF">2026-07-12T02:36:16Z</dcterms:modified>
</cp:coreProperties>
</file>