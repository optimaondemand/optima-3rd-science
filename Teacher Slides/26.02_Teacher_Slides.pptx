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map: I Can #1 (measure mass and volume) rehearsed in Section 2 (Slide 11) and Investigation Steps 1-3 (Slides 16-17). I Can #2 (record in data table, compare) rehearsed in Section 3 (Slide 12) and Investigation Step 4 / bar graph (Slide 17). I Can #3 (explain how measurement is more exact than looking) rehearsed in Section 1 (Slide 10), the Amazing Nature Fact (Slide 14), and the formal Write &amp; Explain (Slide 25). All three assessed in Self-Check (Slides 20-22) and Assignment (Slides 23-25).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understanding of why exact measurement matters over visual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measurement produces comparable, exact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matching the correct tool to the property of volume for liquids.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tool-property pairing: measuring cup=volume of liquids.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reading and interpreting a bar graph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that bar height corresponds to the measured quantity being graphed.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371600"/>
            <a:ext cx="8229600" cy="365760"/>
          </a:xfrm>
          <a:prstGeom prst="rect">
            <a:avLst/>
          </a:prstGeom>
          <a:noFill/>
          <a:ln/>
        </p:spPr>
        <p:txBody>
          <a:bodyPr wrap="square" rtlCol="0" anchor="ctr"/>
          <a:lstStyle/>
          <a:p>
            <a:pPr indent="0" marL="0">
              <a:buNone/>
            </a:pPr>
            <a:r>
              <a:rPr lang="en-US" sz="1400" b="1" spc="150" kern="0" dirty="0">
                <a:solidFill>
                  <a:srgbClr val="55C8E8"/>
                </a:solidFill>
                <a:latin typeface="Calibri" pitchFamily="34" charset="0"/>
                <a:ea typeface="Calibri" pitchFamily="34" charset="-122"/>
                <a:cs typeface="Calibri" pitchFamily="34" charset="-120"/>
              </a:rPr>
              <a:t>LESSON 26.02 · WEEK 26</a:t>
            </a:r>
            <a:endParaRPr lang="en-US" sz="1400" dirty="0"/>
          </a:p>
        </p:txBody>
      </p:sp>
      <p:sp>
        <p:nvSpPr>
          <p:cNvPr id="5" name="Text 3"/>
          <p:cNvSpPr/>
          <p:nvPr/>
        </p:nvSpPr>
        <p:spPr>
          <a:xfrm>
            <a:off x="457200" y="1828800"/>
            <a:ext cx="8229600" cy="1463040"/>
          </a:xfrm>
          <a:prstGeom prst="rect">
            <a:avLst/>
          </a:prstGeom>
          <a:noFill/>
          <a:ln/>
        </p:spPr>
        <p:txBody>
          <a:bodyPr wrap="square" rtlCol="0" anchor="ctr"/>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Investigation: Measuring</a:t>
            </a:r>
            <a:endParaRPr lang="en-US" sz="3200" dirty="0"/>
          </a:p>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and Comparing Matter</a:t>
            </a:r>
            <a:endParaRPr lang="en-US" sz="3200" dirty="0"/>
          </a:p>
        </p:txBody>
      </p:sp>
      <p:sp>
        <p:nvSpPr>
          <p:cNvPr id="6" name="Text 4"/>
          <p:cNvSpPr/>
          <p:nvPr/>
        </p:nvSpPr>
        <p:spPr>
          <a:xfrm>
            <a:off x="457200" y="3931920"/>
            <a:ext cx="8229600" cy="365760"/>
          </a:xfrm>
          <a:prstGeom prst="rect">
            <a:avLst/>
          </a:prstGeom>
          <a:noFill/>
          <a:ln/>
        </p:spPr>
        <p:txBody>
          <a:bodyPr wrap="square" rtlCol="0" anchor="ctr"/>
          <a:lstStyle/>
          <a:p>
            <a:pPr indent="0" marL="0">
              <a:buNone/>
            </a:pPr>
            <a:r>
              <a:rPr lang="en-US" sz="1300" i="1" dirty="0">
                <a:solidFill>
                  <a:srgbClr val="FFCA28"/>
                </a:solidFill>
                <a:latin typeface="Calibri" pitchFamily="34" charset="0"/>
                <a:ea typeface="Calibri" pitchFamily="34" charset="-122"/>
                <a:cs typeface="Calibri" pitchFamily="34" charset="-120"/>
              </a:rPr>
              <a:t>CPALMS SC.3.P.8.1 · Properties of Matter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OUR BIG QUESTION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About This...</a:t>
            </a:r>
            <a:endParaRPr lang="en-US" sz="2100" dirty="0"/>
          </a:p>
        </p:txBody>
      </p:sp>
      <p:sp>
        <p:nvSpPr>
          <p:cNvPr id="7" name="Shape 5"/>
          <p:cNvSpPr/>
          <p:nvPr/>
        </p:nvSpPr>
        <p:spPr>
          <a:xfrm>
            <a:off x="320040" y="1188720"/>
            <a:ext cx="8503920" cy="1280160"/>
          </a:xfrm>
          <a:prstGeom prst="roundRect">
            <a:avLst>
              <a:gd name="adj" fmla="val 7143"/>
            </a:avLst>
          </a:prstGeom>
          <a:solidFill>
            <a:srgbClr val="F3EEFB"/>
          </a:solidFill>
          <a:ln w="25400">
            <a:solidFill>
              <a:srgbClr val="7B5EA7"/>
            </a:solidFill>
            <a:prstDash val="solid"/>
          </a:ln>
        </p:spPr>
      </p:sp>
      <p:sp>
        <p:nvSpPr>
          <p:cNvPr id="8" name="Text 6"/>
          <p:cNvSpPr/>
          <p:nvPr/>
        </p:nvSpPr>
        <p:spPr>
          <a:xfrm>
            <a:off x="548640" y="1371600"/>
            <a:ext cx="8046720" cy="914400"/>
          </a:xfrm>
          <a:prstGeom prst="rect">
            <a:avLst/>
          </a:prstGeom>
          <a:noFill/>
          <a:ln/>
        </p:spPr>
        <p:txBody>
          <a:bodyPr wrap="square" rtlCol="0" anchor="t"/>
          <a:lstStyle/>
          <a:p>
            <a:pPr indent="0" marL="0">
              <a:lnSpc>
                <a:spcPts val="2400"/>
              </a:lnSpc>
              <a:buNone/>
            </a:pPr>
            <a:r>
              <a:rPr lang="en-US" sz="1800" i="1" dirty="0">
                <a:solidFill>
                  <a:srgbClr val="3A2B5C"/>
                </a:solidFill>
                <a:latin typeface="Cambria" pitchFamily="34" charset="0"/>
                <a:ea typeface="Cambria" pitchFamily="34" charset="-122"/>
                <a:cs typeface="Cambria" pitchFamily="34" charset="-120"/>
              </a:rPr>
              <a:t>"How can you measure and compare the properties of different objects?"</a:t>
            </a:r>
            <a:endParaRPr lang="en-US" sz="1800" dirty="0"/>
          </a:p>
        </p:txBody>
      </p:sp>
      <p:sp>
        <p:nvSpPr>
          <p:cNvPr id="9" name="Text 7"/>
          <p:cNvSpPr/>
          <p:nvPr/>
        </p:nvSpPr>
        <p:spPr>
          <a:xfrm>
            <a:off x="320040" y="2743200"/>
            <a:ext cx="8503920" cy="64008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Today you will collect data about objects and use it to compare them.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OBJECTIVES</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 Can Statements</a:t>
            </a:r>
            <a:endParaRPr lang="en-US" sz="2100" dirty="0"/>
          </a:p>
        </p:txBody>
      </p:sp>
      <p:sp>
        <p:nvSpPr>
          <p:cNvPr id="7" name="Shape 5"/>
          <p:cNvSpPr/>
          <p:nvPr/>
        </p:nvSpPr>
        <p:spPr>
          <a:xfrm>
            <a:off x="320040" y="1097280"/>
            <a:ext cx="8503920" cy="777240"/>
          </a:xfrm>
          <a:prstGeom prst="roundRect">
            <a:avLst>
              <a:gd name="adj" fmla="val 9412"/>
            </a:avLst>
          </a:prstGeom>
          <a:solidFill>
            <a:srgbClr val="FFF3E0"/>
          </a:solidFill>
          <a:ln w="12700">
            <a:solidFill>
              <a:srgbClr val="F57C00"/>
            </a:solidFill>
            <a:prstDash val="solid"/>
          </a:ln>
        </p:spPr>
      </p:sp>
      <p:sp>
        <p:nvSpPr>
          <p:cNvPr id="8" name="Text 6"/>
          <p:cNvSpPr/>
          <p:nvPr/>
        </p:nvSpPr>
        <p:spPr>
          <a:xfrm>
            <a:off x="548640" y="12070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measure the mass and volume of different objects.</a:t>
            </a:r>
            <a:endParaRPr lang="en-US" sz="1350" dirty="0"/>
          </a:p>
        </p:txBody>
      </p:sp>
      <p:sp>
        <p:nvSpPr>
          <p:cNvPr id="9" name="Shape 7"/>
          <p:cNvSpPr/>
          <p:nvPr/>
        </p:nvSpPr>
        <p:spPr>
          <a:xfrm>
            <a:off x="320040" y="2011680"/>
            <a:ext cx="8503920" cy="777240"/>
          </a:xfrm>
          <a:prstGeom prst="roundRect">
            <a:avLst>
              <a:gd name="adj" fmla="val 9412"/>
            </a:avLst>
          </a:prstGeom>
          <a:solidFill>
            <a:srgbClr val="FFF3E0"/>
          </a:solidFill>
          <a:ln w="12700">
            <a:solidFill>
              <a:srgbClr val="F57C00"/>
            </a:solidFill>
            <a:prstDash val="solid"/>
          </a:ln>
        </p:spPr>
      </p:sp>
      <p:sp>
        <p:nvSpPr>
          <p:cNvPr id="10" name="Text 8"/>
          <p:cNvSpPr/>
          <p:nvPr/>
        </p:nvSpPr>
        <p:spPr>
          <a:xfrm>
            <a:off x="548640" y="21214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record my measurements in a data table and use them to compare objects.</a:t>
            </a:r>
            <a:endParaRPr lang="en-US" sz="1350" dirty="0"/>
          </a:p>
        </p:txBody>
      </p:sp>
      <p:sp>
        <p:nvSpPr>
          <p:cNvPr id="11" name="Shape 9"/>
          <p:cNvSpPr/>
          <p:nvPr/>
        </p:nvSpPr>
        <p:spPr>
          <a:xfrm>
            <a:off x="320040" y="2926080"/>
            <a:ext cx="8503920" cy="777240"/>
          </a:xfrm>
          <a:prstGeom prst="roundRect">
            <a:avLst>
              <a:gd name="adj" fmla="val 9412"/>
            </a:avLst>
          </a:prstGeom>
          <a:solidFill>
            <a:srgbClr val="FFF3E0"/>
          </a:solidFill>
          <a:ln w="12700">
            <a:solidFill>
              <a:srgbClr val="F57C00"/>
            </a:solidFill>
            <a:prstDash val="solid"/>
          </a:ln>
        </p:spPr>
      </p:sp>
      <p:sp>
        <p:nvSpPr>
          <p:cNvPr id="12" name="Text 10"/>
          <p:cNvSpPr/>
          <p:nvPr/>
        </p:nvSpPr>
        <p:spPr>
          <a:xfrm>
            <a:off x="548640" y="3035808"/>
            <a:ext cx="8046720" cy="548640"/>
          </a:xfrm>
          <a:prstGeom prst="rect">
            <a:avLst/>
          </a:prstGeom>
          <a:noFill/>
          <a:ln/>
        </p:spPr>
        <p:txBody>
          <a:bodyPr wrap="square" rtlCol="0" anchor="ctr"/>
          <a:lstStyle/>
          <a:p>
            <a:pPr indent="0" marL="0">
              <a:buNone/>
            </a:pPr>
            <a:r>
              <a:rPr lang="en-US" sz="1350" b="1" dirty="0">
                <a:solidFill>
                  <a:srgbClr val="3A2410"/>
                </a:solidFill>
                <a:latin typeface="Calibri" pitchFamily="34" charset="0"/>
                <a:ea typeface="Calibri" pitchFamily="34" charset="-122"/>
                <a:cs typeface="Calibri" pitchFamily="34" charset="-120"/>
              </a:rPr>
              <a:t>I can explain how measurement helps scientists describe matter more exactly than just looking.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YOU'LL NEED</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Materials</a:t>
            </a:r>
            <a:endParaRPr lang="en-US" sz="2100" dirty="0"/>
          </a:p>
        </p:txBody>
      </p:sp>
      <p:sp>
        <p:nvSpPr>
          <p:cNvPr id="7" name="Shape 5"/>
          <p:cNvSpPr/>
          <p:nvPr/>
        </p:nvSpPr>
        <p:spPr>
          <a:xfrm>
            <a:off x="320040" y="1188720"/>
            <a:ext cx="8503920" cy="1005840"/>
          </a:xfrm>
          <a:prstGeom prst="roundRect">
            <a:avLst>
              <a:gd name="adj" fmla="val 7273"/>
            </a:avLst>
          </a:prstGeom>
          <a:solidFill>
            <a:srgbClr val="EEF8F0"/>
          </a:solidFill>
          <a:ln w="19050">
            <a:solidFill>
              <a:srgbClr val="52B788"/>
            </a:solidFill>
            <a:prstDash val="solid"/>
          </a:ln>
        </p:spPr>
      </p:sp>
      <p:sp>
        <p:nvSpPr>
          <p:cNvPr id="8" name="Text 6"/>
          <p:cNvSpPr/>
          <p:nvPr/>
        </p:nvSpPr>
        <p:spPr>
          <a:xfrm>
            <a:off x="548640" y="1325880"/>
            <a:ext cx="8046720" cy="731520"/>
          </a:xfrm>
          <a:prstGeom prst="rect">
            <a:avLst/>
          </a:prstGeom>
          <a:noFill/>
          <a:ln/>
        </p:spPr>
        <p:txBody>
          <a:bodyPr wrap="square" rtlCol="0" anchor="t"/>
          <a:lstStyle/>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Science notebook</a:t>
            </a:r>
            <a:endParaRPr lang="en-US" sz="1500" dirty="0"/>
          </a:p>
          <a:p>
            <a:pPr marL="342900" indent="-342900">
              <a:lnSpc>
                <a:spcPts val="2600"/>
              </a:lnSpc>
              <a:buSzPct val="100000"/>
              <a:buChar char="•"/>
            </a:pPr>
            <a:r>
              <a:rPr lang="en-US" sz="1500" dirty="0">
                <a:solidFill>
                  <a:srgbClr val="1B4332"/>
                </a:solidFill>
                <a:latin typeface="Calibri" pitchFamily="34" charset="0"/>
                <a:ea typeface="Calibri" pitchFamily="34" charset="-122"/>
                <a:cs typeface="Calibri" pitchFamily="34" charset="-120"/>
              </a:rPr>
              <a:t>Pencil &amp; colored pencils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9A825"/>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NOTICE &amp; WONDER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How Do Scientists Measure Matter?</a:t>
            </a:r>
            <a:endParaRPr lang="en-US" sz="2100" dirty="0"/>
          </a:p>
        </p:txBody>
      </p:sp>
      <p:sp>
        <p:nvSpPr>
          <p:cNvPr id="7" name="Text 5"/>
          <p:cNvSpPr/>
          <p:nvPr/>
        </p:nvSpPr>
        <p:spPr>
          <a:xfrm>
            <a:off x="320040" y="1097280"/>
            <a:ext cx="8503920" cy="91440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Imagine you have two boxes. They look the same size, but one is much heavier. Just looking at them would not tell you the difference. You need to measure.</a:t>
            </a:r>
            <a:endParaRPr lang="en-US" sz="1400" dirty="0"/>
          </a:p>
        </p:txBody>
      </p:sp>
      <p:sp>
        <p:nvSpPr>
          <p:cNvPr id="8" name="Shape 6"/>
          <p:cNvSpPr/>
          <p:nvPr/>
        </p:nvSpPr>
        <p:spPr>
          <a:xfrm>
            <a:off x="320040" y="2103120"/>
            <a:ext cx="8503920" cy="822960"/>
          </a:xfrm>
          <a:prstGeom prst="roundRect">
            <a:avLst>
              <a:gd name="adj" fmla="val 8889"/>
            </a:avLst>
          </a:prstGeom>
          <a:solidFill>
            <a:srgbClr val="FFF9E8"/>
          </a:solidFill>
          <a:ln w="19050">
            <a:solidFill>
              <a:srgbClr val="F9A825"/>
            </a:solidFill>
            <a:prstDash val="solid"/>
          </a:ln>
        </p:spPr>
      </p:sp>
      <p:sp>
        <p:nvSpPr>
          <p:cNvPr id="9" name="Text 7"/>
          <p:cNvSpPr/>
          <p:nvPr/>
        </p:nvSpPr>
        <p:spPr>
          <a:xfrm>
            <a:off x="502920" y="217627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395728"/>
            <a:ext cx="8138160" cy="47548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Look at two objects near you. Guess which one is heavier and which takes up more space. Write your predictions. We will test these later!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1</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Measurement</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A number that tells the size, weight, or amount of something. Scientists measure to be exact.</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Mass</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How much matter is in an object. Measured using a balance or scale.</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Volume</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How much space an object takes up. Measured using a ruler or measuring cup.</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5C8E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WORD WALL</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Key Vocabulary — Part 2</a:t>
            </a:r>
            <a:endParaRPr lang="en-US" sz="2100" dirty="0"/>
          </a:p>
        </p:txBody>
      </p:sp>
      <p:sp>
        <p:nvSpPr>
          <p:cNvPr id="7" name="Shape 5"/>
          <p:cNvSpPr/>
          <p:nvPr/>
        </p:nvSpPr>
        <p:spPr>
          <a:xfrm>
            <a:off x="320040" y="1097280"/>
            <a:ext cx="8503920" cy="868680"/>
          </a:xfrm>
          <a:prstGeom prst="roundRect">
            <a:avLst>
              <a:gd name="adj" fmla="val 8421"/>
            </a:avLst>
          </a:prstGeom>
          <a:solidFill>
            <a:srgbClr val="FFFFFF"/>
          </a:solidFill>
          <a:ln w="19050">
            <a:solidFill>
              <a:srgbClr val="55C8E8"/>
            </a:solidFill>
            <a:prstDash val="solid"/>
          </a:ln>
        </p:spPr>
      </p:sp>
      <p:sp>
        <p:nvSpPr>
          <p:cNvPr id="8" name="Text 6"/>
          <p:cNvSpPr/>
          <p:nvPr/>
        </p:nvSpPr>
        <p:spPr>
          <a:xfrm>
            <a:off x="502920" y="117043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Data</a:t>
            </a:r>
            <a:endParaRPr lang="en-US" sz="1500" dirty="0"/>
          </a:p>
        </p:txBody>
      </p:sp>
      <p:sp>
        <p:nvSpPr>
          <p:cNvPr id="9" name="Text 7"/>
          <p:cNvSpPr/>
          <p:nvPr/>
        </p:nvSpPr>
        <p:spPr>
          <a:xfrm>
            <a:off x="502920" y="146304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Information collected during an investigation — like numbers, measurements, or observations.</a:t>
            </a:r>
            <a:endParaRPr lang="en-US" sz="1250" dirty="0"/>
          </a:p>
        </p:txBody>
      </p:sp>
      <p:sp>
        <p:nvSpPr>
          <p:cNvPr id="10" name="Shape 8"/>
          <p:cNvSpPr/>
          <p:nvPr/>
        </p:nvSpPr>
        <p:spPr>
          <a:xfrm>
            <a:off x="320040" y="2057400"/>
            <a:ext cx="8503920" cy="868680"/>
          </a:xfrm>
          <a:prstGeom prst="roundRect">
            <a:avLst>
              <a:gd name="adj" fmla="val 8421"/>
            </a:avLst>
          </a:prstGeom>
          <a:solidFill>
            <a:srgbClr val="FFFFFF"/>
          </a:solidFill>
          <a:ln w="19050">
            <a:solidFill>
              <a:srgbClr val="55C8E8"/>
            </a:solidFill>
            <a:prstDash val="solid"/>
          </a:ln>
        </p:spPr>
      </p:sp>
      <p:sp>
        <p:nvSpPr>
          <p:cNvPr id="11" name="Text 9"/>
          <p:cNvSpPr/>
          <p:nvPr/>
        </p:nvSpPr>
        <p:spPr>
          <a:xfrm>
            <a:off x="502920" y="213055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Bar Graph</a:t>
            </a:r>
            <a:endParaRPr lang="en-US" sz="1500" dirty="0"/>
          </a:p>
        </p:txBody>
      </p:sp>
      <p:sp>
        <p:nvSpPr>
          <p:cNvPr id="12" name="Text 10"/>
          <p:cNvSpPr/>
          <p:nvPr/>
        </p:nvSpPr>
        <p:spPr>
          <a:xfrm>
            <a:off x="502920" y="242316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A chart that uses bars to compare amounts. Taller bars mean larger numbers.</a:t>
            </a:r>
            <a:endParaRPr lang="en-US" sz="1250" dirty="0"/>
          </a:p>
        </p:txBody>
      </p:sp>
      <p:sp>
        <p:nvSpPr>
          <p:cNvPr id="13" name="Shape 11"/>
          <p:cNvSpPr/>
          <p:nvPr/>
        </p:nvSpPr>
        <p:spPr>
          <a:xfrm>
            <a:off x="320040" y="3017520"/>
            <a:ext cx="8503920" cy="868680"/>
          </a:xfrm>
          <a:prstGeom prst="roundRect">
            <a:avLst>
              <a:gd name="adj" fmla="val 8421"/>
            </a:avLst>
          </a:prstGeom>
          <a:solidFill>
            <a:srgbClr val="FFFFFF"/>
          </a:solidFill>
          <a:ln w="19050">
            <a:solidFill>
              <a:srgbClr val="55C8E8"/>
            </a:solidFill>
            <a:prstDash val="solid"/>
          </a:ln>
        </p:spPr>
      </p:sp>
      <p:sp>
        <p:nvSpPr>
          <p:cNvPr id="14" name="Text 12"/>
          <p:cNvSpPr/>
          <p:nvPr/>
        </p:nvSpPr>
        <p:spPr>
          <a:xfrm>
            <a:off x="502920" y="3090672"/>
            <a:ext cx="8138160" cy="274320"/>
          </a:xfrm>
          <a:prstGeom prst="rect">
            <a:avLst/>
          </a:prstGeom>
          <a:noFill/>
          <a:ln/>
        </p:spPr>
        <p:txBody>
          <a:bodyPr wrap="square" rtlCol="0" anchor="ctr"/>
          <a:lstStyle/>
          <a:p>
            <a:pPr indent="0" marL="0">
              <a:buNone/>
            </a:pPr>
            <a:r>
              <a:rPr lang="en-US" sz="1500" b="1" dirty="0">
                <a:solidFill>
                  <a:srgbClr val="0277BD"/>
                </a:solidFill>
                <a:latin typeface="Cambria" pitchFamily="34" charset="0"/>
                <a:ea typeface="Cambria" pitchFamily="34" charset="-122"/>
                <a:cs typeface="Cambria" pitchFamily="34" charset="-120"/>
              </a:rPr>
              <a:t>Compare</a:t>
            </a:r>
            <a:endParaRPr lang="en-US" sz="1500" dirty="0"/>
          </a:p>
        </p:txBody>
      </p:sp>
      <p:sp>
        <p:nvSpPr>
          <p:cNvPr id="15" name="Text 13"/>
          <p:cNvSpPr/>
          <p:nvPr/>
        </p:nvSpPr>
        <p:spPr>
          <a:xfrm>
            <a:off x="502920" y="3383280"/>
            <a:ext cx="8138160" cy="457200"/>
          </a:xfrm>
          <a:prstGeom prst="rect">
            <a:avLst/>
          </a:prstGeom>
          <a:noFill/>
          <a:ln/>
        </p:spPr>
        <p:txBody>
          <a:bodyPr wrap="square" rtlCol="0" anchor="t"/>
          <a:lstStyle/>
          <a:p>
            <a:pPr indent="0" marL="0">
              <a:buNone/>
            </a:pPr>
            <a:r>
              <a:rPr lang="en-US" sz="1250" dirty="0">
                <a:solidFill>
                  <a:srgbClr val="2B1D12"/>
                </a:solidFill>
                <a:latin typeface="Calibri" pitchFamily="34" charset="0"/>
                <a:ea typeface="Calibri" pitchFamily="34" charset="-122"/>
                <a:cs typeface="Calibri" pitchFamily="34" charset="-120"/>
              </a:rPr>
              <a:t>To look at two or more things and find what is the same and what is different.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COPY THIS DOWN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In Your Science Notebook</a:t>
            </a:r>
            <a:endParaRPr lang="en-US" sz="2100" dirty="0"/>
          </a:p>
        </p:txBody>
      </p:sp>
      <p:sp>
        <p:nvSpPr>
          <p:cNvPr id="7" name="Shape 5"/>
          <p:cNvSpPr/>
          <p:nvPr/>
        </p:nvSpPr>
        <p:spPr>
          <a:xfrm>
            <a:off x="320040" y="1371600"/>
            <a:ext cx="8503920" cy="1188720"/>
          </a:xfrm>
          <a:prstGeom prst="roundRect">
            <a:avLst>
              <a:gd name="adj" fmla="val 7692"/>
            </a:avLst>
          </a:prstGeom>
          <a:solidFill>
            <a:srgbClr val="FFF3E0"/>
          </a:solidFill>
          <a:ln w="25400">
            <a:solidFill>
              <a:srgbClr val="F57C00"/>
            </a:solidFill>
            <a:prstDash val="solid"/>
          </a:ln>
        </p:spPr>
      </p:sp>
      <p:sp>
        <p:nvSpPr>
          <p:cNvPr id="8" name="Text 6"/>
          <p:cNvSpPr/>
          <p:nvPr/>
        </p:nvSpPr>
        <p:spPr>
          <a:xfrm>
            <a:off x="548640" y="1554480"/>
            <a:ext cx="8046720" cy="868680"/>
          </a:xfrm>
          <a:prstGeom prst="rect">
            <a:avLst/>
          </a:prstGeom>
          <a:noFill/>
          <a:ln/>
        </p:spPr>
        <p:txBody>
          <a:bodyPr wrap="square" rtlCol="0" anchor="ctr"/>
          <a:lstStyle/>
          <a:p>
            <a:pPr algn="ctr" indent="0" marL="0">
              <a:buNone/>
            </a:pPr>
            <a:r>
              <a:rPr lang="en-US" sz="1500" i="1" dirty="0">
                <a:solidFill>
                  <a:srgbClr val="3A2410"/>
                </a:solidFill>
                <a:latin typeface="Cambria" pitchFamily="34" charset="0"/>
                <a:ea typeface="Cambria" pitchFamily="34" charset="-122"/>
                <a:cs typeface="Cambria" pitchFamily="34" charset="-120"/>
              </a:rPr>
              <a:t>"When scientists measure the properties of matter, they can compare objects more exactly than just looking."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Measure?</a:t>
            </a:r>
            <a:endParaRPr lang="en-US" sz="2100" dirty="0"/>
          </a:p>
        </p:txBody>
      </p:sp>
      <p:sp>
        <p:nvSpPr>
          <p:cNvPr id="7" name="Text 5"/>
          <p:cNvSpPr/>
          <p:nvPr/>
        </p:nvSpPr>
        <p:spPr>
          <a:xfrm>
            <a:off x="320040" y="1097280"/>
            <a:ext cx="8503920" cy="1371600"/>
          </a:xfrm>
          <a:prstGeom prst="rect">
            <a:avLst/>
          </a:prstGeom>
          <a:noFill/>
          <a:ln/>
        </p:spPr>
        <p:txBody>
          <a:bodyPr wrap="square" rtlCol="0" anchor="t"/>
          <a:lstStyle/>
          <a:p>
            <a:pPr indent="0" marL="0">
              <a:lnSpc>
                <a:spcPts val="2000"/>
              </a:lnSpc>
              <a:buNone/>
            </a:pPr>
            <a:r>
              <a:rPr lang="en-US" sz="1350" dirty="0">
                <a:solidFill>
                  <a:srgbClr val="2B1D12"/>
                </a:solidFill>
                <a:latin typeface="Calibri" pitchFamily="34" charset="0"/>
                <a:ea typeface="Calibri" pitchFamily="34" charset="-122"/>
                <a:cs typeface="Calibri" pitchFamily="34" charset="-120"/>
              </a:rPr>
              <a:t>Your eyes can tell you a lot about an object. But sometimes your eyes can trick you. Two objects might look the same size but have very different mass. Measurement gives scientists exact numbers. Numbers do not change based on who is looking.</a:t>
            </a:r>
            <a:endParaRPr lang="en-US" sz="1350" dirty="0"/>
          </a:p>
        </p:txBody>
      </p:sp>
      <p:sp>
        <p:nvSpPr>
          <p:cNvPr id="8" name="Shape 6"/>
          <p:cNvSpPr/>
          <p:nvPr/>
        </p:nvSpPr>
        <p:spPr>
          <a:xfrm>
            <a:off x="320040" y="256032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63347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288950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Why is it more useful to say a rock weighs 200 grams than to say it is "heavy"?</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Tools Scientists Use</a:t>
            </a:r>
            <a:endParaRPr lang="en-US" sz="2100" dirty="0"/>
          </a:p>
        </p:txBody>
      </p:sp>
      <p:sp>
        <p:nvSpPr>
          <p:cNvPr id="7" name="Shape 5"/>
          <p:cNvSpPr/>
          <p:nvPr/>
        </p:nvSpPr>
        <p:spPr>
          <a:xfrm>
            <a:off x="320040" y="1097280"/>
            <a:ext cx="8503920" cy="594360"/>
          </a:xfrm>
          <a:prstGeom prst="roundRect">
            <a:avLst>
              <a:gd name="adj" fmla="val 12308"/>
            </a:avLst>
          </a:prstGeom>
          <a:solidFill>
            <a:srgbClr val="E8F5E9"/>
          </a:solidFill>
          <a:ln w="12700">
            <a:solidFill>
              <a:srgbClr val="52B788"/>
            </a:solidFill>
            <a:prstDash val="solid"/>
          </a:ln>
        </p:spPr>
      </p:sp>
      <p:sp>
        <p:nvSpPr>
          <p:cNvPr id="8" name="Text 6"/>
          <p:cNvSpPr/>
          <p:nvPr/>
        </p:nvSpPr>
        <p:spPr>
          <a:xfrm>
            <a:off x="502920" y="1152144"/>
            <a:ext cx="2743200" cy="2286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Balance or Scale</a:t>
            </a:r>
            <a:endParaRPr lang="en-US" sz="1300" dirty="0"/>
          </a:p>
        </p:txBody>
      </p:sp>
      <p:sp>
        <p:nvSpPr>
          <p:cNvPr id="9" name="Text 7"/>
          <p:cNvSpPr/>
          <p:nvPr/>
        </p:nvSpPr>
        <p:spPr>
          <a:xfrm>
            <a:off x="502920" y="1389888"/>
            <a:ext cx="8138160" cy="274320"/>
          </a:xfrm>
          <a:prstGeom prst="rect">
            <a:avLst/>
          </a:prstGeom>
          <a:noFill/>
          <a:ln/>
        </p:spPr>
        <p:txBody>
          <a:bodyPr wrap="square" rtlCol="0" anchor="t"/>
          <a:lstStyle/>
          <a:p>
            <a:pPr indent="0" marL="0">
              <a:buNone/>
            </a:pPr>
            <a:r>
              <a:rPr lang="en-US" sz="1150" dirty="0">
                <a:solidFill>
                  <a:srgbClr val="2B1D12"/>
                </a:solidFill>
                <a:latin typeface="Calibri" pitchFamily="34" charset="0"/>
                <a:ea typeface="Calibri" pitchFamily="34" charset="-122"/>
                <a:cs typeface="Calibri" pitchFamily="34" charset="-120"/>
              </a:rPr>
              <a:t>Measures mass in grams.</a:t>
            </a:r>
            <a:endParaRPr lang="en-US" sz="1150" dirty="0"/>
          </a:p>
        </p:txBody>
      </p:sp>
      <p:sp>
        <p:nvSpPr>
          <p:cNvPr id="10" name="Shape 8"/>
          <p:cNvSpPr/>
          <p:nvPr/>
        </p:nvSpPr>
        <p:spPr>
          <a:xfrm>
            <a:off x="320040" y="1755648"/>
            <a:ext cx="8503920" cy="594360"/>
          </a:xfrm>
          <a:prstGeom prst="roundRect">
            <a:avLst>
              <a:gd name="adj" fmla="val 12308"/>
            </a:avLst>
          </a:prstGeom>
          <a:solidFill>
            <a:srgbClr val="E8F5E9"/>
          </a:solidFill>
          <a:ln w="12700">
            <a:solidFill>
              <a:srgbClr val="52B788"/>
            </a:solidFill>
            <a:prstDash val="solid"/>
          </a:ln>
        </p:spPr>
      </p:sp>
      <p:sp>
        <p:nvSpPr>
          <p:cNvPr id="11" name="Text 9"/>
          <p:cNvSpPr/>
          <p:nvPr/>
        </p:nvSpPr>
        <p:spPr>
          <a:xfrm>
            <a:off x="502920" y="1810512"/>
            <a:ext cx="2743200" cy="2286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Ruler</a:t>
            </a:r>
            <a:endParaRPr lang="en-US" sz="1300" dirty="0"/>
          </a:p>
        </p:txBody>
      </p:sp>
      <p:sp>
        <p:nvSpPr>
          <p:cNvPr id="12" name="Text 10"/>
          <p:cNvSpPr/>
          <p:nvPr/>
        </p:nvSpPr>
        <p:spPr>
          <a:xfrm>
            <a:off x="502920" y="2048256"/>
            <a:ext cx="8138160" cy="274320"/>
          </a:xfrm>
          <a:prstGeom prst="rect">
            <a:avLst/>
          </a:prstGeom>
          <a:noFill/>
          <a:ln/>
        </p:spPr>
        <p:txBody>
          <a:bodyPr wrap="square" rtlCol="0" anchor="t"/>
          <a:lstStyle/>
          <a:p>
            <a:pPr indent="0" marL="0">
              <a:buNone/>
            </a:pPr>
            <a:r>
              <a:rPr lang="en-US" sz="1150" dirty="0">
                <a:solidFill>
                  <a:srgbClr val="2B1D12"/>
                </a:solidFill>
                <a:latin typeface="Calibri" pitchFamily="34" charset="0"/>
                <a:ea typeface="Calibri" pitchFamily="34" charset="-122"/>
                <a:cs typeface="Calibri" pitchFamily="34" charset="-120"/>
              </a:rPr>
              <a:t>Measures length in centimeters.</a:t>
            </a:r>
            <a:endParaRPr lang="en-US" sz="1150" dirty="0"/>
          </a:p>
        </p:txBody>
      </p:sp>
      <p:sp>
        <p:nvSpPr>
          <p:cNvPr id="13" name="Shape 11"/>
          <p:cNvSpPr/>
          <p:nvPr/>
        </p:nvSpPr>
        <p:spPr>
          <a:xfrm>
            <a:off x="320040" y="2414016"/>
            <a:ext cx="8503920" cy="594360"/>
          </a:xfrm>
          <a:prstGeom prst="roundRect">
            <a:avLst>
              <a:gd name="adj" fmla="val 12308"/>
            </a:avLst>
          </a:prstGeom>
          <a:solidFill>
            <a:srgbClr val="E8F5E9"/>
          </a:solidFill>
          <a:ln w="12700">
            <a:solidFill>
              <a:srgbClr val="52B788"/>
            </a:solidFill>
            <a:prstDash val="solid"/>
          </a:ln>
        </p:spPr>
      </p:sp>
      <p:sp>
        <p:nvSpPr>
          <p:cNvPr id="14" name="Text 12"/>
          <p:cNvSpPr/>
          <p:nvPr/>
        </p:nvSpPr>
        <p:spPr>
          <a:xfrm>
            <a:off x="502920" y="2468880"/>
            <a:ext cx="2743200" cy="228600"/>
          </a:xfrm>
          <a:prstGeom prst="rect">
            <a:avLst/>
          </a:prstGeom>
          <a:noFill/>
          <a:ln/>
        </p:spPr>
        <p:txBody>
          <a:bodyPr wrap="square" rtlCol="0" anchor="ctr"/>
          <a:lstStyle/>
          <a:p>
            <a:pPr indent="0" marL="0">
              <a:buNone/>
            </a:pPr>
            <a:r>
              <a:rPr lang="en-US" sz="1300" b="1" dirty="0">
                <a:solidFill>
                  <a:srgbClr val="1B4332"/>
                </a:solidFill>
                <a:latin typeface="Cambria" pitchFamily="34" charset="0"/>
                <a:ea typeface="Cambria" pitchFamily="34" charset="-122"/>
                <a:cs typeface="Cambria" pitchFamily="34" charset="-120"/>
              </a:rPr>
              <a:t>Measuring Cup</a:t>
            </a:r>
            <a:endParaRPr lang="en-US" sz="1300" dirty="0"/>
          </a:p>
        </p:txBody>
      </p:sp>
      <p:sp>
        <p:nvSpPr>
          <p:cNvPr id="15" name="Text 13"/>
          <p:cNvSpPr/>
          <p:nvPr/>
        </p:nvSpPr>
        <p:spPr>
          <a:xfrm>
            <a:off x="502920" y="2706624"/>
            <a:ext cx="8138160" cy="274320"/>
          </a:xfrm>
          <a:prstGeom prst="rect">
            <a:avLst/>
          </a:prstGeom>
          <a:noFill/>
          <a:ln/>
        </p:spPr>
        <p:txBody>
          <a:bodyPr wrap="square" rtlCol="0" anchor="t"/>
          <a:lstStyle/>
          <a:p>
            <a:pPr indent="0" marL="0">
              <a:buNone/>
            </a:pPr>
            <a:r>
              <a:rPr lang="en-US" sz="1150" dirty="0">
                <a:solidFill>
                  <a:srgbClr val="2B1D12"/>
                </a:solidFill>
                <a:latin typeface="Calibri" pitchFamily="34" charset="0"/>
                <a:ea typeface="Calibri" pitchFamily="34" charset="-122"/>
                <a:cs typeface="Calibri" pitchFamily="34" charset="-120"/>
              </a:rPr>
              <a:t>Measures the volume of liquids in milliliters.</a:t>
            </a:r>
            <a:endParaRPr lang="en-US" sz="1150" dirty="0"/>
          </a:p>
        </p:txBody>
      </p:sp>
      <p:sp>
        <p:nvSpPr>
          <p:cNvPr id="16" name="Text 14"/>
          <p:cNvSpPr/>
          <p:nvPr/>
        </p:nvSpPr>
        <p:spPr>
          <a:xfrm>
            <a:off x="320040" y="3209544"/>
            <a:ext cx="8503920" cy="502920"/>
          </a:xfrm>
          <a:prstGeom prst="rect">
            <a:avLst/>
          </a:prstGeom>
          <a:noFill/>
          <a:ln/>
        </p:spPr>
        <p:txBody>
          <a:bodyPr wrap="square" rtlCol="0" anchor="t"/>
          <a:lstStyle/>
          <a:p>
            <a:pPr indent="0" marL="0">
              <a:lnSpc>
                <a:spcPts val="2000"/>
              </a:lnSpc>
              <a:buNone/>
            </a:pPr>
            <a:r>
              <a:rPr lang="en-US" sz="1250" i="1" dirty="0">
                <a:solidFill>
                  <a:srgbClr val="2B1D12"/>
                </a:solidFill>
                <a:latin typeface="Calibri" pitchFamily="34" charset="0"/>
                <a:ea typeface="Calibri" pitchFamily="34" charset="-122"/>
                <a:cs typeface="Calibri" pitchFamily="34" charset="-120"/>
              </a:rPr>
              <a:t>Each tool measures a different property. Using the right tool gives you the right data.</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THE LESSON · SECTION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Recording and Comparing</a:t>
            </a:r>
            <a:endParaRPr lang="en-US" sz="2100" dirty="0"/>
          </a:p>
        </p:txBody>
      </p:sp>
      <p:sp>
        <p:nvSpPr>
          <p:cNvPr id="7" name="Text 5"/>
          <p:cNvSpPr/>
          <p:nvPr/>
        </p:nvSpPr>
        <p:spPr>
          <a:xfrm>
            <a:off x="320040" y="1051560"/>
            <a:ext cx="8503920" cy="91440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Scientists write measurements in a data table. Then they look at the numbers to find patterns or differences. A bar graph makes the comparison easy to see.</a:t>
            </a:r>
            <a:endParaRPr lang="en-US" sz="1300" dirty="0"/>
          </a:p>
        </p:txBody>
      </p:sp>
      <p:sp>
        <p:nvSpPr>
          <p:cNvPr id="8" name="Shape 6"/>
          <p:cNvSpPr/>
          <p:nvPr/>
        </p:nvSpPr>
        <p:spPr>
          <a:xfrm>
            <a:off x="320040" y="2057400"/>
            <a:ext cx="8503920" cy="685800"/>
          </a:xfrm>
          <a:prstGeom prst="roundRect">
            <a:avLst>
              <a:gd name="adj" fmla="val 10667"/>
            </a:avLst>
          </a:prstGeom>
          <a:solidFill>
            <a:srgbClr val="E3F2FD"/>
          </a:solidFill>
          <a:ln w="19050">
            <a:solidFill>
              <a:srgbClr val="0288D1"/>
            </a:solidFill>
            <a:prstDash val="solid"/>
          </a:ln>
        </p:spPr>
      </p:sp>
      <p:sp>
        <p:nvSpPr>
          <p:cNvPr id="9" name="Text 7"/>
          <p:cNvSpPr/>
          <p:nvPr/>
        </p:nvSpPr>
        <p:spPr>
          <a:xfrm>
            <a:off x="502920" y="2130552"/>
            <a:ext cx="8138160" cy="219456"/>
          </a:xfrm>
          <a:prstGeom prst="rect">
            <a:avLst/>
          </a:prstGeom>
          <a:noFill/>
          <a:ln/>
        </p:spPr>
        <p:txBody>
          <a:bodyPr wrap="square" rtlCol="0" anchor="ctr"/>
          <a:lstStyle/>
          <a:p>
            <a:pPr indent="0" marL="0">
              <a:buNone/>
            </a:pPr>
            <a:r>
              <a:rPr lang="en-US" sz="1050" b="1" spc="100" kern="0" dirty="0">
                <a:solidFill>
                  <a:srgbClr val="0277BD"/>
                </a:solidFill>
                <a:latin typeface="Calibri" pitchFamily="34" charset="0"/>
                <a:ea typeface="Calibri" pitchFamily="34" charset="-122"/>
                <a:cs typeface="Calibri" pitchFamily="34" charset="-120"/>
              </a:rPr>
              <a:t>Real-World Connection</a:t>
            </a:r>
            <a:endParaRPr lang="en-US" sz="1050" dirty="0"/>
          </a:p>
        </p:txBody>
      </p:sp>
      <p:sp>
        <p:nvSpPr>
          <p:cNvPr id="10" name="Text 8"/>
          <p:cNvSpPr/>
          <p:nvPr/>
        </p:nvSpPr>
        <p:spPr>
          <a:xfrm>
            <a:off x="502920" y="2350008"/>
            <a:ext cx="8138160" cy="365760"/>
          </a:xfrm>
          <a:prstGeom prst="rect">
            <a:avLst/>
          </a:prstGeom>
          <a:noFill/>
          <a:ln/>
        </p:spPr>
        <p:txBody>
          <a:bodyPr wrap="square" rtlCol="0" anchor="t"/>
          <a:lstStyle/>
          <a:p>
            <a:pPr indent="0" marL="0">
              <a:buNone/>
            </a:pPr>
            <a:r>
              <a:rPr lang="en-US" sz="1100" dirty="0">
                <a:solidFill>
                  <a:srgbClr val="2B1D12"/>
                </a:solidFill>
                <a:latin typeface="Calibri" pitchFamily="34" charset="0"/>
                <a:ea typeface="Calibri" pitchFamily="34" charset="-122"/>
                <a:cs typeface="Calibri" pitchFamily="34" charset="-120"/>
              </a:rPr>
              <a:t>A baker measures flour and sugar by mass to get a recipe exactly right — too much or too little changes the whole cake!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KEY CONCEPT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Exact Data as Evidence</a:t>
            </a:r>
            <a:endParaRPr lang="en-US" sz="2100" dirty="0"/>
          </a:p>
        </p:txBody>
      </p:sp>
      <p:sp>
        <p:nvSpPr>
          <p:cNvPr id="7" name="Shape 5"/>
          <p:cNvSpPr/>
          <p:nvPr/>
        </p:nvSpPr>
        <p:spPr>
          <a:xfrm>
            <a:off x="320040" y="1188720"/>
            <a:ext cx="8503920" cy="1005840"/>
          </a:xfrm>
          <a:prstGeom prst="roundRect">
            <a:avLst>
              <a:gd name="adj" fmla="val 7273"/>
            </a:avLst>
          </a:prstGeom>
          <a:solidFill>
            <a:srgbClr val="F0F8E8"/>
          </a:solidFill>
          <a:ln w="19050">
            <a:solidFill>
              <a:srgbClr val="C8E0B8"/>
            </a:solidFill>
            <a:prstDash val="solid"/>
          </a:ln>
        </p:spPr>
      </p:sp>
      <p:sp>
        <p:nvSpPr>
          <p:cNvPr id="8" name="Text 6"/>
          <p:cNvSpPr/>
          <p:nvPr/>
        </p:nvSpPr>
        <p:spPr>
          <a:xfrm>
            <a:off x="502920" y="1261872"/>
            <a:ext cx="8138160" cy="219456"/>
          </a:xfrm>
          <a:prstGeom prst="rect">
            <a:avLst/>
          </a:prstGeom>
          <a:noFill/>
          <a:ln/>
        </p:spPr>
        <p:txBody>
          <a:bodyPr wrap="square" rtlCol="0" anchor="ctr"/>
          <a:lstStyle/>
          <a:p>
            <a:pPr indent="0" marL="0">
              <a:buNone/>
            </a:pPr>
            <a:r>
              <a:rPr lang="en-US" sz="1100" b="1" spc="100" kern="0" dirty="0">
                <a:solidFill>
                  <a:srgbClr val="558B2F"/>
                </a:solidFill>
                <a:latin typeface="Calibri" pitchFamily="34" charset="0"/>
                <a:ea typeface="Calibri" pitchFamily="34" charset="-122"/>
                <a:cs typeface="Calibri" pitchFamily="34" charset="-120"/>
              </a:rPr>
              <a:t>KEY CONCEPT</a:t>
            </a:r>
            <a:endParaRPr lang="en-US" sz="1100" dirty="0"/>
          </a:p>
        </p:txBody>
      </p:sp>
      <p:sp>
        <p:nvSpPr>
          <p:cNvPr id="9" name="Text 7"/>
          <p:cNvSpPr/>
          <p:nvPr/>
        </p:nvSpPr>
        <p:spPr>
          <a:xfrm>
            <a:off x="502920" y="1481328"/>
            <a:ext cx="8138160" cy="658368"/>
          </a:xfrm>
          <a:prstGeom prst="rect">
            <a:avLst/>
          </a:prstGeom>
          <a:noFill/>
          <a:ln/>
        </p:spPr>
        <p:txBody>
          <a:bodyPr wrap="square" rtlCol="0" anchor="t"/>
          <a:lstStyle/>
          <a:p>
            <a:pPr indent="0" marL="0">
              <a:lnSpc>
                <a:spcPts val="1800"/>
              </a:lnSpc>
              <a:buNone/>
            </a:pPr>
            <a:r>
              <a:rPr lang="en-US" sz="1400" b="1" dirty="0">
                <a:solidFill>
                  <a:srgbClr val="2B1D12"/>
                </a:solidFill>
                <a:latin typeface="Calibri" pitchFamily="34" charset="0"/>
                <a:ea typeface="Calibri" pitchFamily="34" charset="-122"/>
                <a:cs typeface="Calibri" pitchFamily="34" charset="-120"/>
              </a:rPr>
              <a:t>Measuring properties like mass and volume gives scientists exact data they can record, compare, and use as evidence.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AMAZING NATURE FACT</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Official Kilogram</a:t>
            </a:r>
            <a:endParaRPr lang="en-US" sz="2100" dirty="0"/>
          </a:p>
        </p:txBody>
      </p:sp>
      <p:sp>
        <p:nvSpPr>
          <p:cNvPr id="7" name="Text 5"/>
          <p:cNvSpPr/>
          <p:nvPr/>
        </p:nvSpPr>
        <p:spPr>
          <a:xfrm>
            <a:off x="320040" y="1097280"/>
            <a:ext cx="8503920" cy="1280160"/>
          </a:xfrm>
          <a:prstGeom prst="rect">
            <a:avLst/>
          </a:prstGeom>
          <a:noFill/>
          <a:ln/>
        </p:spPr>
        <p:txBody>
          <a:bodyPr wrap="square" rtlCol="0" anchor="t"/>
          <a:lstStyle/>
          <a:p>
            <a:pPr indent="0" marL="0">
              <a:lnSpc>
                <a:spcPts val="2000"/>
              </a:lnSpc>
              <a:buNone/>
            </a:pPr>
            <a:r>
              <a:rPr lang="en-US" sz="1500" dirty="0">
                <a:solidFill>
                  <a:srgbClr val="2B1D12"/>
                </a:solidFill>
                <a:latin typeface="Calibri" pitchFamily="34" charset="0"/>
                <a:ea typeface="Calibri" pitchFamily="34" charset="-122"/>
                <a:cs typeface="Calibri" pitchFamily="34" charset="-120"/>
              </a:rPr>
              <a:t>The International Prototype Kilogram — a metal cylinder in France — was the world's official "one kilogram" for over 130 years. Every scale on Earth was calibrated to match it!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2D6A4F"/>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CURIOUS? GO DEEPER</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Estimation vs. Measurement</a:t>
            </a:r>
            <a:endParaRPr lang="en-US" sz="2100" dirty="0"/>
          </a:p>
        </p:txBody>
      </p:sp>
      <p:sp>
        <p:nvSpPr>
          <p:cNvPr id="7" name="Text 5"/>
          <p:cNvSpPr/>
          <p:nvPr/>
        </p:nvSpPr>
        <p:spPr>
          <a:xfrm>
            <a:off x="320040" y="1051560"/>
            <a:ext cx="8503920" cy="1737360"/>
          </a:xfrm>
          <a:prstGeom prst="rect">
            <a:avLst/>
          </a:prstGeom>
          <a:noFill/>
          <a:ln/>
        </p:spPr>
        <p:txBody>
          <a:bodyPr wrap="square" rtlCol="0" anchor="t"/>
          <a:lstStyle/>
          <a:p>
            <a:pPr indent="0" marL="0">
              <a:lnSpc>
                <a:spcPts val="2000"/>
              </a:lnSpc>
              <a:buNone/>
            </a:pPr>
            <a:r>
              <a:rPr lang="en-US" sz="1300" dirty="0">
                <a:solidFill>
                  <a:srgbClr val="2B1D12"/>
                </a:solidFill>
                <a:latin typeface="Calibri" pitchFamily="34" charset="0"/>
                <a:ea typeface="Calibri" pitchFamily="34" charset="-122"/>
                <a:cs typeface="Calibri" pitchFamily="34" charset="-120"/>
              </a:rPr>
              <a:t>Before scientists measure, they often estimate — make a careful guess using what they already know. Estimation helps you know if your measurement makes sense. If you estimate a book weighs about 500 grams and measure it at 480 grams, your estimate was close. If you measure 48 grams, something went wrong!</a:t>
            </a:r>
            <a:endParaRPr lang="en-US" sz="1300" dirty="0"/>
          </a:p>
        </p:txBody>
      </p:sp>
      <p:sp>
        <p:nvSpPr>
          <p:cNvPr id="8" name="Shape 6"/>
          <p:cNvSpPr/>
          <p:nvPr/>
        </p:nvSpPr>
        <p:spPr>
          <a:xfrm>
            <a:off x="320040" y="2880360"/>
            <a:ext cx="8503920" cy="840423"/>
          </a:xfrm>
          <a:prstGeom prst="roundRect">
            <a:avLst>
              <a:gd name="adj" fmla="val 8704"/>
            </a:avLst>
          </a:prstGeom>
          <a:solidFill>
            <a:srgbClr val="EEF8F0"/>
          </a:solidFill>
          <a:ln w="19050">
            <a:solidFill>
              <a:srgbClr val="52B788"/>
            </a:solidFill>
            <a:prstDash val="solid"/>
          </a:ln>
        </p:spPr>
      </p:sp>
      <p:sp>
        <p:nvSpPr>
          <p:cNvPr id="9" name="Text 7"/>
          <p:cNvSpPr/>
          <p:nvPr/>
        </p:nvSpPr>
        <p:spPr>
          <a:xfrm>
            <a:off x="502920" y="295351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209544"/>
            <a:ext cx="8138160" cy="456375"/>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Try estimating before you measure. It trains your brain to think like a scientist.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INVESTIGATION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Measuring &amp; Comparing Matter</a:t>
            </a:r>
            <a:endParaRPr lang="en-US" sz="2100" dirty="0"/>
          </a:p>
        </p:txBody>
      </p:sp>
      <p:sp>
        <p:nvSpPr>
          <p:cNvPr id="7" name="Text 5"/>
          <p:cNvSpPr/>
          <p:nvPr/>
        </p:nvSpPr>
        <p:spPr>
          <a:xfrm>
            <a:off x="320040" y="1097280"/>
            <a:ext cx="8503920" cy="1005840"/>
          </a:xfrm>
          <a:prstGeom prst="rect">
            <a:avLst/>
          </a:prstGeom>
          <a:noFill/>
          <a:ln/>
        </p:spPr>
        <p:txBody>
          <a:bodyPr wrap="square" rtlCol="0" anchor="t"/>
          <a:lstStyle/>
          <a:p>
            <a:pPr indent="0" marL="0">
              <a:lnSpc>
                <a:spcPts val="2000"/>
              </a:lnSpc>
              <a:buNone/>
            </a:pPr>
            <a:r>
              <a:rPr lang="en-US" sz="1400" dirty="0">
                <a:solidFill>
                  <a:srgbClr val="2B1D12"/>
                </a:solidFill>
                <a:latin typeface="Calibri" pitchFamily="34" charset="0"/>
                <a:ea typeface="Calibri" pitchFamily="34" charset="-122"/>
                <a:cs typeface="Calibri" pitchFamily="34" charset="-120"/>
              </a:rPr>
              <a:t>Collect measurements and compare objects using data. You'll need 4 small objects (coin, eraser, crayon, paperclip), a ruler, and optionally a kitchen scale.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1–2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Set Up Your Data Table &amp; Measure Length</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1 — Set Up Your Data Table: Copy the data table into your notebook. You will fill it in as you measure.</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2 — Measure Length: Use a ruler to measure the length of each object in centimeters. Write the number in your table.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STEPS 3–4</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Estimate/Measure Mass &amp; Make a Bar Graph</a:t>
            </a:r>
            <a:endParaRPr lang="en-US" sz="2100" dirty="0"/>
          </a:p>
        </p:txBody>
      </p:sp>
      <p:sp>
        <p:nvSpPr>
          <p:cNvPr id="7" name="Text 5"/>
          <p:cNvSpPr/>
          <p:nvPr/>
        </p:nvSpPr>
        <p:spPr>
          <a:xfrm>
            <a:off x="320040" y="1051560"/>
            <a:ext cx="8503920" cy="2011680"/>
          </a:xfrm>
          <a:prstGeom prst="rect">
            <a:avLst/>
          </a:prstGeom>
          <a:noFill/>
          <a:ln/>
        </p:spPr>
        <p:txBody>
          <a:bodyPr wrap="square" rtlCol="0" anchor="t"/>
          <a:lstStyle/>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3 — Estimate and Measure Mass: Hold each object. Estimate if it is heavy or light. If you have a scale, measure the mass in grams. Record your data.</a:t>
            </a:r>
            <a:endParaRPr lang="en-US" sz="1300" dirty="0"/>
          </a:p>
          <a:p>
            <a:pPr marL="342900" indent="-342900">
              <a:lnSpc>
                <a:spcPts val="2400"/>
              </a:lnSpc>
              <a:buSzPct val="100000"/>
              <a:buChar char="•"/>
            </a:pPr>
            <a:r>
              <a:rPr lang="en-US" sz="1300" dirty="0">
                <a:solidFill>
                  <a:srgbClr val="2B1D12"/>
                </a:solidFill>
                <a:latin typeface="Calibri" pitchFamily="34" charset="0"/>
                <a:ea typeface="Calibri" pitchFamily="34" charset="-122"/>
                <a:cs typeface="Calibri" pitchFamily="34" charset="-120"/>
              </a:rPr>
              <a:t>Step 4 — Make a Bar Graph: Draw a bar graph comparing the lengths of your four objects. Put object names on the bottom and centimeters on the side.</a:t>
            </a:r>
            <a:endParaRPr lang="en-US" sz="1300" dirty="0"/>
          </a:p>
        </p:txBody>
      </p:sp>
      <p:sp>
        <p:nvSpPr>
          <p:cNvPr id="8" name="Shape 6"/>
          <p:cNvSpPr/>
          <p:nvPr/>
        </p:nvSpPr>
        <p:spPr>
          <a:xfrm>
            <a:off x="320040" y="3154680"/>
            <a:ext cx="8503920" cy="1086485"/>
          </a:xfrm>
          <a:prstGeom prst="roundRect">
            <a:avLst>
              <a:gd name="adj" fmla="val 6733"/>
            </a:avLst>
          </a:prstGeom>
          <a:solidFill>
            <a:srgbClr val="EEF8F0"/>
          </a:solidFill>
          <a:ln w="19050">
            <a:solidFill>
              <a:srgbClr val="52B788"/>
            </a:solidFill>
            <a:prstDash val="solid"/>
          </a:ln>
        </p:spPr>
      </p:sp>
      <p:sp>
        <p:nvSpPr>
          <p:cNvPr id="9" name="Text 7"/>
          <p:cNvSpPr/>
          <p:nvPr/>
        </p:nvSpPr>
        <p:spPr>
          <a:xfrm>
            <a:off x="502920" y="3227832"/>
            <a:ext cx="8138160" cy="237744"/>
          </a:xfrm>
          <a:prstGeom prst="rect">
            <a:avLst/>
          </a:prstGeom>
          <a:noFill/>
          <a:ln/>
        </p:spPr>
        <p:txBody>
          <a:bodyPr wrap="square" rtlCol="0" anchor="ctr"/>
          <a:lstStyle/>
          <a:p>
            <a:pPr indent="0" marL="0">
              <a:buNone/>
            </a:pPr>
            <a:r>
              <a:rPr lang="en-US" sz="1050" b="1" spc="100" kern="0" dirty="0">
                <a:solidFill>
                  <a:srgbClr val="2D6A4F"/>
                </a:solidFill>
                <a:latin typeface="Calibri" pitchFamily="34" charset="0"/>
                <a:ea typeface="Calibri" pitchFamily="34" charset="-122"/>
                <a:cs typeface="Calibri" pitchFamily="34" charset="-120"/>
              </a:rPr>
              <a:t>SCIENTIST TALK</a:t>
            </a:r>
            <a:endParaRPr lang="en-US" sz="1050" dirty="0"/>
          </a:p>
        </p:txBody>
      </p:sp>
      <p:sp>
        <p:nvSpPr>
          <p:cNvPr id="10" name="Text 8"/>
          <p:cNvSpPr/>
          <p:nvPr/>
        </p:nvSpPr>
        <p:spPr>
          <a:xfrm>
            <a:off x="502920" y="3483864"/>
            <a:ext cx="8138160" cy="702437"/>
          </a:xfrm>
          <a:prstGeom prst="rect">
            <a:avLst/>
          </a:prstGeom>
          <a:noFill/>
          <a:ln/>
        </p:spPr>
        <p:txBody>
          <a:bodyPr wrap="square" rtlCol="0" anchor="t"/>
          <a:lstStyle/>
          <a:p>
            <a:pPr marL="342900" indent="-342900">
              <a:lnSpc>
                <a:spcPts val="1938"/>
              </a:lnSpc>
              <a:buSzPct val="100000"/>
              <a:buChar char="●"/>
            </a:pPr>
            <a:r>
              <a:rPr lang="en-US" sz="1250" dirty="0">
                <a:solidFill>
                  <a:srgbClr val="1B4332"/>
                </a:solidFill>
                <a:latin typeface="Calibri" pitchFamily="34" charset="0"/>
                <a:ea typeface="Calibri" pitchFamily="34" charset="-122"/>
                <a:cs typeface="Calibri" pitchFamily="34" charset="-120"/>
              </a:rPr>
              <a:t>Look at your data table. Which object is the longest? Is it also the heaviest? What does that tell you?</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REHEARSAL · RECORD YOUR THINKING</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Organize What You Observed</a:t>
            </a:r>
            <a:endParaRPr lang="en-US" sz="2100" dirty="0"/>
          </a:p>
        </p:txBody>
      </p:sp>
      <p:sp>
        <p:nvSpPr>
          <p:cNvPr id="7" name="Text 5"/>
          <p:cNvSpPr/>
          <p:nvPr/>
        </p:nvSpPr>
        <p:spPr>
          <a:xfrm>
            <a:off x="320040" y="1051560"/>
            <a:ext cx="8503920" cy="2468880"/>
          </a:xfrm>
          <a:prstGeom prst="rect">
            <a:avLst/>
          </a:prstGeom>
          <a:noFill/>
          <a:ln/>
        </p:spPr>
        <p:txBody>
          <a:bodyPr wrap="square" rtlCol="0" anchor="t"/>
          <a:lstStyle/>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What measurements did you collect for each object? Which was longest? Which was heaviest?</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Were any results surprising? Did the longest object also have the most mass?</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Draw your bar graph comparing the lengths of your four objects.</a:t>
            </a:r>
            <a:endParaRPr lang="en-US" sz="1200" dirty="0"/>
          </a:p>
          <a:p>
            <a:pPr marL="342900" indent="-342900">
              <a:lnSpc>
                <a:spcPts val="2000"/>
              </a:lnSpc>
              <a:buSzPct val="100000"/>
              <a:buChar char="•"/>
            </a:pPr>
            <a:r>
              <a:rPr lang="en-US" sz="1200" dirty="0">
                <a:solidFill>
                  <a:srgbClr val="2B1D12"/>
                </a:solidFill>
                <a:latin typeface="Calibri" pitchFamily="34" charset="0"/>
                <a:ea typeface="Calibri" pitchFamily="34" charset="-122"/>
                <a:cs typeface="Calibri" pitchFamily="34" charset="-120"/>
              </a:rPr>
              <a:t>Tell the story of your investigation from beginning to end — what you did, what you noticed, and what you figured out.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DISCUSSION · THINK IT THROUGH</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Think Through Each Question On Your Own</a:t>
            </a:r>
            <a:endParaRPr lang="en-US" sz="2100" dirty="0"/>
          </a:p>
        </p:txBody>
      </p:sp>
      <p:sp>
        <p:nvSpPr>
          <p:cNvPr id="7" name="Text 5"/>
          <p:cNvSpPr/>
          <p:nvPr/>
        </p:nvSpPr>
        <p:spPr>
          <a:xfrm>
            <a:off x="320040" y="1051560"/>
            <a:ext cx="8503920" cy="2560320"/>
          </a:xfrm>
          <a:prstGeom prst="rect">
            <a:avLst/>
          </a:prstGeom>
          <a:noFill/>
          <a:ln/>
        </p:spPr>
        <p:txBody>
          <a:bodyPr wrap="square" rtlCol="0" anchor="t"/>
          <a:lstStyle/>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What did you notice when you compared your mass estimates to actual measurements?</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What in your data shows that length and mass are different properties?</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Where in everyday life do people need exact measurements instead of estimates?</a:t>
            </a:r>
            <a:endParaRPr lang="en-US" sz="1250" dirty="0"/>
          </a:p>
          <a:p>
            <a:pPr marL="342900" indent="-342900">
              <a:lnSpc>
                <a:spcPts val="2100"/>
              </a:lnSpc>
              <a:buSzPct val="100000"/>
              <a:buChar char="•"/>
            </a:pPr>
            <a:r>
              <a:rPr lang="en-US" sz="1250" dirty="0">
                <a:solidFill>
                  <a:srgbClr val="2B1D12"/>
                </a:solidFill>
                <a:latin typeface="Calibri" pitchFamily="34" charset="0"/>
                <a:ea typeface="Calibri" pitchFamily="34" charset="-122"/>
                <a:cs typeface="Calibri" pitchFamily="34" charset="-120"/>
              </a:rPr>
              <a:t>If you measured a fifth object, what would you predict about its length compared to the others?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Measure Instead of Just Looking?</a:t>
            </a:r>
            <a:endParaRPr lang="en-US" sz="2100" dirty="0"/>
          </a:p>
        </p:txBody>
      </p:sp>
      <p:sp>
        <p:nvSpPr>
          <p:cNvPr id="7" name="Text 5"/>
          <p:cNvSpPr/>
          <p:nvPr/>
        </p:nvSpPr>
        <p:spPr>
          <a:xfrm>
            <a:off x="320040" y="1005840"/>
            <a:ext cx="8503920" cy="1257300"/>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Why do scientists measure objects instead of just looking at them?</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Because measuring is faster than looking</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Because measurements give exact data that anyone can compare</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Because scientists do not trust their eyes</a:t>
            </a:r>
            <a:endParaRPr lang="en-US" sz="1500" dirty="0"/>
          </a:p>
        </p:txBody>
      </p:sp>
      <p:sp>
        <p:nvSpPr>
          <p:cNvPr id="8" name="Shape 6"/>
          <p:cNvSpPr/>
          <p:nvPr/>
        </p:nvSpPr>
        <p:spPr>
          <a:xfrm>
            <a:off x="320040" y="235458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277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471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39471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44957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61416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Think about why numbers are more useful than descriptions like "big" or "heavy." What makes data exact?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1</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Measure Instead of Just Looking?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B — Measurements give exact numbers that any scientist can compare, no matter where they are.</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Measuring Volume</a:t>
            </a:r>
            <a:endParaRPr lang="en-US" sz="2100" dirty="0"/>
          </a:p>
        </p:txBody>
      </p:sp>
      <p:sp>
        <p:nvSpPr>
          <p:cNvPr id="7" name="Text 5"/>
          <p:cNvSpPr/>
          <p:nvPr/>
        </p:nvSpPr>
        <p:spPr>
          <a:xfrm>
            <a:off x="320040" y="1005840"/>
            <a:ext cx="8503920" cy="1257300"/>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What tool would you use to find the volume of a cup of water?</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A measuring cup</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A balance</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A ruler</a:t>
            </a:r>
            <a:endParaRPr lang="en-US" sz="1500" dirty="0"/>
          </a:p>
        </p:txBody>
      </p:sp>
      <p:sp>
        <p:nvSpPr>
          <p:cNvPr id="8" name="Shape 6"/>
          <p:cNvSpPr/>
          <p:nvPr/>
        </p:nvSpPr>
        <p:spPr>
          <a:xfrm>
            <a:off x="320040" y="2354580"/>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427732"/>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647188"/>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394710"/>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449574"/>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614166"/>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Volume is how much space something takes up. For liquids, you pour them into a special tool. Which one?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2</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Measuring Volume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A — A measuring cup measures the volume of liquids in milliliters.</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Reading a Bar Graph</a:t>
            </a:r>
            <a:endParaRPr lang="en-US" sz="2100" dirty="0"/>
          </a:p>
        </p:txBody>
      </p:sp>
      <p:sp>
        <p:nvSpPr>
          <p:cNvPr id="7" name="Text 5"/>
          <p:cNvSpPr/>
          <p:nvPr/>
        </p:nvSpPr>
        <p:spPr>
          <a:xfrm>
            <a:off x="320040" y="1005840"/>
            <a:ext cx="8503920" cy="1514475"/>
          </a:xfrm>
          <a:prstGeom prst="rect">
            <a:avLst/>
          </a:prstGeom>
          <a:noFill/>
          <a:ln/>
        </p:spPr>
        <p:txBody>
          <a:bodyPr wrap="square" rtlCol="0" anchor="t"/>
          <a:lstStyle/>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student makes a bar graph comparing the mass of four objects. Object C has the tallest bar. What does that mean?</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A) Object C is the longest</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B) Object C is the softest</a:t>
            </a:r>
            <a:endParaRPr lang="en-US" sz="1500" dirty="0"/>
          </a:p>
          <a:p>
            <a:pPr indent="0" marL="0">
              <a:lnSpc>
                <a:spcPts val="2025"/>
              </a:lnSpc>
              <a:buNone/>
            </a:pPr>
            <a:r>
              <a:rPr lang="en-US" sz="1500" b="1" dirty="0">
                <a:solidFill>
                  <a:srgbClr val="2B1D12"/>
                </a:solidFill>
                <a:latin typeface="Calibri" pitchFamily="34" charset="0"/>
                <a:ea typeface="Calibri" pitchFamily="34" charset="-122"/>
                <a:cs typeface="Calibri" pitchFamily="34" charset="-120"/>
              </a:rPr>
              <a:t>C) Object C has the most mass</a:t>
            </a:r>
            <a:endParaRPr lang="en-US" sz="1500" dirty="0"/>
          </a:p>
        </p:txBody>
      </p:sp>
      <p:sp>
        <p:nvSpPr>
          <p:cNvPr id="8" name="Shape 6"/>
          <p:cNvSpPr/>
          <p:nvPr/>
        </p:nvSpPr>
        <p:spPr>
          <a:xfrm>
            <a:off x="320040" y="2611755"/>
            <a:ext cx="8503920" cy="902970"/>
          </a:xfrm>
          <a:prstGeom prst="roundRect">
            <a:avLst>
              <a:gd name="adj" fmla="val 8101"/>
            </a:avLst>
          </a:prstGeom>
          <a:solidFill>
            <a:srgbClr val="FFF9E8"/>
          </a:solidFill>
          <a:ln w="19050">
            <a:solidFill>
              <a:srgbClr val="F9A825"/>
            </a:solidFill>
            <a:prstDash val="solid"/>
          </a:ln>
        </p:spPr>
      </p:sp>
      <p:sp>
        <p:nvSpPr>
          <p:cNvPr id="9" name="Text 7"/>
          <p:cNvSpPr/>
          <p:nvPr/>
        </p:nvSpPr>
        <p:spPr>
          <a:xfrm>
            <a:off x="502920" y="2684907"/>
            <a:ext cx="8138160" cy="219456"/>
          </a:xfrm>
          <a:prstGeom prst="rect">
            <a:avLst/>
          </a:prstGeom>
          <a:noFill/>
          <a:ln/>
        </p:spPr>
        <p:txBody>
          <a:bodyPr wrap="square" rtlCol="0" anchor="ctr"/>
          <a:lstStyle/>
          <a:p>
            <a:pPr indent="0" marL="0">
              <a:buNone/>
            </a:pPr>
            <a:r>
              <a:rPr lang="en-US" sz="1050" b="1" spc="50" kern="0" dirty="0">
                <a:solidFill>
                  <a:srgbClr val="E65100"/>
                </a:solidFill>
                <a:latin typeface="Calibri" pitchFamily="34" charset="0"/>
                <a:ea typeface="Calibri" pitchFamily="34" charset="-122"/>
                <a:cs typeface="Calibri" pitchFamily="34" charset="-120"/>
              </a:rPr>
              <a:t>WHAT DO YOU NOTICE? WHAT DO YOU WONDER?</a:t>
            </a:r>
            <a:endParaRPr lang="en-US" sz="1050" dirty="0"/>
          </a:p>
        </p:txBody>
      </p:sp>
      <p:sp>
        <p:nvSpPr>
          <p:cNvPr id="10" name="Text 8"/>
          <p:cNvSpPr/>
          <p:nvPr/>
        </p:nvSpPr>
        <p:spPr>
          <a:xfrm>
            <a:off x="502920" y="2904363"/>
            <a:ext cx="8138160" cy="555498"/>
          </a:xfrm>
          <a:prstGeom prst="rect">
            <a:avLst/>
          </a:prstGeom>
          <a:noFill/>
          <a:ln/>
        </p:spPr>
        <p:txBody>
          <a:bodyPr wrap="square" rtlCol="0" anchor="t"/>
          <a:lstStyle/>
          <a:p>
            <a:pPr indent="0" marL="0">
              <a:buNone/>
            </a:pPr>
            <a:r>
              <a:rPr lang="en-US" sz="1300" i="1" dirty="0">
                <a:solidFill>
                  <a:srgbClr val="2B1D12"/>
                </a:solidFill>
                <a:latin typeface="Calibri" pitchFamily="34" charset="0"/>
                <a:ea typeface="Calibri" pitchFamily="34" charset="-122"/>
                <a:cs typeface="Calibri" pitchFamily="34" charset="-120"/>
              </a:rPr>
              <a:t>What do you notice in this scenario that helps you decide? What do you wonder about before you answer?</a:t>
            </a:r>
            <a:endParaRPr lang="en-US" sz="1300" dirty="0"/>
          </a:p>
        </p:txBody>
      </p:sp>
      <p:sp>
        <p:nvSpPr>
          <p:cNvPr id="11" name="Shape 9"/>
          <p:cNvSpPr/>
          <p:nvPr/>
        </p:nvSpPr>
        <p:spPr>
          <a:xfrm>
            <a:off x="320040" y="3651885"/>
            <a:ext cx="8503920" cy="502920"/>
          </a:xfrm>
          <a:prstGeom prst="roundRect">
            <a:avLst>
              <a:gd name="adj" fmla="val 14545"/>
            </a:avLst>
          </a:prstGeom>
          <a:solidFill>
            <a:srgbClr val="FFF3E0"/>
          </a:solidFill>
          <a:ln w="19050">
            <a:solidFill>
              <a:srgbClr val="F57C00"/>
            </a:solidFill>
            <a:prstDash val="solid"/>
          </a:ln>
        </p:spPr>
      </p:sp>
      <p:sp>
        <p:nvSpPr>
          <p:cNvPr id="12" name="Text 10"/>
          <p:cNvSpPr/>
          <p:nvPr/>
        </p:nvSpPr>
        <p:spPr>
          <a:xfrm>
            <a:off x="502920" y="3706749"/>
            <a:ext cx="1097280" cy="201168"/>
          </a:xfrm>
          <a:prstGeom prst="rect">
            <a:avLst/>
          </a:prstGeom>
          <a:noFill/>
          <a:ln/>
        </p:spPr>
        <p:txBody>
          <a:bodyPr wrap="square" rtlCol="0" anchor="ctr"/>
          <a:lstStyle/>
          <a:p>
            <a:pPr indent="0" marL="0">
              <a:buNone/>
            </a:pPr>
            <a:r>
              <a:rPr lang="en-US" sz="1050" b="1" spc="100" kern="0" dirty="0">
                <a:solidFill>
                  <a:srgbClr val="E65100"/>
                </a:solidFill>
                <a:latin typeface="Calibri" pitchFamily="34" charset="0"/>
                <a:ea typeface="Calibri" pitchFamily="34" charset="-122"/>
                <a:cs typeface="Calibri" pitchFamily="34" charset="-120"/>
              </a:rPr>
              <a:t>CHAT</a:t>
            </a:r>
            <a:endParaRPr lang="en-US" sz="1050" dirty="0"/>
          </a:p>
        </p:txBody>
      </p:sp>
      <p:sp>
        <p:nvSpPr>
          <p:cNvPr id="13" name="Text 11"/>
          <p:cNvSpPr/>
          <p:nvPr/>
        </p:nvSpPr>
        <p:spPr>
          <a:xfrm>
            <a:off x="502920" y="3871341"/>
            <a:ext cx="8138160" cy="246888"/>
          </a:xfrm>
          <a:prstGeom prst="rect">
            <a:avLst/>
          </a:prstGeom>
          <a:noFill/>
          <a:ln/>
        </p:spPr>
        <p:txBody>
          <a:bodyPr wrap="square" rtlCol="0" anchor="t"/>
          <a:lstStyle/>
          <a:p>
            <a:pPr indent="0" marL="0">
              <a:buNone/>
            </a:pPr>
            <a:r>
              <a:rPr lang="en-US" sz="1300" b="1" dirty="0">
                <a:solidFill>
                  <a:srgbClr val="2B1D12"/>
                </a:solidFill>
                <a:latin typeface="Calibri" pitchFamily="34" charset="0"/>
                <a:ea typeface="Calibri" pitchFamily="34" charset="-122"/>
                <a:cs typeface="Calibri" pitchFamily="34" charset="-120"/>
              </a:rPr>
              <a:t>The graph is comparing mass. A taller bar means a larger number. What does a larger mass number mean?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7B5EA7"/>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QUICK SELF-CHECK · QUESTION 3</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Reading a Bar Graph — Answer</a:t>
            </a:r>
            <a:endParaRPr lang="en-US" sz="2100" dirty="0"/>
          </a:p>
        </p:txBody>
      </p:sp>
      <p:sp>
        <p:nvSpPr>
          <p:cNvPr id="7" name="Shape 5"/>
          <p:cNvSpPr/>
          <p:nvPr/>
        </p:nvSpPr>
        <p:spPr>
          <a:xfrm>
            <a:off x="320040" y="1005840"/>
            <a:ext cx="8503920" cy="822960"/>
          </a:xfrm>
          <a:prstGeom prst="roundRect">
            <a:avLst>
              <a:gd name="adj" fmla="val 8889"/>
            </a:avLst>
          </a:prstGeom>
          <a:solidFill>
            <a:srgbClr val="EEF8F0"/>
          </a:solidFill>
          <a:ln w="25400">
            <a:solidFill>
              <a:srgbClr val="52B788"/>
            </a:solidFill>
            <a:prstDash val="solid"/>
          </a:ln>
        </p:spPr>
      </p:sp>
      <p:sp>
        <p:nvSpPr>
          <p:cNvPr id="8" name="Text 6"/>
          <p:cNvSpPr/>
          <p:nvPr/>
        </p:nvSpPr>
        <p:spPr>
          <a:xfrm>
            <a:off x="502920" y="1143000"/>
            <a:ext cx="8138160" cy="548640"/>
          </a:xfrm>
          <a:prstGeom prst="rect">
            <a:avLst/>
          </a:prstGeom>
          <a:noFill/>
          <a:ln/>
        </p:spPr>
        <p:txBody>
          <a:bodyPr wrap="square" rtlCol="0" anchor="ctr"/>
          <a:lstStyle/>
          <a:p>
            <a:pPr indent="0" marL="0">
              <a:buNone/>
            </a:pPr>
            <a:r>
              <a:rPr lang="en-US" sz="1500" b="1" dirty="0">
                <a:solidFill>
                  <a:srgbClr val="1B4332"/>
                </a:solidFill>
                <a:latin typeface="Calibri" pitchFamily="34" charset="0"/>
                <a:ea typeface="Calibri" pitchFamily="34" charset="-122"/>
                <a:cs typeface="Calibri" pitchFamily="34" charset="-120"/>
              </a:rPr>
              <a:t>Correct: C — In a bar graph comparing mass, the tallest bar shows the object with the most mass.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A</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Read the Data</a:t>
            </a:r>
            <a:endParaRPr lang="en-US" sz="2100" dirty="0"/>
          </a:p>
        </p:txBody>
      </p:sp>
      <p:sp>
        <p:nvSpPr>
          <p:cNvPr id="7" name="Text 5"/>
          <p:cNvSpPr/>
          <p:nvPr/>
        </p:nvSpPr>
        <p:spPr>
          <a:xfrm>
            <a:off x="320040" y="1051560"/>
            <a:ext cx="8503920" cy="1371600"/>
          </a:xfrm>
          <a:prstGeom prst="rect">
            <a:avLst/>
          </a:prstGeom>
          <a:noFill/>
          <a:ln/>
        </p:spPr>
        <p:txBody>
          <a:bodyPr wrap="square" rtlCol="0" anchor="t"/>
          <a:lstStyle/>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Which object is the longest? _______</a:t>
            </a:r>
            <a:endParaRPr lang="en-US" sz="1400" dirty="0"/>
          </a:p>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Which object has the most mass? _______</a:t>
            </a:r>
            <a:endParaRPr lang="en-US" sz="1400" dirty="0"/>
          </a:p>
          <a:p>
            <a:pPr marL="342900" indent="-342900">
              <a:lnSpc>
                <a:spcPts val="2800"/>
              </a:lnSpc>
              <a:buSzPct val="100000"/>
              <a:buChar char="•"/>
            </a:pPr>
            <a:r>
              <a:rPr lang="en-US" sz="1400" dirty="0">
                <a:solidFill>
                  <a:srgbClr val="2B1D12"/>
                </a:solidFill>
                <a:latin typeface="Calibri" pitchFamily="34" charset="0"/>
                <a:ea typeface="Calibri" pitchFamily="34" charset="-122"/>
                <a:cs typeface="Calibri" pitchFamily="34" charset="-120"/>
              </a:rPr>
              <a:t>Is the longest object also the heaviest? Why or why not?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F57C00"/>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B &amp; WRITE AND EXPLAIN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Short Answer + Defend Measurement</a:t>
            </a:r>
            <a:endParaRPr lang="en-US" sz="2100" dirty="0"/>
          </a:p>
        </p:txBody>
      </p:sp>
      <p:sp>
        <p:nvSpPr>
          <p:cNvPr id="7" name="Text 5"/>
          <p:cNvSpPr/>
          <p:nvPr/>
        </p:nvSpPr>
        <p:spPr>
          <a:xfrm>
            <a:off x="320040" y="1051560"/>
            <a:ext cx="8503920" cy="1188720"/>
          </a:xfrm>
          <a:prstGeom prst="rect">
            <a:avLst/>
          </a:prstGeom>
          <a:noFill/>
          <a:ln/>
        </p:spPr>
        <p:txBody>
          <a:bodyPr wrap="square" rtlCol="0" anchor="t"/>
          <a:lstStyle/>
          <a:p>
            <a:pPr indent="0" marL="0">
              <a:lnSpc>
                <a:spcPts val="2000"/>
              </a:lnSpc>
              <a:buNone/>
            </a:pPr>
            <a:r>
              <a:rPr lang="en-US" sz="1150" dirty="0">
                <a:solidFill>
                  <a:srgbClr val="2B1D12"/>
                </a:solidFill>
                <a:latin typeface="Calibri" pitchFamily="34" charset="0"/>
                <a:ea typeface="Calibri" pitchFamily="34" charset="-122"/>
                <a:cs typeface="Calibri" pitchFamily="34" charset="-120"/>
              </a:rPr>
              <a:t>Part B (complete sentences): 1) Why is a bar graph a good way to compare the mass of different objects? 2) What is the difference between estimating and measuring mass? Which is more exact? 3) If two objects are the same length, can they still have different masses? Explain.</a:t>
            </a:r>
            <a:endParaRPr lang="en-US" sz="1150" dirty="0"/>
          </a:p>
        </p:txBody>
      </p:sp>
      <p:sp>
        <p:nvSpPr>
          <p:cNvPr id="8" name="Shape 6"/>
          <p:cNvSpPr/>
          <p:nvPr/>
        </p:nvSpPr>
        <p:spPr>
          <a:xfrm>
            <a:off x="320040" y="2331720"/>
            <a:ext cx="8503920" cy="1234440"/>
          </a:xfrm>
          <a:prstGeom prst="roundRect">
            <a:avLst>
              <a:gd name="adj" fmla="val 5926"/>
            </a:avLst>
          </a:prstGeom>
          <a:solidFill>
            <a:srgbClr val="F3EEFB"/>
          </a:solidFill>
          <a:ln w="19050">
            <a:solidFill>
              <a:srgbClr val="7B5EA7"/>
            </a:solidFill>
            <a:prstDash val="solid"/>
          </a:ln>
        </p:spPr>
      </p:sp>
      <p:sp>
        <p:nvSpPr>
          <p:cNvPr id="9" name="Text 7"/>
          <p:cNvSpPr/>
          <p:nvPr/>
        </p:nvSpPr>
        <p:spPr>
          <a:xfrm>
            <a:off x="502920" y="2423160"/>
            <a:ext cx="8138160" cy="274320"/>
          </a:xfrm>
          <a:prstGeom prst="rect">
            <a:avLst/>
          </a:prstGeom>
          <a:noFill/>
          <a:ln/>
        </p:spPr>
        <p:txBody>
          <a:bodyPr wrap="square" rtlCol="0" anchor="ctr"/>
          <a:lstStyle/>
          <a:p>
            <a:pPr indent="0" marL="0">
              <a:buNone/>
            </a:pPr>
            <a:r>
              <a:rPr lang="en-US" sz="1100" b="1" dirty="0">
                <a:solidFill>
                  <a:srgbClr val="3A2B5C"/>
                </a:solidFill>
                <a:latin typeface="Calibri" pitchFamily="34" charset="0"/>
                <a:ea typeface="Calibri" pitchFamily="34" charset="-122"/>
                <a:cs typeface="Calibri" pitchFamily="34" charset="-120"/>
              </a:rPr>
              <a:t>WRITE &amp; EXPLAIN — Why is measuring with tools better than just looking and guessing when scientists compare matter?</a:t>
            </a:r>
            <a:endParaRPr lang="en-US" sz="1100" dirty="0"/>
          </a:p>
        </p:txBody>
      </p:sp>
      <p:sp>
        <p:nvSpPr>
          <p:cNvPr id="10" name="Text 8"/>
          <p:cNvSpPr/>
          <p:nvPr/>
        </p:nvSpPr>
        <p:spPr>
          <a:xfrm>
            <a:off x="502920" y="2715768"/>
            <a:ext cx="8138160" cy="777240"/>
          </a:xfrm>
          <a:prstGeom prst="rect">
            <a:avLst/>
          </a:prstGeom>
          <a:noFill/>
          <a:ln/>
        </p:spPr>
        <p:txBody>
          <a:bodyPr wrap="square" rtlCol="0" anchor="t"/>
          <a:lstStyle/>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Start with: "I think measuring with tools is important because…"</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Then: "I observed that when I measured my objects…"</a:t>
            </a:r>
            <a:endParaRPr lang="en-US" sz="1050" dirty="0"/>
          </a:p>
          <a:p>
            <a:pPr marL="342900" indent="-342900">
              <a:lnSpc>
                <a:spcPts val="1500"/>
              </a:lnSpc>
              <a:buSzPct val="100000"/>
              <a:buChar char="•"/>
            </a:pPr>
            <a:r>
              <a:rPr lang="en-US" sz="1050" dirty="0">
                <a:solidFill>
                  <a:srgbClr val="2B1D12"/>
                </a:solidFill>
                <a:latin typeface="Calibri" pitchFamily="34" charset="0"/>
                <a:ea typeface="Calibri" pitchFamily="34" charset="-122"/>
                <a:cs typeface="Calibri" pitchFamily="34" charset="-120"/>
              </a:rPr>
              <a:t>Finish with: "This makes sense because scientists need exact data to…"</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AF8F4"/>
          </a:solidFill>
          <a:ln/>
        </p:spPr>
      </p:sp>
      <p:sp>
        <p:nvSpPr>
          <p:cNvPr id="3" name="Shape 1"/>
          <p:cNvSpPr/>
          <p:nvPr/>
        </p:nvSpPr>
        <p:spPr>
          <a:xfrm>
            <a:off x="0" y="0"/>
            <a:ext cx="9144000" cy="777240"/>
          </a:xfrm>
          <a:prstGeom prst="rect">
            <a:avLst/>
          </a:prstGeom>
          <a:solidFill>
            <a:srgbClr val="0E1C42"/>
          </a:solidFill>
          <a:ln/>
        </p:spPr>
      </p:sp>
      <p:sp>
        <p:nvSpPr>
          <p:cNvPr id="4" name="Shape 2"/>
          <p:cNvSpPr/>
          <p:nvPr/>
        </p:nvSpPr>
        <p:spPr>
          <a:xfrm>
            <a:off x="0" y="749808"/>
            <a:ext cx="9144000" cy="27432"/>
          </a:xfrm>
          <a:prstGeom prst="rect">
            <a:avLst/>
          </a:prstGeom>
          <a:solidFill>
            <a:srgbClr val="52B788"/>
          </a:solidFill>
          <a:ln/>
        </p:spPr>
      </p:sp>
      <p:sp>
        <p:nvSpPr>
          <p:cNvPr id="5" name="Text 3"/>
          <p:cNvSpPr/>
          <p:nvPr/>
        </p:nvSpPr>
        <p:spPr>
          <a:xfrm>
            <a:off x="320040" y="73152"/>
            <a:ext cx="8503920" cy="256032"/>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ASSIGNMENT · PART C &amp; SUBMISSION</a:t>
            </a:r>
            <a:endParaRPr lang="en-US" sz="1100" dirty="0"/>
          </a:p>
        </p:txBody>
      </p:sp>
      <p:sp>
        <p:nvSpPr>
          <p:cNvPr id="6" name="Text 4"/>
          <p:cNvSpPr/>
          <p:nvPr/>
        </p:nvSpPr>
        <p:spPr>
          <a:xfrm>
            <a:off x="320040" y="310896"/>
            <a:ext cx="8503920" cy="43891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Draw &amp; Label + What to Turn In</a:t>
            </a:r>
            <a:endParaRPr lang="en-US" sz="2100" dirty="0"/>
          </a:p>
        </p:txBody>
      </p:sp>
      <p:sp>
        <p:nvSpPr>
          <p:cNvPr id="7" name="Text 5"/>
          <p:cNvSpPr/>
          <p:nvPr/>
        </p:nvSpPr>
        <p:spPr>
          <a:xfrm>
            <a:off x="320040" y="1051560"/>
            <a:ext cx="8503920" cy="914400"/>
          </a:xfrm>
          <a:prstGeom prst="rect">
            <a:avLst/>
          </a:prstGeom>
          <a:noFill/>
          <a:ln/>
        </p:spPr>
        <p:txBody>
          <a:bodyPr wrap="square" rtlCol="0" anchor="t"/>
          <a:lstStyle/>
          <a:p>
            <a:pPr indent="0" marL="0">
              <a:lnSpc>
                <a:spcPts val="2000"/>
              </a:lnSpc>
              <a:buNone/>
            </a:pPr>
            <a:r>
              <a:rPr lang="en-US" sz="1250" dirty="0">
                <a:solidFill>
                  <a:srgbClr val="2B1D12"/>
                </a:solidFill>
                <a:latin typeface="Calibri" pitchFamily="34" charset="0"/>
                <a:ea typeface="Calibri" pitchFamily="34" charset="-122"/>
                <a:cs typeface="Calibri" pitchFamily="34" charset="-120"/>
              </a:rPr>
              <a:t>Part C: Draw the bar graph you made during the investigation. Label the bottom with object names and the side with measurements in centimeters. Give your graph a title.</a:t>
            </a:r>
            <a:endParaRPr lang="en-US" sz="1250" dirty="0"/>
          </a:p>
        </p:txBody>
      </p:sp>
      <p:sp>
        <p:nvSpPr>
          <p:cNvPr id="8" name="Shape 6"/>
          <p:cNvSpPr/>
          <p:nvPr/>
        </p:nvSpPr>
        <p:spPr>
          <a:xfrm>
            <a:off x="320040" y="2057400"/>
            <a:ext cx="8503920" cy="1234440"/>
          </a:xfrm>
          <a:prstGeom prst="roundRect">
            <a:avLst>
              <a:gd name="adj" fmla="val 5926"/>
            </a:avLst>
          </a:prstGeom>
          <a:solidFill>
            <a:srgbClr val="EEF8F0"/>
          </a:solidFill>
          <a:ln w="19050">
            <a:solidFill>
              <a:srgbClr val="52B788"/>
            </a:solidFill>
            <a:prstDash val="solid"/>
          </a:ln>
        </p:spPr>
      </p:sp>
      <p:sp>
        <p:nvSpPr>
          <p:cNvPr id="9" name="Text 7"/>
          <p:cNvSpPr/>
          <p:nvPr/>
        </p:nvSpPr>
        <p:spPr>
          <a:xfrm>
            <a:off x="502920" y="2148840"/>
            <a:ext cx="8138160" cy="228600"/>
          </a:xfrm>
          <a:prstGeom prst="rect">
            <a:avLst/>
          </a:prstGeom>
          <a:noFill/>
          <a:ln/>
        </p:spPr>
        <p:txBody>
          <a:bodyPr wrap="square" rtlCol="0" anchor="ctr"/>
          <a:lstStyle/>
          <a:p>
            <a:pPr indent="0" marL="0">
              <a:buNone/>
            </a:pPr>
            <a:r>
              <a:rPr lang="en-US" sz="1100" b="1" dirty="0">
                <a:solidFill>
                  <a:srgbClr val="1B4332"/>
                </a:solidFill>
                <a:latin typeface="Calibri" pitchFamily="34" charset="0"/>
                <a:ea typeface="Calibri" pitchFamily="34" charset="-122"/>
                <a:cs typeface="Calibri" pitchFamily="34" charset="-120"/>
              </a:rPr>
              <a:t>SUBMIT ON CANVAS — must include:</a:t>
            </a:r>
            <a:endParaRPr lang="en-US" sz="1100" dirty="0"/>
          </a:p>
        </p:txBody>
      </p:sp>
      <p:sp>
        <p:nvSpPr>
          <p:cNvPr id="10" name="Text 8"/>
          <p:cNvSpPr/>
          <p:nvPr/>
        </p:nvSpPr>
        <p:spPr>
          <a:xfrm>
            <a:off x="502920" y="2404872"/>
            <a:ext cx="8138160" cy="822960"/>
          </a:xfrm>
          <a:prstGeom prst="rect">
            <a:avLst/>
          </a:prstGeom>
          <a:noFill/>
          <a:ln/>
        </p:spPr>
        <p:txBody>
          <a:bodyPr wrap="square" rtlCol="0" anchor="t"/>
          <a:lstStyle/>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Completed data table from the Explore investigation</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Bar graph comparing object lengths, with labels and a title</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Short answer responses to Part B (complete sentences)</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Write &amp; Explain response using at least one vocabulary word</a:t>
            </a:r>
            <a:endParaRPr lang="en-US" sz="950" dirty="0"/>
          </a:p>
          <a:p>
            <a:pPr marL="342900" indent="-342900">
              <a:lnSpc>
                <a:spcPts val="1200"/>
              </a:lnSpc>
              <a:buSzPct val="100000"/>
              <a:buChar char="•"/>
            </a:pPr>
            <a:r>
              <a:rPr lang="en-US" sz="950" dirty="0">
                <a:solidFill>
                  <a:srgbClr val="1B4332"/>
                </a:solidFill>
                <a:latin typeface="Calibri" pitchFamily="34" charset="0"/>
                <a:ea typeface="Calibri" pitchFamily="34" charset="-122"/>
                <a:cs typeface="Calibri" pitchFamily="34" charset="-120"/>
              </a:rPr>
              <a:t>Part C bar graph drawing with all labels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0E1C42"/>
          </a:solidFill>
          <a:ln/>
        </p:spPr>
      </p:sp>
      <p:sp>
        <p:nvSpPr>
          <p:cNvPr id="3" name="Shape 1"/>
          <p:cNvSpPr/>
          <p:nvPr/>
        </p:nvSpPr>
        <p:spPr>
          <a:xfrm>
            <a:off x="0" y="0"/>
            <a:ext cx="9144000" cy="5148072"/>
          </a:xfrm>
          <a:prstGeom prst="rect">
            <a:avLst/>
          </a:prstGeom>
          <a:solidFill>
            <a:srgbClr val="1A2D5A">
              <a:alpha val="45000"/>
            </a:srgbClr>
          </a:solidFill>
          <a:ln/>
        </p:spPr>
      </p:sp>
      <p:sp>
        <p:nvSpPr>
          <p:cNvPr id="4" name="Text 2"/>
          <p:cNvSpPr/>
          <p:nvPr/>
        </p:nvSpPr>
        <p:spPr>
          <a:xfrm>
            <a:off x="457200" y="1645920"/>
            <a:ext cx="82296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Great Work Today!</a:t>
            </a:r>
            <a:endParaRPr lang="en-US" sz="3000" dirty="0"/>
          </a:p>
        </p:txBody>
      </p:sp>
      <p:sp>
        <p:nvSpPr>
          <p:cNvPr id="5" name="Text 3"/>
          <p:cNvSpPr/>
          <p:nvPr/>
        </p:nvSpPr>
        <p:spPr>
          <a:xfrm>
            <a:off x="457200" y="2377440"/>
            <a:ext cx="8229600" cy="914400"/>
          </a:xfrm>
          <a:prstGeom prst="rect">
            <a:avLst/>
          </a:prstGeom>
          <a:noFill/>
          <a:ln/>
        </p:spPr>
        <p:txBody>
          <a:bodyPr wrap="square" rtlCol="0" anchor="ctr"/>
          <a:lstStyle/>
          <a:p>
            <a:pPr indent="0" marL="0">
              <a:lnSpc>
                <a:spcPts val="1900"/>
              </a:lnSpc>
              <a:buNone/>
            </a:pPr>
            <a:r>
              <a:rPr lang="en-US" sz="1400" i="1" dirty="0">
                <a:solidFill>
                  <a:srgbClr val="FFCA28"/>
                </a:solidFill>
                <a:latin typeface="Calibri" pitchFamily="34" charset="0"/>
                <a:ea typeface="Calibri" pitchFamily="34" charset="-122"/>
                <a:cs typeface="Calibri" pitchFamily="34" charset="-120"/>
              </a:rPr>
              <a:t>You practiced measuring and comparing matter like a real scientist. Exact measurements help us understand the world!</a:t>
            </a:r>
            <a:endParaRPr lang="en-US" sz="1400" dirty="0"/>
          </a:p>
        </p:txBody>
      </p:sp>
      <p:sp>
        <p:nvSpPr>
          <p:cNvPr id="6" name="Text 4"/>
          <p:cNvSpPr/>
          <p:nvPr/>
        </p:nvSpPr>
        <p:spPr>
          <a:xfrm>
            <a:off x="457200" y="4206240"/>
            <a:ext cx="8229600" cy="365760"/>
          </a:xfrm>
          <a:prstGeom prst="rect">
            <a:avLst/>
          </a:prstGeom>
          <a:noFill/>
          <a:ln/>
        </p:spPr>
        <p:txBody>
          <a:bodyPr wrap="square" rtlCol="0" anchor="ctr"/>
          <a:lstStyle/>
          <a:p>
            <a:pPr indent="0" marL="0">
              <a:buNone/>
            </a:pPr>
            <a:r>
              <a:rPr lang="en-US" sz="1200" dirty="0">
                <a:solidFill>
                  <a:srgbClr val="55C8E8"/>
                </a:solidFill>
                <a:latin typeface="Calibri" pitchFamily="34" charset="0"/>
                <a:ea typeface="Calibri" pitchFamily="34" charset="-122"/>
                <a:cs typeface="Calibri" pitchFamily="34" charset="-120"/>
              </a:rPr>
              <a:t>Lesson 27.01 · Matter Changes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2026-07-13T18:40:00Z</dcterms:created>
  <dcterms:modified xsi:type="dcterms:W3CDTF">2026-07-13T18:40:00Z</dcterms:modified>
</cp:coreProperties>
</file>