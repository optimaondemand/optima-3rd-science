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unit direction: from describing weather/climate to natural hazards and human preparedness. Frame today as: weather is usually background noise, but sometimes it turns dangerous — and science helps us get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think of a storm they've personally experienced before reading the question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(types of hazards) -&gt; vocab, Section 2 four-hazard diagram, Self-Check Q1, Assignment Part A. I Can #2 (scientists study/prepare) -&gt; Section 3 meteorologist content, Self-Check Q2, Assignment Part B Q4-5. I Can #3 (design solutions) -&gt; flood levee slide, investigation scenarios, Self-Check Q3, Assignment Part B Q6 + Part C. Write &amp; Explain frame rehearsed via the investigation's claim-writing step and again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Hazard Scenario cards aren't available, the lesson page itself has everything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no wrong answers. We'll come back to this Notice &amp; Wonder question at the very end during the Reflect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word aloud, students repeat, then reveal the definition. 'Hazard' is the umbrella word for everything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Meteorologist ties this lesson back to Unit 2's weather content — same job, now studying dangerous weather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sentence is the thesis of the whole lesson — hazards can't be stopped, but their damage CAN be reduced. Give real time to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reframe of the lesson: we're not trying to stop nature, we're trying to reduce harm. Keep coming back to this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hazard aloud as you point to its quadrant. Ask students which ones they've personally experienced.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colorful spiral on screen shows where the storm is strongest — and which communities need to prepare. This connects directly to the vocabulary word 'meteorologist.'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June, Florida communities review their hurricane plans — schools, hospitals, and neighborhoods all have specific steps to follow when a warning is issued.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not controlling nature, but understanding it. Have the class restate this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visceral, concrete number for 3rd graders — connect it to their own classroom ceiling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two solution options students will evaluate in the investigation's Scenario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reading this scenario aloud, then let students discuss which option they'd lean toward before writing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tension in Scenario B: the levee protects people directly, but the parks option protects the ecosystem too. There's no single 'correct' answer — it's about using evidence to justify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for today's reasoning frame. This claim-and-evidence structure is the same shape as the Write &amp; Explain assignment ahead. Have 2-3 students say their claim sentence out loud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heart of the whole lesson — let students really sit with the distinction between stopping and reducing.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Talk-only reflection. This is a great moment to have 2-3 more students rehearse their claim sentence aloud before the discussion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introduces an important nuance: engineering solutions can have tradeoffs. Let students wrestle with this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think time — students may default to 'hurricane' as the only hazard since it was discussed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droughts and wildfires count too, even though they don't involve water or wind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Connects directly to the hurricane vocabulary definition from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geography + science connection — location matters for hazard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may confuse 'studying data' with a design solution — clarify that studying is science, building is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(science studies, engineering builds) matters for Assignment Part B Q6.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clue matches a vocabulary word from earlier in the lesson — students should recognize these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maps to I Can #2, Q5 to Key Concept, Q6 to I Can #3 and the flood levee / hurricane shutters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same claim-and-evidence structure as the investigation's 'Make a Claim' step, now applied to the bigger question of how science helps communities. Have 1-2 more students rehearse aloud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on Canvas. The Reflect step closes the loop on their own warm-up question — don't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4.02 — students become engineers and design a storm-resistant structure using everything they learned about hazards and solutions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How Can Weather Become Dangerous?</a:t>
            </a:r>
            <a:endParaRPr lang="en-US" sz="3000" dirty="0"/>
          </a:p>
        </p:txBody>
      </p:sp>
      <p:sp>
        <p:nvSpPr>
          <p:cNvPr id="6" name="Text 4"/>
          <p:cNvSpPr/>
          <p:nvPr/>
        </p:nvSpPr>
        <p:spPr>
          <a:xfrm>
            <a:off x="457200" y="2697480"/>
            <a:ext cx="8229600" cy="36576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Lesson 4.01  ·  Week 4  ·  NGSS 3-ESS3-1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548640" y="1371600"/>
            <a:ext cx="8046720" cy="1737360"/>
          </a:xfrm>
          <a:prstGeom prst="roundRect">
            <a:avLst>
              <a:gd name="adj" fmla="val 5263"/>
            </a:avLst>
          </a:prstGeom>
          <a:solidFill>
            <a:srgbClr val="0E1C42"/>
          </a:solidFill>
          <a:ln w="25400">
            <a:solidFill>
              <a:srgbClr val="55C8E8"/>
            </a:solidFill>
            <a:prstDash val="solid"/>
          </a:ln>
        </p:spPr>
      </p:sp>
      <p:sp>
        <p:nvSpPr>
          <p:cNvPr id="8" name="Text 6"/>
          <p:cNvSpPr/>
          <p:nvPr/>
        </p:nvSpPr>
        <p:spPr>
          <a:xfrm>
            <a:off x="822960" y="1554480"/>
            <a:ext cx="7498080" cy="1371600"/>
          </a:xfrm>
          <a:prstGeom prst="rect">
            <a:avLst/>
          </a:prstGeom>
          <a:noFill/>
          <a:ln/>
        </p:spPr>
        <p:txBody>
          <a:bodyPr wrap="square" rtlCol="0" anchor="ctr"/>
          <a:lstStyle/>
          <a:p>
            <a:pPr algn="ctr" indent="0" marL="0">
              <a:buNone/>
            </a:pPr>
            <a:r>
              <a:rPr lang="en-US" sz="1900" i="1" dirty="0">
                <a:solidFill>
                  <a:srgbClr val="FFFFFF"/>
                </a:solidFill>
                <a:latin typeface="Cambria" pitchFamily="34" charset="0"/>
                <a:ea typeface="Cambria" pitchFamily="34" charset="-122"/>
                <a:cs typeface="Cambria" pitchFamily="34" charset="-120"/>
              </a:rPr>
              <a:t>"Weather is part of every day — so what makes it turn dangerous, and how do people get ready before it happens?"</a:t>
            </a:r>
            <a:endParaRPr lang="en-US" sz="1900" dirty="0"/>
          </a:p>
        </p:txBody>
      </p:sp>
      <p:sp>
        <p:nvSpPr>
          <p:cNvPr id="9" name="Text 7"/>
          <p:cNvSpPr/>
          <p:nvPr/>
        </p:nvSpPr>
        <p:spPr>
          <a:xfrm>
            <a:off x="822960" y="3291840"/>
            <a:ext cx="7498080" cy="502920"/>
          </a:xfrm>
          <a:prstGeom prst="rect">
            <a:avLst/>
          </a:prstGeom>
          <a:noFill/>
          <a:ln/>
        </p:spPr>
        <p:txBody>
          <a:bodyPr wrap="square" rtlCol="0" anchor="t"/>
          <a:lstStyle/>
          <a:p>
            <a:pPr algn="ctr" indent="0" marL="0">
              <a:buNone/>
            </a:pPr>
            <a:r>
              <a:rPr lang="en-US" sz="1300" dirty="0">
                <a:solidFill>
                  <a:srgbClr val="5A4D3E"/>
                </a:solidFill>
                <a:latin typeface="Calibri" pitchFamily="34" charset="0"/>
                <a:ea typeface="Calibri" pitchFamily="34" charset="-122"/>
                <a:cs typeface="Calibri" pitchFamily="34" charset="-120"/>
              </a:rPr>
              <a:t>Hold this question in mind as you work. By the end, you should be able to answer it using real evidence.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143000"/>
            <a:ext cx="8229600" cy="868680"/>
          </a:xfrm>
          <a:prstGeom prst="roundRect">
            <a:avLst>
              <a:gd name="adj" fmla="val 8421"/>
            </a:avLst>
          </a:prstGeom>
          <a:solidFill>
            <a:srgbClr val="FFFFFF"/>
          </a:solidFill>
          <a:ln w="19050">
            <a:solidFill>
              <a:srgbClr val="E8DDD2"/>
            </a:solidFill>
            <a:prstDash val="solid"/>
          </a:ln>
        </p:spPr>
      </p:sp>
      <p:sp>
        <p:nvSpPr>
          <p:cNvPr id="8" name="Shape 6"/>
          <p:cNvSpPr/>
          <p:nvPr/>
        </p:nvSpPr>
        <p:spPr>
          <a:xfrm>
            <a:off x="640080" y="1371600"/>
            <a:ext cx="411480" cy="411480"/>
          </a:xfrm>
          <a:prstGeom prst="ellipse">
            <a:avLst/>
          </a:prstGeom>
          <a:solidFill>
            <a:srgbClr val="F57C00"/>
          </a:solidFill>
          <a:ln/>
        </p:spPr>
      </p:sp>
      <p:sp>
        <p:nvSpPr>
          <p:cNvPr id="9" name="Text 7"/>
          <p:cNvSpPr/>
          <p:nvPr/>
        </p:nvSpPr>
        <p:spPr>
          <a:xfrm>
            <a:off x="64008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234440"/>
            <a:ext cx="7223760" cy="68580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I can describe different types of dangerous weather and what makes each one hazardous.</a:t>
            </a:r>
            <a:endParaRPr lang="en-US" sz="1350" dirty="0"/>
          </a:p>
        </p:txBody>
      </p:sp>
      <p:sp>
        <p:nvSpPr>
          <p:cNvPr id="11" name="Shape 9"/>
          <p:cNvSpPr/>
          <p:nvPr/>
        </p:nvSpPr>
        <p:spPr>
          <a:xfrm>
            <a:off x="457200" y="2148840"/>
            <a:ext cx="8229600" cy="868680"/>
          </a:xfrm>
          <a:prstGeom prst="roundRect">
            <a:avLst>
              <a:gd name="adj" fmla="val 8421"/>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F57C00"/>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240280"/>
            <a:ext cx="7223760" cy="68580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I can explain how scientists study dangerous weather to help communities prepare and stay safe.</a:t>
            </a:r>
            <a:endParaRPr lang="en-US" sz="1350" dirty="0"/>
          </a:p>
        </p:txBody>
      </p:sp>
      <p:sp>
        <p:nvSpPr>
          <p:cNvPr id="15" name="Shape 13"/>
          <p:cNvSpPr/>
          <p:nvPr/>
        </p:nvSpPr>
        <p:spPr>
          <a:xfrm>
            <a:off x="457200" y="3154680"/>
            <a:ext cx="8229600" cy="868680"/>
          </a:xfrm>
          <a:prstGeom prst="roundRect">
            <a:avLst>
              <a:gd name="adj" fmla="val 8421"/>
            </a:avLst>
          </a:prstGeom>
          <a:solidFill>
            <a:srgbClr val="FFFFFF"/>
          </a:solidFill>
          <a:ln w="19050">
            <a:solidFill>
              <a:srgbClr val="E8DDD2"/>
            </a:solidFill>
            <a:prstDash val="solid"/>
          </a:ln>
        </p:spPr>
      </p:sp>
      <p:sp>
        <p:nvSpPr>
          <p:cNvPr id="16" name="Shape 14"/>
          <p:cNvSpPr/>
          <p:nvPr/>
        </p:nvSpPr>
        <p:spPr>
          <a:xfrm>
            <a:off x="640080" y="3383280"/>
            <a:ext cx="411480" cy="411480"/>
          </a:xfrm>
          <a:prstGeom prst="ellipse">
            <a:avLst/>
          </a:prstGeom>
          <a:solidFill>
            <a:srgbClr val="F57C00"/>
          </a:solidFill>
          <a:ln/>
        </p:spPr>
      </p:sp>
      <p:sp>
        <p:nvSpPr>
          <p:cNvPr id="17" name="Text 15"/>
          <p:cNvSpPr/>
          <p:nvPr/>
        </p:nvSpPr>
        <p:spPr>
          <a:xfrm>
            <a:off x="640080" y="3383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46120"/>
            <a:ext cx="7223760" cy="685800"/>
          </a:xfrm>
          <a:prstGeom prst="rect">
            <a:avLst/>
          </a:prstGeom>
          <a:noFill/>
          <a:ln/>
        </p:spPr>
        <p:txBody>
          <a:bodyPr wrap="square" rtlCol="0" anchor="ctr"/>
          <a:lstStyle/>
          <a:p>
            <a:pPr indent="0" marL="0">
              <a:buNone/>
            </a:pPr>
            <a:r>
              <a:rPr lang="en-US" sz="1350" dirty="0">
                <a:solidFill>
                  <a:srgbClr val="2B1D12"/>
                </a:solidFill>
                <a:latin typeface="Calibri" pitchFamily="34" charset="0"/>
                <a:ea typeface="Calibri" pitchFamily="34" charset="-122"/>
                <a:cs typeface="Calibri" pitchFamily="34" charset="-120"/>
              </a:rPr>
              <a:t>I can give examples of design solutions that reduce damage from weather hazards.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371600"/>
            <a:ext cx="8046720" cy="594360"/>
          </a:xfrm>
          <a:prstGeom prst="roundRect">
            <a:avLst>
              <a:gd name="adj" fmla="val 12308"/>
            </a:avLst>
          </a:prstGeom>
          <a:solidFill>
            <a:srgbClr val="FFFFFF"/>
          </a:solidFill>
          <a:ln w="12700">
            <a:solidFill>
              <a:srgbClr val="E8DDD2"/>
            </a:solidFill>
            <a:prstDash val="solid"/>
          </a:ln>
        </p:spPr>
      </p:sp>
      <p:sp>
        <p:nvSpPr>
          <p:cNvPr id="8" name="Shape 6"/>
          <p:cNvSpPr/>
          <p:nvPr/>
        </p:nvSpPr>
        <p:spPr>
          <a:xfrm>
            <a:off x="777240" y="1572768"/>
            <a:ext cx="182880" cy="182880"/>
          </a:xfrm>
          <a:prstGeom prst="ellipse">
            <a:avLst/>
          </a:prstGeom>
          <a:solidFill>
            <a:srgbClr val="0288D1"/>
          </a:solidFill>
          <a:ln/>
        </p:spPr>
      </p:sp>
      <p:sp>
        <p:nvSpPr>
          <p:cNvPr id="9" name="Text 7"/>
          <p:cNvSpPr/>
          <p:nvPr/>
        </p:nvSpPr>
        <p:spPr>
          <a:xfrm>
            <a:off x="1143000" y="141732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Science notebook</a:t>
            </a:r>
            <a:endParaRPr lang="en-US" sz="1400" dirty="0"/>
          </a:p>
        </p:txBody>
      </p:sp>
      <p:sp>
        <p:nvSpPr>
          <p:cNvPr id="10" name="Shape 8"/>
          <p:cNvSpPr/>
          <p:nvPr/>
        </p:nvSpPr>
        <p:spPr>
          <a:xfrm>
            <a:off x="548640" y="2103120"/>
            <a:ext cx="8046720" cy="594360"/>
          </a:xfrm>
          <a:prstGeom prst="roundRect">
            <a:avLst>
              <a:gd name="adj" fmla="val 12308"/>
            </a:avLst>
          </a:prstGeom>
          <a:solidFill>
            <a:srgbClr val="FFFFFF"/>
          </a:solidFill>
          <a:ln w="12700">
            <a:solidFill>
              <a:srgbClr val="E8DDD2"/>
            </a:solidFill>
            <a:prstDash val="solid"/>
          </a:ln>
        </p:spPr>
      </p:sp>
      <p:sp>
        <p:nvSpPr>
          <p:cNvPr id="11" name="Shape 9"/>
          <p:cNvSpPr/>
          <p:nvPr/>
        </p:nvSpPr>
        <p:spPr>
          <a:xfrm>
            <a:off x="777240" y="2304288"/>
            <a:ext cx="182880" cy="182880"/>
          </a:xfrm>
          <a:prstGeom prst="ellipse">
            <a:avLst/>
          </a:prstGeom>
          <a:solidFill>
            <a:srgbClr val="0288D1"/>
          </a:solidFill>
          <a:ln/>
        </p:spPr>
      </p:sp>
      <p:sp>
        <p:nvSpPr>
          <p:cNvPr id="12" name="Text 10"/>
          <p:cNvSpPr/>
          <p:nvPr/>
        </p:nvSpPr>
        <p:spPr>
          <a:xfrm>
            <a:off x="1143000" y="214884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Pencil &amp; colored pencils</a:t>
            </a:r>
            <a:endParaRPr lang="en-US" sz="1400" dirty="0"/>
          </a:p>
        </p:txBody>
      </p:sp>
      <p:sp>
        <p:nvSpPr>
          <p:cNvPr id="13" name="Shape 11"/>
          <p:cNvSpPr/>
          <p:nvPr/>
        </p:nvSpPr>
        <p:spPr>
          <a:xfrm>
            <a:off x="548640" y="2834640"/>
            <a:ext cx="8046720" cy="594360"/>
          </a:xfrm>
          <a:prstGeom prst="roundRect">
            <a:avLst>
              <a:gd name="adj" fmla="val 12308"/>
            </a:avLst>
          </a:prstGeom>
          <a:solidFill>
            <a:srgbClr val="FFFFFF"/>
          </a:solidFill>
          <a:ln w="12700">
            <a:solidFill>
              <a:srgbClr val="E8DDD2"/>
            </a:solidFill>
            <a:prstDash val="solid"/>
          </a:ln>
        </p:spPr>
      </p:sp>
      <p:sp>
        <p:nvSpPr>
          <p:cNvPr id="14" name="Shape 12"/>
          <p:cNvSpPr/>
          <p:nvPr/>
        </p:nvSpPr>
        <p:spPr>
          <a:xfrm>
            <a:off x="777240" y="3035808"/>
            <a:ext cx="182880" cy="182880"/>
          </a:xfrm>
          <a:prstGeom prst="ellipse">
            <a:avLst/>
          </a:prstGeom>
          <a:solidFill>
            <a:srgbClr val="0288D1"/>
          </a:solidFill>
          <a:ln/>
        </p:spPr>
      </p:sp>
      <p:sp>
        <p:nvSpPr>
          <p:cNvPr id="15" name="Text 13"/>
          <p:cNvSpPr/>
          <p:nvPr/>
        </p:nvSpPr>
        <p:spPr>
          <a:xfrm>
            <a:off x="1143000" y="2880360"/>
            <a:ext cx="7315200" cy="50292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Weather Hazard cards (if provided)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You Already Know?</a:t>
            </a:r>
            <a:endParaRPr lang="en-US" sz="2100" dirty="0"/>
          </a:p>
        </p:txBody>
      </p:sp>
      <p:sp>
        <p:nvSpPr>
          <p:cNvPr id="7" name="Text 5"/>
          <p:cNvSpPr/>
          <p:nvPr/>
        </p:nvSpPr>
        <p:spPr>
          <a:xfrm>
            <a:off x="320040" y="1143000"/>
            <a:ext cx="8503920" cy="91440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Think about the last time the weather felt scary or powerful — a big thunderstorm, maybe, or a strong wind. Before you learn anything new today, take a minute to think about what you already know.</a:t>
            </a:r>
            <a:endParaRPr lang="en-US" sz="1350" dirty="0"/>
          </a:p>
        </p:txBody>
      </p:sp>
      <p:sp>
        <p:nvSpPr>
          <p:cNvPr id="8" name="Shape 6"/>
          <p:cNvSpPr/>
          <p:nvPr/>
        </p:nvSpPr>
        <p:spPr>
          <a:xfrm>
            <a:off x="320040" y="21488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2219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4414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Write down at least 3 types of dangerous weather you've seen or heard about. Then write 1 question you have about how people stay safe.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Naming the Danger</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hazard</a:t>
            </a:r>
            <a:endParaRPr lang="en-US" sz="1600" dirty="0"/>
          </a:p>
        </p:txBody>
      </p:sp>
      <p:sp>
        <p:nvSpPr>
          <p:cNvPr id="9" name="Text 7"/>
          <p:cNvSpPr/>
          <p:nvPr/>
        </p:nvSpPr>
        <p:spPr>
          <a:xfrm>
            <a:off x="2926080" y="1280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Something in nature that can cause harm, injury, or damage to people or ecosystems.</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hurricane</a:t>
            </a:r>
            <a:endParaRPr lang="en-US" sz="1600" dirty="0"/>
          </a:p>
        </p:txBody>
      </p:sp>
      <p:sp>
        <p:nvSpPr>
          <p:cNvPr id="12" name="Text 10"/>
          <p:cNvSpPr/>
          <p:nvPr/>
        </p:nvSpPr>
        <p:spPr>
          <a:xfrm>
            <a:off x="2926080" y="2423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powerful rotating storm with strong winds that forms over warm ocean water.</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19456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flood</a:t>
            </a:r>
            <a:endParaRPr lang="en-US" sz="1600" dirty="0"/>
          </a:p>
        </p:txBody>
      </p:sp>
      <p:sp>
        <p:nvSpPr>
          <p:cNvPr id="15" name="Text 13"/>
          <p:cNvSpPr/>
          <p:nvPr/>
        </p:nvSpPr>
        <p:spPr>
          <a:xfrm>
            <a:off x="2926080" y="3566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When water covers land that is usually dry, often from too much rain or storm surge.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More Hazards, and Who Studies Them</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19456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drought</a:t>
            </a:r>
            <a:endParaRPr lang="en-US" sz="1600" dirty="0"/>
          </a:p>
        </p:txBody>
      </p:sp>
      <p:sp>
        <p:nvSpPr>
          <p:cNvPr id="9" name="Text 7"/>
          <p:cNvSpPr/>
          <p:nvPr/>
        </p:nvSpPr>
        <p:spPr>
          <a:xfrm>
            <a:off x="2926080" y="1280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long stretch of time with very little or no rain, leaving land dangerously dry.</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19456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wildfire</a:t>
            </a:r>
            <a:endParaRPr lang="en-US" sz="1600" dirty="0"/>
          </a:p>
        </p:txBody>
      </p:sp>
      <p:sp>
        <p:nvSpPr>
          <p:cNvPr id="12" name="Text 10"/>
          <p:cNvSpPr/>
          <p:nvPr/>
        </p:nvSpPr>
        <p:spPr>
          <a:xfrm>
            <a:off x="2926080" y="2423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large, fast-moving fire through dry forests or grasslands, often started by lightning.</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19456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meteorologist</a:t>
            </a:r>
            <a:endParaRPr lang="en-US" sz="1600" dirty="0"/>
          </a:p>
        </p:txBody>
      </p:sp>
      <p:sp>
        <p:nvSpPr>
          <p:cNvPr id="15" name="Text 13"/>
          <p:cNvSpPr/>
          <p:nvPr/>
        </p:nvSpPr>
        <p:spPr>
          <a:xfrm>
            <a:off x="2926080" y="3566160"/>
            <a:ext cx="557784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A scientist who studies weather, tracks storms, and predicts what's next.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371600"/>
          </a:xfrm>
          <a:prstGeom prst="roundRect">
            <a:avLst>
              <a:gd name="adj" fmla="val 5333"/>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102412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"Natural hazards are powerful weather events that humans cannot stop, but science and engineering help reduce the damage they cause."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When Weather Gets Dangerous</a:t>
            </a:r>
            <a:endParaRPr lang="en-US" sz="2100" dirty="0"/>
          </a:p>
        </p:txBody>
      </p:sp>
      <p:sp>
        <p:nvSpPr>
          <p:cNvPr id="7" name="Text 5"/>
          <p:cNvSpPr/>
          <p:nvPr/>
        </p:nvSpPr>
        <p:spPr>
          <a:xfrm>
            <a:off x="320040" y="1143000"/>
            <a:ext cx="8503920" cy="109728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Most days, weather is just part of the background. But sometimes weather grows extreme — powerful enough to damage homes, wash out roads, and hurt ecosystems. Scientists call these events natural hazards. You can't stop a natural hazard — but you can prepare for it.</a:t>
            </a:r>
            <a:endParaRPr lang="en-US" sz="1350" dirty="0"/>
          </a:p>
        </p:txBody>
      </p:sp>
      <p:sp>
        <p:nvSpPr>
          <p:cNvPr id="8" name="Shape 6"/>
          <p:cNvSpPr/>
          <p:nvPr/>
        </p:nvSpPr>
        <p:spPr>
          <a:xfrm>
            <a:off x="320040" y="233172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048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243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If you can't stop a hurricane or a flood, what could you do to make sure fewer people get hurt when one is coming?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Four Types of Weather Hazards</a:t>
            </a:r>
            <a:endParaRPr lang="en-US" sz="2100" dirty="0"/>
          </a:p>
        </p:txBody>
      </p:sp>
      <p:sp>
        <p:nvSpPr>
          <p:cNvPr id="7" name="Text 5"/>
          <p:cNvSpPr/>
          <p:nvPr/>
        </p:nvSpPr>
        <p:spPr>
          <a:xfrm>
            <a:off x="365760" y="1097280"/>
            <a:ext cx="8412480" cy="320040"/>
          </a:xfrm>
          <a:prstGeom prst="rect">
            <a:avLst/>
          </a:prstGeom>
          <a:noFill/>
          <a:ln/>
        </p:spPr>
        <p:txBody>
          <a:bodyPr wrap="square" rtlCol="0" anchor="ctr"/>
          <a:lstStyle/>
          <a:p>
            <a:pPr indent="0" marL="0">
              <a:buNone/>
            </a:pPr>
            <a:r>
              <a:rPr lang="en-US" sz="1250" i="1" dirty="0">
                <a:solidFill>
                  <a:srgbClr val="5A4D3E"/>
                </a:solidFill>
                <a:latin typeface="Calibri" pitchFamily="34" charset="0"/>
                <a:ea typeface="Calibri" pitchFamily="34" charset="-122"/>
                <a:cs typeface="Calibri" pitchFamily="34" charset="-120"/>
              </a:rPr>
              <a:t>Four major weather hazards affect communities across the United States.</a:t>
            </a:r>
            <a:endParaRPr lang="en-US" sz="1250" dirty="0"/>
          </a:p>
        </p:txBody>
      </p:sp>
      <p:sp>
        <p:nvSpPr>
          <p:cNvPr id="8" name="Shape 6"/>
          <p:cNvSpPr/>
          <p:nvPr/>
        </p:nvSpPr>
        <p:spPr>
          <a:xfrm>
            <a:off x="457200" y="1508760"/>
            <a:ext cx="4023360" cy="1417320"/>
          </a:xfrm>
          <a:prstGeom prst="roundRect">
            <a:avLst>
              <a:gd name="adj" fmla="val 5161"/>
            </a:avLst>
          </a:prstGeom>
          <a:solidFill>
            <a:srgbClr val="FFFFFF"/>
          </a:solidFill>
          <a:ln w="25400">
            <a:solidFill>
              <a:srgbClr val="0288D1"/>
            </a:solidFill>
            <a:prstDash val="solid"/>
          </a:ln>
        </p:spPr>
      </p:sp>
      <p:sp>
        <p:nvSpPr>
          <p:cNvPr id="9" name="Text 7"/>
          <p:cNvSpPr/>
          <p:nvPr/>
        </p:nvSpPr>
        <p:spPr>
          <a:xfrm>
            <a:off x="640080" y="1618488"/>
            <a:ext cx="3657600" cy="274320"/>
          </a:xfrm>
          <a:prstGeom prst="rect">
            <a:avLst/>
          </a:prstGeom>
          <a:noFill/>
          <a:ln/>
        </p:spPr>
        <p:txBody>
          <a:bodyPr wrap="square" rtlCol="0" anchor="ctr"/>
          <a:lstStyle/>
          <a:p>
            <a:pPr indent="0" marL="0">
              <a:buNone/>
            </a:pPr>
            <a:r>
              <a:rPr lang="en-US" sz="1500" b="1" dirty="0">
                <a:solidFill>
                  <a:srgbClr val="0288D1"/>
                </a:solidFill>
                <a:latin typeface="Cambria" pitchFamily="34" charset="0"/>
                <a:ea typeface="Cambria" pitchFamily="34" charset="-122"/>
                <a:cs typeface="Cambria" pitchFamily="34" charset="-120"/>
              </a:rPr>
              <a:t>HURRICANE</a:t>
            </a:r>
            <a:endParaRPr lang="en-US" sz="1500" dirty="0"/>
          </a:p>
        </p:txBody>
      </p:sp>
      <p:sp>
        <p:nvSpPr>
          <p:cNvPr id="10" name="Text 8"/>
          <p:cNvSpPr/>
          <p:nvPr/>
        </p:nvSpPr>
        <p:spPr>
          <a:xfrm>
            <a:off x="640080" y="1965960"/>
            <a:ext cx="3657600" cy="868680"/>
          </a:xfrm>
          <a:prstGeom prst="rect">
            <a:avLst/>
          </a:prstGeom>
          <a:noFill/>
          <a:ln/>
        </p:spPr>
        <p:txBody>
          <a:bodyPr wrap="square" rtlCol="0" anchor="t"/>
          <a:lstStyle/>
          <a:p>
            <a:pPr indent="0" marL="0">
              <a:buNone/>
            </a:pPr>
            <a:r>
              <a:rPr lang="en-US" sz="1150" dirty="0">
                <a:solidFill>
                  <a:srgbClr val="2B1D12"/>
                </a:solidFill>
                <a:latin typeface="Calibri" pitchFamily="34" charset="0"/>
                <a:ea typeface="Calibri" pitchFamily="34" charset="-122"/>
                <a:cs typeface="Calibri" pitchFamily="34" charset="-120"/>
              </a:rPr>
              <a:t>Powerful rotating storm, strong winds, forms over warm ocean water.</a:t>
            </a:r>
            <a:endParaRPr lang="en-US" sz="1150" dirty="0"/>
          </a:p>
        </p:txBody>
      </p:sp>
      <p:sp>
        <p:nvSpPr>
          <p:cNvPr id="11" name="Shape 9"/>
          <p:cNvSpPr/>
          <p:nvPr/>
        </p:nvSpPr>
        <p:spPr>
          <a:xfrm>
            <a:off x="4617720" y="1508760"/>
            <a:ext cx="4023360" cy="1417320"/>
          </a:xfrm>
          <a:prstGeom prst="roundRect">
            <a:avLst>
              <a:gd name="adj" fmla="val 5161"/>
            </a:avLst>
          </a:prstGeom>
          <a:solidFill>
            <a:srgbClr val="FFFFFF"/>
          </a:solidFill>
          <a:ln w="25400">
            <a:solidFill>
              <a:srgbClr val="2D6A4F"/>
            </a:solidFill>
            <a:prstDash val="solid"/>
          </a:ln>
        </p:spPr>
      </p:sp>
      <p:sp>
        <p:nvSpPr>
          <p:cNvPr id="12" name="Text 10"/>
          <p:cNvSpPr/>
          <p:nvPr/>
        </p:nvSpPr>
        <p:spPr>
          <a:xfrm>
            <a:off x="4800600" y="1618488"/>
            <a:ext cx="3657600" cy="274320"/>
          </a:xfrm>
          <a:prstGeom prst="rect">
            <a:avLst/>
          </a:prstGeom>
          <a:noFill/>
          <a:ln/>
        </p:spPr>
        <p:txBody>
          <a:bodyPr wrap="square" rtlCol="0" anchor="ctr"/>
          <a:lstStyle/>
          <a:p>
            <a:pPr indent="0" marL="0">
              <a:buNone/>
            </a:pPr>
            <a:r>
              <a:rPr lang="en-US" sz="1500" b="1" dirty="0">
                <a:solidFill>
                  <a:srgbClr val="2D6A4F"/>
                </a:solidFill>
                <a:latin typeface="Cambria" pitchFamily="34" charset="0"/>
                <a:ea typeface="Cambria" pitchFamily="34" charset="-122"/>
                <a:cs typeface="Cambria" pitchFamily="34" charset="-120"/>
              </a:rPr>
              <a:t>FLOOD</a:t>
            </a:r>
            <a:endParaRPr lang="en-US" sz="1500" dirty="0"/>
          </a:p>
        </p:txBody>
      </p:sp>
      <p:sp>
        <p:nvSpPr>
          <p:cNvPr id="13" name="Text 11"/>
          <p:cNvSpPr/>
          <p:nvPr/>
        </p:nvSpPr>
        <p:spPr>
          <a:xfrm>
            <a:off x="4800600" y="1965960"/>
            <a:ext cx="3657600" cy="868680"/>
          </a:xfrm>
          <a:prstGeom prst="rect">
            <a:avLst/>
          </a:prstGeom>
          <a:noFill/>
          <a:ln/>
        </p:spPr>
        <p:txBody>
          <a:bodyPr wrap="square" rtlCol="0" anchor="t"/>
          <a:lstStyle/>
          <a:p>
            <a:pPr indent="0" marL="0">
              <a:buNone/>
            </a:pPr>
            <a:r>
              <a:rPr lang="en-US" sz="1150" dirty="0">
                <a:solidFill>
                  <a:srgbClr val="2B1D12"/>
                </a:solidFill>
                <a:latin typeface="Calibri" pitchFamily="34" charset="0"/>
                <a:ea typeface="Calibri" pitchFamily="34" charset="-122"/>
                <a:cs typeface="Calibri" pitchFamily="34" charset="-120"/>
              </a:rPr>
              <a:t>Water covers usually-dry land — heavy rain or storm surge.</a:t>
            </a:r>
            <a:endParaRPr lang="en-US" sz="1150" dirty="0"/>
          </a:p>
        </p:txBody>
      </p:sp>
      <p:sp>
        <p:nvSpPr>
          <p:cNvPr id="14" name="Shape 12"/>
          <p:cNvSpPr/>
          <p:nvPr/>
        </p:nvSpPr>
        <p:spPr>
          <a:xfrm>
            <a:off x="457200" y="3063240"/>
            <a:ext cx="4023360" cy="1417320"/>
          </a:xfrm>
          <a:prstGeom prst="roundRect">
            <a:avLst>
              <a:gd name="adj" fmla="val 5161"/>
            </a:avLst>
          </a:prstGeom>
          <a:solidFill>
            <a:srgbClr val="FFFFFF"/>
          </a:solidFill>
          <a:ln w="25400">
            <a:solidFill>
              <a:srgbClr val="E65100"/>
            </a:solidFill>
            <a:prstDash val="solid"/>
          </a:ln>
        </p:spPr>
      </p:sp>
      <p:sp>
        <p:nvSpPr>
          <p:cNvPr id="15" name="Text 13"/>
          <p:cNvSpPr/>
          <p:nvPr/>
        </p:nvSpPr>
        <p:spPr>
          <a:xfrm>
            <a:off x="640080" y="3172968"/>
            <a:ext cx="3657600" cy="274320"/>
          </a:xfrm>
          <a:prstGeom prst="rect">
            <a:avLst/>
          </a:prstGeom>
          <a:noFill/>
          <a:ln/>
        </p:spPr>
        <p:txBody>
          <a:bodyPr wrap="square" rtlCol="0" anchor="ctr"/>
          <a:lstStyle/>
          <a:p>
            <a:pPr indent="0" marL="0">
              <a:buNone/>
            </a:pPr>
            <a:r>
              <a:rPr lang="en-US" sz="1500" b="1" dirty="0">
                <a:solidFill>
                  <a:srgbClr val="E65100"/>
                </a:solidFill>
                <a:latin typeface="Cambria" pitchFamily="34" charset="0"/>
                <a:ea typeface="Cambria" pitchFamily="34" charset="-122"/>
                <a:cs typeface="Cambria" pitchFamily="34" charset="-120"/>
              </a:rPr>
              <a:t>WILDFIRE</a:t>
            </a:r>
            <a:endParaRPr lang="en-US" sz="1500" dirty="0"/>
          </a:p>
        </p:txBody>
      </p:sp>
      <p:sp>
        <p:nvSpPr>
          <p:cNvPr id="16" name="Text 14"/>
          <p:cNvSpPr/>
          <p:nvPr/>
        </p:nvSpPr>
        <p:spPr>
          <a:xfrm>
            <a:off x="640080" y="3520440"/>
            <a:ext cx="3657600" cy="868680"/>
          </a:xfrm>
          <a:prstGeom prst="rect">
            <a:avLst/>
          </a:prstGeom>
          <a:noFill/>
          <a:ln/>
        </p:spPr>
        <p:txBody>
          <a:bodyPr wrap="square" rtlCol="0" anchor="t"/>
          <a:lstStyle/>
          <a:p>
            <a:pPr indent="0" marL="0">
              <a:buNone/>
            </a:pPr>
            <a:r>
              <a:rPr lang="en-US" sz="1150" dirty="0">
                <a:solidFill>
                  <a:srgbClr val="2B1D12"/>
                </a:solidFill>
                <a:latin typeface="Calibri" pitchFamily="34" charset="0"/>
                <a:ea typeface="Calibri" pitchFamily="34" charset="-122"/>
                <a:cs typeface="Calibri" pitchFamily="34" charset="-120"/>
              </a:rPr>
              <a:t>Fast-moving fire through dry forests or grasslands.</a:t>
            </a:r>
            <a:endParaRPr lang="en-US" sz="1150" dirty="0"/>
          </a:p>
        </p:txBody>
      </p:sp>
      <p:sp>
        <p:nvSpPr>
          <p:cNvPr id="17" name="Shape 15"/>
          <p:cNvSpPr/>
          <p:nvPr/>
        </p:nvSpPr>
        <p:spPr>
          <a:xfrm>
            <a:off x="4617720" y="3063240"/>
            <a:ext cx="4023360" cy="1417320"/>
          </a:xfrm>
          <a:prstGeom prst="roundRect">
            <a:avLst>
              <a:gd name="adj" fmla="val 5161"/>
            </a:avLst>
          </a:prstGeom>
          <a:solidFill>
            <a:srgbClr val="FFFFFF"/>
          </a:solidFill>
          <a:ln w="25400">
            <a:solidFill>
              <a:srgbClr val="F9A825"/>
            </a:solidFill>
            <a:prstDash val="solid"/>
          </a:ln>
        </p:spPr>
      </p:sp>
      <p:sp>
        <p:nvSpPr>
          <p:cNvPr id="18" name="Text 16"/>
          <p:cNvSpPr/>
          <p:nvPr/>
        </p:nvSpPr>
        <p:spPr>
          <a:xfrm>
            <a:off x="4800600" y="3172968"/>
            <a:ext cx="3657600" cy="274320"/>
          </a:xfrm>
          <a:prstGeom prst="rect">
            <a:avLst/>
          </a:prstGeom>
          <a:noFill/>
          <a:ln/>
        </p:spPr>
        <p:txBody>
          <a:bodyPr wrap="square" rtlCol="0" anchor="ctr"/>
          <a:lstStyle/>
          <a:p>
            <a:pPr indent="0" marL="0">
              <a:buNone/>
            </a:pPr>
            <a:r>
              <a:rPr lang="en-US" sz="1500" b="1" dirty="0">
                <a:solidFill>
                  <a:srgbClr val="F9A825"/>
                </a:solidFill>
                <a:latin typeface="Cambria" pitchFamily="34" charset="0"/>
                <a:ea typeface="Cambria" pitchFamily="34" charset="-122"/>
                <a:cs typeface="Cambria" pitchFamily="34" charset="-120"/>
              </a:rPr>
              <a:t>DROUGHT</a:t>
            </a:r>
            <a:endParaRPr lang="en-US" sz="1500" dirty="0"/>
          </a:p>
        </p:txBody>
      </p:sp>
      <p:sp>
        <p:nvSpPr>
          <p:cNvPr id="19" name="Text 17"/>
          <p:cNvSpPr/>
          <p:nvPr/>
        </p:nvSpPr>
        <p:spPr>
          <a:xfrm>
            <a:off x="4800600" y="3520440"/>
            <a:ext cx="3657600" cy="868680"/>
          </a:xfrm>
          <a:prstGeom prst="rect">
            <a:avLst/>
          </a:prstGeom>
          <a:noFill/>
          <a:ln/>
        </p:spPr>
        <p:txBody>
          <a:bodyPr wrap="square" rtlCol="0" anchor="t"/>
          <a:lstStyle/>
          <a:p>
            <a:pPr indent="0" marL="0">
              <a:buNone/>
            </a:pPr>
            <a:r>
              <a:rPr lang="en-US" sz="1150" dirty="0">
                <a:solidFill>
                  <a:srgbClr val="2B1D12"/>
                </a:solidFill>
                <a:latin typeface="Calibri" pitchFamily="34" charset="0"/>
                <a:ea typeface="Calibri" pitchFamily="34" charset="-122"/>
                <a:cs typeface="Calibri" pitchFamily="34" charset="-120"/>
              </a:rPr>
              <a:t>Long stretch with almost no rain, land dangerously dry.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Science and Engineering Help</a:t>
            </a:r>
            <a:endParaRPr lang="en-US" sz="2100" dirty="0"/>
          </a:p>
        </p:txBody>
      </p:sp>
      <p:sp>
        <p:nvSpPr>
          <p:cNvPr id="7" name="Text 5"/>
          <p:cNvSpPr/>
          <p:nvPr/>
        </p:nvSpPr>
        <p:spPr>
          <a:xfrm>
            <a:off x="320040" y="1097280"/>
            <a:ext cx="8503920" cy="6400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Meteorologists track storms using satellites and radar. They can see a hurricane forming days before it reaches land — that warning time saves lives.</a:t>
            </a:r>
            <a:endParaRPr lang="en-US" sz="1300" dirty="0"/>
          </a:p>
        </p:txBody>
      </p:sp>
      <p:sp>
        <p:nvSpPr>
          <p:cNvPr id="8" name="Shape 6"/>
          <p:cNvSpPr/>
          <p:nvPr/>
        </p:nvSpPr>
        <p:spPr>
          <a:xfrm>
            <a:off x="457200" y="1828800"/>
            <a:ext cx="8229600" cy="1920240"/>
          </a:xfrm>
          <a:prstGeom prst="roundRect">
            <a:avLst>
              <a:gd name="adj" fmla="val 3810"/>
            </a:avLst>
          </a:prstGeom>
          <a:solidFill>
            <a:srgbClr val="FFF3E0"/>
          </a:solidFill>
          <a:ln w="25400">
            <a:solidFill>
              <a:srgbClr val="F9A825"/>
            </a:solidFill>
            <a:prstDash val="dash"/>
          </a:ln>
        </p:spPr>
      </p:sp>
      <p:sp>
        <p:nvSpPr>
          <p:cNvPr id="9" name="Text 7"/>
          <p:cNvSpPr/>
          <p:nvPr/>
        </p:nvSpPr>
        <p:spPr>
          <a:xfrm>
            <a:off x="640080" y="192024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194560"/>
            <a:ext cx="7863840" cy="12070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real-world photograph of a meteorologist at a professional weather operations center, seated at a workstation with multiple large monitors displaying a colorful Doppler radar image of a hurricane spiral in red, orange, and yellow bands. Dimly lit room, screens glowing. The meteorologist looking intently at the data, possibly with a headset. No white background or edges. Real environment, no cartoon style.</a:t>
            </a:r>
            <a:endParaRPr lang="en-US" sz="1100" dirty="0"/>
          </a:p>
        </p:txBody>
      </p:sp>
      <p:sp>
        <p:nvSpPr>
          <p:cNvPr id="11" name="Text 9"/>
          <p:cNvSpPr/>
          <p:nvPr/>
        </p:nvSpPr>
        <p:spPr>
          <a:xfrm>
            <a:off x="640080" y="345643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images/4-01-meteorologist-radar.png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PHOTO · STORM SURGE IN FLORIDA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Real-World Connection</a:t>
            </a:r>
            <a:endParaRPr lang="en-US" sz="2100" dirty="0"/>
          </a:p>
        </p:txBody>
      </p:sp>
      <p:sp>
        <p:nvSpPr>
          <p:cNvPr id="7" name="Shape 5"/>
          <p:cNvSpPr/>
          <p:nvPr/>
        </p:nvSpPr>
        <p:spPr>
          <a:xfrm>
            <a:off x="457200" y="1097280"/>
            <a:ext cx="8229600" cy="2331720"/>
          </a:xfrm>
          <a:prstGeom prst="roundRect">
            <a:avLst>
              <a:gd name="adj" fmla="val 3137"/>
            </a:avLst>
          </a:prstGeom>
          <a:solidFill>
            <a:srgbClr val="FFF3E0"/>
          </a:solidFill>
          <a:ln w="25400">
            <a:solidFill>
              <a:srgbClr val="F9A825"/>
            </a:solidFill>
            <a:prstDash val="dash"/>
          </a:ln>
        </p:spPr>
      </p:sp>
      <p:sp>
        <p:nvSpPr>
          <p:cNvPr id="8" name="Text 6"/>
          <p:cNvSpPr/>
          <p:nvPr/>
        </p:nvSpPr>
        <p:spPr>
          <a:xfrm>
            <a:off x="640080" y="1188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463040"/>
            <a:ext cx="7863840" cy="161848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real-world photograph of a flooded street in a Florida coastal neighborhood after a hurricane. Brown or murky flood water fills the road, reaching doors of parked cars or front steps of houses. Palm trees visible in background, some bent or damaged. A partially submerged stop sign for scale. Overcast sky, dramatic lighting. No white background or edges. Real news/documentary photo style, not cartoon.</a:t>
            </a:r>
            <a:endParaRPr lang="en-US" sz="1100" dirty="0"/>
          </a:p>
        </p:txBody>
      </p:sp>
      <p:sp>
        <p:nvSpPr>
          <p:cNvPr id="10" name="Text 8"/>
          <p:cNvSpPr/>
          <p:nvPr/>
        </p:nvSpPr>
        <p:spPr>
          <a:xfrm>
            <a:off x="640080" y="31363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images/4-01-storm-surge-florida.png</a:t>
            </a:r>
            <a:endParaRPr lang="en-US" sz="950" dirty="0"/>
          </a:p>
        </p:txBody>
      </p:sp>
      <p:sp>
        <p:nvSpPr>
          <p:cNvPr id="11" name="Text 9"/>
          <p:cNvSpPr/>
          <p:nvPr/>
        </p:nvSpPr>
        <p:spPr>
          <a:xfrm>
            <a:off x="457200" y="3611880"/>
            <a:ext cx="8229600" cy="640080"/>
          </a:xfrm>
          <a:prstGeom prst="rect">
            <a:avLst/>
          </a:prstGeom>
          <a:noFill/>
          <a:ln/>
        </p:spPr>
        <p:txBody>
          <a:bodyPr wrap="square" rtlCol="0" anchor="t"/>
          <a:lstStyle/>
          <a:p>
            <a:pPr indent="0" marL="0">
              <a:buNone/>
            </a:pPr>
            <a:r>
              <a:rPr lang="en-US" sz="1250" dirty="0">
                <a:solidFill>
                  <a:srgbClr val="5A4D3E"/>
                </a:solidFill>
                <a:latin typeface="Calibri" pitchFamily="34" charset="0"/>
                <a:ea typeface="Calibri" pitchFamily="34" charset="-122"/>
                <a:cs typeface="Calibri" pitchFamily="34" charset="-120"/>
              </a:rPr>
              <a:t>Storm surge from a hurricane pushes ocean water onto land, flooding streets and homes. This is one reason Florida communities prepare carefully before every hurricane season.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508760"/>
          </a:xfrm>
          <a:prstGeom prst="roundRect">
            <a:avLst>
              <a:gd name="adj" fmla="val 4848"/>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572768"/>
            <a:ext cx="8138160" cy="116128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Natural hazards are powerful weather events that humans cannot stop. But scientists study them, predict when they're coming, and help engineers design solutions that reduce the damage. This is how science and engineering work together to keep people safer.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WEATHER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10 Feet Above Normal</a:t>
            </a:r>
            <a:endParaRPr lang="en-US" sz="2100" dirty="0"/>
          </a:p>
        </p:txBody>
      </p:sp>
      <p:sp>
        <p:nvSpPr>
          <p:cNvPr id="7" name="Text 5"/>
          <p:cNvSpPr/>
          <p:nvPr/>
        </p:nvSpPr>
        <p:spPr>
          <a:xfrm>
            <a:off x="457200" y="1143000"/>
            <a:ext cx="8229600" cy="109728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During Hurricane Irma in 2017, storm surge pushed ocean water more than 10 feet above normal in some Florida coastal areas — that's taller than most classroom ceilings, and it happened in minutes.</a:t>
            </a:r>
            <a:endParaRPr lang="en-US" sz="1450" dirty="0"/>
          </a:p>
        </p:txBody>
      </p:sp>
      <p:sp>
        <p:nvSpPr>
          <p:cNvPr id="8" name="Shape 6"/>
          <p:cNvSpPr/>
          <p:nvPr/>
        </p:nvSpPr>
        <p:spPr>
          <a:xfrm>
            <a:off x="320040" y="242316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24963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75234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Look up at our classroom ceiling. Now imagine ocean water rising above that height in just minutes. What would that mean for a house near the coast?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PHOTO · WHAT A FLOOD BARRIER LOOKS LIKE</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An Engineering Solution</a:t>
            </a:r>
            <a:endParaRPr lang="en-US" sz="2100" dirty="0"/>
          </a:p>
        </p:txBody>
      </p:sp>
      <p:sp>
        <p:nvSpPr>
          <p:cNvPr id="7" name="Shape 5"/>
          <p:cNvSpPr/>
          <p:nvPr/>
        </p:nvSpPr>
        <p:spPr>
          <a:xfrm>
            <a:off x="457200" y="1097280"/>
            <a:ext cx="8229600" cy="2331720"/>
          </a:xfrm>
          <a:prstGeom prst="roundRect">
            <a:avLst>
              <a:gd name="adj" fmla="val 3137"/>
            </a:avLst>
          </a:prstGeom>
          <a:solidFill>
            <a:srgbClr val="FFF3E0"/>
          </a:solidFill>
          <a:ln w="25400">
            <a:solidFill>
              <a:srgbClr val="F9A825"/>
            </a:solidFill>
            <a:prstDash val="dash"/>
          </a:ln>
        </p:spPr>
      </p:sp>
      <p:sp>
        <p:nvSpPr>
          <p:cNvPr id="8" name="Text 6"/>
          <p:cNvSpPr/>
          <p:nvPr/>
        </p:nvSpPr>
        <p:spPr>
          <a:xfrm>
            <a:off x="640080" y="118872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9" name="Text 7"/>
          <p:cNvSpPr/>
          <p:nvPr/>
        </p:nvSpPr>
        <p:spPr>
          <a:xfrm>
            <a:off x="640080" y="1463040"/>
            <a:ext cx="7863840" cy="161848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real-world photograph of a large earthen or concrete flood levee running alongside a river or body of water. Clearly visible raised wall or embankment separating water from land. Green grass on top of the levee. Water level on one side noticeably higher than the protected land on the other. A town, homes, or farmland visible in the background on the protected side. Daytime, blue sky. Wide angle showing scale. No white borders. Real-world photo, not a diagram.</a:t>
            </a:r>
            <a:endParaRPr lang="en-US" sz="1100" dirty="0"/>
          </a:p>
        </p:txBody>
      </p:sp>
      <p:sp>
        <p:nvSpPr>
          <p:cNvPr id="10" name="Text 8"/>
          <p:cNvSpPr/>
          <p:nvPr/>
        </p:nvSpPr>
        <p:spPr>
          <a:xfrm>
            <a:off x="640080" y="31363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images/4-01-flood-levee.png</a:t>
            </a:r>
            <a:endParaRPr lang="en-US" sz="950" dirty="0"/>
          </a:p>
        </p:txBody>
      </p:sp>
      <p:sp>
        <p:nvSpPr>
          <p:cNvPr id="11" name="Text 9"/>
          <p:cNvSpPr/>
          <p:nvPr/>
        </p:nvSpPr>
        <p:spPr>
          <a:xfrm>
            <a:off x="457200" y="3611880"/>
            <a:ext cx="8229600" cy="640080"/>
          </a:xfrm>
          <a:prstGeom prst="rect">
            <a:avLst/>
          </a:prstGeom>
          <a:noFill/>
          <a:ln/>
        </p:spPr>
        <p:txBody>
          <a:bodyPr wrap="square" rtlCol="0" anchor="t"/>
          <a:lstStyle/>
          <a:p>
            <a:pPr indent="0" marL="0">
              <a:buNone/>
            </a:pPr>
            <a:r>
              <a:rPr lang="en-US" sz="1250" dirty="0">
                <a:solidFill>
                  <a:srgbClr val="5A4D3E"/>
                </a:solidFill>
                <a:latin typeface="Calibri" pitchFamily="34" charset="0"/>
                <a:ea typeface="Calibri" pitchFamily="34" charset="-122"/>
                <a:cs typeface="Calibri" pitchFamily="34" charset="-120"/>
              </a:rPr>
              <a:t>A flood barrier (levee) is a raised wall of earth or concrete built along a river. It holds back floodwater to protect neighborhoods on the other side.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 15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Solution Works Best?</a:t>
            </a:r>
            <a:endParaRPr lang="en-US" sz="2100" dirty="0"/>
          </a:p>
        </p:txBody>
      </p:sp>
      <p:sp>
        <p:nvSpPr>
          <p:cNvPr id="7" name="Text 5"/>
          <p:cNvSpPr/>
          <p:nvPr/>
        </p:nvSpPr>
        <p:spPr>
          <a:xfrm>
            <a:off x="365760" y="1051560"/>
            <a:ext cx="8412480" cy="502920"/>
          </a:xfrm>
          <a:prstGeom prst="rect">
            <a:avLst/>
          </a:prstGeom>
          <a:noFill/>
          <a:ln/>
        </p:spPr>
        <p:txBody>
          <a:bodyPr wrap="square" rtlCol="0" anchor="ctr"/>
          <a:lstStyle/>
          <a:p>
            <a:pPr indent="0" marL="0">
              <a:buNone/>
            </a:pPr>
            <a:r>
              <a:rPr lang="en-US" sz="1200" i="1" dirty="0">
                <a:solidFill>
                  <a:srgbClr val="5A4D3E"/>
                </a:solidFill>
                <a:latin typeface="Calibri" pitchFamily="34" charset="0"/>
                <a:ea typeface="Calibri" pitchFamily="34" charset="-122"/>
                <a:cs typeface="Calibri" pitchFamily="34" charset="-120"/>
              </a:rPr>
              <a:t>Scientists make claims about solutions using evidence. Draw a two-column chart: Hazard and Solution. Read each scenario and fill in your chart.</a:t>
            </a:r>
            <a:endParaRPr lang="en-US" sz="1200" dirty="0"/>
          </a:p>
        </p:txBody>
      </p:sp>
      <p:sp>
        <p:nvSpPr>
          <p:cNvPr id="8" name="Shape 6"/>
          <p:cNvSpPr/>
          <p:nvPr/>
        </p:nvSpPr>
        <p:spPr>
          <a:xfrm>
            <a:off x="365760" y="1600200"/>
            <a:ext cx="8412480" cy="1691640"/>
          </a:xfrm>
          <a:prstGeom prst="roundRect">
            <a:avLst>
              <a:gd name="adj" fmla="val 4324"/>
            </a:avLst>
          </a:prstGeom>
          <a:solidFill>
            <a:srgbClr val="FFFFFF"/>
          </a:solidFill>
          <a:ln w="19050">
            <a:solidFill>
              <a:srgbClr val="E8DDD2"/>
            </a:solidFill>
            <a:prstDash val="solid"/>
          </a:ln>
        </p:spPr>
      </p:sp>
      <p:sp>
        <p:nvSpPr>
          <p:cNvPr id="9" name="Text 7"/>
          <p:cNvSpPr/>
          <p:nvPr/>
        </p:nvSpPr>
        <p:spPr>
          <a:xfrm>
            <a:off x="548640" y="1691640"/>
            <a:ext cx="8046720" cy="256032"/>
          </a:xfrm>
          <a:prstGeom prst="rect">
            <a:avLst/>
          </a:prstGeom>
          <a:noFill/>
          <a:ln/>
        </p:spPr>
        <p:txBody>
          <a:bodyPr wrap="square" rtlCol="0" anchor="ctr"/>
          <a:lstStyle/>
          <a:p>
            <a:pPr indent="0" marL="0">
              <a:buNone/>
            </a:pPr>
            <a:r>
              <a:rPr lang="en-US" sz="1200" b="1" dirty="0">
                <a:solidFill>
                  <a:srgbClr val="E65100"/>
                </a:solidFill>
                <a:latin typeface="Calibri" pitchFamily="34" charset="0"/>
                <a:ea typeface="Calibri" pitchFamily="34" charset="-122"/>
                <a:cs typeface="Calibri" pitchFamily="34" charset="-120"/>
              </a:rPr>
              <a:t>SCENARIO A — Coastal Town, Hurricane Season</a:t>
            </a:r>
            <a:endParaRPr lang="en-US" sz="1200" dirty="0"/>
          </a:p>
        </p:txBody>
      </p:sp>
      <p:sp>
        <p:nvSpPr>
          <p:cNvPr id="10" name="Text 8"/>
          <p:cNvSpPr/>
          <p:nvPr/>
        </p:nvSpPr>
        <p:spPr>
          <a:xfrm>
            <a:off x="548640" y="1965960"/>
            <a:ext cx="8046720" cy="320040"/>
          </a:xfrm>
          <a:prstGeom prst="rect">
            <a:avLst/>
          </a:prstGeom>
          <a:noFill/>
          <a:ln/>
        </p:spPr>
        <p:txBody>
          <a:bodyPr wrap="square" rtlCol="0" anchor="ctr"/>
          <a:lstStyle/>
          <a:p>
            <a:pPr indent="0" marL="0">
              <a:buNone/>
            </a:pPr>
            <a:r>
              <a:rPr lang="en-US" sz="1150" dirty="0">
                <a:solidFill>
                  <a:srgbClr val="2B1D12"/>
                </a:solidFill>
                <a:latin typeface="Calibri" pitchFamily="34" charset="0"/>
                <a:ea typeface="Calibri" pitchFamily="34" charset="-122"/>
                <a:cs typeface="Calibri" pitchFamily="34" charset="-120"/>
              </a:rPr>
              <a:t>A town near the Florida coast wants to protect homes. They are deciding between two options:</a:t>
            </a:r>
            <a:endParaRPr lang="en-US" sz="1150" dirty="0"/>
          </a:p>
        </p:txBody>
      </p:sp>
      <p:sp>
        <p:nvSpPr>
          <p:cNvPr id="11" name="Text 9"/>
          <p:cNvSpPr/>
          <p:nvPr/>
        </p:nvSpPr>
        <p:spPr>
          <a:xfrm>
            <a:off x="731520" y="2313432"/>
            <a:ext cx="7863840" cy="868680"/>
          </a:xfrm>
          <a:prstGeom prst="rect">
            <a:avLst/>
          </a:prstGeom>
          <a:noFill/>
          <a:ln/>
        </p:spPr>
        <p:txBody>
          <a:bodyPr wrap="square" rtlCol="0" anchor="ctr"/>
          <a:lstStyle/>
          <a:p>
            <a:pPr marL="342900" indent="-342900">
              <a:lnSpc>
                <a:spcPts val="1700"/>
              </a:lnSpc>
              <a:buSzPct val="100000"/>
              <a:buChar char="•"/>
            </a:pPr>
            <a:r>
              <a:rPr lang="en-US" sz="1150" dirty="0">
                <a:solidFill>
                  <a:srgbClr val="2B1D12"/>
                </a:solidFill>
                <a:latin typeface="Calibri" pitchFamily="34" charset="0"/>
                <a:ea typeface="Calibri" pitchFamily="34" charset="-122"/>
                <a:cs typeface="Calibri" pitchFamily="34" charset="-120"/>
              </a:rPr>
              <a:t>Option 1: Build stronger hurricane shutters and reinforce rooftops.</a:t>
            </a:r>
            <a:endParaRPr lang="en-US" sz="1150" dirty="0"/>
          </a:p>
          <a:p>
            <a:pPr marL="342900" indent="-342900">
              <a:lnSpc>
                <a:spcPts val="1700"/>
              </a:lnSpc>
              <a:buSzPct val="100000"/>
              <a:buChar char="•"/>
            </a:pPr>
            <a:r>
              <a:rPr lang="en-US" sz="1150" dirty="0">
                <a:solidFill>
                  <a:srgbClr val="2B1D12"/>
                </a:solidFill>
                <a:latin typeface="Calibri" pitchFamily="34" charset="0"/>
                <a:ea typeface="Calibri" pitchFamily="34" charset="-122"/>
                <a:cs typeface="Calibri" pitchFamily="34" charset="-120"/>
              </a:rPr>
              <a:t>Option 2: Create an early warning system with sirens and evacuation routes.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Scenario B — River Community, Flood Risk</a:t>
            </a:r>
            <a:endParaRPr lang="en-US" sz="2100" dirty="0"/>
          </a:p>
        </p:txBody>
      </p:sp>
      <p:sp>
        <p:nvSpPr>
          <p:cNvPr id="7" name="Shape 5"/>
          <p:cNvSpPr/>
          <p:nvPr/>
        </p:nvSpPr>
        <p:spPr>
          <a:xfrm>
            <a:off x="365760" y="1143000"/>
            <a:ext cx="8412480" cy="1691640"/>
          </a:xfrm>
          <a:prstGeom prst="roundRect">
            <a:avLst>
              <a:gd name="adj" fmla="val 4324"/>
            </a:avLst>
          </a:prstGeom>
          <a:solidFill>
            <a:srgbClr val="FFFFFF"/>
          </a:solidFill>
          <a:ln w="19050">
            <a:solidFill>
              <a:srgbClr val="E8DDD2"/>
            </a:solidFill>
            <a:prstDash val="solid"/>
          </a:ln>
        </p:spPr>
      </p:sp>
      <p:sp>
        <p:nvSpPr>
          <p:cNvPr id="8" name="Text 6"/>
          <p:cNvSpPr/>
          <p:nvPr/>
        </p:nvSpPr>
        <p:spPr>
          <a:xfrm>
            <a:off x="548640" y="1280160"/>
            <a:ext cx="8046720" cy="32004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A neighborhood near a river floods almost every spring. They have two choices:</a:t>
            </a:r>
            <a:endParaRPr lang="en-US" sz="1200" dirty="0"/>
          </a:p>
        </p:txBody>
      </p:sp>
      <p:sp>
        <p:nvSpPr>
          <p:cNvPr id="9" name="Text 7"/>
          <p:cNvSpPr/>
          <p:nvPr/>
        </p:nvSpPr>
        <p:spPr>
          <a:xfrm>
            <a:off x="731520" y="1645920"/>
            <a:ext cx="7863840" cy="868680"/>
          </a:xfrm>
          <a:prstGeom prst="rect">
            <a:avLst/>
          </a:prstGeom>
          <a:noFill/>
          <a:ln/>
        </p:spPr>
        <p:txBody>
          <a:bodyPr wrap="square" rtlCol="0" anchor="ctr"/>
          <a:lstStyle/>
          <a:p>
            <a:pPr marL="342900" indent="-342900">
              <a:lnSpc>
                <a:spcPts val="1700"/>
              </a:lnSpc>
              <a:buSzPct val="100000"/>
              <a:buChar char="•"/>
            </a:pPr>
            <a:r>
              <a:rPr lang="en-US" sz="1200" dirty="0">
                <a:solidFill>
                  <a:srgbClr val="2B1D12"/>
                </a:solidFill>
                <a:latin typeface="Calibri" pitchFamily="34" charset="0"/>
                <a:ea typeface="Calibri" pitchFamily="34" charset="-122"/>
                <a:cs typeface="Calibri" pitchFamily="34" charset="-120"/>
              </a:rPr>
              <a:t>Option 1: Build a flood barrier (levee) along the river bank.</a:t>
            </a:r>
            <a:endParaRPr lang="en-US" sz="1200" dirty="0"/>
          </a:p>
          <a:p>
            <a:pPr marL="342900" indent="-342900">
              <a:lnSpc>
                <a:spcPts val="1700"/>
              </a:lnSpc>
              <a:buSzPct val="100000"/>
              <a:buChar char="•"/>
            </a:pPr>
            <a:r>
              <a:rPr lang="en-US" sz="1200" dirty="0">
                <a:solidFill>
                  <a:srgbClr val="2B1D12"/>
                </a:solidFill>
                <a:latin typeface="Calibri" pitchFamily="34" charset="0"/>
                <a:ea typeface="Calibri" pitchFamily="34" charset="-122"/>
                <a:cs typeface="Calibri" pitchFamily="34" charset="-120"/>
              </a:rPr>
              <a:t>Option 2: Create more parks and open land near the river to absorb extra water.</a:t>
            </a:r>
            <a:endParaRPr lang="en-US" sz="1200" dirty="0"/>
          </a:p>
        </p:txBody>
      </p:sp>
      <p:sp>
        <p:nvSpPr>
          <p:cNvPr id="10" name="Shape 8"/>
          <p:cNvSpPr/>
          <p:nvPr/>
        </p:nvSpPr>
        <p:spPr>
          <a:xfrm>
            <a:off x="320040" y="3017520"/>
            <a:ext cx="8503920" cy="1086485"/>
          </a:xfrm>
          <a:prstGeom prst="roundRect">
            <a:avLst>
              <a:gd name="adj" fmla="val 6733"/>
            </a:avLst>
          </a:prstGeom>
          <a:solidFill>
            <a:srgbClr val="EEF8F0"/>
          </a:solidFill>
          <a:ln w="19050">
            <a:solidFill>
              <a:srgbClr val="52B788"/>
            </a:solidFill>
            <a:prstDash val="solid"/>
          </a:ln>
        </p:spPr>
      </p:sp>
      <p:sp>
        <p:nvSpPr>
          <p:cNvPr id="11" name="Text 9"/>
          <p:cNvSpPr/>
          <p:nvPr/>
        </p:nvSpPr>
        <p:spPr>
          <a:xfrm>
            <a:off x="502920" y="30906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2" name="Text 10"/>
          <p:cNvSpPr/>
          <p:nvPr/>
        </p:nvSpPr>
        <p:spPr>
          <a:xfrm>
            <a:off x="502920" y="334670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Evaluate each option — does it protect people? Does it protect the ecosystem? Is it something a real community could do?</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Make a Claim</a:t>
            </a:r>
            <a:endParaRPr lang="en-US" sz="2100" dirty="0"/>
          </a:p>
        </p:txBody>
      </p:sp>
      <p:sp>
        <p:nvSpPr>
          <p:cNvPr id="7" name="Text 5"/>
          <p:cNvSpPr/>
          <p:nvPr/>
        </p:nvSpPr>
        <p:spPr>
          <a:xfrm>
            <a:off x="320040" y="1143000"/>
            <a:ext cx="8503920" cy="45720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In your notebook, write your claim for one scenario using this exact structure:</a:t>
            </a:r>
            <a:endParaRPr lang="en-US" sz="1300" dirty="0"/>
          </a:p>
        </p:txBody>
      </p:sp>
      <p:sp>
        <p:nvSpPr>
          <p:cNvPr id="8" name="Shape 6"/>
          <p:cNvSpPr/>
          <p:nvPr/>
        </p:nvSpPr>
        <p:spPr>
          <a:xfrm>
            <a:off x="320040" y="1691640"/>
            <a:ext cx="8503920" cy="1633474"/>
          </a:xfrm>
          <a:prstGeom prst="roundRect">
            <a:avLst>
              <a:gd name="adj" fmla="val 4478"/>
            </a:avLst>
          </a:prstGeom>
          <a:solidFill>
            <a:srgbClr val="EEF8F0"/>
          </a:solidFill>
          <a:ln w="19050">
            <a:solidFill>
              <a:srgbClr val="52B788"/>
            </a:solidFill>
            <a:prstDash val="solid"/>
          </a:ln>
        </p:spPr>
      </p:sp>
      <p:sp>
        <p:nvSpPr>
          <p:cNvPr id="9" name="Text 7"/>
          <p:cNvSpPr/>
          <p:nvPr/>
        </p:nvSpPr>
        <p:spPr>
          <a:xfrm>
            <a:off x="502920" y="176479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020824"/>
            <a:ext cx="8138160" cy="1249426"/>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"The best solution for Scenario A/B is __ because __." Use at least one piece of evidence from the lesson or the scenario to support your claim.</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Think further — could both options work together? What might happen if a community used both solutions at the same time?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Like a Scientist</a:t>
            </a:r>
            <a:endParaRPr lang="en-US" sz="2100" dirty="0"/>
          </a:p>
        </p:txBody>
      </p:sp>
      <p:sp>
        <p:nvSpPr>
          <p:cNvPr id="7" name="Shape 5"/>
          <p:cNvSpPr/>
          <p:nvPr/>
        </p:nvSpPr>
        <p:spPr>
          <a:xfrm>
            <a:off x="320040" y="1188720"/>
            <a:ext cx="8503920" cy="1416939"/>
          </a:xfrm>
          <a:prstGeom prst="roundRect">
            <a:avLst>
              <a:gd name="adj" fmla="val 5163"/>
            </a:avLst>
          </a:prstGeom>
          <a:solidFill>
            <a:srgbClr val="EEF8F0"/>
          </a:solidFill>
          <a:ln w="19050">
            <a:solidFill>
              <a:srgbClr val="52B788"/>
            </a:solidFill>
            <a:prstDash val="solid"/>
          </a:ln>
        </p:spPr>
      </p:sp>
      <p:sp>
        <p:nvSpPr>
          <p:cNvPr id="8" name="Text 6"/>
          <p:cNvSpPr/>
          <p:nvPr/>
        </p:nvSpPr>
        <p:spPr>
          <a:xfrm>
            <a:off x="502920" y="12618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517904"/>
            <a:ext cx="8138160" cy="1032891"/>
          </a:xfrm>
          <a:prstGeom prst="rect">
            <a:avLst/>
          </a:prstGeom>
          <a:noFill/>
          <a:ln/>
        </p:spPr>
        <p:txBody>
          <a:bodyPr wrap="square" rtlCol="0" anchor="t"/>
          <a:lstStyle/>
          <a:p>
            <a:pPr marL="342900" indent="-342900">
              <a:lnSpc>
                <a:spcPts val="2015"/>
              </a:lnSpc>
              <a:buSzPct val="100000"/>
              <a:buChar char="●"/>
            </a:pPr>
            <a:r>
              <a:rPr lang="en-US" sz="1300" dirty="0">
                <a:solidFill>
                  <a:srgbClr val="1B4332"/>
                </a:solidFill>
                <a:latin typeface="Calibri" pitchFamily="34" charset="0"/>
                <a:ea typeface="Calibri" pitchFamily="34" charset="-122"/>
                <a:cs typeface="Calibri" pitchFamily="34" charset="-120"/>
              </a:rPr>
              <a:t>Scientists say you can't stop a natural hazard — but you can reduce its impact. What does that mean?</a:t>
            </a:r>
            <a:endParaRPr lang="en-US" sz="1300" dirty="0"/>
          </a:p>
          <a:p>
            <a:pPr marL="342900" indent="-342900">
              <a:lnSpc>
                <a:spcPts val="2015"/>
              </a:lnSpc>
              <a:buSzPct val="100000"/>
              <a:buChar char="●"/>
            </a:pPr>
            <a:r>
              <a:rPr lang="en-US" sz="1300" dirty="0">
                <a:solidFill>
                  <a:srgbClr val="1B4332"/>
                </a:solidFill>
                <a:latin typeface="Calibri" pitchFamily="34" charset="0"/>
                <a:ea typeface="Calibri" pitchFamily="34" charset="-122"/>
                <a:cs typeface="Calibri" pitchFamily="34" charset="-120"/>
              </a:rPr>
              <a:t>How is reducing damage different from stopping the storm?</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Your Thinking</a:t>
            </a:r>
            <a:endParaRPr lang="en-US" sz="2100" dirty="0"/>
          </a:p>
        </p:txBody>
      </p:sp>
      <p:sp>
        <p:nvSpPr>
          <p:cNvPr id="7" name="Shape 5"/>
          <p:cNvSpPr/>
          <p:nvPr/>
        </p:nvSpPr>
        <p:spPr>
          <a:xfrm>
            <a:off x="320040" y="1143000"/>
            <a:ext cx="8503920" cy="1609598"/>
          </a:xfrm>
          <a:prstGeom prst="roundRect">
            <a:avLst>
              <a:gd name="adj" fmla="val 4545"/>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1225550"/>
          </a:xfrm>
          <a:prstGeom prst="rect">
            <a:avLst/>
          </a:prstGeom>
          <a:noFill/>
          <a:ln/>
        </p:spPr>
        <p:txBody>
          <a:bodyPr wrap="square" rtlCol="0" anchor="t"/>
          <a:lstStyle/>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For each scenario, which solution did you choose? Name it along with the hazard.</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What was your strongest piece of evidence? Say your claim sentence again out loud.</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Tell the story of your investigation — what hazards you looked at, which solutions you chose, and what evidence made you decide.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097280"/>
            <a:ext cx="8503920" cy="2205800"/>
          </a:xfrm>
          <a:prstGeom prst="roundRect">
            <a:avLst>
              <a:gd name="adj" fmla="val 3316"/>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821752"/>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What made one solution better than the other in the hurricane scenario? What specific evidence helped you decide?</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Florida has hurricanes almost every year. What does that tell you about how communities need to think about design solutions — permanently, not just when a storm is coming?</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Some solutions protect people but harm ecosystems — like a concrete flood wall blocking fish from moving upstream. Does that change how you'd evaluate it?</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If you could design one new solution to reduce hurricane damage in Florida, what would it be? What problem would it solve?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natural hazard?</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is a natural hazard?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A weather pattern that repeats every year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 powerful natural event that can cause serious harm to people and ecosystems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A storm that only happens near the ocean</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all four hazard types you've studied — hurricanes, floods, wildfires, droughts.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natural hazard?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A hazard is any natural event powerful enough to cause harm, and there are many types beyond just ocean storms.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does Florida face more hurricanes than most states?</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Why does Florida face more hurricanes than most U.S. states?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Because Florida gets more sunshine than other states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Because Florida has more people than other states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Because warm ocean water surrounds Florida on three sides</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where hurricanes form — they need warm ocean water to get started.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does Florida face more hurricanes than most states?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Hurricanes form over warm ocean water, and Florida is surrounded by it on three sides, which is why the state is hit so often.</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is an example of a design solution?</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is an example of a design solution that reduces a weather hazard?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Building a flood barrier along a river to prevent flooding in a nearby neighborhood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Studying rainfall data to learn when droughts will end</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Naming a hurricane after a person</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barriers, shelters, and reinforced buildings — things that are physically built.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Which is an example of a design solution?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A flood barrier is an engineering solution: a physical design that actually reduces the damage a flood can cause.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Match the Hazard</a:t>
            </a:r>
            <a:endParaRPr lang="en-US" sz="2100" dirty="0"/>
          </a:p>
        </p:txBody>
      </p:sp>
      <p:sp>
        <p:nvSpPr>
          <p:cNvPr id="7" name="Text 5"/>
          <p:cNvSpPr/>
          <p:nvPr/>
        </p:nvSpPr>
        <p:spPr>
          <a:xfrm>
            <a:off x="457200" y="1097280"/>
            <a:ext cx="8229600" cy="2377440"/>
          </a:xfrm>
          <a:prstGeom prst="rect">
            <a:avLst/>
          </a:prstGeom>
          <a:noFill/>
          <a:ln/>
        </p:spPr>
        <p:txBody>
          <a:bodyPr wrap="square" rtlCol="0" anchor="t"/>
          <a:lstStyle/>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1. Forms over warm ocean water and has strong rotating winds. What type of hazard is this?</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2. Happens when an area receives almost no rain for a very long time. What is this called?</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3. Spreads fast through dry forests, especially when wind is strong. What type of hazard is this?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97280"/>
            <a:ext cx="8229600" cy="2651760"/>
          </a:xfrm>
          <a:prstGeom prst="rect">
            <a:avLst/>
          </a:prstGeom>
          <a:noFill/>
          <a:ln/>
        </p:spPr>
        <p:txBody>
          <a:bodyPr wrap="square" rtlCol="0" anchor="t"/>
          <a:lstStyle/>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4. What does a meteorologist do, and why is that work important during a hurricane?</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5. Why can't humans stop a natural hazard? What CAN they do instead?</a:t>
            </a:r>
            <a:endParaRPr lang="en-US" sz="1300" dirty="0"/>
          </a:p>
          <a:p>
            <a:pPr indent="0" marL="0">
              <a:lnSpc>
                <a:spcPts val="2600"/>
              </a:lnSpc>
              <a:buNone/>
            </a:pPr>
            <a:r>
              <a:rPr lang="en-US" sz="1300" dirty="0">
                <a:solidFill>
                  <a:srgbClr val="2B1D12"/>
                </a:solidFill>
                <a:latin typeface="Calibri" pitchFamily="34" charset="0"/>
                <a:ea typeface="Calibri" pitchFamily="34" charset="-122"/>
                <a:cs typeface="Calibri" pitchFamily="34" charset="-120"/>
              </a:rPr>
              <a:t>6. Name one engineering solution that reduces weather hazard damage. Explain how it works.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Science Helps Us Prepare</a:t>
            </a:r>
            <a:endParaRPr lang="en-US" sz="2100" dirty="0"/>
          </a:p>
        </p:txBody>
      </p:sp>
      <p:sp>
        <p:nvSpPr>
          <p:cNvPr id="7" name="Text 5"/>
          <p:cNvSpPr/>
          <p:nvPr/>
        </p:nvSpPr>
        <p:spPr>
          <a:xfrm>
            <a:off x="365760" y="1097280"/>
            <a:ext cx="8412480" cy="411480"/>
          </a:xfrm>
          <a:prstGeom prst="rect">
            <a:avLst/>
          </a:prstGeom>
          <a:noFill/>
          <a:ln/>
        </p:spPr>
        <p:txBody>
          <a:bodyPr wrap="square" rtlCol="0" anchor="ctr"/>
          <a:lstStyle/>
          <a:p>
            <a:pPr indent="0" marL="0">
              <a:buNone/>
            </a:pPr>
            <a:r>
              <a:rPr lang="en-US" sz="1300" i="1" dirty="0">
                <a:solidFill>
                  <a:srgbClr val="5A4D3E"/>
                </a:solidFill>
                <a:latin typeface="Calibri" pitchFamily="34" charset="0"/>
                <a:ea typeface="Calibri" pitchFamily="34" charset="-122"/>
                <a:cs typeface="Calibri" pitchFamily="34" charset="-120"/>
              </a:rPr>
              <a:t>How does science help communities prepare for dangerous weather?</a:t>
            </a:r>
            <a:endParaRPr lang="en-US" sz="1300" dirty="0"/>
          </a:p>
        </p:txBody>
      </p:sp>
      <p:sp>
        <p:nvSpPr>
          <p:cNvPr id="8" name="Shape 6"/>
          <p:cNvSpPr/>
          <p:nvPr/>
        </p:nvSpPr>
        <p:spPr>
          <a:xfrm>
            <a:off x="365760" y="1600200"/>
            <a:ext cx="8412480" cy="658368"/>
          </a:xfrm>
          <a:prstGeom prst="roundRect">
            <a:avLst>
              <a:gd name="adj" fmla="val 11111"/>
            </a:avLst>
          </a:prstGeom>
          <a:solidFill>
            <a:srgbClr val="FFF3E0"/>
          </a:solidFill>
          <a:ln w="19050">
            <a:solidFill>
              <a:srgbClr val="F57C00"/>
            </a:solidFill>
            <a:prstDash val="solid"/>
          </a:ln>
        </p:spPr>
      </p:sp>
      <p:sp>
        <p:nvSpPr>
          <p:cNvPr id="9" name="Text 7"/>
          <p:cNvSpPr/>
          <p:nvPr/>
        </p:nvSpPr>
        <p:spPr>
          <a:xfrm>
            <a:off x="548640" y="1655064"/>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do you think?</a:t>
            </a:r>
            <a:endParaRPr lang="en-US" sz="1150" dirty="0"/>
          </a:p>
        </p:txBody>
      </p:sp>
      <p:sp>
        <p:nvSpPr>
          <p:cNvPr id="10" name="Text 8"/>
          <p:cNvSpPr/>
          <p:nvPr/>
        </p:nvSpPr>
        <p:spPr>
          <a:xfrm>
            <a:off x="548640" y="1892808"/>
            <a:ext cx="8046720" cy="329184"/>
          </a:xfrm>
          <a:prstGeom prst="rect">
            <a:avLst/>
          </a:prstGeom>
          <a:noFill/>
          <a:ln/>
        </p:spPr>
        <p:txBody>
          <a:bodyPr wrap="square" rtlCol="0" anchor="ctr"/>
          <a:lstStyle/>
          <a:p>
            <a:pPr indent="0" marL="0">
              <a:buNone/>
            </a:pPr>
            <a:r>
              <a:rPr lang="en-US" sz="1250" i="1" dirty="0">
                <a:solidFill>
                  <a:srgbClr val="2B1D12"/>
                </a:solidFill>
                <a:latin typeface="Calibri" pitchFamily="34" charset="0"/>
                <a:ea typeface="Calibri" pitchFamily="34" charset="-122"/>
                <a:cs typeface="Calibri" pitchFamily="34" charset="-120"/>
              </a:rPr>
              <a:t>"I think science helps communities by…"</a:t>
            </a:r>
            <a:endParaRPr lang="en-US" sz="1250" dirty="0"/>
          </a:p>
        </p:txBody>
      </p:sp>
      <p:sp>
        <p:nvSpPr>
          <p:cNvPr id="11" name="Shape 9"/>
          <p:cNvSpPr/>
          <p:nvPr/>
        </p:nvSpPr>
        <p:spPr>
          <a:xfrm>
            <a:off x="365760" y="2350008"/>
            <a:ext cx="8412480" cy="658368"/>
          </a:xfrm>
          <a:prstGeom prst="roundRect">
            <a:avLst>
              <a:gd name="adj" fmla="val 11111"/>
            </a:avLst>
          </a:prstGeom>
          <a:solidFill>
            <a:srgbClr val="FFF3E0"/>
          </a:solidFill>
          <a:ln w="19050">
            <a:solidFill>
              <a:srgbClr val="F57C00"/>
            </a:solidFill>
            <a:prstDash val="solid"/>
          </a:ln>
        </p:spPr>
      </p:sp>
      <p:sp>
        <p:nvSpPr>
          <p:cNvPr id="12" name="Text 10"/>
          <p:cNvSpPr/>
          <p:nvPr/>
        </p:nvSpPr>
        <p:spPr>
          <a:xfrm>
            <a:off x="548640" y="2404872"/>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did you observe or learn that supports your thinking?</a:t>
            </a:r>
            <a:endParaRPr lang="en-US" sz="1150" dirty="0"/>
          </a:p>
        </p:txBody>
      </p:sp>
      <p:sp>
        <p:nvSpPr>
          <p:cNvPr id="13" name="Text 11"/>
          <p:cNvSpPr/>
          <p:nvPr/>
        </p:nvSpPr>
        <p:spPr>
          <a:xfrm>
            <a:off x="548640" y="2642616"/>
            <a:ext cx="8046720" cy="329184"/>
          </a:xfrm>
          <a:prstGeom prst="rect">
            <a:avLst/>
          </a:prstGeom>
          <a:noFill/>
          <a:ln/>
        </p:spPr>
        <p:txBody>
          <a:bodyPr wrap="square" rtlCol="0" anchor="ctr"/>
          <a:lstStyle/>
          <a:p>
            <a:pPr indent="0" marL="0">
              <a:buNone/>
            </a:pPr>
            <a:r>
              <a:rPr lang="en-US" sz="1250" i="1" dirty="0">
                <a:solidFill>
                  <a:srgbClr val="2B1D12"/>
                </a:solidFill>
                <a:latin typeface="Calibri" pitchFamily="34" charset="0"/>
                <a:ea typeface="Calibri" pitchFamily="34" charset="-122"/>
                <a:cs typeface="Calibri" pitchFamily="34" charset="-120"/>
              </a:rPr>
              <a:t>"I know this because the lesson showed that…"</a:t>
            </a:r>
            <a:endParaRPr lang="en-US" sz="1250" dirty="0"/>
          </a:p>
        </p:txBody>
      </p:sp>
      <p:sp>
        <p:nvSpPr>
          <p:cNvPr id="14" name="Shape 12"/>
          <p:cNvSpPr/>
          <p:nvPr/>
        </p:nvSpPr>
        <p:spPr>
          <a:xfrm>
            <a:off x="365760" y="3099816"/>
            <a:ext cx="8412480" cy="658368"/>
          </a:xfrm>
          <a:prstGeom prst="roundRect">
            <a:avLst>
              <a:gd name="adj" fmla="val 11111"/>
            </a:avLst>
          </a:prstGeom>
          <a:solidFill>
            <a:srgbClr val="FFF3E0"/>
          </a:solidFill>
          <a:ln w="19050">
            <a:solidFill>
              <a:srgbClr val="F57C00"/>
            </a:solidFill>
            <a:prstDash val="solid"/>
          </a:ln>
        </p:spPr>
      </p:sp>
      <p:sp>
        <p:nvSpPr>
          <p:cNvPr id="15" name="Text 13"/>
          <p:cNvSpPr/>
          <p:nvPr/>
        </p:nvSpPr>
        <p:spPr>
          <a:xfrm>
            <a:off x="548640" y="3154680"/>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Why does that make sense?</a:t>
            </a:r>
            <a:endParaRPr lang="en-US" sz="1150" dirty="0"/>
          </a:p>
        </p:txBody>
      </p:sp>
      <p:sp>
        <p:nvSpPr>
          <p:cNvPr id="16" name="Text 14"/>
          <p:cNvSpPr/>
          <p:nvPr/>
        </p:nvSpPr>
        <p:spPr>
          <a:xfrm>
            <a:off x="548640" y="3392424"/>
            <a:ext cx="8046720" cy="329184"/>
          </a:xfrm>
          <a:prstGeom prst="rect">
            <a:avLst/>
          </a:prstGeom>
          <a:noFill/>
          <a:ln/>
        </p:spPr>
        <p:txBody>
          <a:bodyPr wrap="square" rtlCol="0" anchor="ctr"/>
          <a:lstStyle/>
          <a:p>
            <a:pPr indent="0" marL="0">
              <a:buNone/>
            </a:pPr>
            <a:r>
              <a:rPr lang="en-US" sz="1250" i="1" dirty="0">
                <a:solidFill>
                  <a:srgbClr val="2B1D12"/>
                </a:solidFill>
                <a:latin typeface="Calibri" pitchFamily="34" charset="0"/>
                <a:ea typeface="Calibri" pitchFamily="34" charset="-122"/>
                <a:cs typeface="Calibri" pitchFamily="34" charset="-120"/>
              </a:rPr>
              <a:t>"This makes sense because…"</a:t>
            </a:r>
            <a:endParaRPr lang="en-US" sz="1250" dirty="0"/>
          </a:p>
        </p:txBody>
      </p:sp>
      <p:sp>
        <p:nvSpPr>
          <p:cNvPr id="17" name="Text 15"/>
          <p:cNvSpPr/>
          <p:nvPr/>
        </p:nvSpPr>
        <p:spPr>
          <a:xfrm>
            <a:off x="365760" y="3895344"/>
            <a:ext cx="8412480" cy="320040"/>
          </a:xfrm>
          <a:prstGeom prst="rect">
            <a:avLst/>
          </a:prstGeom>
          <a:noFill/>
          <a:ln/>
        </p:spPr>
        <p:txBody>
          <a:bodyPr wrap="square" rtlCol="0" anchor="ctr"/>
          <a:lstStyle/>
          <a:p>
            <a:pPr indent="0" marL="0">
              <a:buNone/>
            </a:pPr>
            <a:r>
              <a:rPr lang="en-US" sz="1150" i="1" dirty="0">
                <a:solidFill>
                  <a:srgbClr val="5A4D3E"/>
                </a:solidFill>
                <a:latin typeface="Calibri" pitchFamily="34" charset="0"/>
                <a:ea typeface="Calibri" pitchFamily="34" charset="-122"/>
                <a:cs typeface="Calibri" pitchFamily="34" charset="-120"/>
              </a:rPr>
              <a:t>Try to use at least one of these words: hazard, meteorologist, design solution</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 REFLECT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Turn It In</a:t>
            </a:r>
            <a:endParaRPr lang="en-US" sz="2100" dirty="0"/>
          </a:p>
        </p:txBody>
      </p:sp>
      <p:sp>
        <p:nvSpPr>
          <p:cNvPr id="7" name="Text 5"/>
          <p:cNvSpPr/>
          <p:nvPr/>
        </p:nvSpPr>
        <p:spPr>
          <a:xfrm>
            <a:off x="320040" y="1005840"/>
            <a:ext cx="8503920" cy="86868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Pick one weather hazard. Draw a scene showing the hazard AND one design solution that helps reduce its damage. Label at least 4 parts. Then reflect: find your Notice &amp; Wonder question from the start of today — did you answer it?</a:t>
            </a:r>
            <a:endParaRPr lang="en-US" sz="1150" dirty="0"/>
          </a:p>
        </p:txBody>
      </p:sp>
      <p:sp>
        <p:nvSpPr>
          <p:cNvPr id="8" name="Shape 6"/>
          <p:cNvSpPr/>
          <p:nvPr/>
        </p:nvSpPr>
        <p:spPr>
          <a:xfrm>
            <a:off x="365760" y="1965960"/>
            <a:ext cx="8412480" cy="1371600"/>
          </a:xfrm>
          <a:prstGeom prst="roundRect">
            <a:avLst>
              <a:gd name="adj" fmla="val 5333"/>
            </a:avLst>
          </a:prstGeom>
          <a:solidFill>
            <a:srgbClr val="FFFFFF"/>
          </a:solidFill>
          <a:ln w="19050">
            <a:solidFill>
              <a:srgbClr val="E8DDD2"/>
            </a:solidFill>
            <a:prstDash val="solid"/>
          </a:ln>
        </p:spPr>
      </p:sp>
      <p:sp>
        <p:nvSpPr>
          <p:cNvPr id="9" name="Text 7"/>
          <p:cNvSpPr/>
          <p:nvPr/>
        </p:nvSpPr>
        <p:spPr>
          <a:xfrm>
            <a:off x="548640" y="205740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331720"/>
            <a:ext cx="8046720" cy="960120"/>
          </a:xfrm>
          <a:prstGeom prst="rect">
            <a:avLst/>
          </a:prstGeom>
          <a:noFill/>
          <a:ln/>
        </p:spPr>
        <p:txBody>
          <a:bodyPr wrap="square" rtlCol="0" anchor="ctr"/>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Hazard/Solution chart, claims, and evidence from the investigation</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Part A and Part B answers (matching and short answer)</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Write &amp; Explain response using all three prompts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Part C drawing with at least 4 labeled parts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500" dirty="0">
                <a:solidFill>
                  <a:srgbClr val="FFCA28"/>
                </a:solidFill>
                <a:latin typeface="Calibri" pitchFamily="34" charset="0"/>
                <a:ea typeface="Calibri" pitchFamily="34" charset="-122"/>
                <a:cs typeface="Calibri" pitchFamily="34" charset="-120"/>
              </a:rPr>
              <a:t>Next lesson: Building a Safer Structure!</a:t>
            </a:r>
            <a:endParaRPr lang="en-US" sz="15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900" dirty="0">
                <a:solidFill>
                  <a:srgbClr val="55C8E8"/>
                </a:solidFill>
                <a:latin typeface="Calibri" pitchFamily="34" charset="0"/>
                <a:ea typeface="Calibri" pitchFamily="34" charset="-122"/>
                <a:cs typeface="Calibri" pitchFamily="34" charset="-120"/>
              </a:rPr>
              <a:t>Optima Academy Online · 3rd Grade Science · Lesson 4.01 · NGSS 3-ESS3-1 · CPALMS SC.3.N.1.7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2026-07-12T02:48:54Z</dcterms:created>
  <dcterms:modified xsi:type="dcterms:W3CDTF">2026-07-12T02:48:54Z</dcterms:modified>
</cp:coreProperties>
</file>