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9144000" cy="5148072"/>
  <p:notesSz cx="5148072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 students become engineers again — this time using magnets from 7.01 to design, build, test, and redesign a working tool.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payoff lesson for the magnets unit — real hands-on design work using yesterday's science.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Readiness map: I Can #1 (force without touching) -&gt; Section 1, magnetic field image, Self-Check Q1. I Can #2 (design/build) -&gt; investigation Define/Plan/Build steps, Assignment Part C. I Can #3 (test/record/improve) -&gt; investigation Test/Redesign steps, Self-Check Q2-3, Write &amp; Explain.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out a shared pile of paper clips and washers for testing at each station.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are no wrong ideas — students are already thinking like engineers, noticing a problem and asking how to solve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 from 7.01: magnet and magnetic force. Engineer is the connecting role for today's hands-on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Prototype, redesign, and criteria ARE today's process: build a prototype, test against criteria, redesign based on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thesis of the whole lesson — give real time to copy.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iron-filings phenomenon from 7.01 — this is the same force your rescue tool will use to pick up metal objects.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 students follow this exact cycle. Each round of testing gives evidence for what to change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Engineers who build cranes for recycling yards use magnets to sort metal from trash — they test different magnet strengths and arm lengths to lift the most material safely.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the class restate this before the Amazing Fact and the hands-on build.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connects directly to the design principle students are using — the same physics, wildly different scale.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Resist the urge to let students skip straight to building — the plan-first step matters for the later redesign comparison.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magnet hanging freely (not pressed flat) is the most common build mistake — check this at each station.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Specificity matters here — vague results like 'a few' make the later redesign comparison meaningless.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REHEARSAL 1 of 2 for today's reasoning frame — one change at a time, tested and compared. This is the exact same structure as the Write &amp; Explain assignment ahead.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Think Like an Engineer question — the core insight is that data (not intuition) tells you what actually mattered.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Talk-only reflection. Have students point to their own 3-trial data table while answering question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 3 is a great real-world extension — recycling, construction, even a 'find the lost screw' household tool.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Direct review of I Can #1 and the whole point of using magnets as a tool material.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back to the iron filings image showing the invisible field.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fair-testing principle applied to engineering redesign.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back to each student's own Trial 1 -&gt; Trial 2 -&gt; Trial 3 process.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closes the loop on why the data table mattered throughout the whole investigation.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specificity — 'a few' vs. an exact count is the difference between data and a vague impression.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should recognize these directly from their own testing materials in the investigation.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Q6 requires students to cite their own specific trial data — not a general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REHEARSAL 2 of 2 — same one-change-and-compare structure as the investigation's Redesign step. Have 1-2 more students rehearse aloud before writing.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Remind students: Type It, Photo It, or Record It on Canvas — a video showing their actual tool in action is a great option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Module 8 — shifting from physical science to life science, studying how plants grow, change, and complete their life cycle.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A2D5A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258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· 3RD GRADE SCIENCE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 Challenge: Magnetic Rescue Tool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C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7.02  ·  Week 7  ·  NGSS 3-PS2-4, 3-5-ETS1-1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7B5EA7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BIG QUESTION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 About This...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8229600" cy="1737360"/>
          </a:xfrm>
          <a:prstGeom prst="roundRect">
            <a:avLst>
              <a:gd name="adj" fmla="val 5263"/>
            </a:avLst>
          </a:prstGeom>
          <a:solidFill>
            <a:srgbClr val="0E1C42"/>
          </a:solidFill>
          <a:ln w="25400">
            <a:solidFill>
              <a:srgbClr val="55C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55448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"How can you use magnetic force to design a tool that picks up metal objects — and how will you make it better after you test it?"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32461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this question in mind. By the end, you'll have an answer — built, tested, and improved by you.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Can Statements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8DDD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353312"/>
            <a:ext cx="411480" cy="411480"/>
          </a:xfrm>
          <a:prstGeom prst="ellipse">
            <a:avLst/>
          </a:prstGeom>
          <a:solidFill>
            <a:srgbClr val="F57C0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35331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1170432"/>
            <a:ext cx="7223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how magnetic force can pull objects without touching them.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121408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8DDD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2377440"/>
            <a:ext cx="411480" cy="411480"/>
          </a:xfrm>
          <a:prstGeom prst="ellipse">
            <a:avLst/>
          </a:prstGeom>
          <a:solidFill>
            <a:srgbClr val="F57C0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377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4440" y="2194560"/>
            <a:ext cx="7223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design and build a tool that uses a magnet to solve a problem.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145536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8DDD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401568"/>
            <a:ext cx="411480" cy="411480"/>
          </a:xfrm>
          <a:prstGeom prst="ellipse">
            <a:avLst/>
          </a:prstGeom>
          <a:solidFill>
            <a:srgbClr val="F57C0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4015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3218688"/>
            <a:ext cx="7223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test my design, record data, and improve it based on what I find.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NEED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Gather Your Materials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548640" y="1097280"/>
            <a:ext cx="80467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8DDD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71016"/>
            <a:ext cx="182880" cy="182880"/>
          </a:xfrm>
          <a:prstGeom prst="ellipse">
            <a:avLst/>
          </a:prstGeom>
          <a:solidFill>
            <a:srgbClr val="0288D1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112471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 notebook &amp; pencil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1737360"/>
            <a:ext cx="80467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8DDD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1911096"/>
            <a:ext cx="182880" cy="182880"/>
          </a:xfrm>
          <a:prstGeom prst="ellipse">
            <a:avLst/>
          </a:prstGeom>
          <a:solidFill>
            <a:srgbClr val="0288D1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176479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 magnets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2377440"/>
            <a:ext cx="80467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8DDD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2551176"/>
            <a:ext cx="182880" cy="182880"/>
          </a:xfrm>
          <a:prstGeom prst="ellipse">
            <a:avLst/>
          </a:prstGeom>
          <a:solidFill>
            <a:srgbClr val="0288D1"/>
          </a:solidFill>
          <a:ln/>
        </p:spPr>
      </p:sp>
      <p:sp>
        <p:nvSpPr>
          <p:cNvPr id="15" name="Text 13"/>
          <p:cNvSpPr/>
          <p:nvPr/>
        </p:nvSpPr>
        <p:spPr>
          <a:xfrm>
            <a:off x="1143000" y="240487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 stick(s), string &amp; tape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017520"/>
            <a:ext cx="80467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8DDD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3191256"/>
            <a:ext cx="182880" cy="182880"/>
          </a:xfrm>
          <a:prstGeom prst="ellipse">
            <a:avLst/>
          </a:prstGeom>
          <a:solidFill>
            <a:srgbClr val="0288D1"/>
          </a:solidFill>
          <a:ln/>
        </p:spPr>
      </p:sp>
      <p:sp>
        <p:nvSpPr>
          <p:cNvPr id="18" name="Text 16"/>
          <p:cNvSpPr/>
          <p:nvPr/>
        </p:nvSpPr>
        <p:spPr>
          <a:xfrm>
            <a:off x="1143000" y="304495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Cardboard scraps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3657600"/>
            <a:ext cx="80467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8DDD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831336"/>
            <a:ext cx="182880" cy="182880"/>
          </a:xfrm>
          <a:prstGeom prst="ellipse">
            <a:avLst/>
          </a:prstGeom>
          <a:solidFill>
            <a:srgbClr val="0288D1"/>
          </a:solidFill>
          <a:ln/>
        </p:spPr>
      </p:sp>
      <p:sp>
        <p:nvSpPr>
          <p:cNvPr id="21" name="Text 19"/>
          <p:cNvSpPr/>
          <p:nvPr/>
        </p:nvSpPr>
        <p:spPr>
          <a:xfrm>
            <a:off x="1143000" y="368503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clips &amp; washers (to test picking up)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 You Already Know About Magnets?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20040" y="114300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built something using a craft stick, string, and a magnet. Look carefully before you read anything else.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20040" y="1828800"/>
            <a:ext cx="8503920" cy="902970"/>
          </a:xfrm>
          <a:prstGeom prst="roundRect">
            <a:avLst>
              <a:gd name="adj" fmla="val 8101"/>
            </a:avLst>
          </a:prstGeom>
          <a:solidFill>
            <a:srgbClr val="FFF9E8"/>
          </a:solidFill>
          <a:ln w="19050">
            <a:solidFill>
              <a:srgbClr val="F9A82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901952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NOTICE? WHAT DO YOU WONDER?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2121408"/>
            <a:ext cx="8138160" cy="5554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notice? Write 3 things. Then write 1 question: what do you wonder about how this tool works?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0288D1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VOCABULARY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Force and Who Uses It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0288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28016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8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magnet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017520" y="128016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object that creates a pulling or pushing force on certain metals, like iron and steel.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233172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0288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42316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8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magnetic force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017520" y="242316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invisible push or pull between a magnet and a magnetic material — no touching needed.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347472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0288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56616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8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017520" y="356616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who designs, builds, and tests tools or systems to solve real problems.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VOCABULARY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Design Cycle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2D6A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28016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prototype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834640" y="1280160"/>
            <a:ext cx="5669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first working model of a design, built to test and improve before a final version.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33172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2D6A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42316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redesign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834640" y="2423160"/>
            <a:ext cx="5669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change or improve a design based on what you learned from testing it.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47472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2D6A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56616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criteria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834640" y="3566160"/>
            <a:ext cx="5669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requirements a design must meet to be considered successful — "how many objects can it pick up?"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THIS DOWN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Notebook Entry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20040" y="1280160"/>
            <a:ext cx="8503920" cy="1280160"/>
          </a:xfrm>
          <a:prstGeom prst="roundRect">
            <a:avLst>
              <a:gd name="adj" fmla="val 5714"/>
            </a:avLst>
          </a:prstGeom>
          <a:solidFill>
            <a:srgbClr val="F0F8E8"/>
          </a:solidFill>
          <a:ln w="19050">
            <a:solidFill>
              <a:srgbClr val="C8E0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53312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8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CAREFULLY INTO YOUR SCIENCE NOTEBOOK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572768"/>
            <a:ext cx="813816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"Engineers test their prototypes, collect data, and redesign to find the best solution."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0288D1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· PHOTO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Magnetic Force Works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magnet creates a magnetic force around it that can pull certain metal objects toward it without any contact. Not all metals are magnetic — paper clips and washers work, but aluminum foil does not.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8229600" cy="1508760"/>
          </a:xfrm>
          <a:prstGeom prst="roundRect">
            <a:avLst>
              <a:gd name="adj" fmla="val 4848"/>
            </a:avLst>
          </a:prstGeom>
          <a:solidFill>
            <a:srgbClr val="FFF3E0"/>
          </a:solidFill>
          <a:ln w="25400">
            <a:solidFill>
              <a:srgbClr val="F9A825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640080" y="210312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NEEDED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377440"/>
            <a:ext cx="7863840" cy="795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Close-up photograph of iron filings arranged around a red and silver bar magnet resting on a dark slate or wooden surface. The iron filings form clear, curved arc-shaped lines radiating outward from both magnetic poles, making the invisible magnetic field dramatically visible. Warm directional natural lighting from the side. Shallow depth of field. Macro or close-up photography style. Real-world science photograph, no white background, no borders, no text overlays.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227832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A8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as: images/7-02-magnetic-field.png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Engineering Design Process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20040" y="1097280"/>
            <a:ext cx="8503920" cy="902970"/>
          </a:xfrm>
          <a:prstGeom prst="roundRect">
            <a:avLst>
              <a:gd name="adj" fmla="val 8101"/>
            </a:avLst>
          </a:prstGeom>
          <a:solidFill>
            <a:srgbClr val="FFF9E8"/>
          </a:solidFill>
          <a:ln w="19050">
            <a:solidFill>
              <a:srgbClr val="F9A82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70432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NOTICE? WHAT DO YOU WONDER?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1389888"/>
            <a:ext cx="8138160" cy="5554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magnet can pull objects without touching them, what determines how many objects it can pick up at once?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" y="205740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don't just build — they follow a process: start with a problem, plan a solution, build and test it, then redesign based on what the data shows.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0E1C42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834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 →  PLAN  →  BUILD  →  TEST  →  IMPROVE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7B5EA7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· PHOTO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Testing Matters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prototype is never meant to be perfect — it's meant to teach you something. When you test it and record data, you find exactly where it fails, and that tells you what to fix.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8229600" cy="1737360"/>
          </a:xfrm>
          <a:prstGeom prst="roundRect">
            <a:avLst>
              <a:gd name="adj" fmla="val 4211"/>
            </a:avLst>
          </a:prstGeom>
          <a:solidFill>
            <a:srgbClr val="FFF3E0"/>
          </a:solidFill>
          <a:ln w="25400">
            <a:solidFill>
              <a:srgbClr val="F9A825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640080" y="205740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NEEDED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331720"/>
            <a:ext cx="786384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Photograph of a real industrial electromagnet crane at an outdoor scrapyard or metal recycling facility. The crane's large circular electromagnet visible suspended from a boom arm, with scrap metal — twisted steel, car parts, iron pieces — lifted or hanging below. Big chaotic pile of metal scraps below. Overcast or bright outdoor daylight. Wide shot showing full scale. No white background, no text overlays. Gritty real-world industrial photography.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410712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A8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as: images/7-02-scrapyard-crane.png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Say It Before We Show It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20040" y="1280160"/>
            <a:ext cx="8503920" cy="1508760"/>
          </a:xfrm>
          <a:prstGeom prst="roundRect">
            <a:avLst>
              <a:gd name="adj" fmla="val 4848"/>
            </a:avLst>
          </a:prstGeom>
          <a:solidFill>
            <a:srgbClr val="F0F8E8"/>
          </a:solidFill>
          <a:ln w="19050">
            <a:solidFill>
              <a:srgbClr val="C8E0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53312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8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572768"/>
            <a:ext cx="8138160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Magnetic force acts at a distance. A magnet can pull on certain metal objects without touching them. Engineers use this property to design tools that pick up, sort, or hold metal objects. Testing a prototype and collecting data is how engineers decide what to improve.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AMAZING ENGINEERING FACT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Electromagnets That Lift Cars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457200" y="11430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Scrapyard cranes use electromagnets powerful enough to lift entire cars. When the power switches off, the metal just drops. Engineers use the same magnetic-force idea you're exploring today — just at a much bigger scale.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320040" y="2697480"/>
            <a:ext cx="8503920" cy="1086485"/>
          </a:xfrm>
          <a:prstGeom prst="roundRect">
            <a:avLst>
              <a:gd name="adj" fmla="val 6733"/>
            </a:avLst>
          </a:prstGeom>
          <a:solidFill>
            <a:srgbClr val="EEF8F0"/>
          </a:solidFill>
          <a:ln w="19050">
            <a:solidFill>
              <a:srgbClr val="52B7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770632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SCIENTIST TALK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3026664"/>
            <a:ext cx="8138160" cy="7024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938"/>
              </a:lnSpc>
              <a:buSzPct val="100000"/>
              <a:buChar char="●"/>
            </a:pPr>
            <a:r>
              <a:rPr lang="en-US" sz="12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you think an electromagnet crane can just switch off to drop a car instead of needing to 'unstick' it somehow?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CHALLENGE · 25 MIN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Define the Problem, Then Plan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20040" y="1097280"/>
            <a:ext cx="8503920" cy="685800"/>
          </a:xfrm>
          <a:prstGeom prst="roundRect">
            <a:avLst>
              <a:gd name="adj" fmla="val 10667"/>
            </a:avLst>
          </a:prstGeom>
          <a:solidFill>
            <a:srgbClr val="FFF3E0"/>
          </a:solidFill>
          <a:ln w="19050">
            <a:solidFill>
              <a:srgbClr val="F57C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5214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1316736"/>
            <a:ext cx="8138160" cy="42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Problem: what does your tool need to do? What counts as success? Write one sentence starting: "My tool should be able to…"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" y="1920240"/>
            <a:ext cx="85039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Your Design: draw your tool and label the parts. Mark where the magnet goes, how the string is attached, and how you'll hold it. Use the available materials — don't build yet.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CHALLENGE, STEP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Your Prototype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20040" y="118872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 your tool as close to your plan as you can. Tape securely — the magnet needs to hang freely at the end, not be pressed against the stick.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20040" y="2057400"/>
            <a:ext cx="8503920" cy="548640"/>
          </a:xfrm>
          <a:prstGeom prst="roundRect">
            <a:avLst>
              <a:gd name="adj" fmla="val 13333"/>
            </a:avLst>
          </a:prstGeom>
          <a:solidFill>
            <a:srgbClr val="FFF3E0"/>
          </a:solidFill>
          <a:ln w="19050">
            <a:solidFill>
              <a:srgbClr val="F57C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11226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2276856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 your first version doesn't have to be perfect. That's what testing is for.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0288D1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CHALLENGE, STEP 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Your Tool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20040" y="1188720"/>
            <a:ext cx="8503920" cy="1086485"/>
          </a:xfrm>
          <a:prstGeom prst="roundRect">
            <a:avLst>
              <a:gd name="adj" fmla="val 6733"/>
            </a:avLst>
          </a:prstGeom>
          <a:solidFill>
            <a:srgbClr val="EEF8F0"/>
          </a:solidFill>
          <a:ln w="19050">
            <a:solidFill>
              <a:srgbClr val="52B7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61872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SCIENTIST TALK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1517904"/>
            <a:ext cx="8138160" cy="7024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938"/>
              </a:lnSpc>
              <a:buSzPct val="100000"/>
              <a:buChar char="●"/>
            </a:pPr>
            <a:r>
              <a:rPr lang="en-US" sz="12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the magnet over a pile of paper clips and washers. Count exactly how many of each you picked up. Write the numbers under "Trial 1." Be specific — "3 paper clips, 2 washers" is better than "a few."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7B5EA7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CHALLENGE, STEP 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Redesign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20040" y="1188720"/>
            <a:ext cx="8503920" cy="1086485"/>
          </a:xfrm>
          <a:prstGeom prst="roundRect">
            <a:avLst>
              <a:gd name="adj" fmla="val 6733"/>
            </a:avLst>
          </a:prstGeom>
          <a:solidFill>
            <a:srgbClr val="EEF8F0"/>
          </a:solidFill>
          <a:ln w="19050">
            <a:solidFill>
              <a:srgbClr val="52B7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61872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SCIENTIST TALK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1517904"/>
            <a:ext cx="8138160" cy="7024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938"/>
              </a:lnSpc>
              <a:buSzPct val="100000"/>
              <a:buChar char="●"/>
            </a:pPr>
            <a:r>
              <a:rPr lang="en-US" sz="12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your Trial 1 data. What's one thing you could change to pick up more objects? Make that single change and record it in your 'design changes' column. Then test again and record Trial 2.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CHALLENGE, STEP 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More Improvement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20040" y="114300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 second design change for Trial 3. After all three trials, circle your best result. What made it work better than the others?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920240"/>
            <a:ext cx="8503920" cy="1086485"/>
          </a:xfrm>
          <a:prstGeom prst="roundRect">
            <a:avLst>
              <a:gd name="adj" fmla="val 6733"/>
            </a:avLst>
          </a:prstGeom>
          <a:solidFill>
            <a:srgbClr val="EEF8F0"/>
          </a:solidFill>
          <a:ln w="19050">
            <a:solidFill>
              <a:srgbClr val="52B7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993392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SCIENTIST TALK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2249424"/>
            <a:ext cx="8138160" cy="7024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938"/>
              </a:lnSpc>
              <a:buSzPct val="100000"/>
              <a:buChar char="●"/>
            </a:pPr>
            <a:r>
              <a:rPr lang="en-US" sz="12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made a change to your design, what did your data actually show? Did the result go up, down, or stay the same — and what does that tell you about what matters?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 Your Thinking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20040" y="1097280"/>
            <a:ext cx="8503920" cy="1786763"/>
          </a:xfrm>
          <a:prstGeom prst="roundRect">
            <a:avLst>
              <a:gd name="adj" fmla="val 4094"/>
            </a:avLst>
          </a:prstGeom>
          <a:solidFill>
            <a:srgbClr val="EEF8F0"/>
          </a:solidFill>
          <a:ln w="19050">
            <a:solidFill>
              <a:srgbClr val="52B7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70432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SCIENTIST TALK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1426464"/>
            <a:ext cx="8138160" cy="140271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705"/>
              </a:lnSpc>
              <a:buSzPct val="100000"/>
              <a:buChar char="●"/>
            </a:pPr>
            <a:r>
              <a:rPr lang="en-US" sz="11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trial collected the most objects? What was different about that design?</a:t>
            </a:r>
            <a:endParaRPr lang="en-US" sz="1100" dirty="0"/>
          </a:p>
          <a:p>
            <a:pPr marL="342900" indent="-342900">
              <a:lnSpc>
                <a:spcPts val="1705"/>
              </a:lnSpc>
              <a:buSzPct val="100000"/>
              <a:buChar char="●"/>
            </a:pPr>
            <a:r>
              <a:rPr lang="en-US" sz="11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pattern do you notice across your three trials? Did results generally get better, worse, or stay about the same?</a:t>
            </a:r>
            <a:endParaRPr lang="en-US" sz="1100" dirty="0"/>
          </a:p>
          <a:p>
            <a:pPr marL="342900" indent="-342900">
              <a:lnSpc>
                <a:spcPts val="1705"/>
              </a:lnSpc>
              <a:buSzPct val="100000"/>
              <a:buChar char="●"/>
            </a:pPr>
            <a:r>
              <a:rPr lang="en-US" sz="11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the story of your engineering challenge — what you built first, what you changed, and what the data showed you.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 It Through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20040" y="1097280"/>
            <a:ext cx="8503920" cy="1792415"/>
          </a:xfrm>
          <a:prstGeom prst="roundRect">
            <a:avLst>
              <a:gd name="adj" fmla="val 4081"/>
            </a:avLst>
          </a:prstGeom>
          <a:solidFill>
            <a:srgbClr val="EEF8F0"/>
          </a:solidFill>
          <a:ln w="19050">
            <a:solidFill>
              <a:srgbClr val="52B7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70432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SCIENTIST TALK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1426464"/>
            <a:ext cx="8138160" cy="140836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628"/>
              </a:lnSpc>
              <a:buSzPct val="100000"/>
              <a:buChar char="●"/>
            </a:pPr>
            <a:r>
              <a:rPr lang="en-US" sz="10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design change made the biggest difference in your results — and why do you think that is?</a:t>
            </a:r>
            <a:endParaRPr lang="en-US" sz="1050" dirty="0"/>
          </a:p>
          <a:p>
            <a:pPr marL="342900" indent="-342900">
              <a:lnSpc>
                <a:spcPts val="1628"/>
              </a:lnSpc>
              <a:buSzPct val="100000"/>
              <a:buChar char="●"/>
            </a:pPr>
            <a:r>
              <a:rPr lang="en-US" sz="10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did counting and recording your results help you decide what to change? What would have been harder without the data?</a:t>
            </a:r>
            <a:endParaRPr lang="en-US" sz="1050" dirty="0"/>
          </a:p>
          <a:p>
            <a:pPr marL="342900" indent="-342900">
              <a:lnSpc>
                <a:spcPts val="1628"/>
              </a:lnSpc>
              <a:buSzPct val="100000"/>
              <a:buChar char="●"/>
            </a:pPr>
            <a:r>
              <a:rPr lang="en-US" sz="10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one real-world job where a magnetic tool like this could be useful. What problem would it solve?</a:t>
            </a:r>
            <a:endParaRPr lang="en-US" sz="1050" dirty="0"/>
          </a:p>
          <a:p>
            <a:pPr marL="342900" indent="-342900">
              <a:lnSpc>
                <a:spcPts val="1628"/>
              </a:lnSpc>
              <a:buSzPct val="100000"/>
              <a:buChar char="●"/>
            </a:pPr>
            <a:r>
              <a:rPr lang="en-US" sz="10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had a fourth trial, what change would you try? What evidence from your data makes you think that would help?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SELF-CHECK 1 OF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causes paper clips to jump toward a magnet?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20040" y="1005840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hold a magnet near a pile of paper clips. The clips jump toward the magnet without being touched. What is causing this?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Gravity pulling the clips upward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Magnetic force acting at a distance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Friction between the clips and the table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0040" y="1920240"/>
            <a:ext cx="8503920" cy="902970"/>
          </a:xfrm>
          <a:prstGeom prst="roundRect">
            <a:avLst>
              <a:gd name="adj" fmla="val 8101"/>
            </a:avLst>
          </a:prstGeom>
          <a:solidFill>
            <a:srgbClr val="FFF9E8"/>
          </a:solidFill>
          <a:ln w="19050">
            <a:solidFill>
              <a:srgbClr val="F9A82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993392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NOTICE? WHAT DO YOU WONDER?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2212848"/>
            <a:ext cx="8138160" cy="5554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notice in this scenario that helps you decide? What do you wonder about before you answer?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2960370"/>
            <a:ext cx="8503920" cy="502920"/>
          </a:xfrm>
          <a:prstGeom prst="roundRect">
            <a:avLst>
              <a:gd name="adj" fmla="val 14545"/>
            </a:avLst>
          </a:prstGeom>
          <a:solidFill>
            <a:srgbClr val="FFF3E0"/>
          </a:solidFill>
          <a:ln w="19050">
            <a:solidFill>
              <a:srgbClr val="F57C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01523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3179826"/>
            <a:ext cx="813816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 magnet and the paper clip need to be touching for the clip to move?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SELF-CHECK 1 OF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causes paper clips to jump toward a magnet? — Answer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20040" y="1005840"/>
            <a:ext cx="8503920" cy="822960"/>
          </a:xfrm>
          <a:prstGeom prst="roundRect">
            <a:avLst>
              <a:gd name="adj" fmla="val 8889"/>
            </a:avLst>
          </a:prstGeom>
          <a:solidFill>
            <a:srgbClr val="EEF8F0"/>
          </a:solidFill>
          <a:ln w="25400">
            <a:solidFill>
              <a:srgbClr val="52B7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4300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Correct: B — Magnetic force works even when the magnet and the object aren't touching. That's what makes it so useful for engineering tools.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SELF-CHECK 2 OF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tool only picks up 2 paper clips — what next?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20040" y="1005840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test your magnetic rescue tool and it only picks up 2 paper clips. What should you do next?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Start over with a completely new design from scratch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Keep testing with the same design — never change anything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Make one change, test again, and compare the results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0040" y="1920240"/>
            <a:ext cx="8503920" cy="902970"/>
          </a:xfrm>
          <a:prstGeom prst="roundRect">
            <a:avLst>
              <a:gd name="adj" fmla="val 8101"/>
            </a:avLst>
          </a:prstGeom>
          <a:solidFill>
            <a:srgbClr val="FFF9E8"/>
          </a:solidFill>
          <a:ln w="19050">
            <a:solidFill>
              <a:srgbClr val="F9A82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993392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NOTICE? WHAT DO YOU WONDER?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2212848"/>
            <a:ext cx="8138160" cy="5554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notice in this scenario that helps you decide? What do you wonder about before you answer?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2960370"/>
            <a:ext cx="8503920" cy="502920"/>
          </a:xfrm>
          <a:prstGeom prst="roundRect">
            <a:avLst>
              <a:gd name="adj" fmla="val 14545"/>
            </a:avLst>
          </a:prstGeom>
          <a:solidFill>
            <a:srgbClr val="FFF3E0"/>
          </a:solidFill>
          <a:ln w="19050">
            <a:solidFill>
              <a:srgbClr val="F57C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01523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3179826"/>
            <a:ext cx="813816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don't scrap everything or refuse to change anything. What do they actually do?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SELF-CHECK 2 OF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tool only picks up 2 paper clips — what next? — Answer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20040" y="1005840"/>
            <a:ext cx="8503920" cy="822960"/>
          </a:xfrm>
          <a:prstGeom prst="roundRect">
            <a:avLst>
              <a:gd name="adj" fmla="val 8889"/>
            </a:avLst>
          </a:prstGeom>
          <a:solidFill>
            <a:srgbClr val="EEF8F0"/>
          </a:solidFill>
          <a:ln w="25400">
            <a:solidFill>
              <a:srgbClr val="52B7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4300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Correct: C — Changing one thing at a time gives you clear evidence of what's actually making the difference.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SELF-CHECK 3 OF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is recording data important?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20040" y="1005840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keeps a data table recording how many objects her tool picks up in each trial. Why is recording data important?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It shows which design changes actually made a difference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It makes the project take longer so you learn more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It is just a rule — it doesn't really help the design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0040" y="1920240"/>
            <a:ext cx="8503920" cy="902970"/>
          </a:xfrm>
          <a:prstGeom prst="roundRect">
            <a:avLst>
              <a:gd name="adj" fmla="val 8101"/>
            </a:avLst>
          </a:prstGeom>
          <a:solidFill>
            <a:srgbClr val="FFF9E8"/>
          </a:solidFill>
          <a:ln w="19050">
            <a:solidFill>
              <a:srgbClr val="F9A82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993392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NOTICE? WHAT DO YOU WONDER?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2212848"/>
            <a:ext cx="8138160" cy="5554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notice in this scenario that helps you decide? What do you wonder about before you answer?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2960370"/>
            <a:ext cx="8503920" cy="502920"/>
          </a:xfrm>
          <a:prstGeom prst="roundRect">
            <a:avLst>
              <a:gd name="adj" fmla="val 14545"/>
            </a:avLst>
          </a:prstGeom>
          <a:solidFill>
            <a:srgbClr val="FFF3E0"/>
          </a:solidFill>
          <a:ln w="19050">
            <a:solidFill>
              <a:srgbClr val="F57C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01523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3179826"/>
            <a:ext cx="813816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have been harder without the numbers from each trial?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SELF-CHECK 3 OF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is recording data important? — Answer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20040" y="1005840"/>
            <a:ext cx="8503920" cy="822960"/>
          </a:xfrm>
          <a:prstGeom prst="roundRect">
            <a:avLst>
              <a:gd name="adj" fmla="val 8889"/>
            </a:avLst>
          </a:prstGeom>
          <a:solidFill>
            <a:srgbClr val="EEF8F0"/>
          </a:solidFill>
          <a:ln w="25400">
            <a:solidFill>
              <a:srgbClr val="52B7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4300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Correct: A — Without data, you're just guessing. With numbers from each trial, you can see exactly which change improved the result — and which didn't.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· PART 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Sort the Materials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82296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130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Paper clip — Magnetic or Not Magnetic?</a:t>
            </a:r>
            <a:endParaRPr lang="en-US" sz="13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30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Aluminum foil — Magnetic or Not Magnetic?</a:t>
            </a:r>
            <a:endParaRPr lang="en-US" sz="13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30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Steel washer — Magnetic or Not Magnetic?</a:t>
            </a:r>
            <a:endParaRPr lang="en-US" sz="13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30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Plastic bottle cap — Magnetic or Not Magnetic?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0288D1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· PART B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Short Answer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82296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25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Explain how magnetic force made your rescue tool work. Why didn't the magnet need to touch the paper clips?</a:t>
            </a:r>
            <a:endParaRPr lang="en-US" sz="125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25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Describe one change you made between trials. What did your data show after that change? Did it help?</a:t>
            </a:r>
            <a:endParaRPr lang="en-US" sz="125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25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Why is it important to change only one thing at a time when you redesign and test again?</a:t>
            </a:r>
            <a:endParaRPr lang="en-US" sz="12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· WRITE &amp; EXPLAIN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Force and Design Working Together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65760" y="10515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tool changed between Trial 1 and your best trial. What did you observe, and what does that tell you about how magnetic force and design choices work together?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1691640"/>
            <a:ext cx="8412480" cy="621792"/>
          </a:xfrm>
          <a:prstGeom prst="roundRect">
            <a:avLst>
              <a:gd name="adj" fmla="val 11765"/>
            </a:avLst>
          </a:prstGeom>
          <a:solidFill>
            <a:srgbClr val="FFF3E0"/>
          </a:solidFill>
          <a:ln w="19050">
            <a:solidFill>
              <a:srgbClr val="F57C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737360"/>
            <a:ext cx="8046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you observe?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1965960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"When I tested my tool, I noticed that…"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" y="2404872"/>
            <a:ext cx="8412480" cy="621792"/>
          </a:xfrm>
          <a:prstGeom prst="roundRect">
            <a:avLst>
              <a:gd name="adj" fmla="val 11765"/>
            </a:avLst>
          </a:prstGeom>
          <a:solidFill>
            <a:srgbClr val="FFF3E0"/>
          </a:solidFill>
          <a:ln w="19050">
            <a:solidFill>
              <a:srgbClr val="F57C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450592"/>
            <a:ext cx="8046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that tell you?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2679192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shows me that magnetic force…"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3118104"/>
            <a:ext cx="8412480" cy="621792"/>
          </a:xfrm>
          <a:prstGeom prst="roundRect">
            <a:avLst>
              <a:gd name="adj" fmla="val 11765"/>
            </a:avLst>
          </a:prstGeom>
          <a:solidFill>
            <a:srgbClr val="FFF3E0"/>
          </a:solidFill>
          <a:ln w="19050">
            <a:solidFill>
              <a:srgbClr val="F57C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163824"/>
            <a:ext cx="8046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that make sense?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392424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makes sense because engineers…"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65760" y="3877056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to use at least one of these words: magnetic force, prototype, redesign, criteria</a:t>
            </a:r>
            <a:endParaRPr lang="en-US" sz="10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7B5EA7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· PART C + REFLECT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Draw &amp; Label + Turn It In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20040" y="960120"/>
            <a:ext cx="85039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your best prototype design. Label at least 5 parts: handle, magnet, string/connector, attachment point, and one thing you changed from your first design. Add an arrow showing where the magnetic force acts. Reflect: can you now answer your Notice &amp; Wonder question?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1920240"/>
            <a:ext cx="84124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E8DD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01168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SURE YOUR SUBMISSION INCLUDES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2286000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500"/>
              </a:lnSpc>
              <a:buSzPct val="100000"/>
              <a:buChar char="✓"/>
            </a:pPr>
            <a:r>
              <a:rPr lang="en-US" sz="105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data table showing all 3 trials — objects collected and design changes</a:t>
            </a:r>
            <a:endParaRPr lang="en-US" sz="1050" dirty="0"/>
          </a:p>
          <a:p>
            <a:pPr marL="342900" indent="-342900">
              <a:lnSpc>
                <a:spcPts val="1500"/>
              </a:lnSpc>
              <a:buSzPct val="100000"/>
              <a:buChar char="✓"/>
            </a:pPr>
            <a:r>
              <a:rPr lang="en-US" sz="105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Part A (sorting) and Part B (short answer) answers</a:t>
            </a:r>
            <a:endParaRPr lang="en-US" sz="1050" dirty="0"/>
          </a:p>
          <a:p>
            <a:pPr marL="342900" indent="-342900">
              <a:lnSpc>
                <a:spcPts val="1500"/>
              </a:lnSpc>
              <a:buSzPct val="100000"/>
              <a:buChar char="✓"/>
            </a:pPr>
            <a:r>
              <a:rPr lang="en-US" sz="105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Write &amp; Explain response using lesson vocabulary</a:t>
            </a:r>
            <a:endParaRPr lang="en-US" sz="1050" dirty="0"/>
          </a:p>
          <a:p>
            <a:pPr marL="342900" indent="-342900">
              <a:lnSpc>
                <a:spcPts val="1500"/>
              </a:lnSpc>
              <a:buSzPct val="100000"/>
              <a:buChar char="✓"/>
            </a:pPr>
            <a:r>
              <a:rPr lang="en-US" sz="105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Part C drawing of my best prototype with at least 5 labels and a force arrow</a:t>
            </a:r>
            <a:endParaRPr lang="en-US" sz="10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A2D5A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Great Engineering, Scientist!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2514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C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up: plant life cycles — Module 8!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· 3rd Grade Science · Lesson 7.02 · NGSS 3-PS2-4, 3-5-ETS1-1, 3-5-ETS1-2 · CPALMS SC.3.N.1.1, SC.3.N.1.3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2026-07-12T13:34:36Z</dcterms:created>
  <dcterms:modified xsi:type="dcterms:W3CDTF">2026-07-12T13:34:36Z</dcterms:modified>
</cp:coreProperties>
</file>