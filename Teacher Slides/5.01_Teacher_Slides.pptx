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unit! From weather and hazards into forces and motion. Frame today as: forces are everywhere, we just don't usually think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think of a push or pull they've done today before reading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(forces affect motion) -&gt; Section 1, Self-Check Q1, Assignment Part B Q4. I Can #2 (balanced/unbalanced) -&gt; Section 2, seesaw image, Self-Check Q2, Assignment Part A + Part C. I Can #3 (design/test) -&gt; the push/pull investigation itself (testing forces on a real object) and the 'Think Like an Engineer' question. Write &amp; Explain frame rehearsed via the investigation's 'Compare to your prediction' step and again on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small rolling or sliding object works — toy car, ball, or eraser are all fine substitutes.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sitting still involves forces (gravity balanced by the chair pushing back). We'll come back to these observations at the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is the umbrella word for the whole unit — speed and direction are the two things a force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Balanced vs. unbalanced is the central distinction of the whole lesson — spend extra time on this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real time to copy. This sentence is the thesis of the entire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 never changes — only the force does. This is a key misconception to catch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size, same weight, perfectly balanced — neither side goes down because the forces are equal and opposite.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directly to the soccer-kick example used again later in Assignment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restate this in their own words before the Amazing Fact and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concrete comparison (school bus length) makes 80 mph tangible for 3rd graders.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object, a flat surface, and a ruler — that's all students need. Have them write their prediction BEFORE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one gentle push and one strong push on the board/table before releasing students to test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1 of 2 for today's reasoning frame — this data-to-explanation sentence is the same shape as the Write &amp; Explain assignment ahead. Have 2-3 students share their sentence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asks students to compare two variables using their own evidence — a nice informal introduction to variable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Talk-only reflection. Have students point to their own data table while answering the pattern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connects directly back to the soccer-kick example that reappears in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Foundational vocabulary check — give think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'push or pull' as the two-word definition students should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callback to the seesaw and tug-of-war examples from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clearest possible example of balanced forces — keep coming back to it if students struggle.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exactly what students should have found in their own investigation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each student's own gentle-vs-strong measurements from the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scenario here has a direct parallel from the lesson: the leash mirrors tug-of-war, the box mirrors the seesaw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 requires students to look at the photo and identify both the kicking force and the slowing force (friction/air resistance) — connects to the 'Curious? Go Deeper' friction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2 of 2 — same reasoning structure as the investigation's 'Compare to your prediction' step, now applied to a new push/pull scenario. Have 1-2 more students rehearse aloud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Type It, Photo It, or Record It on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5.02 — students will experiment with ramps and balls to see how force strength changes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25880"/>
            <a:ext cx="8229600" cy="292608"/>
          </a:xfrm>
          <a:prstGeom prst="rect">
            <a:avLst/>
          </a:prstGeom>
          <a:noFill/>
          <a:ln/>
        </p:spPr>
        <p:txBody>
          <a:bodyPr wrap="square"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3RD GRADE SCIENCE</a:t>
            </a:r>
            <a:endParaRPr lang="en-US" sz="1300" dirty="0"/>
          </a:p>
        </p:txBody>
      </p:sp>
      <p:sp>
        <p:nvSpPr>
          <p:cNvPr id="5" name="Text 3"/>
          <p:cNvSpPr/>
          <p:nvPr/>
        </p:nvSpPr>
        <p:spPr>
          <a:xfrm>
            <a:off x="457200" y="1737360"/>
            <a:ext cx="8229600" cy="9144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How Do Forces Change Motion?</a:t>
            </a:r>
            <a:endParaRPr lang="en-US" sz="3000" dirty="0"/>
          </a:p>
        </p:txBody>
      </p:sp>
      <p:sp>
        <p:nvSpPr>
          <p:cNvPr id="6" name="Text 4"/>
          <p:cNvSpPr/>
          <p:nvPr/>
        </p:nvSpPr>
        <p:spPr>
          <a:xfrm>
            <a:off x="457200" y="2697480"/>
            <a:ext cx="8229600" cy="365760"/>
          </a:xfrm>
          <a:prstGeom prst="rect">
            <a:avLst/>
          </a:prstGeom>
          <a:noFill/>
          <a:ln/>
        </p:spPr>
        <p:txBody>
          <a:bodyPr wrap="square" rtlCol="0" anchor="ctr"/>
          <a:lstStyle/>
          <a:p>
            <a:pPr algn="ctr" indent="0" marL="0">
              <a:buNone/>
            </a:pPr>
            <a:r>
              <a:rPr lang="en-US" sz="1400" dirty="0">
                <a:solidFill>
                  <a:srgbClr val="FFCA28"/>
                </a:solidFill>
                <a:latin typeface="Calibri" pitchFamily="34" charset="0"/>
                <a:ea typeface="Calibri" pitchFamily="34" charset="-122"/>
                <a:cs typeface="Calibri" pitchFamily="34" charset="-120"/>
              </a:rPr>
              <a:t>Lesson 5.01  ·  Week 5  ·  NGSS 3-PS2-1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Do Forces Change Motion?</a:t>
            </a:r>
            <a:endParaRPr lang="en-US" sz="2100" dirty="0"/>
          </a:p>
        </p:txBody>
      </p:sp>
      <p:sp>
        <p:nvSpPr>
          <p:cNvPr id="7" name="Shape 5"/>
          <p:cNvSpPr/>
          <p:nvPr/>
        </p:nvSpPr>
        <p:spPr>
          <a:xfrm>
            <a:off x="548640" y="1463040"/>
            <a:ext cx="8046720" cy="1463040"/>
          </a:xfrm>
          <a:prstGeom prst="roundRect">
            <a:avLst>
              <a:gd name="adj" fmla="val 6250"/>
            </a:avLst>
          </a:prstGeom>
          <a:solidFill>
            <a:srgbClr val="0E1C42"/>
          </a:solidFill>
          <a:ln w="25400">
            <a:solidFill>
              <a:srgbClr val="55C8E8"/>
            </a:solidFill>
            <a:prstDash val="solid"/>
          </a:ln>
        </p:spPr>
      </p:sp>
      <p:sp>
        <p:nvSpPr>
          <p:cNvPr id="8" name="Text 6"/>
          <p:cNvSpPr/>
          <p:nvPr/>
        </p:nvSpPr>
        <p:spPr>
          <a:xfrm>
            <a:off x="822960" y="1691640"/>
            <a:ext cx="7498080" cy="1005840"/>
          </a:xfrm>
          <a:prstGeom prst="rect">
            <a:avLst/>
          </a:prstGeom>
          <a:noFill/>
          <a:ln/>
        </p:spPr>
        <p:txBody>
          <a:bodyPr wrap="square" rtlCol="0" anchor="ctr"/>
          <a:lstStyle/>
          <a:p>
            <a:pPr algn="ctr" indent="0" marL="0">
              <a:buNone/>
            </a:pPr>
            <a:r>
              <a:rPr lang="en-US" sz="2200" i="1" dirty="0">
                <a:solidFill>
                  <a:srgbClr val="FFFFFF"/>
                </a:solidFill>
                <a:latin typeface="Cambria" pitchFamily="34" charset="0"/>
                <a:ea typeface="Cambria" pitchFamily="34" charset="-122"/>
                <a:cs typeface="Cambria" pitchFamily="34" charset="-120"/>
              </a:rPr>
              <a:t>"How do forces change the way objects move?"</a:t>
            </a:r>
            <a:endParaRPr lang="en-US" sz="2200" dirty="0"/>
          </a:p>
        </p:txBody>
      </p:sp>
      <p:sp>
        <p:nvSpPr>
          <p:cNvPr id="9" name="Text 7"/>
          <p:cNvSpPr/>
          <p:nvPr/>
        </p:nvSpPr>
        <p:spPr>
          <a:xfrm>
            <a:off x="822960" y="3063240"/>
            <a:ext cx="7498080" cy="457200"/>
          </a:xfrm>
          <a:prstGeom prst="rect">
            <a:avLst/>
          </a:prstGeom>
          <a:noFill/>
          <a:ln/>
        </p:spPr>
        <p:txBody>
          <a:bodyPr wrap="square" rtlCol="0" anchor="t"/>
          <a:lstStyle/>
          <a:p>
            <a:pPr algn="ctr" indent="0" marL="0">
              <a:buNone/>
            </a:pPr>
            <a:r>
              <a:rPr lang="en-US" sz="1300" dirty="0">
                <a:solidFill>
                  <a:srgbClr val="5A4D3E"/>
                </a:solidFill>
                <a:latin typeface="Calibri" pitchFamily="34" charset="0"/>
                <a:ea typeface="Calibri" pitchFamily="34" charset="-122"/>
                <a:cs typeface="Calibri" pitchFamily="34" charset="-120"/>
              </a:rPr>
              <a:t>Keep this in mind as you work today — you'll test it yourself in the investigation.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LEARNING GOALS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457200" y="1143000"/>
            <a:ext cx="8229600" cy="868680"/>
          </a:xfrm>
          <a:prstGeom prst="roundRect">
            <a:avLst>
              <a:gd name="adj" fmla="val 8421"/>
            </a:avLst>
          </a:prstGeom>
          <a:solidFill>
            <a:srgbClr val="FFFFFF"/>
          </a:solidFill>
          <a:ln w="19050">
            <a:solidFill>
              <a:srgbClr val="E8DDD2"/>
            </a:solidFill>
            <a:prstDash val="solid"/>
          </a:ln>
        </p:spPr>
      </p:sp>
      <p:sp>
        <p:nvSpPr>
          <p:cNvPr id="8" name="Shape 6"/>
          <p:cNvSpPr/>
          <p:nvPr/>
        </p:nvSpPr>
        <p:spPr>
          <a:xfrm>
            <a:off x="640080" y="1371600"/>
            <a:ext cx="411480" cy="411480"/>
          </a:xfrm>
          <a:prstGeom prst="ellipse">
            <a:avLst/>
          </a:prstGeom>
          <a:solidFill>
            <a:srgbClr val="F57C00"/>
          </a:solidFill>
          <a:ln/>
        </p:spPr>
      </p:sp>
      <p:sp>
        <p:nvSpPr>
          <p:cNvPr id="9" name="Text 7"/>
          <p:cNvSpPr/>
          <p:nvPr/>
        </p:nvSpPr>
        <p:spPr>
          <a:xfrm>
            <a:off x="640080" y="137160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234440" y="123444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explain how forces affect the motion of objects.</a:t>
            </a:r>
            <a:endParaRPr lang="en-US" sz="1400" dirty="0"/>
          </a:p>
        </p:txBody>
      </p:sp>
      <p:sp>
        <p:nvSpPr>
          <p:cNvPr id="11" name="Shape 9"/>
          <p:cNvSpPr/>
          <p:nvPr/>
        </p:nvSpPr>
        <p:spPr>
          <a:xfrm>
            <a:off x="457200" y="2148840"/>
            <a:ext cx="8229600" cy="868680"/>
          </a:xfrm>
          <a:prstGeom prst="roundRect">
            <a:avLst>
              <a:gd name="adj" fmla="val 8421"/>
            </a:avLst>
          </a:prstGeom>
          <a:solidFill>
            <a:srgbClr val="FFFFFF"/>
          </a:solidFill>
          <a:ln w="19050">
            <a:solidFill>
              <a:srgbClr val="E8DDD2"/>
            </a:solidFill>
            <a:prstDash val="solid"/>
          </a:ln>
        </p:spPr>
      </p:sp>
      <p:sp>
        <p:nvSpPr>
          <p:cNvPr id="12" name="Shape 10"/>
          <p:cNvSpPr/>
          <p:nvPr/>
        </p:nvSpPr>
        <p:spPr>
          <a:xfrm>
            <a:off x="640080" y="2377440"/>
            <a:ext cx="411480" cy="411480"/>
          </a:xfrm>
          <a:prstGeom prst="ellipse">
            <a:avLst/>
          </a:prstGeom>
          <a:solidFill>
            <a:srgbClr val="F57C00"/>
          </a:solidFill>
          <a:ln/>
        </p:spPr>
      </p:sp>
      <p:sp>
        <p:nvSpPr>
          <p:cNvPr id="13" name="Text 11"/>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34440" y="224028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describe what balanced and unbalanced forces do to an object.</a:t>
            </a:r>
            <a:endParaRPr lang="en-US" sz="1400" dirty="0"/>
          </a:p>
        </p:txBody>
      </p:sp>
      <p:sp>
        <p:nvSpPr>
          <p:cNvPr id="15" name="Shape 13"/>
          <p:cNvSpPr/>
          <p:nvPr/>
        </p:nvSpPr>
        <p:spPr>
          <a:xfrm>
            <a:off x="457200" y="3154680"/>
            <a:ext cx="8229600" cy="868680"/>
          </a:xfrm>
          <a:prstGeom prst="roundRect">
            <a:avLst>
              <a:gd name="adj" fmla="val 8421"/>
            </a:avLst>
          </a:prstGeom>
          <a:solidFill>
            <a:srgbClr val="FFFFFF"/>
          </a:solidFill>
          <a:ln w="19050">
            <a:solidFill>
              <a:srgbClr val="E8DDD2"/>
            </a:solidFill>
            <a:prstDash val="solid"/>
          </a:ln>
        </p:spPr>
      </p:sp>
      <p:sp>
        <p:nvSpPr>
          <p:cNvPr id="16" name="Shape 14"/>
          <p:cNvSpPr/>
          <p:nvPr/>
        </p:nvSpPr>
        <p:spPr>
          <a:xfrm>
            <a:off x="640080" y="3383280"/>
            <a:ext cx="411480" cy="411480"/>
          </a:xfrm>
          <a:prstGeom prst="ellipse">
            <a:avLst/>
          </a:prstGeom>
          <a:solidFill>
            <a:srgbClr val="F57C00"/>
          </a:solidFill>
          <a:ln/>
        </p:spPr>
      </p:sp>
      <p:sp>
        <p:nvSpPr>
          <p:cNvPr id="17" name="Text 15"/>
          <p:cNvSpPr/>
          <p:nvPr/>
        </p:nvSpPr>
        <p:spPr>
          <a:xfrm>
            <a:off x="640080" y="338328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34440" y="324612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design and test a structure that handles real forces from nature.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Your Materials</a:t>
            </a:r>
            <a:endParaRPr lang="en-US" sz="2100" dirty="0"/>
          </a:p>
        </p:txBody>
      </p:sp>
      <p:sp>
        <p:nvSpPr>
          <p:cNvPr id="7" name="Shape 5"/>
          <p:cNvSpPr/>
          <p:nvPr/>
        </p:nvSpPr>
        <p:spPr>
          <a:xfrm>
            <a:off x="548640" y="1280160"/>
            <a:ext cx="8046720" cy="594360"/>
          </a:xfrm>
          <a:prstGeom prst="roundRect">
            <a:avLst>
              <a:gd name="adj" fmla="val 12308"/>
            </a:avLst>
          </a:prstGeom>
          <a:solidFill>
            <a:srgbClr val="FFFFFF"/>
          </a:solidFill>
          <a:ln w="12700">
            <a:solidFill>
              <a:srgbClr val="E8DDD2"/>
            </a:solidFill>
            <a:prstDash val="solid"/>
          </a:ln>
        </p:spPr>
      </p:sp>
      <p:sp>
        <p:nvSpPr>
          <p:cNvPr id="8" name="Shape 6"/>
          <p:cNvSpPr/>
          <p:nvPr/>
        </p:nvSpPr>
        <p:spPr>
          <a:xfrm>
            <a:off x="777240" y="1481328"/>
            <a:ext cx="182880" cy="182880"/>
          </a:xfrm>
          <a:prstGeom prst="ellipse">
            <a:avLst/>
          </a:prstGeom>
          <a:solidFill>
            <a:srgbClr val="0288D1"/>
          </a:solidFill>
          <a:ln/>
        </p:spPr>
      </p:sp>
      <p:sp>
        <p:nvSpPr>
          <p:cNvPr id="9" name="Text 7"/>
          <p:cNvSpPr/>
          <p:nvPr/>
        </p:nvSpPr>
        <p:spPr>
          <a:xfrm>
            <a:off x="1143000" y="132588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Science notebook &amp; pencil</a:t>
            </a:r>
            <a:endParaRPr lang="en-US" sz="1400" dirty="0"/>
          </a:p>
        </p:txBody>
      </p:sp>
      <p:sp>
        <p:nvSpPr>
          <p:cNvPr id="10" name="Shape 8"/>
          <p:cNvSpPr/>
          <p:nvPr/>
        </p:nvSpPr>
        <p:spPr>
          <a:xfrm>
            <a:off x="548640" y="2011680"/>
            <a:ext cx="8046720" cy="594360"/>
          </a:xfrm>
          <a:prstGeom prst="roundRect">
            <a:avLst>
              <a:gd name="adj" fmla="val 12308"/>
            </a:avLst>
          </a:prstGeom>
          <a:solidFill>
            <a:srgbClr val="FFFFFF"/>
          </a:solidFill>
          <a:ln w="12700">
            <a:solidFill>
              <a:srgbClr val="E8DDD2"/>
            </a:solidFill>
            <a:prstDash val="solid"/>
          </a:ln>
        </p:spPr>
      </p:sp>
      <p:sp>
        <p:nvSpPr>
          <p:cNvPr id="11" name="Shape 9"/>
          <p:cNvSpPr/>
          <p:nvPr/>
        </p:nvSpPr>
        <p:spPr>
          <a:xfrm>
            <a:off x="777240" y="2212848"/>
            <a:ext cx="182880" cy="182880"/>
          </a:xfrm>
          <a:prstGeom prst="ellipse">
            <a:avLst/>
          </a:prstGeom>
          <a:solidFill>
            <a:srgbClr val="0288D1"/>
          </a:solidFill>
          <a:ln/>
        </p:spPr>
      </p:sp>
      <p:sp>
        <p:nvSpPr>
          <p:cNvPr id="12" name="Text 10"/>
          <p:cNvSpPr/>
          <p:nvPr/>
        </p:nvSpPr>
        <p:spPr>
          <a:xfrm>
            <a:off x="1143000" y="205740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Ruler</a:t>
            </a:r>
            <a:endParaRPr lang="en-US" sz="1400" dirty="0"/>
          </a:p>
        </p:txBody>
      </p:sp>
      <p:sp>
        <p:nvSpPr>
          <p:cNvPr id="13" name="Shape 11"/>
          <p:cNvSpPr/>
          <p:nvPr/>
        </p:nvSpPr>
        <p:spPr>
          <a:xfrm>
            <a:off x="548640" y="2743200"/>
            <a:ext cx="8046720" cy="594360"/>
          </a:xfrm>
          <a:prstGeom prst="roundRect">
            <a:avLst>
              <a:gd name="adj" fmla="val 12308"/>
            </a:avLst>
          </a:prstGeom>
          <a:solidFill>
            <a:srgbClr val="FFFFFF"/>
          </a:solidFill>
          <a:ln w="12700">
            <a:solidFill>
              <a:srgbClr val="E8DDD2"/>
            </a:solidFill>
            <a:prstDash val="solid"/>
          </a:ln>
        </p:spPr>
      </p:sp>
      <p:sp>
        <p:nvSpPr>
          <p:cNvPr id="14" name="Shape 12"/>
          <p:cNvSpPr/>
          <p:nvPr/>
        </p:nvSpPr>
        <p:spPr>
          <a:xfrm>
            <a:off x="777240" y="2944368"/>
            <a:ext cx="182880" cy="182880"/>
          </a:xfrm>
          <a:prstGeom prst="ellipse">
            <a:avLst/>
          </a:prstGeom>
          <a:solidFill>
            <a:srgbClr val="0288D1"/>
          </a:solidFill>
          <a:ln/>
        </p:spPr>
      </p:sp>
      <p:sp>
        <p:nvSpPr>
          <p:cNvPr id="15" name="Text 13"/>
          <p:cNvSpPr/>
          <p:nvPr/>
        </p:nvSpPr>
        <p:spPr>
          <a:xfrm>
            <a:off x="1143000" y="278892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A small object (toy car, ball, or eraser)</a:t>
            </a:r>
            <a:endParaRPr lang="en-US" sz="1400" dirty="0"/>
          </a:p>
        </p:txBody>
      </p:sp>
      <p:sp>
        <p:nvSpPr>
          <p:cNvPr id="16" name="Shape 14"/>
          <p:cNvSpPr/>
          <p:nvPr/>
        </p:nvSpPr>
        <p:spPr>
          <a:xfrm>
            <a:off x="548640" y="3474720"/>
            <a:ext cx="8046720" cy="594360"/>
          </a:xfrm>
          <a:prstGeom prst="roundRect">
            <a:avLst>
              <a:gd name="adj" fmla="val 12308"/>
            </a:avLst>
          </a:prstGeom>
          <a:solidFill>
            <a:srgbClr val="FFFFFF"/>
          </a:solidFill>
          <a:ln w="12700">
            <a:solidFill>
              <a:srgbClr val="E8DDD2"/>
            </a:solidFill>
            <a:prstDash val="solid"/>
          </a:ln>
        </p:spPr>
      </p:sp>
      <p:sp>
        <p:nvSpPr>
          <p:cNvPr id="17" name="Shape 15"/>
          <p:cNvSpPr/>
          <p:nvPr/>
        </p:nvSpPr>
        <p:spPr>
          <a:xfrm>
            <a:off x="777240" y="3675888"/>
            <a:ext cx="182880" cy="182880"/>
          </a:xfrm>
          <a:prstGeom prst="ellipse">
            <a:avLst/>
          </a:prstGeom>
          <a:solidFill>
            <a:srgbClr val="0288D1"/>
          </a:solidFill>
          <a:ln/>
        </p:spPr>
      </p:sp>
      <p:sp>
        <p:nvSpPr>
          <p:cNvPr id="18" name="Text 16"/>
          <p:cNvSpPr/>
          <p:nvPr/>
        </p:nvSpPr>
        <p:spPr>
          <a:xfrm>
            <a:off x="1143000" y="352044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A flat surface to test 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WARM-UP</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Forces Look Like?</a:t>
            </a:r>
            <a:endParaRPr lang="en-US" sz="2100" dirty="0"/>
          </a:p>
        </p:txBody>
      </p:sp>
      <p:sp>
        <p:nvSpPr>
          <p:cNvPr id="7" name="Text 5"/>
          <p:cNvSpPr/>
          <p:nvPr/>
        </p:nvSpPr>
        <p:spPr>
          <a:xfrm>
            <a:off x="320040" y="1143000"/>
            <a:ext cx="8503920" cy="77724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Think about the last time you opened a door, kicked a ball, or pushed a chair across the floor. Forces are everywhere — you use them every day without thinking about it.</a:t>
            </a:r>
            <a:endParaRPr lang="en-US" sz="1350" dirty="0"/>
          </a:p>
        </p:txBody>
      </p:sp>
      <p:sp>
        <p:nvSpPr>
          <p:cNvPr id="8" name="Shape 6"/>
          <p:cNvSpPr/>
          <p:nvPr/>
        </p:nvSpPr>
        <p:spPr>
          <a:xfrm>
            <a:off x="320040" y="2011680"/>
            <a:ext cx="8503920" cy="685800"/>
          </a:xfrm>
          <a:prstGeom prst="roundRect">
            <a:avLst>
              <a:gd name="adj" fmla="val 10667"/>
            </a:avLst>
          </a:prstGeom>
          <a:solidFill>
            <a:srgbClr val="FFF9E8"/>
          </a:solidFill>
          <a:ln w="19050">
            <a:solidFill>
              <a:srgbClr val="F9A825"/>
            </a:solidFill>
            <a:prstDash val="solid"/>
          </a:ln>
        </p:spPr>
      </p:sp>
      <p:sp>
        <p:nvSpPr>
          <p:cNvPr id="9" name="Text 7"/>
          <p:cNvSpPr/>
          <p:nvPr/>
        </p:nvSpPr>
        <p:spPr>
          <a:xfrm>
            <a:off x="502920" y="20848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304288"/>
            <a:ext cx="8138160" cy="33832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List 3 forces you used today — was each one a push or a pull? What did each one change?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Naming a Push or Pull</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0288D1"/>
            </a:solidFill>
            <a:prstDash val="solid"/>
          </a:ln>
        </p:spPr>
      </p:sp>
      <p:sp>
        <p:nvSpPr>
          <p:cNvPr id="8" name="Text 6"/>
          <p:cNvSpPr/>
          <p:nvPr/>
        </p:nvSpPr>
        <p:spPr>
          <a:xfrm>
            <a:off x="685800" y="1280160"/>
            <a:ext cx="219456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force</a:t>
            </a:r>
            <a:endParaRPr lang="en-US" sz="1600" dirty="0"/>
          </a:p>
        </p:txBody>
      </p:sp>
      <p:sp>
        <p:nvSpPr>
          <p:cNvPr id="9" name="Text 7"/>
          <p:cNvSpPr/>
          <p:nvPr/>
        </p:nvSpPr>
        <p:spPr>
          <a:xfrm>
            <a:off x="2926080" y="1280160"/>
            <a:ext cx="557784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A push or pull that acts on an object and can change its motion.</a:t>
            </a:r>
            <a:endParaRPr lang="en-US" sz="13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0288D1"/>
            </a:solidFill>
            <a:prstDash val="solid"/>
          </a:ln>
        </p:spPr>
      </p:sp>
      <p:sp>
        <p:nvSpPr>
          <p:cNvPr id="11" name="Text 9"/>
          <p:cNvSpPr/>
          <p:nvPr/>
        </p:nvSpPr>
        <p:spPr>
          <a:xfrm>
            <a:off x="685800" y="2423160"/>
            <a:ext cx="219456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speed</a:t>
            </a:r>
            <a:endParaRPr lang="en-US" sz="1600" dirty="0"/>
          </a:p>
        </p:txBody>
      </p:sp>
      <p:sp>
        <p:nvSpPr>
          <p:cNvPr id="12" name="Text 10"/>
          <p:cNvSpPr/>
          <p:nvPr/>
        </p:nvSpPr>
        <p:spPr>
          <a:xfrm>
            <a:off x="2926080" y="2423160"/>
            <a:ext cx="557784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How fast an object moves. Forces can make objects speed up or slow down.</a:t>
            </a:r>
            <a:endParaRPr lang="en-US" sz="13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0288D1"/>
            </a:solidFill>
            <a:prstDash val="solid"/>
          </a:ln>
        </p:spPr>
      </p:sp>
      <p:sp>
        <p:nvSpPr>
          <p:cNvPr id="14" name="Text 12"/>
          <p:cNvSpPr/>
          <p:nvPr/>
        </p:nvSpPr>
        <p:spPr>
          <a:xfrm>
            <a:off x="685800" y="3566160"/>
            <a:ext cx="219456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direction</a:t>
            </a:r>
            <a:endParaRPr lang="en-US" sz="1600" dirty="0"/>
          </a:p>
        </p:txBody>
      </p:sp>
      <p:sp>
        <p:nvSpPr>
          <p:cNvPr id="15" name="Text 13"/>
          <p:cNvSpPr/>
          <p:nvPr/>
        </p:nvSpPr>
        <p:spPr>
          <a:xfrm>
            <a:off x="2926080" y="3566160"/>
            <a:ext cx="557784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The path an object travels. A force can change which way an object moves.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When Forces Cancel Out — Or Don't</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2D6A4F"/>
            </a:solidFill>
            <a:prstDash val="solid"/>
          </a:ln>
        </p:spPr>
      </p:sp>
      <p:sp>
        <p:nvSpPr>
          <p:cNvPr id="8" name="Text 6"/>
          <p:cNvSpPr/>
          <p:nvPr/>
        </p:nvSpPr>
        <p:spPr>
          <a:xfrm>
            <a:off x="685800" y="1280160"/>
            <a:ext cx="246888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balanced forces</a:t>
            </a:r>
            <a:endParaRPr lang="en-US" sz="1400" dirty="0"/>
          </a:p>
        </p:txBody>
      </p:sp>
      <p:sp>
        <p:nvSpPr>
          <p:cNvPr id="9" name="Text 7"/>
          <p:cNvSpPr/>
          <p:nvPr/>
        </p:nvSpPr>
        <p:spPr>
          <a:xfrm>
            <a:off x="3200400" y="1280160"/>
            <a:ext cx="530352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Equal forces from opposite directions. They cancel out — no motion change.</a:t>
            </a:r>
            <a:endParaRPr lang="en-US" sz="12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2D6A4F"/>
            </a:solidFill>
            <a:prstDash val="solid"/>
          </a:ln>
        </p:spPr>
      </p:sp>
      <p:sp>
        <p:nvSpPr>
          <p:cNvPr id="11" name="Text 9"/>
          <p:cNvSpPr/>
          <p:nvPr/>
        </p:nvSpPr>
        <p:spPr>
          <a:xfrm>
            <a:off x="685800" y="2423160"/>
            <a:ext cx="246888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unbalanced forces</a:t>
            </a:r>
            <a:endParaRPr lang="en-US" sz="1400" dirty="0"/>
          </a:p>
        </p:txBody>
      </p:sp>
      <p:sp>
        <p:nvSpPr>
          <p:cNvPr id="12" name="Text 10"/>
          <p:cNvSpPr/>
          <p:nvPr/>
        </p:nvSpPr>
        <p:spPr>
          <a:xfrm>
            <a:off x="3200400" y="2423160"/>
            <a:ext cx="530352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Forces that are not equal. They cause an object to start, stop, speed up, or turn.</a:t>
            </a:r>
            <a:endParaRPr lang="en-US" sz="12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2D6A4F"/>
            </a:solidFill>
            <a:prstDash val="solid"/>
          </a:ln>
        </p:spPr>
      </p:sp>
      <p:sp>
        <p:nvSpPr>
          <p:cNvPr id="14" name="Text 12"/>
          <p:cNvSpPr/>
          <p:nvPr/>
        </p:nvSpPr>
        <p:spPr>
          <a:xfrm>
            <a:off x="685800" y="3566160"/>
            <a:ext cx="246888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motion</a:t>
            </a:r>
            <a:endParaRPr lang="en-US" sz="1400" dirty="0"/>
          </a:p>
        </p:txBody>
      </p:sp>
      <p:sp>
        <p:nvSpPr>
          <p:cNvPr id="15" name="Text 13"/>
          <p:cNvSpPr/>
          <p:nvPr/>
        </p:nvSpPr>
        <p:spPr>
          <a:xfrm>
            <a:off x="3200400" y="3566160"/>
            <a:ext cx="530352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A change in position of an object. Without a force, motion doesn't change.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Notebook Entry</a:t>
            </a:r>
            <a:endParaRPr lang="en-US" sz="2100" dirty="0"/>
          </a:p>
        </p:txBody>
      </p:sp>
      <p:sp>
        <p:nvSpPr>
          <p:cNvPr id="7" name="Shape 5"/>
          <p:cNvSpPr/>
          <p:nvPr/>
        </p:nvSpPr>
        <p:spPr>
          <a:xfrm>
            <a:off x="320040" y="1280160"/>
            <a:ext cx="8503920" cy="1188720"/>
          </a:xfrm>
          <a:prstGeom prst="roundRect">
            <a:avLst>
              <a:gd name="adj" fmla="val 6154"/>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COPY CAREFULLY INTO YOUR SCIENCE NOTEBOOK</a:t>
            </a:r>
            <a:endParaRPr lang="en-US" sz="1100" dirty="0"/>
          </a:p>
        </p:txBody>
      </p:sp>
      <p:sp>
        <p:nvSpPr>
          <p:cNvPr id="9" name="Text 7"/>
          <p:cNvSpPr/>
          <p:nvPr/>
        </p:nvSpPr>
        <p:spPr>
          <a:xfrm>
            <a:off x="502920" y="1572768"/>
            <a:ext cx="8138160" cy="84124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"When forces are unbalanced, an object will change its speed, direction, or both."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Force?</a:t>
            </a:r>
            <a:endParaRPr lang="en-US" sz="2100" dirty="0"/>
          </a:p>
        </p:txBody>
      </p:sp>
      <p:sp>
        <p:nvSpPr>
          <p:cNvPr id="7" name="Text 5"/>
          <p:cNvSpPr/>
          <p:nvPr/>
        </p:nvSpPr>
        <p:spPr>
          <a:xfrm>
            <a:off x="320040" y="1143000"/>
            <a:ext cx="8503920" cy="10972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A force is any push or pull that acts on an object. Every force has two things: strength (how hard the push or pull is) and direction (which way it's pushing or pulling). A gentle tap on a ball is a small force. A hard kick is a much bigger force — the ball moves further and faster.</a:t>
            </a:r>
            <a:endParaRPr lang="en-US" sz="1300" dirty="0"/>
          </a:p>
        </p:txBody>
      </p:sp>
      <p:sp>
        <p:nvSpPr>
          <p:cNvPr id="8" name="Shape 6"/>
          <p:cNvSpPr/>
          <p:nvPr/>
        </p:nvSpPr>
        <p:spPr>
          <a:xfrm>
            <a:off x="320040" y="233172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4048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62432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If you push a box lightly, it barely moves. If you push it hard, it slides far. What changed — the object or the force?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2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Balanced and Unbalanced Forces</a:t>
            </a:r>
            <a:endParaRPr lang="en-US" sz="2100" dirty="0"/>
          </a:p>
        </p:txBody>
      </p:sp>
      <p:sp>
        <p:nvSpPr>
          <p:cNvPr id="7" name="Text 5"/>
          <p:cNvSpPr/>
          <p:nvPr/>
        </p:nvSpPr>
        <p:spPr>
          <a:xfrm>
            <a:off x="320040" y="1097280"/>
            <a:ext cx="8503920" cy="105156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Balanced forces happen when two equal forces push or pull from opposite directions — like a tug-of-war where both teams pull exactly the same. The forces cancel out. Unbalanced forces happen when one force is stronger — now the object moves, stops, speeds up, or changes direction.</a:t>
            </a:r>
            <a:endParaRPr lang="en-US" sz="1250" dirty="0"/>
          </a:p>
        </p:txBody>
      </p:sp>
      <p:sp>
        <p:nvSpPr>
          <p:cNvPr id="8" name="Shape 6"/>
          <p:cNvSpPr/>
          <p:nvPr/>
        </p:nvSpPr>
        <p:spPr>
          <a:xfrm>
            <a:off x="457200" y="2240280"/>
            <a:ext cx="8229600" cy="1600200"/>
          </a:xfrm>
          <a:prstGeom prst="roundRect">
            <a:avLst>
              <a:gd name="adj" fmla="val 4571"/>
            </a:avLst>
          </a:prstGeom>
          <a:solidFill>
            <a:srgbClr val="FFF3E0"/>
          </a:solidFill>
          <a:ln w="25400">
            <a:solidFill>
              <a:srgbClr val="F9A825"/>
            </a:solidFill>
            <a:prstDash val="dash"/>
          </a:ln>
        </p:spPr>
      </p:sp>
      <p:sp>
        <p:nvSpPr>
          <p:cNvPr id="9" name="Text 7"/>
          <p:cNvSpPr/>
          <p:nvPr/>
        </p:nvSpPr>
        <p:spPr>
          <a:xfrm>
            <a:off x="640080" y="233172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606040"/>
            <a:ext cx="7863840" cy="88696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Two elementary school-aged children (around 8 years old, similar size) sitting on opposite ends of a metal playground seesaw that is perfectly horizontal and level. Outdoor playground setting, green grass and trees in background. Photo from the side so the horizontal seesaw is clearly visible. Real-world photograph, bright natural daylight, vivid colors. No white background, no cartoons.</a:t>
            </a:r>
            <a:endParaRPr lang="en-US" sz="1100" dirty="0"/>
          </a:p>
        </p:txBody>
      </p:sp>
      <p:sp>
        <p:nvSpPr>
          <p:cNvPr id="11" name="Text 9"/>
          <p:cNvSpPr/>
          <p:nvPr/>
        </p:nvSpPr>
        <p:spPr>
          <a:xfrm>
            <a:off x="640080" y="354787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images/5-01-balanced-seesaw.png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Changing How Objects Move</a:t>
            </a:r>
            <a:endParaRPr lang="en-US" sz="2100" dirty="0"/>
          </a:p>
        </p:txBody>
      </p:sp>
      <p:sp>
        <p:nvSpPr>
          <p:cNvPr id="7" name="Text 5"/>
          <p:cNvSpPr/>
          <p:nvPr/>
        </p:nvSpPr>
        <p:spPr>
          <a:xfrm>
            <a:off x="320040" y="1143000"/>
            <a:ext cx="8503920" cy="10972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A gentle tap on a soccer ball sends it rolling slowly. A hard kick sends it flying fast — the speed of an object changes when the strength of the force changes. Direction matters too: push a ball straight ahead and it goes forward; push it from the side and it curves.</a:t>
            </a:r>
            <a:endParaRPr lang="en-US" sz="1300" dirty="0"/>
          </a:p>
        </p:txBody>
      </p:sp>
      <p:sp>
        <p:nvSpPr>
          <p:cNvPr id="8" name="Shape 6"/>
          <p:cNvSpPr/>
          <p:nvPr/>
        </p:nvSpPr>
        <p:spPr>
          <a:xfrm>
            <a:off x="320040" y="233172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4048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66090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Look at the moment a foot connects with a ball. What changes about the ball right at that instant — speed, direction, or both?</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Say It Before We Show It</a:t>
            </a:r>
            <a:endParaRPr lang="en-US" sz="2100" dirty="0"/>
          </a:p>
        </p:txBody>
      </p:sp>
      <p:sp>
        <p:nvSpPr>
          <p:cNvPr id="7" name="Shape 5"/>
          <p:cNvSpPr/>
          <p:nvPr/>
        </p:nvSpPr>
        <p:spPr>
          <a:xfrm>
            <a:off x="320040" y="1280160"/>
            <a:ext cx="8503920" cy="1417320"/>
          </a:xfrm>
          <a:prstGeom prst="roundRect">
            <a:avLst>
              <a:gd name="adj" fmla="val 5161"/>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572768"/>
            <a:ext cx="8138160" cy="106984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Forces cause objects to start moving, stop moving, speed up, slow down, or change direction. When forces are balanced, nothing changes. When forces are unbalanced, motion changes. The strength and direction of a force both matter.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FORCES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80 Miles Per Hour</a:t>
            </a:r>
            <a:endParaRPr lang="en-US" sz="2100" dirty="0"/>
          </a:p>
        </p:txBody>
      </p:sp>
      <p:sp>
        <p:nvSpPr>
          <p:cNvPr id="7" name="Text 5"/>
          <p:cNvSpPr/>
          <p:nvPr/>
        </p:nvSpPr>
        <p:spPr>
          <a:xfrm>
            <a:off x="457200" y="1143000"/>
            <a:ext cx="8229600" cy="118872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A professional soccer player can kick a ball at over 80 miles per hour — fast enough to travel the length of a school bus in less than one second. That's a single unbalanced force changing an object's speed almost instantly.</a:t>
            </a:r>
            <a:endParaRPr lang="en-US" sz="1450" dirty="0"/>
          </a:p>
        </p:txBody>
      </p:sp>
      <p:sp>
        <p:nvSpPr>
          <p:cNvPr id="8" name="Shape 6"/>
          <p:cNvSpPr/>
          <p:nvPr/>
        </p:nvSpPr>
        <p:spPr>
          <a:xfrm>
            <a:off x="320040" y="260604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67919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93522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Picture a school bus. Now picture a ball crossing that entire length in under one second. How much force do you think that takes?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 20 MIN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Push vs. Pull</a:t>
            </a:r>
            <a:endParaRPr lang="en-US" sz="2100" dirty="0"/>
          </a:p>
        </p:txBody>
      </p:sp>
      <p:sp>
        <p:nvSpPr>
          <p:cNvPr id="7" name="Shape 5"/>
          <p:cNvSpPr/>
          <p:nvPr/>
        </p:nvSpPr>
        <p:spPr>
          <a:xfrm>
            <a:off x="457200" y="1097280"/>
            <a:ext cx="8229600" cy="1554480"/>
          </a:xfrm>
          <a:prstGeom prst="roundRect">
            <a:avLst>
              <a:gd name="adj" fmla="val 4706"/>
            </a:avLst>
          </a:prstGeom>
          <a:solidFill>
            <a:srgbClr val="FFF3E0"/>
          </a:solidFill>
          <a:ln w="25400">
            <a:solidFill>
              <a:srgbClr val="F9A825"/>
            </a:solidFill>
            <a:prstDash val="dash"/>
          </a:ln>
        </p:spPr>
      </p:sp>
      <p:sp>
        <p:nvSpPr>
          <p:cNvPr id="8" name="Text 6"/>
          <p:cNvSpPr/>
          <p:nvPr/>
        </p:nvSpPr>
        <p:spPr>
          <a:xfrm>
            <a:off x="640080" y="118872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9" name="Text 7"/>
          <p:cNvSpPr/>
          <p:nvPr/>
        </p:nvSpPr>
        <p:spPr>
          <a:xfrm>
            <a:off x="640080" y="1463040"/>
            <a:ext cx="7863840" cy="84124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Close-up of a child's hands on a smooth hardwood classroom floor pushing a small toy car or wooden block forward with one finger. A ruler placed alongside to measure the distance traveled. Slightly elevated angle showing the hands, object, and ruler clearly. Warm natural window light. Real photograph, no white background, no cartoons.</a:t>
            </a:r>
            <a:endParaRPr lang="en-US" sz="1100" dirty="0"/>
          </a:p>
        </p:txBody>
      </p:sp>
      <p:sp>
        <p:nvSpPr>
          <p:cNvPr id="10" name="Text 8"/>
          <p:cNvSpPr/>
          <p:nvPr/>
        </p:nvSpPr>
        <p:spPr>
          <a:xfrm>
            <a:off x="640080" y="235915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images/5-01-force-investigation.png</a:t>
            </a:r>
            <a:endParaRPr lang="en-US" sz="950" dirty="0"/>
          </a:p>
        </p:txBody>
      </p:sp>
      <p:sp>
        <p:nvSpPr>
          <p:cNvPr id="11" name="Shape 9"/>
          <p:cNvSpPr/>
          <p:nvPr/>
        </p:nvSpPr>
        <p:spPr>
          <a:xfrm>
            <a:off x="320040" y="2788920"/>
            <a:ext cx="8503920" cy="777240"/>
          </a:xfrm>
          <a:prstGeom prst="roundRect">
            <a:avLst>
              <a:gd name="adj" fmla="val 9412"/>
            </a:avLst>
          </a:prstGeom>
          <a:solidFill>
            <a:srgbClr val="FFF3E0"/>
          </a:solidFill>
          <a:ln w="19050">
            <a:solidFill>
              <a:srgbClr val="F57C00"/>
            </a:solidFill>
            <a:prstDash val="solid"/>
          </a:ln>
        </p:spPr>
      </p:sp>
      <p:sp>
        <p:nvSpPr>
          <p:cNvPr id="12" name="Text 10"/>
          <p:cNvSpPr/>
          <p:nvPr/>
        </p:nvSpPr>
        <p:spPr>
          <a:xfrm>
            <a:off x="502920" y="284378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008376"/>
            <a:ext cx="8138160" cy="52120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Make a prediction: will a strong push move the object farther than a gentle push? Will pulling from a different direction change where it goes? Write your best guess before you test.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STEPS 2-3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Test Gentle vs. Strong, Then Direction</a:t>
            </a:r>
            <a:endParaRPr lang="en-US" sz="2100" dirty="0"/>
          </a:p>
        </p:txBody>
      </p:sp>
      <p:sp>
        <p:nvSpPr>
          <p:cNvPr id="7" name="Shape 5"/>
          <p:cNvSpPr/>
          <p:nvPr/>
        </p:nvSpPr>
        <p:spPr>
          <a:xfrm>
            <a:off x="457200" y="1188720"/>
            <a:ext cx="457200" cy="457200"/>
          </a:xfrm>
          <a:prstGeom prst="ellipse">
            <a:avLst/>
          </a:prstGeom>
          <a:solidFill>
            <a:srgbClr val="E65100"/>
          </a:solidFill>
          <a:ln/>
        </p:spPr>
      </p:sp>
      <p:sp>
        <p:nvSpPr>
          <p:cNvPr id="8" name="Text 6"/>
          <p:cNvSpPr/>
          <p:nvPr/>
        </p:nvSpPr>
        <p:spPr>
          <a:xfrm>
            <a:off x="457200" y="11887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1097280" y="1143000"/>
            <a:ext cx="7589520" cy="914400"/>
          </a:xfrm>
          <a:prstGeom prst="rect">
            <a:avLst/>
          </a:prstGeom>
          <a:noFill/>
          <a:ln/>
        </p:spPr>
        <p:txBody>
          <a:bodyPr wrap="square" rtlCol="0" anchor="t"/>
          <a:lstStyle/>
          <a:p>
            <a:pPr indent="0" marL="0">
              <a:lnSpc>
                <a:spcPts val="1600"/>
              </a:lnSpc>
              <a:buNone/>
            </a:pPr>
            <a:r>
              <a:rPr lang="en-US" sz="1250" b="1" dirty="0">
                <a:solidFill>
                  <a:srgbClr val="2B1D12"/>
                </a:solidFill>
                <a:latin typeface="Calibri" pitchFamily="34" charset="0"/>
                <a:ea typeface="Calibri" pitchFamily="34" charset="-122"/>
                <a:cs typeface="Calibri" pitchFamily="34" charset="-120"/>
              </a:rPr>
              <a:t>Test gentle vs. strong.  </a:t>
            </a:r>
            <a:pPr indent="0" marL="0">
              <a:lnSpc>
                <a:spcPts val="1600"/>
              </a:lnSpc>
              <a:buNone/>
            </a:pPr>
            <a:r>
              <a:rPr lang="en-US" sz="1250" dirty="0">
                <a:solidFill>
                  <a:srgbClr val="5A4D3E"/>
                </a:solidFill>
                <a:latin typeface="Calibri" pitchFamily="34" charset="0"/>
                <a:ea typeface="Calibri" pitchFamily="34" charset="-122"/>
                <a:cs typeface="Calibri" pitchFamily="34" charset="-120"/>
              </a:rPr>
              <a:t>Push your object gently and measure how far it moved with your ruler. Then push it hard from the same starting spot. Record both distances.</a:t>
            </a:r>
            <a:endParaRPr lang="en-US" sz="1250" dirty="0"/>
          </a:p>
        </p:txBody>
      </p:sp>
      <p:sp>
        <p:nvSpPr>
          <p:cNvPr id="10" name="Shape 8"/>
          <p:cNvSpPr/>
          <p:nvPr/>
        </p:nvSpPr>
        <p:spPr>
          <a:xfrm>
            <a:off x="457200" y="2194560"/>
            <a:ext cx="457200" cy="457200"/>
          </a:xfrm>
          <a:prstGeom prst="ellipse">
            <a:avLst/>
          </a:prstGeom>
          <a:solidFill>
            <a:srgbClr val="E65100"/>
          </a:solidFill>
          <a:ln/>
        </p:spPr>
      </p:sp>
      <p:sp>
        <p:nvSpPr>
          <p:cNvPr id="11" name="Text 9"/>
          <p:cNvSpPr/>
          <p:nvPr/>
        </p:nvSpPr>
        <p:spPr>
          <a:xfrm>
            <a:off x="457200" y="219456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097280" y="2148840"/>
            <a:ext cx="7589520" cy="914400"/>
          </a:xfrm>
          <a:prstGeom prst="rect">
            <a:avLst/>
          </a:prstGeom>
          <a:noFill/>
          <a:ln/>
        </p:spPr>
        <p:txBody>
          <a:bodyPr wrap="square" rtlCol="0" anchor="t"/>
          <a:lstStyle/>
          <a:p>
            <a:pPr indent="0" marL="0">
              <a:lnSpc>
                <a:spcPts val="1600"/>
              </a:lnSpc>
              <a:buNone/>
            </a:pPr>
            <a:r>
              <a:rPr lang="en-US" sz="1250" b="1" dirty="0">
                <a:solidFill>
                  <a:srgbClr val="2B1D12"/>
                </a:solidFill>
                <a:latin typeface="Calibri" pitchFamily="34" charset="0"/>
                <a:ea typeface="Calibri" pitchFamily="34" charset="-122"/>
                <a:cs typeface="Calibri" pitchFamily="34" charset="-120"/>
              </a:rPr>
              <a:t>Change the direction.  </a:t>
            </a:r>
            <a:pPr indent="0" marL="0">
              <a:lnSpc>
                <a:spcPts val="1600"/>
              </a:lnSpc>
              <a:buNone/>
            </a:pPr>
            <a:r>
              <a:rPr lang="en-US" sz="1250" dirty="0">
                <a:solidFill>
                  <a:srgbClr val="5A4D3E"/>
                </a:solidFill>
                <a:latin typeface="Calibri" pitchFamily="34" charset="0"/>
                <a:ea typeface="Calibri" pitchFamily="34" charset="-122"/>
                <a:cs typeface="Calibri" pitchFamily="34" charset="-120"/>
              </a:rPr>
              <a:t>Push your object from a different angle — left side, then right. Observe which way it moves. Draw an arrow showing each force direction and where the object went.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4</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Compare to Your Prediction</a:t>
            </a:r>
            <a:endParaRPr lang="en-US" sz="2100" dirty="0"/>
          </a:p>
        </p:txBody>
      </p:sp>
      <p:sp>
        <p:nvSpPr>
          <p:cNvPr id="7" name="Shape 5"/>
          <p:cNvSpPr/>
          <p:nvPr/>
        </p:nvSpPr>
        <p:spPr>
          <a:xfrm>
            <a:off x="320040" y="1143000"/>
            <a:ext cx="8503920" cy="1141349"/>
          </a:xfrm>
          <a:prstGeom prst="roundRect">
            <a:avLst>
              <a:gd name="adj" fmla="val 6409"/>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757301"/>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Look at what you recorded. Did the results match what you expected? What surprised you?</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Write one sentence explaining what the data tells you about how forces change motion.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Like an Engineer</a:t>
            </a:r>
            <a:endParaRPr lang="en-US" sz="2100" dirty="0"/>
          </a:p>
        </p:txBody>
      </p:sp>
      <p:sp>
        <p:nvSpPr>
          <p:cNvPr id="7" name="Shape 5"/>
          <p:cNvSpPr/>
          <p:nvPr/>
        </p:nvSpPr>
        <p:spPr>
          <a:xfrm>
            <a:off x="320040" y="1280160"/>
            <a:ext cx="8503920" cy="1145540"/>
          </a:xfrm>
          <a:prstGeom prst="roundRect">
            <a:avLst>
              <a:gd name="adj" fmla="val 6386"/>
            </a:avLst>
          </a:prstGeom>
          <a:solidFill>
            <a:srgbClr val="EEF8F0"/>
          </a:solidFill>
          <a:ln w="19050">
            <a:solidFill>
              <a:srgbClr val="52B788"/>
            </a:solidFill>
            <a:prstDash val="solid"/>
          </a:ln>
        </p:spPr>
      </p:sp>
      <p:sp>
        <p:nvSpPr>
          <p:cNvPr id="8" name="Text 6"/>
          <p:cNvSpPr/>
          <p:nvPr/>
        </p:nvSpPr>
        <p:spPr>
          <a:xfrm>
            <a:off x="502920" y="13533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609344"/>
            <a:ext cx="8138160" cy="761492"/>
          </a:xfrm>
          <a:prstGeom prst="rect">
            <a:avLst/>
          </a:prstGeom>
          <a:noFill/>
          <a:ln/>
        </p:spPr>
        <p:txBody>
          <a:bodyPr wrap="square" rtlCol="0" anchor="t"/>
          <a:lstStyle/>
          <a:p>
            <a:pPr marL="342900" indent="-342900">
              <a:lnSpc>
                <a:spcPts val="2170"/>
              </a:lnSpc>
              <a:buSzPct val="100000"/>
              <a:buChar char="●"/>
            </a:pPr>
            <a:r>
              <a:rPr lang="en-US" sz="1400" dirty="0">
                <a:solidFill>
                  <a:srgbClr val="1B4332"/>
                </a:solidFill>
                <a:latin typeface="Calibri" pitchFamily="34" charset="0"/>
                <a:ea typeface="Calibri" pitchFamily="34" charset="-122"/>
                <a:cs typeface="Calibri" pitchFamily="34" charset="-120"/>
              </a:rPr>
              <a:t>You changed the strength of the force and the direction of the force. Which one changed the motion more — and how do you know from your data?</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Record Your Thinking</a:t>
            </a:r>
            <a:endParaRPr lang="en-US" sz="2100" dirty="0"/>
          </a:p>
        </p:txBody>
      </p:sp>
      <p:sp>
        <p:nvSpPr>
          <p:cNvPr id="7" name="Shape 5"/>
          <p:cNvSpPr/>
          <p:nvPr/>
        </p:nvSpPr>
        <p:spPr>
          <a:xfrm>
            <a:off x="320040" y="1188720"/>
            <a:ext cx="8503920" cy="1633474"/>
          </a:xfrm>
          <a:prstGeom prst="roundRect">
            <a:avLst>
              <a:gd name="adj" fmla="val 4478"/>
            </a:avLst>
          </a:prstGeom>
          <a:solidFill>
            <a:srgbClr val="EEF8F0"/>
          </a:solidFill>
          <a:ln w="19050">
            <a:solidFill>
              <a:srgbClr val="52B788"/>
            </a:solidFill>
            <a:prstDash val="solid"/>
          </a:ln>
        </p:spPr>
      </p:sp>
      <p:sp>
        <p:nvSpPr>
          <p:cNvPr id="8" name="Text 6"/>
          <p:cNvSpPr/>
          <p:nvPr/>
        </p:nvSpPr>
        <p:spPr>
          <a:xfrm>
            <a:off x="502920" y="12618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517904"/>
            <a:ext cx="8138160" cy="1249426"/>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pattern do you notice in your data? What happened to the distance when the force got stronger? Use the words 'force' and 'motion.'</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Tell the story of your investigation from beginning to end — what you tested, what happened when you changed the force, and what you figured out.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It Through</a:t>
            </a:r>
            <a:endParaRPr lang="en-US" sz="2100" dirty="0"/>
          </a:p>
        </p:txBody>
      </p:sp>
      <p:sp>
        <p:nvSpPr>
          <p:cNvPr id="7" name="Shape 5"/>
          <p:cNvSpPr/>
          <p:nvPr/>
        </p:nvSpPr>
        <p:spPr>
          <a:xfrm>
            <a:off x="320040" y="1097280"/>
            <a:ext cx="8503920" cy="1999107"/>
          </a:xfrm>
          <a:prstGeom prst="roundRect">
            <a:avLst>
              <a:gd name="adj" fmla="val 3659"/>
            </a:avLst>
          </a:prstGeom>
          <a:solidFill>
            <a:srgbClr val="EEF8F0"/>
          </a:solidFill>
          <a:ln w="19050">
            <a:solidFill>
              <a:srgbClr val="52B788"/>
            </a:solidFill>
            <a:prstDash val="solid"/>
          </a:ln>
        </p:spPr>
      </p:sp>
      <p:sp>
        <p:nvSpPr>
          <p:cNvPr id="8" name="Text 6"/>
          <p:cNvSpPr/>
          <p:nvPr/>
        </p:nvSpPr>
        <p:spPr>
          <a:xfrm>
            <a:off x="502920" y="1170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26464"/>
            <a:ext cx="8138160" cy="1615059"/>
          </a:xfrm>
          <a:prstGeom prst="rect">
            <a:avLst/>
          </a:prstGeom>
          <a:noFill/>
          <a:ln/>
        </p:spPr>
        <p:txBody>
          <a:bodyPr wrap="square" rtlCol="0" anchor="t"/>
          <a:lstStyle/>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What happened to speed when you pushed harder? What happened to direction when you changed the angle?</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In your data, which force — gentle or strong — is an example of unbalanced forces? What evidence supports your answer?</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Think about the moment a soccer ball is kicked. Based on your investigation, are those forces balanced or unbalanced? What evidence from your own test supports your thinking?</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If you could change one thing about your force test to make it more fair, what would you change? What would you keep exactly the same each time?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force?</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is a force?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weight of an object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A push or pull that can change an object's motion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The speed at which something moves</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the vocabulary card for 'force.' What two words were in the definition? A push or a ___?</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force?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A force is always a push or a pull, and it can change how an object moves.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Tug-of-war: both teams pull equally. What happens?</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In a tug-of-war, both teams pull with exactly equal strength. What happens to the rope?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It moves toward the stronger team</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It breaks in the middle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It doesn't move — the forces are balanced</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Remember the tug-of-war example from Section 2. When both teams pull with equal force, the forces are ___.</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Tug-of-war: both teams pull equally. What happens?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When forces are equal from opposite directions, they cancel out. The rope stays right where it is.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5 inches vs. 20 inches — what does that tell you?</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You push a toy car gently and it rolls 5 inches. You push it hard and it rolls 20 inches. What does this tell you about force?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direction of the force changed the motion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A stronger force causes more change in motion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Balanced forces made the car roll farther</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Look at the numbers: 5 inches vs 20 inches. What changed between the two pushes — the direction or the strength?</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5 inches vs. 20 inches — what does that tell you?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A stronger push creates more change in motion. The car moves faster and farther. Force strength matters.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Identify the Force</a:t>
            </a:r>
            <a:endParaRPr lang="en-US" sz="2100" dirty="0"/>
          </a:p>
        </p:txBody>
      </p:sp>
      <p:sp>
        <p:nvSpPr>
          <p:cNvPr id="7" name="Text 5"/>
          <p:cNvSpPr/>
          <p:nvPr/>
        </p:nvSpPr>
        <p:spPr>
          <a:xfrm>
            <a:off x="457200" y="1097280"/>
            <a:ext cx="8229600" cy="2651760"/>
          </a:xfrm>
          <a:prstGeom prst="rect">
            <a:avLst/>
          </a:prstGeom>
          <a:noFill/>
          <a:ln/>
        </p:spPr>
        <p:txBody>
          <a:bodyPr wrap="square" rtlCol="0" anchor="t"/>
          <a:lstStyle/>
          <a:p>
            <a:pPr indent="0" marL="0">
              <a:lnSpc>
                <a:spcPts val="2400"/>
              </a:lnSpc>
              <a:buNone/>
            </a:pPr>
            <a:r>
              <a:rPr lang="en-US" sz="1150" dirty="0">
                <a:solidFill>
                  <a:srgbClr val="2B1D12"/>
                </a:solidFill>
                <a:latin typeface="Calibri" pitchFamily="34" charset="0"/>
                <a:ea typeface="Calibri" pitchFamily="34" charset="-122"/>
                <a:cs typeface="Calibri" pitchFamily="34" charset="-120"/>
              </a:rPr>
              <a:t>1. A dog pulls on a leash while its owner pulls back equally hard. The dog stays in place. Balanced or unbalanced? What type of force is each?</a:t>
            </a:r>
            <a:endParaRPr lang="en-US" sz="1150" dirty="0"/>
          </a:p>
          <a:p>
            <a:pPr indent="0" marL="0">
              <a:lnSpc>
                <a:spcPts val="2400"/>
              </a:lnSpc>
              <a:buNone/>
            </a:pPr>
            <a:r>
              <a:rPr lang="en-US" sz="1150" dirty="0">
                <a:solidFill>
                  <a:srgbClr val="2B1D12"/>
                </a:solidFill>
                <a:latin typeface="Calibri" pitchFamily="34" charset="0"/>
                <a:ea typeface="Calibri" pitchFamily="34" charset="-122"/>
                <a:cs typeface="Calibri" pitchFamily="34" charset="-120"/>
              </a:rPr>
              <a:t>2. A soccer player kicks a ball. It flies through the air and slows down. Name the force of the kick and the force that slows it. Balanced or unbalanced?</a:t>
            </a:r>
            <a:endParaRPr lang="en-US" sz="1150" dirty="0"/>
          </a:p>
          <a:p>
            <a:pPr indent="0" marL="0">
              <a:lnSpc>
                <a:spcPts val="2400"/>
              </a:lnSpc>
              <a:buNone/>
            </a:pPr>
            <a:r>
              <a:rPr lang="en-US" sz="1150" dirty="0">
                <a:solidFill>
                  <a:srgbClr val="2B1D12"/>
                </a:solidFill>
                <a:latin typeface="Calibri" pitchFamily="34" charset="0"/>
                <a:ea typeface="Calibri" pitchFamily="34" charset="-122"/>
                <a:cs typeface="Calibri" pitchFamily="34" charset="-120"/>
              </a:rPr>
              <a:t>3. Two students push a heavy box from opposite sides with the same strength. The box doesn't move. Explain why using the words 'balanced forces.'</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a:t>
            </a:r>
            <a:endParaRPr lang="en-US" sz="2100" dirty="0"/>
          </a:p>
        </p:txBody>
      </p:sp>
      <p:sp>
        <p:nvSpPr>
          <p:cNvPr id="7" name="Text 5"/>
          <p:cNvSpPr/>
          <p:nvPr/>
        </p:nvSpPr>
        <p:spPr>
          <a:xfrm>
            <a:off x="457200" y="1051560"/>
            <a:ext cx="8229600" cy="1737360"/>
          </a:xfrm>
          <a:prstGeom prst="rect">
            <a:avLst/>
          </a:prstGeom>
          <a:noFill/>
          <a:ln/>
        </p:spPr>
        <p:txBody>
          <a:bodyPr wrap="square" rtlCol="0" anchor="t"/>
          <a:lstStyle/>
          <a:p>
            <a:pPr indent="0" marL="0">
              <a:lnSpc>
                <a:spcPts val="2200"/>
              </a:lnSpc>
              <a:buNone/>
            </a:pPr>
            <a:r>
              <a:rPr lang="en-US" sz="1150" dirty="0">
                <a:solidFill>
                  <a:srgbClr val="2B1D12"/>
                </a:solidFill>
                <a:latin typeface="Calibri" pitchFamily="34" charset="0"/>
                <a:ea typeface="Calibri" pitchFamily="34" charset="-122"/>
                <a:cs typeface="Calibri" pitchFamily="34" charset="-120"/>
              </a:rPr>
              <a:t>4. What is a force? Use both 'push' and 'pull,' with one example of each from your own life.</a:t>
            </a:r>
            <a:endParaRPr lang="en-US" sz="1150" dirty="0"/>
          </a:p>
          <a:p>
            <a:pPr indent="0" marL="0">
              <a:lnSpc>
                <a:spcPts val="2200"/>
              </a:lnSpc>
              <a:buNone/>
            </a:pPr>
            <a:r>
              <a:rPr lang="en-US" sz="1150" dirty="0">
                <a:solidFill>
                  <a:srgbClr val="2B1D12"/>
                </a:solidFill>
                <a:latin typeface="Calibri" pitchFamily="34" charset="0"/>
                <a:ea typeface="Calibri" pitchFamily="34" charset="-122"/>
                <a:cs typeface="Calibri" pitchFamily="34" charset="-120"/>
              </a:rPr>
              <a:t>5. Explain the difference between balanced and unbalanced forces. What happens to motion in each case?</a:t>
            </a:r>
            <a:endParaRPr lang="en-US" sz="1150" dirty="0"/>
          </a:p>
          <a:p>
            <a:pPr indent="0" marL="0">
              <a:lnSpc>
                <a:spcPts val="2200"/>
              </a:lnSpc>
              <a:buNone/>
            </a:pPr>
            <a:r>
              <a:rPr lang="en-US" sz="1150" dirty="0">
                <a:solidFill>
                  <a:srgbClr val="2B1D12"/>
                </a:solidFill>
                <a:latin typeface="Calibri" pitchFamily="34" charset="0"/>
                <a:ea typeface="Calibri" pitchFamily="34" charset="-122"/>
                <a:cs typeface="Calibri" pitchFamily="34" charset="-120"/>
              </a:rPr>
              <a:t>6. Look at the soccer photo. Describe two forces at the moment of the kick. Balanced or unbalanced? How do you know?</a:t>
            </a:r>
            <a:endParaRPr lang="en-US" sz="1150" dirty="0"/>
          </a:p>
        </p:txBody>
      </p:sp>
      <p:sp>
        <p:nvSpPr>
          <p:cNvPr id="8" name="Shape 6"/>
          <p:cNvSpPr/>
          <p:nvPr/>
        </p:nvSpPr>
        <p:spPr>
          <a:xfrm>
            <a:off x="457200" y="2880360"/>
            <a:ext cx="8229600" cy="1234440"/>
          </a:xfrm>
          <a:prstGeom prst="roundRect">
            <a:avLst>
              <a:gd name="adj" fmla="val 5926"/>
            </a:avLst>
          </a:prstGeom>
          <a:solidFill>
            <a:srgbClr val="FFF3E0"/>
          </a:solidFill>
          <a:ln w="25400">
            <a:solidFill>
              <a:srgbClr val="F9A825"/>
            </a:solidFill>
            <a:prstDash val="dash"/>
          </a:ln>
        </p:spPr>
      </p:sp>
      <p:sp>
        <p:nvSpPr>
          <p:cNvPr id="9" name="Text 7"/>
          <p:cNvSpPr/>
          <p:nvPr/>
        </p:nvSpPr>
        <p:spPr>
          <a:xfrm>
            <a:off x="640080" y="297180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3246120"/>
            <a:ext cx="7863840" cy="52120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real-world action photograph of a soccer player's foot making contact with a soccer ball mid-kick on a grass field, captured at the exact moment of impact. Ball slightly deformed from the impact force, motion blur suggesting speed. Outdoor daylight, green grass field visible. Real sports photography style, no cartoons, no white background, no text overlays.</a:t>
            </a:r>
            <a:endParaRPr lang="en-US" sz="1100" dirty="0"/>
          </a:p>
        </p:txBody>
      </p:sp>
      <p:sp>
        <p:nvSpPr>
          <p:cNvPr id="11" name="Text 9"/>
          <p:cNvSpPr/>
          <p:nvPr/>
        </p:nvSpPr>
        <p:spPr>
          <a:xfrm>
            <a:off x="640080" y="38221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images/5-01-soccer-forces.png</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WRITE &amp;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Push Lightly, Then Push Hard</a:t>
            </a:r>
            <a:endParaRPr lang="en-US" sz="2100" dirty="0"/>
          </a:p>
        </p:txBody>
      </p:sp>
      <p:sp>
        <p:nvSpPr>
          <p:cNvPr id="7" name="Text 5"/>
          <p:cNvSpPr/>
          <p:nvPr/>
        </p:nvSpPr>
        <p:spPr>
          <a:xfrm>
            <a:off x="365760" y="1097280"/>
            <a:ext cx="8412480" cy="457200"/>
          </a:xfrm>
          <a:prstGeom prst="rect">
            <a:avLst/>
          </a:prstGeom>
          <a:noFill/>
          <a:ln/>
        </p:spPr>
        <p:txBody>
          <a:bodyPr wrap="square" rtlCol="0" anchor="ctr"/>
          <a:lstStyle/>
          <a:p>
            <a:pPr indent="0" marL="0">
              <a:buNone/>
            </a:pPr>
            <a:r>
              <a:rPr lang="en-US" sz="1250" i="1" dirty="0">
                <a:solidFill>
                  <a:srgbClr val="5A4D3E"/>
                </a:solidFill>
                <a:latin typeface="Calibri" pitchFamily="34" charset="0"/>
                <a:ea typeface="Calibri" pitchFamily="34" charset="-122"/>
                <a:cs typeface="Calibri" pitchFamily="34" charset="-120"/>
              </a:rPr>
              <a:t>You push the same book lightly, then push it hard. What changes about how it moves — and why?</a:t>
            </a:r>
            <a:endParaRPr lang="en-US" sz="1250" dirty="0"/>
          </a:p>
        </p:txBody>
      </p:sp>
      <p:sp>
        <p:nvSpPr>
          <p:cNvPr id="8" name="Shape 6"/>
          <p:cNvSpPr/>
          <p:nvPr/>
        </p:nvSpPr>
        <p:spPr>
          <a:xfrm>
            <a:off x="365760" y="1645920"/>
            <a:ext cx="8412480" cy="658368"/>
          </a:xfrm>
          <a:prstGeom prst="roundRect">
            <a:avLst>
              <a:gd name="adj" fmla="val 11111"/>
            </a:avLst>
          </a:prstGeom>
          <a:solidFill>
            <a:srgbClr val="FFF3E0"/>
          </a:solidFill>
          <a:ln w="19050">
            <a:solidFill>
              <a:srgbClr val="F57C00"/>
            </a:solidFill>
            <a:prstDash val="solid"/>
          </a:ln>
        </p:spPr>
      </p:sp>
      <p:sp>
        <p:nvSpPr>
          <p:cNvPr id="9" name="Text 7"/>
          <p:cNvSpPr/>
          <p:nvPr/>
        </p:nvSpPr>
        <p:spPr>
          <a:xfrm>
            <a:off x="548640" y="1700784"/>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do you think happens?</a:t>
            </a:r>
            <a:endParaRPr lang="en-US" sz="1150" dirty="0"/>
          </a:p>
        </p:txBody>
      </p:sp>
      <p:sp>
        <p:nvSpPr>
          <p:cNvPr id="10" name="Text 8"/>
          <p:cNvSpPr/>
          <p:nvPr/>
        </p:nvSpPr>
        <p:spPr>
          <a:xfrm>
            <a:off x="548640" y="1938528"/>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"I think that when I push harder, the book…"</a:t>
            </a:r>
            <a:endParaRPr lang="en-US" sz="1200" dirty="0"/>
          </a:p>
        </p:txBody>
      </p:sp>
      <p:sp>
        <p:nvSpPr>
          <p:cNvPr id="11" name="Shape 9"/>
          <p:cNvSpPr/>
          <p:nvPr/>
        </p:nvSpPr>
        <p:spPr>
          <a:xfrm>
            <a:off x="365760" y="2395728"/>
            <a:ext cx="8412480" cy="658368"/>
          </a:xfrm>
          <a:prstGeom prst="roundRect">
            <a:avLst>
              <a:gd name="adj" fmla="val 11111"/>
            </a:avLst>
          </a:prstGeom>
          <a:solidFill>
            <a:srgbClr val="FFF3E0"/>
          </a:solidFill>
          <a:ln w="19050">
            <a:solidFill>
              <a:srgbClr val="F57C00"/>
            </a:solidFill>
            <a:prstDash val="solid"/>
          </a:ln>
        </p:spPr>
      </p:sp>
      <p:sp>
        <p:nvSpPr>
          <p:cNvPr id="12" name="Text 10"/>
          <p:cNvSpPr/>
          <p:nvPr/>
        </p:nvSpPr>
        <p:spPr>
          <a:xfrm>
            <a:off x="548640" y="2450592"/>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did you observe or learn that supports your thinking?</a:t>
            </a:r>
            <a:endParaRPr lang="en-US" sz="1150" dirty="0"/>
          </a:p>
        </p:txBody>
      </p:sp>
      <p:sp>
        <p:nvSpPr>
          <p:cNvPr id="13" name="Text 11"/>
          <p:cNvSpPr/>
          <p:nvPr/>
        </p:nvSpPr>
        <p:spPr>
          <a:xfrm>
            <a:off x="548640" y="2688336"/>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"I know this because the lesson showed that forces…"</a:t>
            </a:r>
            <a:endParaRPr lang="en-US" sz="1200" dirty="0"/>
          </a:p>
        </p:txBody>
      </p:sp>
      <p:sp>
        <p:nvSpPr>
          <p:cNvPr id="14" name="Shape 12"/>
          <p:cNvSpPr/>
          <p:nvPr/>
        </p:nvSpPr>
        <p:spPr>
          <a:xfrm>
            <a:off x="365760" y="3145536"/>
            <a:ext cx="8412480" cy="658368"/>
          </a:xfrm>
          <a:prstGeom prst="roundRect">
            <a:avLst>
              <a:gd name="adj" fmla="val 11111"/>
            </a:avLst>
          </a:prstGeom>
          <a:solidFill>
            <a:srgbClr val="FFF3E0"/>
          </a:solidFill>
          <a:ln w="19050">
            <a:solidFill>
              <a:srgbClr val="F57C00"/>
            </a:solidFill>
            <a:prstDash val="solid"/>
          </a:ln>
        </p:spPr>
      </p:sp>
      <p:sp>
        <p:nvSpPr>
          <p:cNvPr id="15" name="Text 13"/>
          <p:cNvSpPr/>
          <p:nvPr/>
        </p:nvSpPr>
        <p:spPr>
          <a:xfrm>
            <a:off x="548640" y="3200400"/>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Why does that make sense?</a:t>
            </a:r>
            <a:endParaRPr lang="en-US" sz="1150" dirty="0"/>
          </a:p>
        </p:txBody>
      </p:sp>
      <p:sp>
        <p:nvSpPr>
          <p:cNvPr id="16" name="Text 14"/>
          <p:cNvSpPr/>
          <p:nvPr/>
        </p:nvSpPr>
        <p:spPr>
          <a:xfrm>
            <a:off x="548640" y="3438144"/>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"This makes sense because a stronger force…"</a:t>
            </a:r>
            <a:endParaRPr lang="en-US" sz="1200" dirty="0"/>
          </a:p>
        </p:txBody>
      </p:sp>
      <p:sp>
        <p:nvSpPr>
          <p:cNvPr id="17" name="Text 15"/>
          <p:cNvSpPr/>
          <p:nvPr/>
        </p:nvSpPr>
        <p:spPr>
          <a:xfrm>
            <a:off x="365760" y="3941064"/>
            <a:ext cx="8412480" cy="320040"/>
          </a:xfrm>
          <a:prstGeom prst="rect">
            <a:avLst/>
          </a:prstGeom>
          <a:noFill/>
          <a:ln/>
        </p:spPr>
        <p:txBody>
          <a:bodyPr wrap="square" rtlCol="0" anchor="ctr"/>
          <a:lstStyle/>
          <a:p>
            <a:pPr indent="0" marL="0">
              <a:buNone/>
            </a:pPr>
            <a:r>
              <a:rPr lang="en-US" sz="1100" i="1" dirty="0">
                <a:solidFill>
                  <a:srgbClr val="5A4D3E"/>
                </a:solidFill>
                <a:latin typeface="Calibri" pitchFamily="34" charset="0"/>
                <a:ea typeface="Calibri" pitchFamily="34" charset="-122"/>
                <a:cs typeface="Calibri" pitchFamily="34" charset="-120"/>
              </a:rPr>
              <a:t>Try to use at least one of these words: force, motion, balanced, unbalanced</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Turn It In</a:t>
            </a:r>
            <a:endParaRPr lang="en-US" sz="2100" dirty="0"/>
          </a:p>
        </p:txBody>
      </p:sp>
      <p:sp>
        <p:nvSpPr>
          <p:cNvPr id="7" name="Text 5"/>
          <p:cNvSpPr/>
          <p:nvPr/>
        </p:nvSpPr>
        <p:spPr>
          <a:xfrm>
            <a:off x="320040" y="1051560"/>
            <a:ext cx="8503920" cy="86868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Draw two force diagrams: Diagram 1 — balanced forces (an object with two equal forces from opposite directions, arrows labeled). Diagram 2 — unbalanced forces (a soccer kick, arrows labeled with direction).</a:t>
            </a:r>
            <a:endParaRPr lang="en-US" sz="1150" dirty="0"/>
          </a:p>
        </p:txBody>
      </p:sp>
      <p:sp>
        <p:nvSpPr>
          <p:cNvPr id="8" name="Shape 6"/>
          <p:cNvSpPr/>
          <p:nvPr/>
        </p:nvSpPr>
        <p:spPr>
          <a:xfrm>
            <a:off x="365760" y="2011680"/>
            <a:ext cx="8412480" cy="1371600"/>
          </a:xfrm>
          <a:prstGeom prst="roundRect">
            <a:avLst>
              <a:gd name="adj" fmla="val 5333"/>
            </a:avLst>
          </a:prstGeom>
          <a:solidFill>
            <a:srgbClr val="FFFFFF"/>
          </a:solidFill>
          <a:ln w="19050">
            <a:solidFill>
              <a:srgbClr val="E8DDD2"/>
            </a:solidFill>
            <a:prstDash val="solid"/>
          </a:ln>
        </p:spPr>
      </p:sp>
      <p:sp>
        <p:nvSpPr>
          <p:cNvPr id="9" name="Text 7"/>
          <p:cNvSpPr/>
          <p:nvPr/>
        </p:nvSpPr>
        <p:spPr>
          <a:xfrm>
            <a:off x="548640" y="2103120"/>
            <a:ext cx="8046720" cy="228600"/>
          </a:xfrm>
          <a:prstGeom prst="rect">
            <a:avLst/>
          </a:prstGeom>
          <a:noFill/>
          <a:ln/>
        </p:spPr>
        <p:txBody>
          <a:bodyPr wrap="square" rtlCol="0" anchor="ctr"/>
          <a:lstStyle/>
          <a:p>
            <a:pPr indent="0" marL="0">
              <a:buNone/>
            </a:pPr>
            <a:r>
              <a:rPr lang="en-US" sz="1050" b="1" spc="100" kern="0" dirty="0">
                <a:solidFill>
                  <a:srgbClr val="7B5EA7"/>
                </a:solidFill>
                <a:latin typeface="Calibri" pitchFamily="34" charset="0"/>
                <a:ea typeface="Calibri" pitchFamily="34" charset="-122"/>
                <a:cs typeface="Calibri" pitchFamily="34" charset="-120"/>
              </a:rPr>
              <a:t>MAKE SURE YOUR SUBMISSION INCLUDES</a:t>
            </a:r>
            <a:endParaRPr lang="en-US" sz="1050" dirty="0"/>
          </a:p>
        </p:txBody>
      </p:sp>
      <p:sp>
        <p:nvSpPr>
          <p:cNvPr id="10" name="Text 8"/>
          <p:cNvSpPr/>
          <p:nvPr/>
        </p:nvSpPr>
        <p:spPr>
          <a:xfrm>
            <a:off x="548640" y="2377440"/>
            <a:ext cx="8046720" cy="960120"/>
          </a:xfrm>
          <a:prstGeom prst="rect">
            <a:avLst/>
          </a:prstGeom>
          <a:noFill/>
          <a:ln/>
        </p:spPr>
        <p:txBody>
          <a:bodyPr wrap="square" rtlCol="0" anchor="ctr"/>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Part A and Part B answers (force identification and short answer)</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Write &amp; Explain response — all three prompts with reasoning</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Part C force diagrams — balanced and unbalanced, labeled arrows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investigation data table and force diagrams from the Explore tab</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828800"/>
            <a:ext cx="8229600"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514600"/>
            <a:ext cx="8229600" cy="457200"/>
          </a:xfrm>
          <a:prstGeom prst="rect">
            <a:avLst/>
          </a:prstGeom>
          <a:noFill/>
          <a:ln/>
        </p:spPr>
        <p:txBody>
          <a:bodyPr wrap="square" rtlCol="0" anchor="ctr"/>
          <a:lstStyle/>
          <a:p>
            <a:pPr algn="ctr" indent="0" marL="0">
              <a:buNone/>
            </a:pPr>
            <a:r>
              <a:rPr lang="en-US" sz="1400" dirty="0">
                <a:solidFill>
                  <a:srgbClr val="FFCA28"/>
                </a:solidFill>
                <a:latin typeface="Calibri" pitchFamily="34" charset="0"/>
                <a:ea typeface="Calibri" pitchFamily="34" charset="-122"/>
                <a:cs typeface="Calibri" pitchFamily="34" charset="-120"/>
              </a:rPr>
              <a:t>Up next: ramps and balls — how force strength changes movement!</a:t>
            </a:r>
            <a:endParaRPr lang="en-US" sz="1400" dirty="0"/>
          </a:p>
        </p:txBody>
      </p:sp>
      <p:sp>
        <p:nvSpPr>
          <p:cNvPr id="6" name="Text 4"/>
          <p:cNvSpPr/>
          <p:nvPr/>
        </p:nvSpPr>
        <p:spPr>
          <a:xfrm>
            <a:off x="457200" y="4709160"/>
            <a:ext cx="8229600" cy="274320"/>
          </a:xfrm>
          <a:prstGeom prst="rect">
            <a:avLst/>
          </a:prstGeom>
          <a:noFill/>
          <a:ln/>
        </p:spPr>
        <p:txBody>
          <a:bodyPr wrap="square" rtlCol="0" anchor="ctr"/>
          <a:lstStyle/>
          <a:p>
            <a:pPr algn="ctr" indent="0" marL="0">
              <a:buNone/>
            </a:pPr>
            <a:r>
              <a:rPr lang="en-US" sz="900" dirty="0">
                <a:solidFill>
                  <a:srgbClr val="55C8E8"/>
                </a:solidFill>
                <a:latin typeface="Calibri" pitchFamily="34" charset="0"/>
                <a:ea typeface="Calibri" pitchFamily="34" charset="-122"/>
                <a:cs typeface="Calibri" pitchFamily="34" charset="-120"/>
              </a:rPr>
              <a:t>Optima Academy Online · 3rd Grade Science · Lesson 5.01 · NGSS 3-PS2-1 · CPALMS SC.3.E.5.4, SC.3.P.10.2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2026-07-12T02:56:30Z</dcterms:created>
  <dcterms:modified xsi:type="dcterms:W3CDTF">2026-07-12T02:56:30Z</dcterms:modified>
</cp:coreProperties>
</file>