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module! From patterns of motion into invisible forces — magnets that push and pull without touching.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think of a time they've played with magnets before reading the question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(attraction/repulsion) -&gt; Section 2, investigation pole-testing step, Self-Check Q1. I Can #2 (poles affect direction) -&gt; Section 2, Self-Check Q3, Assignment Part B Q5-6. I Can #3 (sort materials) -&gt; Section 3, investigation object-testing step, Self-Check Q2, Assignment Part A. Write &amp; Explain frame rehearsed via the investigation's pole-testing sketches and 'Think It Through' step, then again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Gather a mix of magnetic and nonmagnetic objects ahead of time — 8-10 total works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share personal magnet experiences before moving to vocabulary — refrigerator magnets are the most common reference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Poles is the word students will use most today — every attraction/repulsion question comes back to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Attraction vs. repulsion is the central distinction of the whole lesson — opposite poles pull, matching poles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lesson and directly answers the Big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may think of gravity here — a nice connection, since gravity also works without touching (this was covered implicitly in force lessons earlier in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rule of the whole lesson: opposite poles attract, matching poles repel. Repeat it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Scrap metal recyclers use powerful electromagnets on cranes to sort steel from other materials — faster than sorting by hand, and magnets never get 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crosscutting concept: cause (pole orientation and distance) determines effect (direction and strength of the push or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great connective moment — the geographic North/South Pole names actually come from this exact magnetic phenomenon.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photo makes the invisible magnetic field visible — a powerful moment for students who've only felt the force but never seen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'hypothesis' is introduced casually here — a prediction made before testing, framed simply for 3rd graders.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one magnet is available per station, pair up students for the pole-testing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(visual, not verbal this time) — these labeled sketches directly preview the Part C assignment drawing. Have a few students describe their sketches out loud, naming the poles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Talk-only reflection. Question 2 is a great moment to normalize being wrong — a hypothesis not matching results is still useful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foreshadows the 'distance matters' content from the Curious? Go Deeper section — force gets stronger as poles get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application of the core rule from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students' own pole-testing results from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whether students absorbed the magnetic vs. nonmagnetic materials list from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tested a wooden craft stick in the investigation, connect this directly to their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the iron filings photo, which visibly shows filings clustering at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the iron filings image if students need a visual reminder.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material here was likely tested directly in the investigation — students should cite their own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asks students to name magnetism's most unusual property — that it works without touching, unlike a push or pull force from earlier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this reuses the exact pole-testing observation from the investigation's step 4, now with sentence starters. Have 1-2 more students rehearse aloud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7.02 — students will use what they learned about magnets to design a rescue tool that solves a real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How Do Magnets Work?</a:t>
            </a:r>
            <a:endParaRPr lang="en-US" sz="3200" dirty="0"/>
          </a:p>
        </p:txBody>
      </p:sp>
      <p:sp>
        <p:nvSpPr>
          <p:cNvPr id="6" name="Text 4"/>
          <p:cNvSpPr/>
          <p:nvPr/>
        </p:nvSpPr>
        <p:spPr>
          <a:xfrm>
            <a:off x="457200" y="269748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7.01  ·  Week 7  ·  NGSS 3-PS2-3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463040"/>
            <a:ext cx="8046720" cy="1463040"/>
          </a:xfrm>
          <a:prstGeom prst="roundRect">
            <a:avLst>
              <a:gd name="adj" fmla="val 6250"/>
            </a:avLst>
          </a:prstGeom>
          <a:solidFill>
            <a:srgbClr val="0E1C42"/>
          </a:solidFill>
          <a:ln w="25400">
            <a:solidFill>
              <a:srgbClr val="55C8E8"/>
            </a:solidFill>
            <a:prstDash val="solid"/>
          </a:ln>
        </p:spPr>
      </p:sp>
      <p:sp>
        <p:nvSpPr>
          <p:cNvPr id="8" name="Text 6"/>
          <p:cNvSpPr/>
          <p:nvPr/>
        </p:nvSpPr>
        <p:spPr>
          <a:xfrm>
            <a:off x="822960" y="1691640"/>
            <a:ext cx="7498080" cy="1005840"/>
          </a:xfrm>
          <a:prstGeom prst="rect">
            <a:avLst/>
          </a:prstGeom>
          <a:noFill/>
          <a:ln/>
        </p:spPr>
        <p:txBody>
          <a:bodyPr wrap="square"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"How can a magnet move something without even touching it?"</a:t>
            </a:r>
            <a:endParaRPr lang="en-US" sz="2100" dirty="0"/>
          </a:p>
        </p:txBody>
      </p:sp>
      <p:sp>
        <p:nvSpPr>
          <p:cNvPr id="9" name="Text 7"/>
          <p:cNvSpPr/>
          <p:nvPr/>
        </p:nvSpPr>
        <p:spPr>
          <a:xfrm>
            <a:off x="822960" y="3063240"/>
            <a:ext cx="7498080" cy="502920"/>
          </a:xfrm>
          <a:prstGeom prst="rect">
            <a:avLst/>
          </a:prstGeom>
          <a:noFill/>
          <a:ln/>
        </p:spPr>
        <p:txBody>
          <a:bodyPr wrap="square" rtlCol="0" anchor="t"/>
          <a:lstStyle/>
          <a:p>
            <a:pPr algn="ctr" indent="0" marL="0">
              <a:buNone/>
            </a:pPr>
            <a:r>
              <a:rPr lang="en-US" sz="1250" dirty="0">
                <a:solidFill>
                  <a:srgbClr val="5A4D3E"/>
                </a:solidFill>
                <a:latin typeface="Calibri" pitchFamily="34" charset="0"/>
                <a:ea typeface="Calibri" pitchFamily="34" charset="-122"/>
                <a:cs typeface="Calibri" pitchFamily="34" charset="-120"/>
              </a:rPr>
              <a:t>Hold that question in mind as you work through the lesson. By the end, you should be able to answer it — with evidence.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I can describe what attraction and repulsion look like between two magnets.</a:t>
            </a:r>
            <a:endParaRPr lang="en-US" sz="135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I can explain how a magnet's poles affect the direction of the force.</a:t>
            </a:r>
            <a:endParaRPr lang="en-US" sz="135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I can sort materials as magnetic or nonmagnetic based on observations.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371600"/>
            <a:ext cx="8046720" cy="640080"/>
          </a:xfrm>
          <a:prstGeom prst="roundRect">
            <a:avLst>
              <a:gd name="adj" fmla="val 11429"/>
            </a:avLst>
          </a:prstGeom>
          <a:solidFill>
            <a:srgbClr val="FFFFFF"/>
          </a:solidFill>
          <a:ln w="12700">
            <a:solidFill>
              <a:srgbClr val="E8DDD2"/>
            </a:solidFill>
            <a:prstDash val="solid"/>
          </a:ln>
        </p:spPr>
      </p:sp>
      <p:sp>
        <p:nvSpPr>
          <p:cNvPr id="8" name="Shape 6"/>
          <p:cNvSpPr/>
          <p:nvPr/>
        </p:nvSpPr>
        <p:spPr>
          <a:xfrm>
            <a:off x="777240" y="1600200"/>
            <a:ext cx="182880" cy="182880"/>
          </a:xfrm>
          <a:prstGeom prst="ellipse">
            <a:avLst/>
          </a:prstGeom>
          <a:solidFill>
            <a:srgbClr val="0288D1"/>
          </a:solidFill>
          <a:ln/>
        </p:spPr>
      </p:sp>
      <p:sp>
        <p:nvSpPr>
          <p:cNvPr id="9" name="Text 7"/>
          <p:cNvSpPr/>
          <p:nvPr/>
        </p:nvSpPr>
        <p:spPr>
          <a:xfrm>
            <a:off x="1143000" y="1444752"/>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Science notebook &amp; pencil</a:t>
            </a:r>
            <a:endParaRPr lang="en-US" sz="1350" dirty="0"/>
          </a:p>
        </p:txBody>
      </p:sp>
      <p:sp>
        <p:nvSpPr>
          <p:cNvPr id="10" name="Shape 8"/>
          <p:cNvSpPr/>
          <p:nvPr/>
        </p:nvSpPr>
        <p:spPr>
          <a:xfrm>
            <a:off x="548640" y="2148840"/>
            <a:ext cx="8046720" cy="640080"/>
          </a:xfrm>
          <a:prstGeom prst="roundRect">
            <a:avLst>
              <a:gd name="adj" fmla="val 11429"/>
            </a:avLst>
          </a:prstGeom>
          <a:solidFill>
            <a:srgbClr val="FFFFFF"/>
          </a:solidFill>
          <a:ln w="12700">
            <a:solidFill>
              <a:srgbClr val="E8DDD2"/>
            </a:solidFill>
            <a:prstDash val="solid"/>
          </a:ln>
        </p:spPr>
      </p:sp>
      <p:sp>
        <p:nvSpPr>
          <p:cNvPr id="11" name="Shape 9"/>
          <p:cNvSpPr/>
          <p:nvPr/>
        </p:nvSpPr>
        <p:spPr>
          <a:xfrm>
            <a:off x="777240" y="2377440"/>
            <a:ext cx="182880" cy="182880"/>
          </a:xfrm>
          <a:prstGeom prst="ellipse">
            <a:avLst/>
          </a:prstGeom>
          <a:solidFill>
            <a:srgbClr val="0288D1"/>
          </a:solidFill>
          <a:ln/>
        </p:spPr>
      </p:sp>
      <p:sp>
        <p:nvSpPr>
          <p:cNvPr id="12" name="Text 10"/>
          <p:cNvSpPr/>
          <p:nvPr/>
        </p:nvSpPr>
        <p:spPr>
          <a:xfrm>
            <a:off x="1143000" y="2221992"/>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A magnet</a:t>
            </a:r>
            <a:endParaRPr lang="en-US" sz="1350" dirty="0"/>
          </a:p>
        </p:txBody>
      </p:sp>
      <p:sp>
        <p:nvSpPr>
          <p:cNvPr id="13" name="Shape 11"/>
          <p:cNvSpPr/>
          <p:nvPr/>
        </p:nvSpPr>
        <p:spPr>
          <a:xfrm>
            <a:off x="548640" y="2926080"/>
            <a:ext cx="8046720" cy="640080"/>
          </a:xfrm>
          <a:prstGeom prst="roundRect">
            <a:avLst>
              <a:gd name="adj" fmla="val 11429"/>
            </a:avLst>
          </a:prstGeom>
          <a:solidFill>
            <a:srgbClr val="FFFFFF"/>
          </a:solidFill>
          <a:ln w="12700">
            <a:solidFill>
              <a:srgbClr val="E8DDD2"/>
            </a:solidFill>
            <a:prstDash val="solid"/>
          </a:ln>
        </p:spPr>
      </p:sp>
      <p:sp>
        <p:nvSpPr>
          <p:cNvPr id="14" name="Shape 12"/>
          <p:cNvSpPr/>
          <p:nvPr/>
        </p:nvSpPr>
        <p:spPr>
          <a:xfrm>
            <a:off x="777240" y="3154680"/>
            <a:ext cx="182880" cy="182880"/>
          </a:xfrm>
          <a:prstGeom prst="ellipse">
            <a:avLst/>
          </a:prstGeom>
          <a:solidFill>
            <a:srgbClr val="0288D1"/>
          </a:solidFill>
          <a:ln/>
        </p:spPr>
      </p:sp>
      <p:sp>
        <p:nvSpPr>
          <p:cNvPr id="15" name="Text 13"/>
          <p:cNvSpPr/>
          <p:nvPr/>
        </p:nvSpPr>
        <p:spPr>
          <a:xfrm>
            <a:off x="1143000" y="2999232"/>
            <a:ext cx="7315200" cy="50292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Small objects to test (paper clip, coin, nail, foil, plastic cap, craft stick, etc.)</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Look Carefully Before You Start</a:t>
            </a:r>
            <a:endParaRPr lang="en-US" sz="2100" dirty="0"/>
          </a:p>
        </p:txBody>
      </p:sp>
      <p:sp>
        <p:nvSpPr>
          <p:cNvPr id="7" name="Text 5"/>
          <p:cNvSpPr/>
          <p:nvPr/>
        </p:nvSpPr>
        <p:spPr>
          <a:xfrm>
            <a:off x="320040" y="1143000"/>
            <a:ext cx="8503920" cy="8686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Before you start the lesson, take a moment to think about magnets. Maybe you've seen one on a refrigerator, picked one up off a counter, or felt two of them push back against each other.</a:t>
            </a:r>
            <a:endParaRPr lang="en-US" sz="1350" dirty="0"/>
          </a:p>
        </p:txBody>
      </p:sp>
      <p:sp>
        <p:nvSpPr>
          <p:cNvPr id="8" name="Shape 6"/>
          <p:cNvSpPr/>
          <p:nvPr/>
        </p:nvSpPr>
        <p:spPr>
          <a:xfrm>
            <a:off x="320040" y="210312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176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957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Describe at least two things you observe. What do you wonder? Write one question.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Force Itself</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magnet</a:t>
            </a:r>
            <a:endParaRPr lang="en-US" sz="16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An object that creates an invisible force that pulls or pushes certain materials.</a:t>
            </a:r>
            <a:endParaRPr lang="en-US" sz="13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magnetism</a:t>
            </a:r>
            <a:endParaRPr lang="en-US" sz="16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The invisible pushing or pulling force that a magnet creates around it.</a:t>
            </a:r>
            <a:endParaRPr lang="en-US" sz="13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poles</a:t>
            </a:r>
            <a:endParaRPr lang="en-US" sz="16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The two ends of a magnet (north and south) where the force is strongest.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Push, Pull, and What Responds</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19456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attraction</a:t>
            </a:r>
            <a:endParaRPr lang="en-US" sz="1400" dirty="0"/>
          </a:p>
        </p:txBody>
      </p:sp>
      <p:sp>
        <p:nvSpPr>
          <p:cNvPr id="9" name="Text 7"/>
          <p:cNvSpPr/>
          <p:nvPr/>
        </p:nvSpPr>
        <p:spPr>
          <a:xfrm>
            <a:off x="3017520" y="1280160"/>
            <a:ext cx="548640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force that pulls two objects toward each other. Opposite poles attract.</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19456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repulsion</a:t>
            </a:r>
            <a:endParaRPr lang="en-US" sz="1400" dirty="0"/>
          </a:p>
        </p:txBody>
      </p:sp>
      <p:sp>
        <p:nvSpPr>
          <p:cNvPr id="12" name="Text 10"/>
          <p:cNvSpPr/>
          <p:nvPr/>
        </p:nvSpPr>
        <p:spPr>
          <a:xfrm>
            <a:off x="3017520" y="2423160"/>
            <a:ext cx="548640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force that pushes two objects apart. Matching poles repel each other.</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19456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magnetic material</a:t>
            </a:r>
            <a:endParaRPr lang="en-US" sz="1400" dirty="0"/>
          </a:p>
        </p:txBody>
      </p:sp>
      <p:sp>
        <p:nvSpPr>
          <p:cNvPr id="15" name="Text 13"/>
          <p:cNvSpPr/>
          <p:nvPr/>
        </p:nvSpPr>
        <p:spPr>
          <a:xfrm>
            <a:off x="3017520" y="3566160"/>
            <a:ext cx="548640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material that is attracted to a magnet, like iron or steel.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COPYWORK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188720"/>
          </a:xfrm>
          <a:prstGeom prst="roundRect">
            <a:avLst>
              <a:gd name="adj" fmla="val 615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8412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"Magnets can push or pull objects without touching them."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Force You Can't See</a:t>
            </a:r>
            <a:endParaRPr lang="en-US" sz="2100" dirty="0"/>
          </a:p>
        </p:txBody>
      </p:sp>
      <p:sp>
        <p:nvSpPr>
          <p:cNvPr id="7" name="Text 5"/>
          <p:cNvSpPr/>
          <p:nvPr/>
        </p:nvSpPr>
        <p:spPr>
          <a:xfrm>
            <a:off x="320040" y="1143000"/>
            <a:ext cx="8503920" cy="100584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Hold a magnet near a paper clip. Even before they touch, you can feel something pulling. That invisible pull is called magnetism. Magnets work at a distance — through air, through water, even through a thin piece of cardboard.</a:t>
            </a:r>
            <a:endParaRPr lang="en-US" sz="1350" dirty="0"/>
          </a:p>
        </p:txBody>
      </p:sp>
      <p:sp>
        <p:nvSpPr>
          <p:cNvPr id="8" name="Shape 6"/>
          <p:cNvSpPr/>
          <p:nvPr/>
        </p:nvSpPr>
        <p:spPr>
          <a:xfrm>
            <a:off x="320040" y="22402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3134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5328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Can you think of another force that works without touching? Or is magnetism the only one you know?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Poles: Attract and Repel</a:t>
            </a:r>
            <a:endParaRPr lang="en-US" sz="2100" dirty="0"/>
          </a:p>
        </p:txBody>
      </p:sp>
      <p:sp>
        <p:nvSpPr>
          <p:cNvPr id="7" name="Text 5"/>
          <p:cNvSpPr/>
          <p:nvPr/>
        </p:nvSpPr>
        <p:spPr>
          <a:xfrm>
            <a:off x="320040" y="1143000"/>
            <a:ext cx="8503920" cy="109728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Every magnet has two ends called poles: north and south. The rule that matters: opposite poles attract, and matching poles repel. Two magnets facing the same way push apart hard — flip one around and they snap toward each other. Same magnets, different direction.</a:t>
            </a:r>
            <a:endParaRPr lang="en-US" sz="1250" dirty="0"/>
          </a:p>
        </p:txBody>
      </p:sp>
      <p:sp>
        <p:nvSpPr>
          <p:cNvPr id="8" name="Shape 6"/>
          <p:cNvSpPr/>
          <p:nvPr/>
        </p:nvSpPr>
        <p:spPr>
          <a:xfrm>
            <a:off x="320040" y="233172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048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243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you had three magnets in a row, what would happen if they all had the same poles facing the same direction?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a Magnet Attract?</a:t>
            </a:r>
            <a:endParaRPr lang="en-US" sz="2100" dirty="0"/>
          </a:p>
        </p:txBody>
      </p:sp>
      <p:sp>
        <p:nvSpPr>
          <p:cNvPr id="7" name="Text 5"/>
          <p:cNvSpPr/>
          <p:nvPr/>
        </p:nvSpPr>
        <p:spPr>
          <a:xfrm>
            <a:off x="320040" y="1097280"/>
            <a:ext cx="8503920" cy="7772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Not everything sticks to a magnet. Only magnetic materials are pulled toward it — iron and steel are the most common. Plastic, wood, rubber, aluminum, and glass are all nonmagnetic.</a:t>
            </a:r>
            <a:endParaRPr lang="en-US" sz="1300" dirty="0"/>
          </a:p>
        </p:txBody>
      </p:sp>
      <p:sp>
        <p:nvSpPr>
          <p:cNvPr id="8" name="Shape 6"/>
          <p:cNvSpPr/>
          <p:nvPr/>
        </p:nvSpPr>
        <p:spPr>
          <a:xfrm>
            <a:off x="457200" y="1965960"/>
            <a:ext cx="8229600" cy="1737360"/>
          </a:xfrm>
          <a:prstGeom prst="roundRect">
            <a:avLst>
              <a:gd name="adj" fmla="val 4211"/>
            </a:avLst>
          </a:prstGeom>
          <a:solidFill>
            <a:srgbClr val="FFF3E0"/>
          </a:solidFill>
          <a:ln w="25400">
            <a:solidFill>
              <a:srgbClr val="F9A825"/>
            </a:solidFill>
            <a:prstDash val="dash"/>
          </a:ln>
        </p:spPr>
      </p:sp>
      <p:sp>
        <p:nvSpPr>
          <p:cNvPr id="9" name="Text 7"/>
          <p:cNvSpPr/>
          <p:nvPr/>
        </p:nvSpPr>
        <p:spPr>
          <a:xfrm>
            <a:off x="640080" y="205740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331720"/>
            <a:ext cx="7863840" cy="102412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real-world photograph of a large industrial crane with a circular electromagnet attached to its arm, lifting a tangled pile of scrap metal and steel beams at an outdoor junkyard or scrap metal facility. The magnet is round and dark, clearly holding a large mass of steel pieces. Background shows piles of sorted metal and an open industrial yard under natural daylight. No white background, no illustrations, real photograph, gritty and industrial.</a:t>
            </a:r>
            <a:endParaRPr lang="en-US" sz="1100" dirty="0"/>
          </a:p>
        </p:txBody>
      </p:sp>
      <p:sp>
        <p:nvSpPr>
          <p:cNvPr id="11" name="Text 9"/>
          <p:cNvSpPr/>
          <p:nvPr/>
        </p:nvSpPr>
        <p:spPr>
          <a:xfrm>
            <a:off x="640080" y="341071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images/7-01-scrap-magnet-crane.png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417320"/>
          </a:xfrm>
          <a:prstGeom prst="roundRect">
            <a:avLst>
              <a:gd name="adj" fmla="val 5161"/>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 · CAUSE AND EFFECT</a:t>
            </a:r>
            <a:endParaRPr lang="en-US" sz="1100" dirty="0"/>
          </a:p>
        </p:txBody>
      </p:sp>
      <p:sp>
        <p:nvSpPr>
          <p:cNvPr id="9" name="Text 7"/>
          <p:cNvSpPr/>
          <p:nvPr/>
        </p:nvSpPr>
        <p:spPr>
          <a:xfrm>
            <a:off x="502920" y="1572768"/>
            <a:ext cx="8138160" cy="10698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Magnets exert a force without touching. That force is strongest at the poles. Opposite poles pull toward each other; matching poles push apart. Only magnetic materials — like iron and steel — respond to this force.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SCIENCE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Earth Is a Giant Magnet</a:t>
            </a:r>
            <a:endParaRPr lang="en-US" sz="2100" dirty="0"/>
          </a:p>
        </p:txBody>
      </p:sp>
      <p:sp>
        <p:nvSpPr>
          <p:cNvPr id="7" name="Text 5"/>
          <p:cNvSpPr/>
          <p:nvPr/>
        </p:nvSpPr>
        <p:spPr>
          <a:xfrm>
            <a:off x="457200" y="1143000"/>
            <a:ext cx="8229600" cy="128016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The Earth itself is a giant magnet. Its iron core acts like an enormous bar magnet, which is why a compass needle always points north. Every compass on Earth is responding to magnetic forces coming from deep underground.</a:t>
            </a:r>
            <a:endParaRPr lang="en-US" sz="1450" dirty="0"/>
          </a:p>
        </p:txBody>
      </p:sp>
      <p:sp>
        <p:nvSpPr>
          <p:cNvPr id="8" name="Shape 6"/>
          <p:cNvSpPr/>
          <p:nvPr/>
        </p:nvSpPr>
        <p:spPr>
          <a:xfrm>
            <a:off x="320040" y="269748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7706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0266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the Earth's core acts like a giant bar magnet, does it have poles too? What might that have to do with the North Pole and South Pole on a globe?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Iron Filings Reveal a Magnetic Field</a:t>
            </a:r>
            <a:endParaRPr lang="en-US" sz="2100" dirty="0"/>
          </a:p>
        </p:txBody>
      </p:sp>
      <p:sp>
        <p:nvSpPr>
          <p:cNvPr id="7" name="Shape 5"/>
          <p:cNvSpPr/>
          <p:nvPr/>
        </p:nvSpPr>
        <p:spPr>
          <a:xfrm>
            <a:off x="457200" y="1097280"/>
            <a:ext cx="8229600" cy="2331720"/>
          </a:xfrm>
          <a:prstGeom prst="roundRect">
            <a:avLst>
              <a:gd name="adj" fmla="val 3137"/>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618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close-up real photograph of iron filings sprinkled on a sheet of white paper placed over a bar magnet. The filings clearly arranged in curved arc lines radiating from both ends (poles) of the magnet and looping around the outside — making the invisible magnetic field visibly obvious. The bar magnet partially visible beneath the paper or shown beside it. Shot from directly above on a flat surface, sharp focus, natural or warm indoor light. No illustrations, no cartoons.</a:t>
            </a:r>
            <a:endParaRPr lang="en-US" sz="1100" dirty="0"/>
          </a:p>
        </p:txBody>
      </p:sp>
      <p:sp>
        <p:nvSpPr>
          <p:cNvPr id="10" name="Text 8"/>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images/7-01-iron-filings-field.png</a:t>
            </a:r>
            <a:endParaRPr lang="en-US" sz="950" dirty="0"/>
          </a:p>
        </p:txBody>
      </p:sp>
      <p:sp>
        <p:nvSpPr>
          <p:cNvPr id="11" name="Text 9"/>
          <p:cNvSpPr/>
          <p:nvPr/>
        </p:nvSpPr>
        <p:spPr>
          <a:xfrm>
            <a:off x="457200" y="3611880"/>
            <a:ext cx="8229600" cy="640080"/>
          </a:xfrm>
          <a:prstGeom prst="rect">
            <a:avLst/>
          </a:prstGeom>
          <a:noFill/>
          <a:ln/>
        </p:spPr>
        <p:txBody>
          <a:bodyPr wrap="square" rtlCol="0" anchor="t"/>
          <a:lstStyle/>
          <a:p>
            <a:pPr indent="0" marL="0">
              <a:buNone/>
            </a:pPr>
            <a:r>
              <a:rPr lang="en-US" sz="1200" dirty="0">
                <a:solidFill>
                  <a:srgbClr val="5A4D3E"/>
                </a:solidFill>
                <a:latin typeface="Calibri" pitchFamily="34" charset="0"/>
                <a:ea typeface="Calibri" pitchFamily="34" charset="-122"/>
                <a:cs typeface="Calibri" pitchFamily="34" charset="-120"/>
              </a:rPr>
              <a:t>Iron filings line up along the invisible magnetic field. Each curved line shows the path the force travels. The filings cluster thickest at the poles — right where the force is strongest.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18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a Magnet Attract?</a:t>
            </a:r>
            <a:endParaRPr lang="en-US" sz="2100" dirty="0"/>
          </a:p>
        </p:txBody>
      </p:sp>
      <p:sp>
        <p:nvSpPr>
          <p:cNvPr id="7" name="Text 5"/>
          <p:cNvSpPr/>
          <p:nvPr/>
        </p:nvSpPr>
        <p:spPr>
          <a:xfrm>
            <a:off x="320040" y="1097280"/>
            <a:ext cx="8503920" cy="6400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Before you start testing, make a prediction. Do scientists guess before they test? Yes — that's called a hypothesis. Then the test tells you if you were right.</a:t>
            </a:r>
            <a:endParaRPr lang="en-US" sz="1300" dirty="0"/>
          </a:p>
        </p:txBody>
      </p:sp>
      <p:sp>
        <p:nvSpPr>
          <p:cNvPr id="8" name="Shape 6"/>
          <p:cNvSpPr/>
          <p:nvPr/>
        </p:nvSpPr>
        <p:spPr>
          <a:xfrm>
            <a:off x="320040" y="1828800"/>
            <a:ext cx="8503920" cy="777240"/>
          </a:xfrm>
          <a:prstGeom prst="roundRect">
            <a:avLst>
              <a:gd name="adj" fmla="val 9412"/>
            </a:avLst>
          </a:prstGeom>
          <a:solidFill>
            <a:srgbClr val="FFF3E0"/>
          </a:solidFill>
          <a:ln w="19050">
            <a:solidFill>
              <a:srgbClr val="F57C00"/>
            </a:solidFill>
            <a:prstDash val="solid"/>
          </a:ln>
        </p:spPr>
      </p:sp>
      <p:sp>
        <p:nvSpPr>
          <p:cNvPr id="9" name="Text 7"/>
          <p:cNvSpPr/>
          <p:nvPr/>
        </p:nvSpPr>
        <p:spPr>
          <a:xfrm>
            <a:off x="502920" y="188366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0" name="Text 8"/>
          <p:cNvSpPr/>
          <p:nvPr/>
        </p:nvSpPr>
        <p:spPr>
          <a:xfrm>
            <a:off x="502920" y="2048256"/>
            <a:ext cx="8138160" cy="52120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Draw a table with 3 columns: Object, My Prediction, What Happened. List your 8-10 objects in the first column. Then write 'magnetic' or 'nonmagnetic' for each — before you test.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STEPS 3-4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 Objects, Then Test Poles</a:t>
            </a:r>
            <a:endParaRPr lang="en-US" sz="2100" dirty="0"/>
          </a:p>
        </p:txBody>
      </p:sp>
      <p:sp>
        <p:nvSpPr>
          <p:cNvPr id="7" name="Shape 5"/>
          <p:cNvSpPr/>
          <p:nvPr/>
        </p:nvSpPr>
        <p:spPr>
          <a:xfrm>
            <a:off x="457200" y="1188720"/>
            <a:ext cx="457200" cy="457200"/>
          </a:xfrm>
          <a:prstGeom prst="ellipse">
            <a:avLst/>
          </a:prstGeom>
          <a:solidFill>
            <a:srgbClr val="E65100"/>
          </a:solidFill>
          <a:ln/>
        </p:spPr>
      </p:sp>
      <p:sp>
        <p:nvSpPr>
          <p:cNvPr id="8" name="Text 6"/>
          <p:cNvSpPr/>
          <p:nvPr/>
        </p:nvSpPr>
        <p:spPr>
          <a:xfrm>
            <a:off x="457200" y="11887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9" name="Text 7"/>
          <p:cNvSpPr/>
          <p:nvPr/>
        </p:nvSpPr>
        <p:spPr>
          <a:xfrm>
            <a:off x="1097280" y="1143000"/>
            <a:ext cx="7589520" cy="914400"/>
          </a:xfrm>
          <a:prstGeom prst="rect">
            <a:avLst/>
          </a:prstGeom>
          <a:noFill/>
          <a:ln/>
        </p:spPr>
        <p:txBody>
          <a:bodyPr wrap="square" rtlCol="0" anchor="t"/>
          <a:lstStyle/>
          <a:p>
            <a:pPr indent="0" marL="0">
              <a:lnSpc>
                <a:spcPts val="1500"/>
              </a:lnSpc>
              <a:buNone/>
            </a:pPr>
            <a:r>
              <a:rPr lang="en-US" sz="1200" b="1" dirty="0">
                <a:solidFill>
                  <a:srgbClr val="2B1D12"/>
                </a:solidFill>
                <a:latin typeface="Calibri" pitchFamily="34" charset="0"/>
                <a:ea typeface="Calibri" pitchFamily="34" charset="-122"/>
                <a:cs typeface="Calibri" pitchFamily="34" charset="-120"/>
              </a:rPr>
              <a:t>Test each object.  </a:t>
            </a:r>
            <a:pPr indent="0" marL="0">
              <a:lnSpc>
                <a:spcPts val="1500"/>
              </a:lnSpc>
              <a:buNone/>
            </a:pPr>
            <a:r>
              <a:rPr lang="en-US" sz="1200" dirty="0">
                <a:solidFill>
                  <a:srgbClr val="5A4D3E"/>
                </a:solidFill>
                <a:latin typeface="Calibri" pitchFamily="34" charset="0"/>
                <a:ea typeface="Calibri" pitchFamily="34" charset="-122"/>
                <a:cs typeface="Calibri" pitchFamily="34" charset="-120"/>
              </a:rPr>
              <a:t>Hold the magnet about 2 cm away, then move it slowly closer. Record whether the object was attracted, not attracted, or weakly attracted.</a:t>
            </a:r>
            <a:endParaRPr lang="en-US" sz="1200" dirty="0"/>
          </a:p>
        </p:txBody>
      </p:sp>
      <p:sp>
        <p:nvSpPr>
          <p:cNvPr id="10" name="Shape 8"/>
          <p:cNvSpPr/>
          <p:nvPr/>
        </p:nvSpPr>
        <p:spPr>
          <a:xfrm>
            <a:off x="457200" y="2240280"/>
            <a:ext cx="457200" cy="457200"/>
          </a:xfrm>
          <a:prstGeom prst="ellipse">
            <a:avLst/>
          </a:prstGeom>
          <a:solidFill>
            <a:srgbClr val="E65100"/>
          </a:solidFill>
          <a:ln/>
        </p:spPr>
      </p:sp>
      <p:sp>
        <p:nvSpPr>
          <p:cNvPr id="11" name="Text 9"/>
          <p:cNvSpPr/>
          <p:nvPr/>
        </p:nvSpPr>
        <p:spPr>
          <a:xfrm>
            <a:off x="457200" y="22402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2" name="Text 10"/>
          <p:cNvSpPr/>
          <p:nvPr/>
        </p:nvSpPr>
        <p:spPr>
          <a:xfrm>
            <a:off x="1097280" y="2194560"/>
            <a:ext cx="7589520" cy="914400"/>
          </a:xfrm>
          <a:prstGeom prst="rect">
            <a:avLst/>
          </a:prstGeom>
          <a:noFill/>
          <a:ln/>
        </p:spPr>
        <p:txBody>
          <a:bodyPr wrap="square" rtlCol="0" anchor="t"/>
          <a:lstStyle/>
          <a:p>
            <a:pPr indent="0" marL="0">
              <a:lnSpc>
                <a:spcPts val="1500"/>
              </a:lnSpc>
              <a:buNone/>
            </a:pPr>
            <a:r>
              <a:rPr lang="en-US" sz="1200" b="1" dirty="0">
                <a:solidFill>
                  <a:srgbClr val="2B1D12"/>
                </a:solidFill>
                <a:latin typeface="Calibri" pitchFamily="34" charset="0"/>
                <a:ea typeface="Calibri" pitchFamily="34" charset="-122"/>
                <a:cs typeface="Calibri" pitchFamily="34" charset="-120"/>
              </a:rPr>
              <a:t>Test the poles.  </a:t>
            </a:r>
            <a:pPr indent="0" marL="0">
              <a:lnSpc>
                <a:spcPts val="1500"/>
              </a:lnSpc>
              <a:buNone/>
            </a:pPr>
            <a:r>
              <a:rPr lang="en-US" sz="1200" dirty="0">
                <a:solidFill>
                  <a:srgbClr val="5A4D3E"/>
                </a:solidFill>
                <a:latin typeface="Calibri" pitchFamily="34" charset="0"/>
                <a:ea typeface="Calibri" pitchFamily="34" charset="-122"/>
                <a:cs typeface="Calibri" pitchFamily="34" charset="-120"/>
              </a:rPr>
              <a:t>Bring the same ends of two magnets toward each other (both north or both south). Then flip one and try again. Write what you observe — push or pull?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5</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and Label Two Sketches</a:t>
            </a:r>
            <a:endParaRPr lang="en-US" sz="2100" dirty="0"/>
          </a:p>
        </p:txBody>
      </p:sp>
      <p:sp>
        <p:nvSpPr>
          <p:cNvPr id="7" name="Shape 5"/>
          <p:cNvSpPr/>
          <p:nvPr/>
        </p:nvSpPr>
        <p:spPr>
          <a:xfrm>
            <a:off x="320040" y="1143000"/>
            <a:ext cx="8503920" cy="1086485"/>
          </a:xfrm>
          <a:prstGeom prst="roundRect">
            <a:avLst>
              <a:gd name="adj" fmla="val 6733"/>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Draw two sketches: one showing attraction, one showing repulsion. Label which poles are facing each other in each drawing.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43000"/>
            <a:ext cx="8503920" cy="1609598"/>
          </a:xfrm>
          <a:prstGeom prst="roundRect">
            <a:avLst>
              <a:gd name="adj" fmla="val 4545"/>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225550"/>
          </a:xfrm>
          <a:prstGeom prst="rect">
            <a:avLst/>
          </a:prstGeom>
          <a:noFill/>
          <a:ln/>
        </p:spPr>
        <p:txBody>
          <a:bodyPr wrap="square" rtlCol="0" anchor="t"/>
          <a:lstStyle/>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Which objects were magnetic? What do they have in common?</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Were any of your predictions wrong? What surprised you?</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Tell the story of what happened when you tested the two magnets together, from beginning to end, in your own words.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188720"/>
            <a:ext cx="8503920" cy="1633474"/>
          </a:xfrm>
          <a:prstGeom prst="roundRect">
            <a:avLst>
              <a:gd name="adj" fmla="val 4478"/>
            </a:avLst>
          </a:prstGeom>
          <a:solidFill>
            <a:srgbClr val="EEF8F0"/>
          </a:solidFill>
          <a:ln w="19050">
            <a:solidFill>
              <a:srgbClr val="52B788"/>
            </a:solidFill>
            <a:prstDash val="solid"/>
          </a:ln>
        </p:spPr>
      </p:sp>
      <p:sp>
        <p:nvSpPr>
          <p:cNvPr id="8" name="Text 6"/>
          <p:cNvSpPr/>
          <p:nvPr/>
        </p:nvSpPr>
        <p:spPr>
          <a:xfrm>
            <a:off x="502920" y="1261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517904"/>
            <a:ext cx="8138160" cy="1249426"/>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pattern did you notice about the materials that were magnetic? Could you use that pattern to predict whether a new object is magnetic — before you test it?</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would happen to the repulsion if you moved the two same poles closer together? What do you think would happen to the force?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Two magnets push apart — what are the poles doing?</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Two magnets are pushed toward each other and they push apart. What are the poles doing?</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Opposite poles are facing each other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Matching poles are facing each other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magnets have lost their magnetism</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'repel' means. Matching poles (like north facing north) push each other away.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Two magnets push apart — what are the poles doing?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When matching poles face each other — north-north or south-south — the magnets repel. That pushing force is called repulsion.</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when a magnet meets a wooden pencil?</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You hold a magnet near a wooden pencil. What happens?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pencil is strongly attracted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pencil is weakly attracted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Nothing happens — wood is nonmagnetic</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Check the lesson — is wood a magnetic material? Think about what materials actually respond to magnets.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when a magnet meets a wooden pencil?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Wood is not a magnetic material, so the magnet has no effect on it at all. Only iron and steel are attracted to magnets.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Where is the magnetic force strongest on a bar magnet?</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Where is the magnetic force strongest on a bar magnet?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At the two poles (ends) of the magnet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In the middle of the magnet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Equally strong everywhere on the magnet</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Why do you pick things up with the end of a magnet, not the middle?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Where is the magnetic force strongest on a bar magnet?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The poles are where the force is strongest. That's why the tip of a magnet picks things up better than the middle.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Sort and Classify</a:t>
            </a:r>
            <a:endParaRPr lang="en-US" sz="2100" dirty="0"/>
          </a:p>
        </p:txBody>
      </p:sp>
      <p:sp>
        <p:nvSpPr>
          <p:cNvPr id="7" name="Text 5"/>
          <p:cNvSpPr/>
          <p:nvPr/>
        </p:nvSpPr>
        <p:spPr>
          <a:xfrm>
            <a:off x="457200" y="1051560"/>
            <a:ext cx="8229600" cy="2834640"/>
          </a:xfrm>
          <a:prstGeom prst="rect">
            <a:avLst/>
          </a:prstGeom>
          <a:noFill/>
          <a:ln/>
        </p:spPr>
        <p:txBody>
          <a:bodyPr wrap="square" rtlCol="0" anchor="t"/>
          <a:lstStyle/>
          <a:p>
            <a:pPr indent="0" marL="0">
              <a:lnSpc>
                <a:spcPts val="2400"/>
              </a:lnSpc>
              <a:buNone/>
            </a:pPr>
            <a:r>
              <a:rPr lang="en-US" sz="1250" dirty="0">
                <a:solidFill>
                  <a:srgbClr val="2B1D12"/>
                </a:solidFill>
                <a:latin typeface="Calibri" pitchFamily="34" charset="0"/>
                <a:ea typeface="Calibri" pitchFamily="34" charset="-122"/>
                <a:cs typeface="Calibri" pitchFamily="34" charset="-120"/>
              </a:rPr>
              <a:t>1. A steel paper clip — magnetic or nonmagnetic? How do you know?</a:t>
            </a:r>
            <a:endParaRPr lang="en-US" sz="1250" dirty="0"/>
          </a:p>
          <a:p>
            <a:pPr indent="0" marL="0">
              <a:lnSpc>
                <a:spcPts val="2400"/>
              </a:lnSpc>
              <a:buNone/>
            </a:pPr>
            <a:r>
              <a:rPr lang="en-US" sz="1250" dirty="0">
                <a:solidFill>
                  <a:srgbClr val="2B1D12"/>
                </a:solidFill>
                <a:latin typeface="Calibri" pitchFamily="34" charset="0"/>
                <a:ea typeface="Calibri" pitchFamily="34" charset="-122"/>
                <a:cs typeface="Calibri" pitchFamily="34" charset="-120"/>
              </a:rPr>
              <a:t>2. A rubber eraser — magnetic or nonmagnetic? How do you know?</a:t>
            </a:r>
            <a:endParaRPr lang="en-US" sz="1250" dirty="0"/>
          </a:p>
          <a:p>
            <a:pPr indent="0" marL="0">
              <a:lnSpc>
                <a:spcPts val="2400"/>
              </a:lnSpc>
              <a:buNone/>
            </a:pPr>
            <a:r>
              <a:rPr lang="en-US" sz="1250" dirty="0">
                <a:solidFill>
                  <a:srgbClr val="2B1D12"/>
                </a:solidFill>
                <a:latin typeface="Calibri" pitchFamily="34" charset="0"/>
                <a:ea typeface="Calibri" pitchFamily="34" charset="-122"/>
                <a:cs typeface="Calibri" pitchFamily="34" charset="-120"/>
              </a:rPr>
              <a:t>3. An iron nail — magnetic or nonmagnetic? How do you know?</a:t>
            </a:r>
            <a:endParaRPr lang="en-US" sz="1250" dirty="0"/>
          </a:p>
          <a:p>
            <a:pPr indent="0" marL="0">
              <a:lnSpc>
                <a:spcPts val="2400"/>
              </a:lnSpc>
              <a:buNone/>
            </a:pPr>
            <a:r>
              <a:rPr lang="en-US" sz="1250" dirty="0">
                <a:solidFill>
                  <a:srgbClr val="2B1D12"/>
                </a:solidFill>
                <a:latin typeface="Calibri" pitchFamily="34" charset="0"/>
                <a:ea typeface="Calibri" pitchFamily="34" charset="-122"/>
                <a:cs typeface="Calibri" pitchFamily="34" charset="-120"/>
              </a:rPr>
              <a:t>4. A wooden craft stick — magnetic or nonmagnetic? How do you know?</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5. You bring the north pole of one magnet toward the north pole of another. What happens, and why?</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6. Where on a bar magnet is the force strongest? What does that mean for how you'd use it to pick something up?</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7. How is a magnetic force different from most other forces you know about?</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Poles Change the Force</a:t>
            </a:r>
            <a:endParaRPr lang="en-US" sz="2100" dirty="0"/>
          </a:p>
        </p:txBody>
      </p:sp>
      <p:sp>
        <p:nvSpPr>
          <p:cNvPr id="7" name="Text 5"/>
          <p:cNvSpPr/>
          <p:nvPr/>
        </p:nvSpPr>
        <p:spPr>
          <a:xfrm>
            <a:off x="365760" y="1051560"/>
            <a:ext cx="8412480" cy="502920"/>
          </a:xfrm>
          <a:prstGeom prst="rect">
            <a:avLst/>
          </a:prstGeom>
          <a:noFill/>
          <a:ln/>
        </p:spPr>
        <p:txBody>
          <a:bodyPr wrap="square" rtlCol="0" anchor="ctr"/>
          <a:lstStyle/>
          <a:p>
            <a:pPr indent="0" marL="0">
              <a:buNone/>
            </a:pPr>
            <a:r>
              <a:rPr lang="en-US" sz="1200" i="1" dirty="0">
                <a:solidFill>
                  <a:srgbClr val="5A4D3E"/>
                </a:solidFill>
                <a:latin typeface="Calibri" pitchFamily="34" charset="0"/>
                <a:ea typeface="Calibri" pitchFamily="34" charset="-122"/>
                <a:cs typeface="Calibri" pitchFamily="34" charset="-120"/>
              </a:rPr>
              <a:t>Think about what you observed in the investigation. How does the orientation of a magnet's poles change what the force does?</a:t>
            </a:r>
            <a:endParaRPr lang="en-US" sz="1200" dirty="0"/>
          </a:p>
        </p:txBody>
      </p:sp>
      <p:sp>
        <p:nvSpPr>
          <p:cNvPr id="8" name="Shape 6"/>
          <p:cNvSpPr/>
          <p:nvPr/>
        </p:nvSpPr>
        <p:spPr>
          <a:xfrm>
            <a:off x="365760" y="164592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70078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a:t>
            </a:r>
            <a:endParaRPr lang="en-US" sz="1150" dirty="0"/>
          </a:p>
        </p:txBody>
      </p:sp>
      <p:sp>
        <p:nvSpPr>
          <p:cNvPr id="10" name="Text 8"/>
          <p:cNvSpPr/>
          <p:nvPr/>
        </p:nvSpPr>
        <p:spPr>
          <a:xfrm>
            <a:off x="548640" y="1938528"/>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"When I tested the two magnets together, I noticed that…"</a:t>
            </a:r>
            <a:endParaRPr lang="en-US" sz="1200" dirty="0"/>
          </a:p>
        </p:txBody>
      </p:sp>
      <p:sp>
        <p:nvSpPr>
          <p:cNvPr id="11" name="Shape 9"/>
          <p:cNvSpPr/>
          <p:nvPr/>
        </p:nvSpPr>
        <p:spPr>
          <a:xfrm>
            <a:off x="365760" y="239572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5059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does that tell you about poles?</a:t>
            </a:r>
            <a:endParaRPr lang="en-US" sz="1150" dirty="0"/>
          </a:p>
        </p:txBody>
      </p:sp>
      <p:sp>
        <p:nvSpPr>
          <p:cNvPr id="13" name="Text 11"/>
          <p:cNvSpPr/>
          <p:nvPr/>
        </p:nvSpPr>
        <p:spPr>
          <a:xfrm>
            <a:off x="548640" y="2688336"/>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"I think this shows that when poles are the same…"</a:t>
            </a:r>
            <a:endParaRPr lang="en-US" sz="1200" dirty="0"/>
          </a:p>
        </p:txBody>
      </p:sp>
      <p:sp>
        <p:nvSpPr>
          <p:cNvPr id="14" name="Shape 12"/>
          <p:cNvSpPr/>
          <p:nvPr/>
        </p:nvSpPr>
        <p:spPr>
          <a:xfrm>
            <a:off x="365760" y="314553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20040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438144"/>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"This makes sense because…"</a:t>
            </a:r>
            <a:endParaRPr lang="en-US" sz="1200" dirty="0"/>
          </a:p>
        </p:txBody>
      </p:sp>
      <p:sp>
        <p:nvSpPr>
          <p:cNvPr id="17" name="Text 15"/>
          <p:cNvSpPr/>
          <p:nvPr/>
        </p:nvSpPr>
        <p:spPr>
          <a:xfrm>
            <a:off x="365760" y="3941064"/>
            <a:ext cx="8412480" cy="320040"/>
          </a:xfrm>
          <a:prstGeom prst="rect">
            <a:avLst/>
          </a:prstGeom>
          <a:noFill/>
          <a:ln/>
        </p:spPr>
        <p:txBody>
          <a:bodyPr wrap="square" rtlCol="0" anchor="ctr"/>
          <a:lstStyle/>
          <a:p>
            <a:pPr indent="0" marL="0">
              <a:buNone/>
            </a:pPr>
            <a:r>
              <a:rPr lang="en-US" sz="1100" i="1" dirty="0">
                <a:solidFill>
                  <a:srgbClr val="5A4D3E"/>
                </a:solidFill>
                <a:latin typeface="Calibri" pitchFamily="34" charset="0"/>
                <a:ea typeface="Calibri" pitchFamily="34" charset="-122"/>
                <a:cs typeface="Calibri" pitchFamily="34" charset="-120"/>
              </a:rPr>
              <a:t>Try to use at least one of these words: attraction, repulsion, poles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Turn It In</a:t>
            </a:r>
            <a:endParaRPr lang="en-US" sz="2100" dirty="0"/>
          </a:p>
        </p:txBody>
      </p:sp>
      <p:sp>
        <p:nvSpPr>
          <p:cNvPr id="7" name="Text 5"/>
          <p:cNvSpPr/>
          <p:nvPr/>
        </p:nvSpPr>
        <p:spPr>
          <a:xfrm>
            <a:off x="320040" y="1005840"/>
            <a:ext cx="8503920" cy="868680"/>
          </a:xfrm>
          <a:prstGeom prst="rect">
            <a:avLst/>
          </a:prstGeom>
          <a:noFill/>
          <a:ln/>
        </p:spPr>
        <p:txBody>
          <a:bodyPr wrap="square" rtlCol="0" anchor="t"/>
          <a:lstStyle/>
          <a:p>
            <a:pPr indent="0" marL="0">
              <a:lnSpc>
                <a:spcPts val="2000"/>
              </a:lnSpc>
              <a:buNone/>
            </a:pPr>
            <a:r>
              <a:rPr lang="en-US" sz="1050" dirty="0">
                <a:solidFill>
                  <a:srgbClr val="2B1D12"/>
                </a:solidFill>
                <a:latin typeface="Calibri" pitchFamily="34" charset="0"/>
                <a:ea typeface="Calibri" pitchFamily="34" charset="-122"/>
                <a:cs typeface="Calibri" pitchFamily="34" charset="-120"/>
              </a:rPr>
              <a:t>Draw a bar magnet. Label the north pole, the south pole, and at least two field lines. Then draw one magnetic material and one nonmagnetic material near the magnet, with arrows showing the force's effect on each. Reflect: did the fridge magnets from the warm-up work the way you expected?</a:t>
            </a:r>
            <a:endParaRPr lang="en-US" sz="1050" dirty="0"/>
          </a:p>
        </p:txBody>
      </p:sp>
      <p:sp>
        <p:nvSpPr>
          <p:cNvPr id="8" name="Shape 6"/>
          <p:cNvSpPr/>
          <p:nvPr/>
        </p:nvSpPr>
        <p:spPr>
          <a:xfrm>
            <a:off x="365760" y="1965960"/>
            <a:ext cx="8412480" cy="1371600"/>
          </a:xfrm>
          <a:prstGeom prst="roundRect">
            <a:avLst>
              <a:gd name="adj" fmla="val 5333"/>
            </a:avLst>
          </a:prstGeom>
          <a:solidFill>
            <a:srgbClr val="FFFFFF"/>
          </a:solidFill>
          <a:ln w="19050">
            <a:solidFill>
              <a:srgbClr val="E8DDD2"/>
            </a:solidFill>
            <a:prstDash val="solid"/>
          </a:ln>
        </p:spPr>
      </p:sp>
      <p:sp>
        <p:nvSpPr>
          <p:cNvPr id="9" name="Text 7"/>
          <p:cNvSpPr/>
          <p:nvPr/>
        </p:nvSpPr>
        <p:spPr>
          <a:xfrm>
            <a:off x="548640" y="205740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331720"/>
            <a:ext cx="8046720" cy="96012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completed data table from the investigation, with predictions and results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A sort-and-classify answers and attraction/repulsion sketches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using lesson vocabulary</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C bar magnet drawing with all labels and force arrows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Coming up: Engineering with Magnets!</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7.01 · NGSS 3-PS2-3 · CPALMS SC.3.N.1.1, SC.3.N.1.7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2026-07-12T13:29:01Z</dcterms:created>
  <dcterms:modified xsi:type="dcterms:W3CDTF">2026-07-12T13:29:01Z</dcterms:modified>
</cp:coreProperties>
</file>