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students become engineers. This is a hands-on build/test/redesign challenge — the payoff of everything learned about hazards in Lesson 4.01.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hands-on lesson of the unit — students will actually build something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map: I Can #1 (problem/criteria) -&gt; investigation step 1 define the problem, Self-Check Q1, Assignment Part B Q5. I Can #2 (design/build/test) -&gt; investigation steps 2-4, Self-Check Q2. I Can #3 (evidence-based redesign) -&gt; investigation steps 5-6 redesign rehearsal, Self-Check Q3, Write &amp; Explain. Write &amp; Explain frame rehearsed via the investigation's redesign step and again on the assignment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only what's at your station — that's the built-in constraint for today's challenge. Get materials distributed before starting.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really study the contrast before discussing — same storm, different outcomes. This sets up the whole engineering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Criteria is the trickiest word today — it's the 'goal' word, not the 'limit' word. Constraint (next slide) is its opposite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words ARE today's process: prototype -&gt; test -&gt; redesign. Point that out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core theme as yesterday's lesson — can't stop the hazard, but CAN reduce the damage. Today students do that hands-on.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a few students share their gut instinct before moving to Section 2's actual answer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features are exactly what students will choose from when they design their own prototype in the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Hurricane Andrew story is the real-world proof that this exact process (test -&gt; find weak spot -&gt; redesign) actually saves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class restate this in their own words before moving to the Amazing Fact and then the hands-on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evidence that the design-&gt;test-&gt;redesign process works at a massive scale — an entire state's building code changed because of testing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step where students explicitly separate criteria from constraints — the two vocabulary words that pair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and check that each labeled feature has a clear 'why' next to it, not just a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Storm surge flooding in Florida — water rises fast across the ground, but a raised foundation keeps the floor above the waterline. Today's water test simulates this same force on a small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note: keep water tests small-scale and away from electronics. A spray bottle works well for controlled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1 of 2 for today's reasoning frame. This 'weakest part + specific change + why' structure is the same shape as the Write &amp; Explain assignment ahead. Have 2-3 students say their redesign sentence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question is the philosophical heart of engineering — failure location matters more than failure itself. Give real think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Talk-only reflection. Have students point directly at their own prototype while answering question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directly reuses the criteria/constraints vocabulary from the Define the Problem step — a nice full-circle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confuse criteria and constraints — this question directly tests that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back to today's vocabulary cards if students are still mixing these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Connects directly to the Hurricane Andrew story and the 'Think Like an Engineer' discussion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isn't the end of the process — it's the step that makes redesign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Connects directly to the storm surge image placeholder slide and the water test in the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exactly what the raised foundation feature does — students may have built one of these themselves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answer these using their own labeled sketch — every question maps directly to their individual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is the direct vocabulary check for criteria vs. constraint; Q6 reuses the redesign rehearsal structure from the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2 of 2 — this reasoning frame builds on the investigation's redesign step, now reflecting on the whole process. Have 1-2 more students rehearse aloud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Type It, Photo It, or Record It on Canvas — a video of the actual prototype is a great option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by connecting engineering back to everyday safety solutions — this closes out the whole natural hazards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325880"/>
            <a:ext cx="8229600" cy="292608"/>
          </a:xfrm>
          <a:prstGeom prst="rect">
            <a:avLst/>
          </a:prstGeom>
          <a:noFill/>
          <a:ln/>
        </p:spPr>
        <p:txBody>
          <a:bodyPr wrap="square" rtlCol="0" anchor="ctr"/>
          <a:lstStyle/>
          <a:p>
            <a:pPr algn="ctr" indent="0" marL="0">
              <a:buNone/>
            </a:pPr>
            <a:r>
              <a:rPr lang="en-US" sz="1300" b="1" spc="150" kern="0" dirty="0">
                <a:solidFill>
                  <a:srgbClr val="55C8E8"/>
                </a:solidFill>
                <a:latin typeface="Calibri" pitchFamily="34" charset="0"/>
                <a:ea typeface="Calibri" pitchFamily="34" charset="-122"/>
                <a:cs typeface="Calibri" pitchFamily="34" charset="-120"/>
              </a:rPr>
              <a:t>OPTIMA ACADEMY ONLINE · 3RD GRADE SCIENCE</a:t>
            </a:r>
            <a:endParaRPr lang="en-US" sz="1300" dirty="0"/>
          </a:p>
        </p:txBody>
      </p:sp>
      <p:sp>
        <p:nvSpPr>
          <p:cNvPr id="5" name="Text 3"/>
          <p:cNvSpPr/>
          <p:nvPr/>
        </p:nvSpPr>
        <p:spPr>
          <a:xfrm>
            <a:off x="457200" y="1737360"/>
            <a:ext cx="8229600" cy="91440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Engineering Challenge: Build a Safer Structure</a:t>
            </a:r>
            <a:endParaRPr lang="en-US" sz="2600" dirty="0"/>
          </a:p>
        </p:txBody>
      </p:sp>
      <p:sp>
        <p:nvSpPr>
          <p:cNvPr id="6" name="Text 4"/>
          <p:cNvSpPr/>
          <p:nvPr/>
        </p:nvSpPr>
        <p:spPr>
          <a:xfrm>
            <a:off x="457200" y="2606040"/>
            <a:ext cx="8229600" cy="365760"/>
          </a:xfrm>
          <a:prstGeom prst="rect">
            <a:avLst/>
          </a:prstGeom>
          <a:noFill/>
          <a:ln/>
        </p:spPr>
        <p:txBody>
          <a:bodyPr wrap="square" rtlCol="0" anchor="ctr"/>
          <a:lstStyle/>
          <a:p>
            <a:pPr algn="ctr" indent="0" marL="0">
              <a:buNone/>
            </a:pPr>
            <a:r>
              <a:rPr lang="en-US" sz="1400" dirty="0">
                <a:solidFill>
                  <a:srgbClr val="FFCA28"/>
                </a:solidFill>
                <a:latin typeface="Calibri" pitchFamily="34" charset="0"/>
                <a:ea typeface="Calibri" pitchFamily="34" charset="-122"/>
                <a:cs typeface="Calibri" pitchFamily="34" charset="-120"/>
              </a:rPr>
              <a:t>Lesson 4.02  ·  Week 4  ·  NGSS 3-5-ETS1-1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OUR BIG QUESTION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About This...</a:t>
            </a:r>
            <a:endParaRPr lang="en-US" sz="2100" dirty="0"/>
          </a:p>
        </p:txBody>
      </p:sp>
      <p:sp>
        <p:nvSpPr>
          <p:cNvPr id="7" name="Shape 5"/>
          <p:cNvSpPr/>
          <p:nvPr/>
        </p:nvSpPr>
        <p:spPr>
          <a:xfrm>
            <a:off x="548640" y="1371600"/>
            <a:ext cx="8046720" cy="1737360"/>
          </a:xfrm>
          <a:prstGeom prst="roundRect">
            <a:avLst>
              <a:gd name="adj" fmla="val 5263"/>
            </a:avLst>
          </a:prstGeom>
          <a:solidFill>
            <a:srgbClr val="0E1C42"/>
          </a:solidFill>
          <a:ln w="25400">
            <a:solidFill>
              <a:srgbClr val="55C8E8"/>
            </a:solidFill>
            <a:prstDash val="solid"/>
          </a:ln>
        </p:spPr>
      </p:sp>
      <p:sp>
        <p:nvSpPr>
          <p:cNvPr id="8" name="Text 6"/>
          <p:cNvSpPr/>
          <p:nvPr/>
        </p:nvSpPr>
        <p:spPr>
          <a:xfrm>
            <a:off x="822960" y="1554480"/>
            <a:ext cx="7498080" cy="1371600"/>
          </a:xfrm>
          <a:prstGeom prst="rect">
            <a:avLst/>
          </a:prstGeom>
          <a:noFill/>
          <a:ln/>
        </p:spPr>
        <p:txBody>
          <a:bodyPr wrap="square" rtlCol="0" anchor="ctr"/>
          <a:lstStyle/>
          <a:p>
            <a:pPr algn="ctr" indent="0" marL="0">
              <a:buNone/>
            </a:pPr>
            <a:r>
              <a:rPr lang="en-US" sz="1900" i="1" dirty="0">
                <a:solidFill>
                  <a:srgbClr val="FFFFFF"/>
                </a:solidFill>
                <a:latin typeface="Cambria" pitchFamily="34" charset="0"/>
                <a:ea typeface="Cambria" pitchFamily="34" charset="-122"/>
                <a:cs typeface="Cambria" pitchFamily="34" charset="-120"/>
              </a:rPr>
              <a:t>"How can you design and build something that helps a structure survive a dangerous storm?"</a:t>
            </a:r>
            <a:endParaRPr lang="en-US" sz="1900" dirty="0"/>
          </a:p>
        </p:txBody>
      </p:sp>
      <p:sp>
        <p:nvSpPr>
          <p:cNvPr id="9" name="Text 7"/>
          <p:cNvSpPr/>
          <p:nvPr/>
        </p:nvSpPr>
        <p:spPr>
          <a:xfrm>
            <a:off x="822960" y="3291840"/>
            <a:ext cx="7498080" cy="502920"/>
          </a:xfrm>
          <a:prstGeom prst="rect">
            <a:avLst/>
          </a:prstGeom>
          <a:noFill/>
          <a:ln/>
        </p:spPr>
        <p:txBody>
          <a:bodyPr wrap="square" rtlCol="0" anchor="t"/>
          <a:lstStyle/>
          <a:p>
            <a:pPr algn="ctr" indent="0" marL="0">
              <a:buNone/>
            </a:pPr>
            <a:r>
              <a:rPr lang="en-US" sz="1250" dirty="0">
                <a:solidFill>
                  <a:srgbClr val="5A4D3E"/>
                </a:solidFill>
                <a:latin typeface="Calibri" pitchFamily="34" charset="0"/>
                <a:ea typeface="Calibri" pitchFamily="34" charset="-122"/>
                <a:cs typeface="Calibri" pitchFamily="34" charset="-120"/>
              </a:rPr>
              <a:t>Hold this question in mind as you work. By the end, you'll have a design — and evidence — to answer it.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 Can Statements</a:t>
            </a:r>
            <a:endParaRPr lang="en-US" sz="2100" dirty="0"/>
          </a:p>
        </p:txBody>
      </p:sp>
      <p:sp>
        <p:nvSpPr>
          <p:cNvPr id="7" name="Shape 5"/>
          <p:cNvSpPr/>
          <p:nvPr/>
        </p:nvSpPr>
        <p:spPr>
          <a:xfrm>
            <a:off x="457200" y="1097280"/>
            <a:ext cx="8229600" cy="914400"/>
          </a:xfrm>
          <a:prstGeom prst="roundRect">
            <a:avLst>
              <a:gd name="adj" fmla="val 8000"/>
            </a:avLst>
          </a:prstGeom>
          <a:solidFill>
            <a:srgbClr val="FFFFFF"/>
          </a:solidFill>
          <a:ln w="19050">
            <a:solidFill>
              <a:srgbClr val="E8DDD2"/>
            </a:solidFill>
            <a:prstDash val="solid"/>
          </a:ln>
        </p:spPr>
      </p:sp>
      <p:sp>
        <p:nvSpPr>
          <p:cNvPr id="8" name="Shape 6"/>
          <p:cNvSpPr/>
          <p:nvPr/>
        </p:nvSpPr>
        <p:spPr>
          <a:xfrm>
            <a:off x="640080" y="1353312"/>
            <a:ext cx="411480" cy="411480"/>
          </a:xfrm>
          <a:prstGeom prst="ellipse">
            <a:avLst/>
          </a:prstGeom>
          <a:solidFill>
            <a:srgbClr val="F57C00"/>
          </a:solidFill>
          <a:ln/>
        </p:spPr>
      </p:sp>
      <p:sp>
        <p:nvSpPr>
          <p:cNvPr id="9" name="Text 7"/>
          <p:cNvSpPr/>
          <p:nvPr/>
        </p:nvSpPr>
        <p:spPr>
          <a:xfrm>
            <a:off x="640080" y="1353312"/>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8"/>
          <p:cNvSpPr/>
          <p:nvPr/>
        </p:nvSpPr>
        <p:spPr>
          <a:xfrm>
            <a:off x="1234440" y="1170432"/>
            <a:ext cx="7223760" cy="77724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I can describe the problem a storm creates for buildings and explain what a good solution needs to do.</a:t>
            </a:r>
            <a:endParaRPr lang="en-US" sz="1300" dirty="0"/>
          </a:p>
        </p:txBody>
      </p:sp>
      <p:sp>
        <p:nvSpPr>
          <p:cNvPr id="11" name="Shape 9"/>
          <p:cNvSpPr/>
          <p:nvPr/>
        </p:nvSpPr>
        <p:spPr>
          <a:xfrm>
            <a:off x="457200" y="2121408"/>
            <a:ext cx="8229600" cy="914400"/>
          </a:xfrm>
          <a:prstGeom prst="roundRect">
            <a:avLst>
              <a:gd name="adj" fmla="val 8000"/>
            </a:avLst>
          </a:prstGeom>
          <a:solidFill>
            <a:srgbClr val="FFFFFF"/>
          </a:solidFill>
          <a:ln w="19050">
            <a:solidFill>
              <a:srgbClr val="E8DDD2"/>
            </a:solidFill>
            <a:prstDash val="solid"/>
          </a:ln>
        </p:spPr>
      </p:sp>
      <p:sp>
        <p:nvSpPr>
          <p:cNvPr id="12" name="Shape 10"/>
          <p:cNvSpPr/>
          <p:nvPr/>
        </p:nvSpPr>
        <p:spPr>
          <a:xfrm>
            <a:off x="640080" y="2377440"/>
            <a:ext cx="411480" cy="411480"/>
          </a:xfrm>
          <a:prstGeom prst="ellipse">
            <a:avLst/>
          </a:prstGeom>
          <a:solidFill>
            <a:srgbClr val="F57C00"/>
          </a:solidFill>
          <a:ln/>
        </p:spPr>
      </p:sp>
      <p:sp>
        <p:nvSpPr>
          <p:cNvPr id="13" name="Text 11"/>
          <p:cNvSpPr/>
          <p:nvPr/>
        </p:nvSpPr>
        <p:spPr>
          <a:xfrm>
            <a:off x="640080" y="237744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1234440" y="2194560"/>
            <a:ext cx="7223760" cy="77724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I can design, build, and test a prototype structure using available materials.</a:t>
            </a:r>
            <a:endParaRPr lang="en-US" sz="1300" dirty="0"/>
          </a:p>
        </p:txBody>
      </p:sp>
      <p:sp>
        <p:nvSpPr>
          <p:cNvPr id="15" name="Shape 13"/>
          <p:cNvSpPr/>
          <p:nvPr/>
        </p:nvSpPr>
        <p:spPr>
          <a:xfrm>
            <a:off x="457200" y="3145536"/>
            <a:ext cx="8229600" cy="914400"/>
          </a:xfrm>
          <a:prstGeom prst="roundRect">
            <a:avLst>
              <a:gd name="adj" fmla="val 8000"/>
            </a:avLst>
          </a:prstGeom>
          <a:solidFill>
            <a:srgbClr val="FFFFFF"/>
          </a:solidFill>
          <a:ln w="19050">
            <a:solidFill>
              <a:srgbClr val="E8DDD2"/>
            </a:solidFill>
            <a:prstDash val="solid"/>
          </a:ln>
        </p:spPr>
      </p:sp>
      <p:sp>
        <p:nvSpPr>
          <p:cNvPr id="16" name="Shape 14"/>
          <p:cNvSpPr/>
          <p:nvPr/>
        </p:nvSpPr>
        <p:spPr>
          <a:xfrm>
            <a:off x="640080" y="3401568"/>
            <a:ext cx="411480" cy="411480"/>
          </a:xfrm>
          <a:prstGeom prst="ellipse">
            <a:avLst/>
          </a:prstGeom>
          <a:solidFill>
            <a:srgbClr val="F57C00"/>
          </a:solidFill>
          <a:ln/>
        </p:spPr>
      </p:sp>
      <p:sp>
        <p:nvSpPr>
          <p:cNvPr id="17" name="Text 15"/>
          <p:cNvSpPr/>
          <p:nvPr/>
        </p:nvSpPr>
        <p:spPr>
          <a:xfrm>
            <a:off x="640080" y="3401568"/>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1234440" y="3218688"/>
            <a:ext cx="7223760" cy="77724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I can use evidence from my test to explain what I would change and why.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YOU'LL NEED</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Gather Your Materials</a:t>
            </a:r>
            <a:endParaRPr lang="en-US" sz="2100" dirty="0"/>
          </a:p>
        </p:txBody>
      </p:sp>
      <p:sp>
        <p:nvSpPr>
          <p:cNvPr id="7" name="Shape 5"/>
          <p:cNvSpPr/>
          <p:nvPr/>
        </p:nvSpPr>
        <p:spPr>
          <a:xfrm>
            <a:off x="548640" y="1280160"/>
            <a:ext cx="8046720" cy="594360"/>
          </a:xfrm>
          <a:prstGeom prst="roundRect">
            <a:avLst>
              <a:gd name="adj" fmla="val 12308"/>
            </a:avLst>
          </a:prstGeom>
          <a:solidFill>
            <a:srgbClr val="FFFFFF"/>
          </a:solidFill>
          <a:ln w="12700">
            <a:solidFill>
              <a:srgbClr val="E8DDD2"/>
            </a:solidFill>
            <a:prstDash val="solid"/>
          </a:ln>
        </p:spPr>
      </p:sp>
      <p:sp>
        <p:nvSpPr>
          <p:cNvPr id="8" name="Shape 6"/>
          <p:cNvSpPr/>
          <p:nvPr/>
        </p:nvSpPr>
        <p:spPr>
          <a:xfrm>
            <a:off x="777240" y="1481328"/>
            <a:ext cx="182880" cy="182880"/>
          </a:xfrm>
          <a:prstGeom prst="ellipse">
            <a:avLst/>
          </a:prstGeom>
          <a:solidFill>
            <a:srgbClr val="0288D1"/>
          </a:solidFill>
          <a:ln/>
        </p:spPr>
      </p:sp>
      <p:sp>
        <p:nvSpPr>
          <p:cNvPr id="9" name="Text 7"/>
          <p:cNvSpPr/>
          <p:nvPr/>
        </p:nvSpPr>
        <p:spPr>
          <a:xfrm>
            <a:off x="1143000" y="1325880"/>
            <a:ext cx="7315200" cy="502920"/>
          </a:xfrm>
          <a:prstGeom prst="rect">
            <a:avLst/>
          </a:prstGeom>
          <a:noFill/>
          <a:ln/>
        </p:spPr>
        <p:txBody>
          <a:bodyPr wrap="square" rtlCol="0" anchor="ctr"/>
          <a:lstStyle/>
          <a:p>
            <a:pPr indent="0" marL="0">
              <a:buNone/>
            </a:pPr>
            <a:r>
              <a:rPr lang="en-US" sz="1350" dirty="0">
                <a:solidFill>
                  <a:srgbClr val="2B1D12"/>
                </a:solidFill>
                <a:latin typeface="Calibri" pitchFamily="34" charset="0"/>
                <a:ea typeface="Calibri" pitchFamily="34" charset="-122"/>
                <a:cs typeface="Calibri" pitchFamily="34" charset="-120"/>
              </a:rPr>
              <a:t>Science notebook, pencil &amp; colored pencils</a:t>
            </a:r>
            <a:endParaRPr lang="en-US" sz="1350" dirty="0"/>
          </a:p>
        </p:txBody>
      </p:sp>
      <p:sp>
        <p:nvSpPr>
          <p:cNvPr id="10" name="Shape 8"/>
          <p:cNvSpPr/>
          <p:nvPr/>
        </p:nvSpPr>
        <p:spPr>
          <a:xfrm>
            <a:off x="548640" y="2011680"/>
            <a:ext cx="8046720" cy="594360"/>
          </a:xfrm>
          <a:prstGeom prst="roundRect">
            <a:avLst>
              <a:gd name="adj" fmla="val 12308"/>
            </a:avLst>
          </a:prstGeom>
          <a:solidFill>
            <a:srgbClr val="FFFFFF"/>
          </a:solidFill>
          <a:ln w="12700">
            <a:solidFill>
              <a:srgbClr val="E8DDD2"/>
            </a:solidFill>
            <a:prstDash val="solid"/>
          </a:ln>
        </p:spPr>
      </p:sp>
      <p:sp>
        <p:nvSpPr>
          <p:cNvPr id="11" name="Shape 9"/>
          <p:cNvSpPr/>
          <p:nvPr/>
        </p:nvSpPr>
        <p:spPr>
          <a:xfrm>
            <a:off x="777240" y="2212848"/>
            <a:ext cx="182880" cy="182880"/>
          </a:xfrm>
          <a:prstGeom prst="ellipse">
            <a:avLst/>
          </a:prstGeom>
          <a:solidFill>
            <a:srgbClr val="0288D1"/>
          </a:solidFill>
          <a:ln/>
        </p:spPr>
      </p:sp>
      <p:sp>
        <p:nvSpPr>
          <p:cNvPr id="12" name="Text 10"/>
          <p:cNvSpPr/>
          <p:nvPr/>
        </p:nvSpPr>
        <p:spPr>
          <a:xfrm>
            <a:off x="1143000" y="2057400"/>
            <a:ext cx="7315200" cy="502920"/>
          </a:xfrm>
          <a:prstGeom prst="rect">
            <a:avLst/>
          </a:prstGeom>
          <a:noFill/>
          <a:ln/>
        </p:spPr>
        <p:txBody>
          <a:bodyPr wrap="square" rtlCol="0" anchor="ctr"/>
          <a:lstStyle/>
          <a:p>
            <a:pPr indent="0" marL="0">
              <a:buNone/>
            </a:pPr>
            <a:r>
              <a:rPr lang="en-US" sz="1350" dirty="0">
                <a:solidFill>
                  <a:srgbClr val="2B1D12"/>
                </a:solidFill>
                <a:latin typeface="Calibri" pitchFamily="34" charset="0"/>
                <a:ea typeface="Calibri" pitchFamily="34" charset="-122"/>
                <a:cs typeface="Calibri" pitchFamily="34" charset="-120"/>
              </a:rPr>
              <a:t>Paper &amp; cardboard</a:t>
            </a:r>
            <a:endParaRPr lang="en-US" sz="1350" dirty="0"/>
          </a:p>
        </p:txBody>
      </p:sp>
      <p:sp>
        <p:nvSpPr>
          <p:cNvPr id="13" name="Shape 11"/>
          <p:cNvSpPr/>
          <p:nvPr/>
        </p:nvSpPr>
        <p:spPr>
          <a:xfrm>
            <a:off x="548640" y="2743200"/>
            <a:ext cx="8046720" cy="594360"/>
          </a:xfrm>
          <a:prstGeom prst="roundRect">
            <a:avLst>
              <a:gd name="adj" fmla="val 12308"/>
            </a:avLst>
          </a:prstGeom>
          <a:solidFill>
            <a:srgbClr val="FFFFFF"/>
          </a:solidFill>
          <a:ln w="12700">
            <a:solidFill>
              <a:srgbClr val="E8DDD2"/>
            </a:solidFill>
            <a:prstDash val="solid"/>
          </a:ln>
        </p:spPr>
      </p:sp>
      <p:sp>
        <p:nvSpPr>
          <p:cNvPr id="14" name="Shape 12"/>
          <p:cNvSpPr/>
          <p:nvPr/>
        </p:nvSpPr>
        <p:spPr>
          <a:xfrm>
            <a:off x="777240" y="2944368"/>
            <a:ext cx="182880" cy="182880"/>
          </a:xfrm>
          <a:prstGeom prst="ellipse">
            <a:avLst/>
          </a:prstGeom>
          <a:solidFill>
            <a:srgbClr val="0288D1"/>
          </a:solidFill>
          <a:ln/>
        </p:spPr>
      </p:sp>
      <p:sp>
        <p:nvSpPr>
          <p:cNvPr id="15" name="Text 13"/>
          <p:cNvSpPr/>
          <p:nvPr/>
        </p:nvSpPr>
        <p:spPr>
          <a:xfrm>
            <a:off x="1143000" y="2788920"/>
            <a:ext cx="7315200" cy="502920"/>
          </a:xfrm>
          <a:prstGeom prst="rect">
            <a:avLst/>
          </a:prstGeom>
          <a:noFill/>
          <a:ln/>
        </p:spPr>
        <p:txBody>
          <a:bodyPr wrap="square" rtlCol="0" anchor="ctr"/>
          <a:lstStyle/>
          <a:p>
            <a:pPr indent="0" marL="0">
              <a:buNone/>
            </a:pPr>
            <a:r>
              <a:rPr lang="en-US" sz="1350" dirty="0">
                <a:solidFill>
                  <a:srgbClr val="2B1D12"/>
                </a:solidFill>
                <a:latin typeface="Calibri" pitchFamily="34" charset="0"/>
                <a:ea typeface="Calibri" pitchFamily="34" charset="-122"/>
                <a:cs typeface="Calibri" pitchFamily="34" charset="-120"/>
              </a:rPr>
              <a:t>Straws &amp; craft sticks</a:t>
            </a:r>
            <a:endParaRPr lang="en-US" sz="1350" dirty="0"/>
          </a:p>
        </p:txBody>
      </p:sp>
      <p:sp>
        <p:nvSpPr>
          <p:cNvPr id="16" name="Shape 14"/>
          <p:cNvSpPr/>
          <p:nvPr/>
        </p:nvSpPr>
        <p:spPr>
          <a:xfrm>
            <a:off x="548640" y="3474720"/>
            <a:ext cx="8046720" cy="594360"/>
          </a:xfrm>
          <a:prstGeom prst="roundRect">
            <a:avLst>
              <a:gd name="adj" fmla="val 12308"/>
            </a:avLst>
          </a:prstGeom>
          <a:solidFill>
            <a:srgbClr val="FFFFFF"/>
          </a:solidFill>
          <a:ln w="12700">
            <a:solidFill>
              <a:srgbClr val="E8DDD2"/>
            </a:solidFill>
            <a:prstDash val="solid"/>
          </a:ln>
        </p:spPr>
      </p:sp>
      <p:sp>
        <p:nvSpPr>
          <p:cNvPr id="17" name="Shape 15"/>
          <p:cNvSpPr/>
          <p:nvPr/>
        </p:nvSpPr>
        <p:spPr>
          <a:xfrm>
            <a:off x="777240" y="3675888"/>
            <a:ext cx="182880" cy="182880"/>
          </a:xfrm>
          <a:prstGeom prst="ellipse">
            <a:avLst/>
          </a:prstGeom>
          <a:solidFill>
            <a:srgbClr val="0288D1"/>
          </a:solidFill>
          <a:ln/>
        </p:spPr>
      </p:sp>
      <p:sp>
        <p:nvSpPr>
          <p:cNvPr id="18" name="Text 16"/>
          <p:cNvSpPr/>
          <p:nvPr/>
        </p:nvSpPr>
        <p:spPr>
          <a:xfrm>
            <a:off x="1143000" y="3520440"/>
            <a:ext cx="7315200" cy="502920"/>
          </a:xfrm>
          <a:prstGeom prst="rect">
            <a:avLst/>
          </a:prstGeom>
          <a:noFill/>
          <a:ln/>
        </p:spPr>
        <p:txBody>
          <a:bodyPr wrap="square" rtlCol="0" anchor="ctr"/>
          <a:lstStyle/>
          <a:p>
            <a:pPr indent="0" marL="0">
              <a:buNone/>
            </a:pPr>
            <a:r>
              <a:rPr lang="en-US" sz="1350" dirty="0">
                <a:solidFill>
                  <a:srgbClr val="2B1D12"/>
                </a:solidFill>
                <a:latin typeface="Calibri" pitchFamily="34" charset="0"/>
                <a:ea typeface="Calibri" pitchFamily="34" charset="-122"/>
                <a:cs typeface="Calibri" pitchFamily="34" charset="-120"/>
              </a:rPr>
              <a:t>Tape (masking or scotch) &amp; scissors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WARM-UP · PHOTO</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Look Carefully Before You Learn</a:t>
            </a:r>
            <a:endParaRPr lang="en-US" sz="2100" dirty="0"/>
          </a:p>
        </p:txBody>
      </p:sp>
      <p:sp>
        <p:nvSpPr>
          <p:cNvPr id="7" name="Shape 5"/>
          <p:cNvSpPr/>
          <p:nvPr/>
        </p:nvSpPr>
        <p:spPr>
          <a:xfrm>
            <a:off x="457200" y="1097280"/>
            <a:ext cx="8229600" cy="1874520"/>
          </a:xfrm>
          <a:prstGeom prst="roundRect">
            <a:avLst>
              <a:gd name="adj" fmla="val 3902"/>
            </a:avLst>
          </a:prstGeom>
          <a:solidFill>
            <a:srgbClr val="FFF3E0"/>
          </a:solidFill>
          <a:ln w="25400">
            <a:solidFill>
              <a:srgbClr val="F9A825"/>
            </a:solidFill>
            <a:prstDash val="dash"/>
          </a:ln>
        </p:spPr>
      </p:sp>
      <p:sp>
        <p:nvSpPr>
          <p:cNvPr id="8" name="Text 6"/>
          <p:cNvSpPr/>
          <p:nvPr/>
        </p:nvSpPr>
        <p:spPr>
          <a:xfrm>
            <a:off x="640080" y="118872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9" name="Text 7"/>
          <p:cNvSpPr/>
          <p:nvPr/>
        </p:nvSpPr>
        <p:spPr>
          <a:xfrm>
            <a:off x="640080" y="1463040"/>
            <a:ext cx="7863840" cy="116128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Real documentary-style photograph of a Florida residential neighborhood after a hurricane. Several houses show significant wind damage — roofs partially or fully torn off, walls cracked or collapsed, debris scattered across the street and lawns. One more recently built house nearby is visibly intact, creating a clear contrast. Daytime, overcast sky, palm trees in background. No white background, no borders, no cartoon. Photorealistic news photography, no text overlays.</a:t>
            </a:r>
            <a:endParaRPr lang="en-US" sz="1100" dirty="0"/>
          </a:p>
        </p:txBody>
      </p:sp>
      <p:sp>
        <p:nvSpPr>
          <p:cNvPr id="10" name="Text 8"/>
          <p:cNvSpPr/>
          <p:nvPr/>
        </p:nvSpPr>
        <p:spPr>
          <a:xfrm>
            <a:off x="640080" y="267919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images/4-02-hurricane-roof-damage.png</a:t>
            </a:r>
            <a:endParaRPr lang="en-US" sz="950" dirty="0"/>
          </a:p>
        </p:txBody>
      </p:sp>
      <p:sp>
        <p:nvSpPr>
          <p:cNvPr id="11" name="Shape 9"/>
          <p:cNvSpPr/>
          <p:nvPr/>
        </p:nvSpPr>
        <p:spPr>
          <a:xfrm>
            <a:off x="320040" y="3108960"/>
            <a:ext cx="8503920" cy="902970"/>
          </a:xfrm>
          <a:prstGeom prst="roundRect">
            <a:avLst>
              <a:gd name="adj" fmla="val 8101"/>
            </a:avLst>
          </a:prstGeom>
          <a:solidFill>
            <a:srgbClr val="FFF9E8"/>
          </a:solidFill>
          <a:ln w="19050">
            <a:solidFill>
              <a:srgbClr val="F9A825"/>
            </a:solidFill>
            <a:prstDash val="solid"/>
          </a:ln>
        </p:spPr>
      </p:sp>
      <p:sp>
        <p:nvSpPr>
          <p:cNvPr id="12" name="Text 10"/>
          <p:cNvSpPr/>
          <p:nvPr/>
        </p:nvSpPr>
        <p:spPr>
          <a:xfrm>
            <a:off x="502920" y="318211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3" name="Text 11"/>
          <p:cNvSpPr/>
          <p:nvPr/>
        </p:nvSpPr>
        <p:spPr>
          <a:xfrm>
            <a:off x="502920" y="340156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One building is still standing strong. Another nearby has damage. Both faced the same storm. What do you notice about the one that survived? Write at least 2 observations and 1 question.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Who Builds, What They Build</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0288D1"/>
            </a:solidFill>
            <a:prstDash val="solid"/>
          </a:ln>
        </p:spPr>
      </p:sp>
      <p:sp>
        <p:nvSpPr>
          <p:cNvPr id="8" name="Text 6"/>
          <p:cNvSpPr/>
          <p:nvPr/>
        </p:nvSpPr>
        <p:spPr>
          <a:xfrm>
            <a:off x="685800" y="1280160"/>
            <a:ext cx="219456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engineer</a:t>
            </a:r>
            <a:endParaRPr lang="en-US" sz="1600" dirty="0"/>
          </a:p>
        </p:txBody>
      </p:sp>
      <p:sp>
        <p:nvSpPr>
          <p:cNvPr id="9" name="Text 7"/>
          <p:cNvSpPr/>
          <p:nvPr/>
        </p:nvSpPr>
        <p:spPr>
          <a:xfrm>
            <a:off x="2926080" y="1280160"/>
            <a:ext cx="557784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A person who designs and builds solutions to real problems.</a:t>
            </a:r>
            <a:endParaRPr lang="en-US" sz="125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0288D1"/>
            </a:solidFill>
            <a:prstDash val="solid"/>
          </a:ln>
        </p:spPr>
      </p:sp>
      <p:sp>
        <p:nvSpPr>
          <p:cNvPr id="11" name="Text 9"/>
          <p:cNvSpPr/>
          <p:nvPr/>
        </p:nvSpPr>
        <p:spPr>
          <a:xfrm>
            <a:off x="685800" y="2423160"/>
            <a:ext cx="219456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structure</a:t>
            </a:r>
            <a:endParaRPr lang="en-US" sz="1600" dirty="0"/>
          </a:p>
        </p:txBody>
      </p:sp>
      <p:sp>
        <p:nvSpPr>
          <p:cNvPr id="12" name="Text 10"/>
          <p:cNvSpPr/>
          <p:nvPr/>
        </p:nvSpPr>
        <p:spPr>
          <a:xfrm>
            <a:off x="2926080" y="2423160"/>
            <a:ext cx="557784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Something built to hold a shape or serve a purpose, like a house or bridge.</a:t>
            </a:r>
            <a:endParaRPr lang="en-US" sz="125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0288D1"/>
            </a:solidFill>
            <a:prstDash val="solid"/>
          </a:ln>
        </p:spPr>
      </p:sp>
      <p:sp>
        <p:nvSpPr>
          <p:cNvPr id="14" name="Text 12"/>
          <p:cNvSpPr/>
          <p:nvPr/>
        </p:nvSpPr>
        <p:spPr>
          <a:xfrm>
            <a:off x="685800" y="3566160"/>
            <a:ext cx="219456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criteria</a:t>
            </a:r>
            <a:endParaRPr lang="en-US" sz="1600" dirty="0"/>
          </a:p>
        </p:txBody>
      </p:sp>
      <p:sp>
        <p:nvSpPr>
          <p:cNvPr id="15" name="Text 13"/>
          <p:cNvSpPr/>
          <p:nvPr/>
        </p:nvSpPr>
        <p:spPr>
          <a:xfrm>
            <a:off x="2926080" y="3566160"/>
            <a:ext cx="557784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What a solution needs to do to actually solve the problem.</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Engineering Process</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2D6A4F"/>
            </a:solidFill>
            <a:prstDash val="solid"/>
          </a:ln>
        </p:spPr>
      </p:sp>
      <p:sp>
        <p:nvSpPr>
          <p:cNvPr id="8" name="Text 6"/>
          <p:cNvSpPr/>
          <p:nvPr/>
        </p:nvSpPr>
        <p:spPr>
          <a:xfrm>
            <a:off x="685800" y="1280160"/>
            <a:ext cx="2194560" cy="822960"/>
          </a:xfrm>
          <a:prstGeom prst="rect">
            <a:avLst/>
          </a:prstGeom>
          <a:noFill/>
          <a:ln/>
        </p:spPr>
        <p:txBody>
          <a:bodyPr wrap="square" rtlCol="0" anchor="ctr"/>
          <a:lstStyle/>
          <a:p>
            <a:pPr indent="0" marL="0">
              <a:buNone/>
            </a:pPr>
            <a:r>
              <a:rPr lang="en-US" sz="1600" b="1" dirty="0">
                <a:solidFill>
                  <a:srgbClr val="2D6A4F"/>
                </a:solidFill>
                <a:latin typeface="Cambria" pitchFamily="34" charset="0"/>
                <a:ea typeface="Cambria" pitchFamily="34" charset="-122"/>
                <a:cs typeface="Cambria" pitchFamily="34" charset="-120"/>
              </a:rPr>
              <a:t>constraint</a:t>
            </a:r>
            <a:endParaRPr lang="en-US" sz="1600" dirty="0"/>
          </a:p>
        </p:txBody>
      </p:sp>
      <p:sp>
        <p:nvSpPr>
          <p:cNvPr id="9" name="Text 7"/>
          <p:cNvSpPr/>
          <p:nvPr/>
        </p:nvSpPr>
        <p:spPr>
          <a:xfrm>
            <a:off x="2926080" y="1280160"/>
            <a:ext cx="557784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A limit on your design, like which materials you can use or how much time you have.</a:t>
            </a:r>
            <a:endParaRPr lang="en-US" sz="125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2D6A4F"/>
            </a:solidFill>
            <a:prstDash val="solid"/>
          </a:ln>
        </p:spPr>
      </p:sp>
      <p:sp>
        <p:nvSpPr>
          <p:cNvPr id="11" name="Text 9"/>
          <p:cNvSpPr/>
          <p:nvPr/>
        </p:nvSpPr>
        <p:spPr>
          <a:xfrm>
            <a:off x="685800" y="2423160"/>
            <a:ext cx="2194560" cy="822960"/>
          </a:xfrm>
          <a:prstGeom prst="rect">
            <a:avLst/>
          </a:prstGeom>
          <a:noFill/>
          <a:ln/>
        </p:spPr>
        <p:txBody>
          <a:bodyPr wrap="square" rtlCol="0" anchor="ctr"/>
          <a:lstStyle/>
          <a:p>
            <a:pPr indent="0" marL="0">
              <a:buNone/>
            </a:pPr>
            <a:r>
              <a:rPr lang="en-US" sz="1600" b="1" dirty="0">
                <a:solidFill>
                  <a:srgbClr val="2D6A4F"/>
                </a:solidFill>
                <a:latin typeface="Cambria" pitchFamily="34" charset="0"/>
                <a:ea typeface="Cambria" pitchFamily="34" charset="-122"/>
                <a:cs typeface="Cambria" pitchFamily="34" charset="-120"/>
              </a:rPr>
              <a:t>prototype</a:t>
            </a:r>
            <a:endParaRPr lang="en-US" sz="1600" dirty="0"/>
          </a:p>
        </p:txBody>
      </p:sp>
      <p:sp>
        <p:nvSpPr>
          <p:cNvPr id="12" name="Text 10"/>
          <p:cNvSpPr/>
          <p:nvPr/>
        </p:nvSpPr>
        <p:spPr>
          <a:xfrm>
            <a:off x="2926080" y="2423160"/>
            <a:ext cx="557784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A first-build model that you test to find out what works and what doesn't.</a:t>
            </a:r>
            <a:endParaRPr lang="en-US" sz="125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2D6A4F"/>
            </a:solidFill>
            <a:prstDash val="solid"/>
          </a:ln>
        </p:spPr>
      </p:sp>
      <p:sp>
        <p:nvSpPr>
          <p:cNvPr id="14" name="Text 12"/>
          <p:cNvSpPr/>
          <p:nvPr/>
        </p:nvSpPr>
        <p:spPr>
          <a:xfrm>
            <a:off x="685800" y="3566160"/>
            <a:ext cx="2194560" cy="822960"/>
          </a:xfrm>
          <a:prstGeom prst="rect">
            <a:avLst/>
          </a:prstGeom>
          <a:noFill/>
          <a:ln/>
        </p:spPr>
        <p:txBody>
          <a:bodyPr wrap="square" rtlCol="0" anchor="ctr"/>
          <a:lstStyle/>
          <a:p>
            <a:pPr indent="0" marL="0">
              <a:buNone/>
            </a:pPr>
            <a:r>
              <a:rPr lang="en-US" sz="1600" b="1" dirty="0">
                <a:solidFill>
                  <a:srgbClr val="2D6A4F"/>
                </a:solidFill>
                <a:latin typeface="Cambria" pitchFamily="34" charset="0"/>
                <a:ea typeface="Cambria" pitchFamily="34" charset="-122"/>
                <a:cs typeface="Cambria" pitchFamily="34" charset="-120"/>
              </a:rPr>
              <a:t>redesign</a:t>
            </a:r>
            <a:endParaRPr lang="en-US" sz="1600" dirty="0"/>
          </a:p>
        </p:txBody>
      </p:sp>
      <p:sp>
        <p:nvSpPr>
          <p:cNvPr id="15" name="Text 13"/>
          <p:cNvSpPr/>
          <p:nvPr/>
        </p:nvSpPr>
        <p:spPr>
          <a:xfrm>
            <a:off x="2926080" y="3566160"/>
            <a:ext cx="557784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Changing your plan based on what testing showed you — fixing the weak spots.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COPY THIS DOWN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Notebook Entry</a:t>
            </a:r>
            <a:endParaRPr lang="en-US" sz="2100" dirty="0"/>
          </a:p>
        </p:txBody>
      </p:sp>
      <p:sp>
        <p:nvSpPr>
          <p:cNvPr id="7" name="Shape 5"/>
          <p:cNvSpPr/>
          <p:nvPr/>
        </p:nvSpPr>
        <p:spPr>
          <a:xfrm>
            <a:off x="320040" y="1280160"/>
            <a:ext cx="8503920" cy="1371600"/>
          </a:xfrm>
          <a:prstGeom prst="roundRect">
            <a:avLst>
              <a:gd name="adj" fmla="val 5333"/>
            </a:avLst>
          </a:prstGeom>
          <a:solidFill>
            <a:srgbClr val="F0F8E8"/>
          </a:solidFill>
          <a:ln w="19050">
            <a:solidFill>
              <a:srgbClr val="C8E0B8"/>
            </a:solidFill>
            <a:prstDash val="solid"/>
          </a:ln>
        </p:spPr>
      </p:sp>
      <p:sp>
        <p:nvSpPr>
          <p:cNvPr id="8" name="Text 6"/>
          <p:cNvSpPr/>
          <p:nvPr/>
        </p:nvSpPr>
        <p:spPr>
          <a:xfrm>
            <a:off x="502920" y="135331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COPY CAREFULLY INTO YOUR SCIENCE NOTEBOOK</a:t>
            </a:r>
            <a:endParaRPr lang="en-US" sz="1100" dirty="0"/>
          </a:p>
        </p:txBody>
      </p:sp>
      <p:sp>
        <p:nvSpPr>
          <p:cNvPr id="9" name="Text 7"/>
          <p:cNvSpPr/>
          <p:nvPr/>
        </p:nvSpPr>
        <p:spPr>
          <a:xfrm>
            <a:off x="502920" y="1572768"/>
            <a:ext cx="8138160" cy="102412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"Engineers cannot stop a hurricane, but they can design buildings that hold up better against the wind and rain."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Engineers Solve Real Problems</a:t>
            </a:r>
            <a:endParaRPr lang="en-US" sz="2100" dirty="0"/>
          </a:p>
        </p:txBody>
      </p:sp>
      <p:sp>
        <p:nvSpPr>
          <p:cNvPr id="7" name="Text 5"/>
          <p:cNvSpPr/>
          <p:nvPr/>
        </p:nvSpPr>
        <p:spPr>
          <a:xfrm>
            <a:off x="320040" y="1143000"/>
            <a:ext cx="8503920" cy="109728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Engineers are problem-solvers. When storms damage buildings, engineers ask: what would make this better? In Florida, hurricanes can push walls, tear off roofs, and flood homes. Engineers study what breaks — and design buildings that hold up better the next time.</a:t>
            </a:r>
            <a:endParaRPr lang="en-US" sz="1350" dirty="0"/>
          </a:p>
        </p:txBody>
      </p:sp>
      <p:sp>
        <p:nvSpPr>
          <p:cNvPr id="8" name="Shape 6"/>
          <p:cNvSpPr/>
          <p:nvPr/>
        </p:nvSpPr>
        <p:spPr>
          <a:xfrm>
            <a:off x="320040" y="2331720"/>
            <a:ext cx="8503920" cy="685800"/>
          </a:xfrm>
          <a:prstGeom prst="roundRect">
            <a:avLst>
              <a:gd name="adj" fmla="val 10667"/>
            </a:avLst>
          </a:prstGeom>
          <a:solidFill>
            <a:srgbClr val="FFF9E8"/>
          </a:solidFill>
          <a:ln w="19050">
            <a:solidFill>
              <a:srgbClr val="F9A825"/>
            </a:solidFill>
            <a:prstDash val="solid"/>
          </a:ln>
        </p:spPr>
      </p:sp>
      <p:sp>
        <p:nvSpPr>
          <p:cNvPr id="9" name="Text 7"/>
          <p:cNvSpPr/>
          <p:nvPr/>
        </p:nvSpPr>
        <p:spPr>
          <a:xfrm>
            <a:off x="502920" y="240487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624328"/>
            <a:ext cx="8138160" cy="33832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If you wanted to build something that stays standing in strong wind, where would you start?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Features That Help Structures Survive</a:t>
            </a:r>
            <a:endParaRPr lang="en-US" sz="2100" dirty="0"/>
          </a:p>
        </p:txBody>
      </p:sp>
      <p:sp>
        <p:nvSpPr>
          <p:cNvPr id="7" name="Text 5"/>
          <p:cNvSpPr/>
          <p:nvPr/>
        </p:nvSpPr>
        <p:spPr>
          <a:xfrm>
            <a:off x="365760" y="1097280"/>
            <a:ext cx="8412480" cy="320040"/>
          </a:xfrm>
          <a:prstGeom prst="rect">
            <a:avLst/>
          </a:prstGeom>
          <a:noFill/>
          <a:ln/>
        </p:spPr>
        <p:txBody>
          <a:bodyPr wrap="square" rtlCol="0" anchor="ctr"/>
          <a:lstStyle/>
          <a:p>
            <a:pPr indent="0" marL="0">
              <a:buNone/>
            </a:pPr>
            <a:r>
              <a:rPr lang="en-US" sz="1250" i="1" dirty="0">
                <a:solidFill>
                  <a:srgbClr val="5A4D3E"/>
                </a:solidFill>
                <a:latin typeface="Calibri" pitchFamily="34" charset="0"/>
                <a:ea typeface="Calibri" pitchFamily="34" charset="-122"/>
                <a:cs typeface="Calibri" pitchFamily="34" charset="-120"/>
              </a:rPr>
              <a:t>Not all buildings are built the same. Some features make a structure more likely to survive a storm.</a:t>
            </a:r>
            <a:endParaRPr lang="en-US" sz="1250" dirty="0"/>
          </a:p>
        </p:txBody>
      </p:sp>
      <p:sp>
        <p:nvSpPr>
          <p:cNvPr id="8" name="Shape 6"/>
          <p:cNvSpPr/>
          <p:nvPr/>
        </p:nvSpPr>
        <p:spPr>
          <a:xfrm>
            <a:off x="457200" y="1508760"/>
            <a:ext cx="4023360" cy="1417320"/>
          </a:xfrm>
          <a:prstGeom prst="roundRect">
            <a:avLst>
              <a:gd name="adj" fmla="val 5161"/>
            </a:avLst>
          </a:prstGeom>
          <a:solidFill>
            <a:srgbClr val="FFFFFF"/>
          </a:solidFill>
          <a:ln w="25400">
            <a:solidFill>
              <a:srgbClr val="0288D1"/>
            </a:solidFill>
            <a:prstDash val="solid"/>
          </a:ln>
        </p:spPr>
      </p:sp>
      <p:sp>
        <p:nvSpPr>
          <p:cNvPr id="9" name="Text 7"/>
          <p:cNvSpPr/>
          <p:nvPr/>
        </p:nvSpPr>
        <p:spPr>
          <a:xfrm>
            <a:off x="640080" y="1645920"/>
            <a:ext cx="3657600" cy="457200"/>
          </a:xfrm>
          <a:prstGeom prst="rect">
            <a:avLst/>
          </a:prstGeom>
          <a:noFill/>
          <a:ln/>
        </p:spPr>
        <p:txBody>
          <a:bodyPr wrap="square" rtlCol="0" anchor="ctr"/>
          <a:lstStyle/>
          <a:p>
            <a:pPr indent="0" marL="0">
              <a:buNone/>
            </a:pPr>
            <a:r>
              <a:rPr lang="en-US" sz="1350" b="1" dirty="0">
                <a:solidFill>
                  <a:srgbClr val="0288D1"/>
                </a:solidFill>
                <a:latin typeface="Cambria" pitchFamily="34" charset="0"/>
                <a:ea typeface="Cambria" pitchFamily="34" charset="-122"/>
                <a:cs typeface="Cambria" pitchFamily="34" charset="-120"/>
              </a:rPr>
              <a:t>WIDE BASE</a:t>
            </a:r>
            <a:endParaRPr lang="en-US" sz="1350" dirty="0"/>
          </a:p>
        </p:txBody>
      </p:sp>
      <p:sp>
        <p:nvSpPr>
          <p:cNvPr id="10" name="Text 8"/>
          <p:cNvSpPr/>
          <p:nvPr/>
        </p:nvSpPr>
        <p:spPr>
          <a:xfrm>
            <a:off x="640080" y="2148840"/>
            <a:ext cx="3657600" cy="685800"/>
          </a:xfrm>
          <a:prstGeom prst="rect">
            <a:avLst/>
          </a:prstGeom>
          <a:noFill/>
          <a:ln/>
        </p:spPr>
        <p:txBody>
          <a:bodyPr wrap="square" rtlCol="0" anchor="t"/>
          <a:lstStyle/>
          <a:p>
            <a:pPr indent="0" marL="0">
              <a:buNone/>
            </a:pPr>
            <a:r>
              <a:rPr lang="en-US" sz="1200" dirty="0">
                <a:solidFill>
                  <a:srgbClr val="2B1D12"/>
                </a:solidFill>
                <a:latin typeface="Calibri" pitchFamily="34" charset="0"/>
                <a:ea typeface="Calibri" pitchFamily="34" charset="-122"/>
                <a:cs typeface="Calibri" pitchFamily="34" charset="-120"/>
              </a:rPr>
              <a:t>Resists tipping over.</a:t>
            </a:r>
            <a:endParaRPr lang="en-US" sz="1200" dirty="0"/>
          </a:p>
        </p:txBody>
      </p:sp>
      <p:sp>
        <p:nvSpPr>
          <p:cNvPr id="11" name="Shape 9"/>
          <p:cNvSpPr/>
          <p:nvPr/>
        </p:nvSpPr>
        <p:spPr>
          <a:xfrm>
            <a:off x="4617720" y="1508760"/>
            <a:ext cx="4023360" cy="1417320"/>
          </a:xfrm>
          <a:prstGeom prst="roundRect">
            <a:avLst>
              <a:gd name="adj" fmla="val 5161"/>
            </a:avLst>
          </a:prstGeom>
          <a:solidFill>
            <a:srgbClr val="FFFFFF"/>
          </a:solidFill>
          <a:ln w="25400">
            <a:solidFill>
              <a:srgbClr val="2D6A4F"/>
            </a:solidFill>
            <a:prstDash val="solid"/>
          </a:ln>
        </p:spPr>
      </p:sp>
      <p:sp>
        <p:nvSpPr>
          <p:cNvPr id="12" name="Text 10"/>
          <p:cNvSpPr/>
          <p:nvPr/>
        </p:nvSpPr>
        <p:spPr>
          <a:xfrm>
            <a:off x="4800600" y="1645920"/>
            <a:ext cx="3657600" cy="457200"/>
          </a:xfrm>
          <a:prstGeom prst="rect">
            <a:avLst/>
          </a:prstGeom>
          <a:noFill/>
          <a:ln/>
        </p:spPr>
        <p:txBody>
          <a:bodyPr wrap="square" rtlCol="0" anchor="ctr"/>
          <a:lstStyle/>
          <a:p>
            <a:pPr indent="0" marL="0">
              <a:buNone/>
            </a:pPr>
            <a:r>
              <a:rPr lang="en-US" sz="1350" b="1" dirty="0">
                <a:solidFill>
                  <a:srgbClr val="2D6A4F"/>
                </a:solidFill>
                <a:latin typeface="Cambria" pitchFamily="34" charset="0"/>
                <a:ea typeface="Cambria" pitchFamily="34" charset="-122"/>
                <a:cs typeface="Cambria" pitchFamily="34" charset="-120"/>
              </a:rPr>
              <a:t>SLOPED ROOF</a:t>
            </a:r>
            <a:endParaRPr lang="en-US" sz="1350" dirty="0"/>
          </a:p>
        </p:txBody>
      </p:sp>
      <p:sp>
        <p:nvSpPr>
          <p:cNvPr id="13" name="Text 11"/>
          <p:cNvSpPr/>
          <p:nvPr/>
        </p:nvSpPr>
        <p:spPr>
          <a:xfrm>
            <a:off x="4800600" y="2148840"/>
            <a:ext cx="3657600" cy="685800"/>
          </a:xfrm>
          <a:prstGeom prst="rect">
            <a:avLst/>
          </a:prstGeom>
          <a:noFill/>
          <a:ln/>
        </p:spPr>
        <p:txBody>
          <a:bodyPr wrap="square" rtlCol="0" anchor="t"/>
          <a:lstStyle/>
          <a:p>
            <a:pPr indent="0" marL="0">
              <a:buNone/>
            </a:pPr>
            <a:r>
              <a:rPr lang="en-US" sz="1200" dirty="0">
                <a:solidFill>
                  <a:srgbClr val="2B1D12"/>
                </a:solidFill>
                <a:latin typeface="Calibri" pitchFamily="34" charset="0"/>
                <a:ea typeface="Calibri" pitchFamily="34" charset="-122"/>
                <a:cs typeface="Calibri" pitchFamily="34" charset="-120"/>
              </a:rPr>
              <a:t>Wind slides over instead of pushing in.</a:t>
            </a:r>
            <a:endParaRPr lang="en-US" sz="1200" dirty="0"/>
          </a:p>
        </p:txBody>
      </p:sp>
      <p:sp>
        <p:nvSpPr>
          <p:cNvPr id="14" name="Shape 12"/>
          <p:cNvSpPr/>
          <p:nvPr/>
        </p:nvSpPr>
        <p:spPr>
          <a:xfrm>
            <a:off x="457200" y="3063240"/>
            <a:ext cx="4023360" cy="1417320"/>
          </a:xfrm>
          <a:prstGeom prst="roundRect">
            <a:avLst>
              <a:gd name="adj" fmla="val 5161"/>
            </a:avLst>
          </a:prstGeom>
          <a:solidFill>
            <a:srgbClr val="FFFFFF"/>
          </a:solidFill>
          <a:ln w="25400">
            <a:solidFill>
              <a:srgbClr val="E65100"/>
            </a:solidFill>
            <a:prstDash val="solid"/>
          </a:ln>
        </p:spPr>
      </p:sp>
      <p:sp>
        <p:nvSpPr>
          <p:cNvPr id="15" name="Text 13"/>
          <p:cNvSpPr/>
          <p:nvPr/>
        </p:nvSpPr>
        <p:spPr>
          <a:xfrm>
            <a:off x="640080" y="3200400"/>
            <a:ext cx="3657600" cy="457200"/>
          </a:xfrm>
          <a:prstGeom prst="rect">
            <a:avLst/>
          </a:prstGeom>
          <a:noFill/>
          <a:ln/>
        </p:spPr>
        <p:txBody>
          <a:bodyPr wrap="square" rtlCol="0" anchor="ctr"/>
          <a:lstStyle/>
          <a:p>
            <a:pPr indent="0" marL="0">
              <a:buNone/>
            </a:pPr>
            <a:r>
              <a:rPr lang="en-US" sz="1350" b="1" dirty="0">
                <a:solidFill>
                  <a:srgbClr val="E65100"/>
                </a:solidFill>
                <a:latin typeface="Cambria" pitchFamily="34" charset="0"/>
                <a:ea typeface="Cambria" pitchFamily="34" charset="-122"/>
                <a:cs typeface="Cambria" pitchFamily="34" charset="-120"/>
              </a:rPr>
              <a:t>RAISED FOUNDATION</a:t>
            </a:r>
            <a:endParaRPr lang="en-US" sz="1350" dirty="0"/>
          </a:p>
        </p:txBody>
      </p:sp>
      <p:sp>
        <p:nvSpPr>
          <p:cNvPr id="16" name="Text 14"/>
          <p:cNvSpPr/>
          <p:nvPr/>
        </p:nvSpPr>
        <p:spPr>
          <a:xfrm>
            <a:off x="640080" y="3703320"/>
            <a:ext cx="3657600" cy="685800"/>
          </a:xfrm>
          <a:prstGeom prst="rect">
            <a:avLst/>
          </a:prstGeom>
          <a:noFill/>
          <a:ln/>
        </p:spPr>
        <p:txBody>
          <a:bodyPr wrap="square" rtlCol="0" anchor="t"/>
          <a:lstStyle/>
          <a:p>
            <a:pPr indent="0" marL="0">
              <a:buNone/>
            </a:pPr>
            <a:r>
              <a:rPr lang="en-US" sz="1200" dirty="0">
                <a:solidFill>
                  <a:srgbClr val="2B1D12"/>
                </a:solidFill>
                <a:latin typeface="Calibri" pitchFamily="34" charset="0"/>
                <a:ea typeface="Calibri" pitchFamily="34" charset="-122"/>
                <a:cs typeface="Calibri" pitchFamily="34" charset="-120"/>
              </a:rPr>
              <a:t>Stays above floodwater.</a:t>
            </a:r>
            <a:endParaRPr lang="en-US" sz="1200" dirty="0"/>
          </a:p>
        </p:txBody>
      </p:sp>
      <p:sp>
        <p:nvSpPr>
          <p:cNvPr id="17" name="Shape 15"/>
          <p:cNvSpPr/>
          <p:nvPr/>
        </p:nvSpPr>
        <p:spPr>
          <a:xfrm>
            <a:off x="4617720" y="3063240"/>
            <a:ext cx="4023360" cy="1417320"/>
          </a:xfrm>
          <a:prstGeom prst="roundRect">
            <a:avLst>
              <a:gd name="adj" fmla="val 5161"/>
            </a:avLst>
          </a:prstGeom>
          <a:solidFill>
            <a:srgbClr val="FFFFFF"/>
          </a:solidFill>
          <a:ln w="25400">
            <a:solidFill>
              <a:srgbClr val="F9A825"/>
            </a:solidFill>
            <a:prstDash val="solid"/>
          </a:ln>
        </p:spPr>
      </p:sp>
      <p:sp>
        <p:nvSpPr>
          <p:cNvPr id="18" name="Text 16"/>
          <p:cNvSpPr/>
          <p:nvPr/>
        </p:nvSpPr>
        <p:spPr>
          <a:xfrm>
            <a:off x="4800600" y="3200400"/>
            <a:ext cx="3657600" cy="457200"/>
          </a:xfrm>
          <a:prstGeom prst="rect">
            <a:avLst/>
          </a:prstGeom>
          <a:noFill/>
          <a:ln/>
        </p:spPr>
        <p:txBody>
          <a:bodyPr wrap="square" rtlCol="0" anchor="ctr"/>
          <a:lstStyle/>
          <a:p>
            <a:pPr indent="0" marL="0">
              <a:buNone/>
            </a:pPr>
            <a:r>
              <a:rPr lang="en-US" sz="1350" b="1" dirty="0">
                <a:solidFill>
                  <a:srgbClr val="F9A825"/>
                </a:solidFill>
                <a:latin typeface="Cambria" pitchFamily="34" charset="0"/>
                <a:ea typeface="Cambria" pitchFamily="34" charset="-122"/>
                <a:cs typeface="Cambria" pitchFamily="34" charset="-120"/>
              </a:rPr>
              <a:t>CROSS-BRACING</a:t>
            </a:r>
            <a:endParaRPr lang="en-US" sz="1350" dirty="0"/>
          </a:p>
        </p:txBody>
      </p:sp>
      <p:sp>
        <p:nvSpPr>
          <p:cNvPr id="19" name="Text 17"/>
          <p:cNvSpPr/>
          <p:nvPr/>
        </p:nvSpPr>
        <p:spPr>
          <a:xfrm>
            <a:off x="4800600" y="3703320"/>
            <a:ext cx="3657600" cy="685800"/>
          </a:xfrm>
          <a:prstGeom prst="rect">
            <a:avLst/>
          </a:prstGeom>
          <a:noFill/>
          <a:ln/>
        </p:spPr>
        <p:txBody>
          <a:bodyPr wrap="square" rtlCol="0" anchor="t"/>
          <a:lstStyle/>
          <a:p>
            <a:pPr indent="0" marL="0">
              <a:buNone/>
            </a:pPr>
            <a:r>
              <a:rPr lang="en-US" sz="1200" dirty="0">
                <a:solidFill>
                  <a:srgbClr val="2B1D12"/>
                </a:solidFill>
                <a:latin typeface="Calibri" pitchFamily="34" charset="0"/>
                <a:ea typeface="Calibri" pitchFamily="34" charset="-122"/>
                <a:cs typeface="Calibri" pitchFamily="34" charset="-120"/>
              </a:rPr>
              <a:t>Keeps walls from collapsing sideways.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Design Process</a:t>
            </a:r>
            <a:endParaRPr lang="en-US" sz="2100" dirty="0"/>
          </a:p>
        </p:txBody>
      </p:sp>
      <p:sp>
        <p:nvSpPr>
          <p:cNvPr id="7" name="Shape 5"/>
          <p:cNvSpPr/>
          <p:nvPr/>
        </p:nvSpPr>
        <p:spPr>
          <a:xfrm>
            <a:off x="457200" y="1097280"/>
            <a:ext cx="8229600" cy="548640"/>
          </a:xfrm>
          <a:prstGeom prst="roundRect">
            <a:avLst>
              <a:gd name="adj" fmla="val 13333"/>
            </a:avLst>
          </a:prstGeom>
          <a:solidFill>
            <a:srgbClr val="0E1C42"/>
          </a:solidFill>
          <a:ln/>
        </p:spPr>
      </p:sp>
      <p:sp>
        <p:nvSpPr>
          <p:cNvPr id="8" name="Text 6"/>
          <p:cNvSpPr/>
          <p:nvPr/>
        </p:nvSpPr>
        <p:spPr>
          <a:xfrm>
            <a:off x="457200" y="1097280"/>
            <a:ext cx="8229600" cy="54864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DEFINE  →  PLAN  →  BUILD  →  TEST  →  REDESIGN</a:t>
            </a:r>
            <a:endParaRPr lang="en-US" sz="1600" dirty="0"/>
          </a:p>
        </p:txBody>
      </p:sp>
      <p:sp>
        <p:nvSpPr>
          <p:cNvPr id="9" name="Text 7"/>
          <p:cNvSpPr/>
          <p:nvPr/>
        </p:nvSpPr>
        <p:spPr>
          <a:xfrm>
            <a:off x="320040" y="1828800"/>
            <a:ext cx="8503920" cy="73152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Testing is the most important step. It shows where a design breaks down. That information is not a failure — it's exactly what engineers need to make the next version better.</a:t>
            </a:r>
            <a:endParaRPr lang="en-US" sz="1300" dirty="0"/>
          </a:p>
        </p:txBody>
      </p:sp>
      <p:sp>
        <p:nvSpPr>
          <p:cNvPr id="10" name="Shape 8"/>
          <p:cNvSpPr/>
          <p:nvPr/>
        </p:nvSpPr>
        <p:spPr>
          <a:xfrm>
            <a:off x="320040" y="2651760"/>
            <a:ext cx="8503920" cy="685800"/>
          </a:xfrm>
          <a:prstGeom prst="roundRect">
            <a:avLst>
              <a:gd name="adj" fmla="val 10667"/>
            </a:avLst>
          </a:prstGeom>
          <a:solidFill>
            <a:srgbClr val="FFF3E0"/>
          </a:solidFill>
          <a:ln w="19050">
            <a:solidFill>
              <a:srgbClr val="F57C00"/>
            </a:solidFill>
            <a:prstDash val="solid"/>
          </a:ln>
        </p:spPr>
      </p:sp>
      <p:sp>
        <p:nvSpPr>
          <p:cNvPr id="11" name="Text 9"/>
          <p:cNvSpPr/>
          <p:nvPr/>
        </p:nvSpPr>
        <p:spPr>
          <a:xfrm>
            <a:off x="502920" y="270662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2" name="Text 10"/>
          <p:cNvSpPr/>
          <p:nvPr/>
        </p:nvSpPr>
        <p:spPr>
          <a:xfrm>
            <a:off x="502920" y="2871216"/>
            <a:ext cx="8138160" cy="42976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After Hurricane Andrew hit Florida in 1992, engineers studied what broke. Florida changed its building rules. Newer buildings survived the next big storms much better than the old ones did.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CONCEPT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Say It Before We Show It</a:t>
            </a:r>
            <a:endParaRPr lang="en-US" sz="2100" dirty="0"/>
          </a:p>
        </p:txBody>
      </p:sp>
      <p:sp>
        <p:nvSpPr>
          <p:cNvPr id="7" name="Shape 5"/>
          <p:cNvSpPr/>
          <p:nvPr/>
        </p:nvSpPr>
        <p:spPr>
          <a:xfrm>
            <a:off x="320040" y="1280160"/>
            <a:ext cx="8503920" cy="1417320"/>
          </a:xfrm>
          <a:prstGeom prst="roundRect">
            <a:avLst>
              <a:gd name="adj" fmla="val 5161"/>
            </a:avLst>
          </a:prstGeom>
          <a:solidFill>
            <a:srgbClr val="F0F8E8"/>
          </a:solidFill>
          <a:ln w="19050">
            <a:solidFill>
              <a:srgbClr val="C8E0B8"/>
            </a:solidFill>
            <a:prstDash val="solid"/>
          </a:ln>
        </p:spPr>
      </p:sp>
      <p:sp>
        <p:nvSpPr>
          <p:cNvPr id="8" name="Text 6"/>
          <p:cNvSpPr/>
          <p:nvPr/>
        </p:nvSpPr>
        <p:spPr>
          <a:xfrm>
            <a:off x="502920" y="135331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KEY CONCEPT</a:t>
            </a:r>
            <a:endParaRPr lang="en-US" sz="1100" dirty="0"/>
          </a:p>
        </p:txBody>
      </p:sp>
      <p:sp>
        <p:nvSpPr>
          <p:cNvPr id="9" name="Text 7"/>
          <p:cNvSpPr/>
          <p:nvPr/>
        </p:nvSpPr>
        <p:spPr>
          <a:xfrm>
            <a:off x="502920" y="1572768"/>
            <a:ext cx="8138160" cy="106984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Engineers can't stop a hurricane, but they can design structures that reduce the damage. A good design starts with understanding what the storm will do — and building in features that resist those forces.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ENGINEERING FACT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125,000 Homes, and a Rewritten Code</a:t>
            </a:r>
            <a:endParaRPr lang="en-US" sz="2100" dirty="0"/>
          </a:p>
        </p:txBody>
      </p:sp>
      <p:sp>
        <p:nvSpPr>
          <p:cNvPr id="7" name="Text 5"/>
          <p:cNvSpPr/>
          <p:nvPr/>
        </p:nvSpPr>
        <p:spPr>
          <a:xfrm>
            <a:off x="457200" y="1143000"/>
            <a:ext cx="8229600" cy="1280160"/>
          </a:xfrm>
          <a:prstGeom prst="rect">
            <a:avLst/>
          </a:prstGeom>
          <a:noFill/>
          <a:ln/>
        </p:spPr>
        <p:txBody>
          <a:bodyPr wrap="square" rtlCol="0" anchor="t"/>
          <a:lstStyle/>
          <a:p>
            <a:pPr indent="0" marL="0">
              <a:lnSpc>
                <a:spcPts val="2000"/>
              </a:lnSpc>
              <a:buNone/>
            </a:pPr>
            <a:r>
              <a:rPr lang="en-US" sz="1400" dirty="0">
                <a:solidFill>
                  <a:srgbClr val="2B1D12"/>
                </a:solidFill>
                <a:latin typeface="Calibri" pitchFamily="34" charset="0"/>
                <a:ea typeface="Calibri" pitchFamily="34" charset="-122"/>
                <a:cs typeface="Calibri" pitchFamily="34" charset="-120"/>
              </a:rPr>
              <a:t>After Hurricane Andrew destroyed over 125,000 homes in Florida in 1992, engineers redesigned the building rules. Homes built under the new code survived the next major storms far better — roof damage dropped by more than half.</a:t>
            </a:r>
            <a:endParaRPr lang="en-US" sz="1400" dirty="0"/>
          </a:p>
        </p:txBody>
      </p:sp>
      <p:sp>
        <p:nvSpPr>
          <p:cNvPr id="8" name="Shape 6"/>
          <p:cNvSpPr/>
          <p:nvPr/>
        </p:nvSpPr>
        <p:spPr>
          <a:xfrm>
            <a:off x="320040" y="269748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27706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302666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do you think engineers changed about how roofs were attached to walls after studying what broke during Andrew?</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ENGINEERING CHALLENGE · 30 MIN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Define the Problem</a:t>
            </a:r>
            <a:endParaRPr lang="en-US" sz="2100" dirty="0"/>
          </a:p>
        </p:txBody>
      </p:sp>
      <p:sp>
        <p:nvSpPr>
          <p:cNvPr id="7" name="Text 5"/>
          <p:cNvSpPr/>
          <p:nvPr/>
        </p:nvSpPr>
        <p:spPr>
          <a:xfrm>
            <a:off x="365760" y="1051560"/>
            <a:ext cx="8412480" cy="502920"/>
          </a:xfrm>
          <a:prstGeom prst="rect">
            <a:avLst/>
          </a:prstGeom>
          <a:noFill/>
          <a:ln/>
        </p:spPr>
        <p:txBody>
          <a:bodyPr wrap="square" rtlCol="0" anchor="ctr"/>
          <a:lstStyle/>
          <a:p>
            <a:pPr indent="0" marL="0">
              <a:buNone/>
            </a:pPr>
            <a:r>
              <a:rPr lang="en-US" sz="1200" i="1" dirty="0">
                <a:solidFill>
                  <a:srgbClr val="5A4D3E"/>
                </a:solidFill>
                <a:latin typeface="Calibri" pitchFamily="34" charset="0"/>
                <a:ea typeface="Calibri" pitchFamily="34" charset="-122"/>
                <a:cs typeface="Calibri" pitchFamily="34" charset="-120"/>
              </a:rPr>
              <a:t>Materials available: paper, cardboard, straws, craft sticks, tape, scissors. Use only what's at your station — that's your constraint.</a:t>
            </a:r>
            <a:endParaRPr lang="en-US" sz="1200" dirty="0"/>
          </a:p>
        </p:txBody>
      </p:sp>
      <p:sp>
        <p:nvSpPr>
          <p:cNvPr id="8" name="Text 6"/>
          <p:cNvSpPr/>
          <p:nvPr/>
        </p:nvSpPr>
        <p:spPr>
          <a:xfrm>
            <a:off x="320040" y="1645920"/>
            <a:ext cx="8503920" cy="45720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Write this in your notebook: What is the challenge? What does your structure need to survive?</a:t>
            </a:r>
            <a:endParaRPr lang="en-US" sz="1250" dirty="0"/>
          </a:p>
        </p:txBody>
      </p:sp>
      <p:sp>
        <p:nvSpPr>
          <p:cNvPr id="9" name="Shape 7"/>
          <p:cNvSpPr/>
          <p:nvPr/>
        </p:nvSpPr>
        <p:spPr>
          <a:xfrm>
            <a:off x="320040" y="2194560"/>
            <a:ext cx="8503920" cy="1086485"/>
          </a:xfrm>
          <a:prstGeom prst="roundRect">
            <a:avLst>
              <a:gd name="adj" fmla="val 6733"/>
            </a:avLst>
          </a:prstGeom>
          <a:solidFill>
            <a:srgbClr val="EEF8F0"/>
          </a:solidFill>
          <a:ln w="19050">
            <a:solidFill>
              <a:srgbClr val="52B788"/>
            </a:solidFill>
            <a:prstDash val="solid"/>
          </a:ln>
        </p:spPr>
      </p:sp>
      <p:sp>
        <p:nvSpPr>
          <p:cNvPr id="10" name="Text 8"/>
          <p:cNvSpPr/>
          <p:nvPr/>
        </p:nvSpPr>
        <p:spPr>
          <a:xfrm>
            <a:off x="502920" y="226771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1" name="Text 9"/>
          <p:cNvSpPr/>
          <p:nvPr/>
        </p:nvSpPr>
        <p:spPr>
          <a:xfrm>
            <a:off x="502920" y="252374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List your criteria (what must it do?) and your constraints (what limits do you have?). Be specific — 'It should not fall over when I blow on it' is better than 'it should be strong.'</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ENGINEERING CHALLENGE, STEP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Plan Your Design</a:t>
            </a:r>
            <a:endParaRPr lang="en-US" sz="2100" dirty="0"/>
          </a:p>
        </p:txBody>
      </p:sp>
      <p:sp>
        <p:nvSpPr>
          <p:cNvPr id="7" name="Text 5"/>
          <p:cNvSpPr/>
          <p:nvPr/>
        </p:nvSpPr>
        <p:spPr>
          <a:xfrm>
            <a:off x="320040" y="1143000"/>
            <a:ext cx="8503920" cy="54864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Sketch your structure in your notebook. Label at least 4 features and explain next to each one how it will help.</a:t>
            </a:r>
            <a:endParaRPr lang="en-US" sz="1300" dirty="0"/>
          </a:p>
        </p:txBody>
      </p:sp>
      <p:sp>
        <p:nvSpPr>
          <p:cNvPr id="8" name="Shape 6"/>
          <p:cNvSpPr/>
          <p:nvPr/>
        </p:nvSpPr>
        <p:spPr>
          <a:xfrm>
            <a:off x="320040" y="1783080"/>
            <a:ext cx="8503920" cy="777240"/>
          </a:xfrm>
          <a:prstGeom prst="roundRect">
            <a:avLst>
              <a:gd name="adj" fmla="val 9412"/>
            </a:avLst>
          </a:prstGeom>
          <a:solidFill>
            <a:srgbClr val="FFF3E0"/>
          </a:solidFill>
          <a:ln w="19050">
            <a:solidFill>
              <a:srgbClr val="F57C00"/>
            </a:solidFill>
            <a:prstDash val="solid"/>
          </a:ln>
        </p:spPr>
      </p:sp>
      <p:sp>
        <p:nvSpPr>
          <p:cNvPr id="9" name="Text 7"/>
          <p:cNvSpPr/>
          <p:nvPr/>
        </p:nvSpPr>
        <p:spPr>
          <a:xfrm>
            <a:off x="502920" y="183794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0" name="Text 8"/>
          <p:cNvSpPr/>
          <p:nvPr/>
        </p:nvSpPr>
        <p:spPr>
          <a:xfrm>
            <a:off x="502920" y="2002536"/>
            <a:ext cx="8138160" cy="52120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about what you learned: sloped roofs, raised foundations, wide bases, cross-bracing. Which ones make sense for your design? You don't have to use all of them — choose what fits.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ENGINEERING CHALLENGE, STEP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Build Your Prototype</a:t>
            </a:r>
            <a:endParaRPr lang="en-US" sz="2100" dirty="0"/>
          </a:p>
        </p:txBody>
      </p:sp>
      <p:sp>
        <p:nvSpPr>
          <p:cNvPr id="7" name="Text 5"/>
          <p:cNvSpPr/>
          <p:nvPr/>
        </p:nvSpPr>
        <p:spPr>
          <a:xfrm>
            <a:off x="320040" y="1097280"/>
            <a:ext cx="8503920" cy="91440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Use only the materials available at your station. Build according to your sketch. If something doesn't work while you're building, note it down — changes made during building are normal. Real engineers adjust as they go.</a:t>
            </a:r>
            <a:endParaRPr lang="en-US" sz="1250" dirty="0"/>
          </a:p>
        </p:txBody>
      </p:sp>
      <p:sp>
        <p:nvSpPr>
          <p:cNvPr id="8" name="Shape 6"/>
          <p:cNvSpPr/>
          <p:nvPr/>
        </p:nvSpPr>
        <p:spPr>
          <a:xfrm>
            <a:off x="457200" y="2103120"/>
            <a:ext cx="8229600" cy="1691640"/>
          </a:xfrm>
          <a:prstGeom prst="roundRect">
            <a:avLst>
              <a:gd name="adj" fmla="val 4324"/>
            </a:avLst>
          </a:prstGeom>
          <a:solidFill>
            <a:srgbClr val="FFF3E0"/>
          </a:solidFill>
          <a:ln w="25400">
            <a:solidFill>
              <a:srgbClr val="F9A825"/>
            </a:solidFill>
            <a:prstDash val="dash"/>
          </a:ln>
        </p:spPr>
      </p:sp>
      <p:sp>
        <p:nvSpPr>
          <p:cNvPr id="9" name="Text 7"/>
          <p:cNvSpPr/>
          <p:nvPr/>
        </p:nvSpPr>
        <p:spPr>
          <a:xfrm>
            <a:off x="640080" y="219456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0" name="Text 8"/>
          <p:cNvSpPr/>
          <p:nvPr/>
        </p:nvSpPr>
        <p:spPr>
          <a:xfrm>
            <a:off x="640080" y="2468880"/>
            <a:ext cx="7863840" cy="97840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Real photograph of storm surge or heavy floodwater rising past the base of elevated homes on stilts along a Florida residential or coastal street. Floodwater clearly visible at ground level, rising toward but staying below the elevated floors. Living spaces remain dry above the waterline while water flows underneath. Overcast or stormy sky, palm trees or Florida vegetation in background. Outdoor, daytime, photorealistic documentary style. No white background, no borders, no cartoon, no text overlays.</a:t>
            </a:r>
            <a:endParaRPr lang="en-US" sz="1100" dirty="0"/>
          </a:p>
        </p:txBody>
      </p:sp>
      <p:sp>
        <p:nvSpPr>
          <p:cNvPr id="11" name="Text 9"/>
          <p:cNvSpPr/>
          <p:nvPr/>
        </p:nvSpPr>
        <p:spPr>
          <a:xfrm>
            <a:off x="640080" y="350215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images/4-02-storm-surge-raised-houses.png</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ENGINEERING CHALLENGE, STEP 4</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Test Your Structure</a:t>
            </a:r>
            <a:endParaRPr lang="en-US" sz="2100" dirty="0"/>
          </a:p>
        </p:txBody>
      </p:sp>
      <p:sp>
        <p:nvSpPr>
          <p:cNvPr id="7" name="Text 5"/>
          <p:cNvSpPr/>
          <p:nvPr/>
        </p:nvSpPr>
        <p:spPr>
          <a:xfrm>
            <a:off x="365760" y="1143000"/>
            <a:ext cx="8412480" cy="320040"/>
          </a:xfrm>
          <a:prstGeom prst="rect">
            <a:avLst/>
          </a:prstGeom>
          <a:noFill/>
          <a:ln/>
        </p:spPr>
        <p:txBody>
          <a:bodyPr wrap="square" rtlCol="0" anchor="ctr"/>
          <a:lstStyle/>
          <a:p>
            <a:pPr indent="0" marL="0">
              <a:buNone/>
            </a:pPr>
            <a:r>
              <a:rPr lang="en-US" sz="1300" i="1" dirty="0">
                <a:solidFill>
                  <a:srgbClr val="5A4D3E"/>
                </a:solidFill>
                <a:latin typeface="Calibri" pitchFamily="34" charset="0"/>
                <a:ea typeface="Calibri" pitchFamily="34" charset="-122"/>
                <a:cs typeface="Calibri" pitchFamily="34" charset="-120"/>
              </a:rPr>
              <a:t>Simulate two types of storm forces:</a:t>
            </a:r>
            <a:endParaRPr lang="en-US" sz="1300" dirty="0"/>
          </a:p>
        </p:txBody>
      </p:sp>
      <p:sp>
        <p:nvSpPr>
          <p:cNvPr id="8" name="Shape 6"/>
          <p:cNvSpPr/>
          <p:nvPr/>
        </p:nvSpPr>
        <p:spPr>
          <a:xfrm>
            <a:off x="365760" y="1554480"/>
            <a:ext cx="8412480" cy="777240"/>
          </a:xfrm>
          <a:prstGeom prst="roundRect">
            <a:avLst>
              <a:gd name="adj" fmla="val 9412"/>
            </a:avLst>
          </a:prstGeom>
          <a:solidFill>
            <a:srgbClr val="FFFFFF"/>
          </a:solidFill>
          <a:ln w="19050">
            <a:solidFill>
              <a:srgbClr val="E8DDD2"/>
            </a:solidFill>
            <a:prstDash val="solid"/>
          </a:ln>
        </p:spPr>
      </p:sp>
      <p:sp>
        <p:nvSpPr>
          <p:cNvPr id="9" name="Text 7"/>
          <p:cNvSpPr/>
          <p:nvPr/>
        </p:nvSpPr>
        <p:spPr>
          <a:xfrm>
            <a:off x="548640" y="1645920"/>
            <a:ext cx="8046720" cy="256032"/>
          </a:xfrm>
          <a:prstGeom prst="rect">
            <a:avLst/>
          </a:prstGeom>
          <a:noFill/>
          <a:ln/>
        </p:spPr>
        <p:txBody>
          <a:bodyPr wrap="square" rtlCol="0" anchor="ctr"/>
          <a:lstStyle/>
          <a:p>
            <a:pPr indent="0" marL="0">
              <a:buNone/>
            </a:pPr>
            <a:r>
              <a:rPr lang="en-US" sz="1400" b="1" dirty="0">
                <a:solidFill>
                  <a:srgbClr val="E65100"/>
                </a:solidFill>
                <a:latin typeface="Cambria" pitchFamily="34" charset="0"/>
                <a:ea typeface="Cambria" pitchFamily="34" charset="-122"/>
                <a:cs typeface="Cambria" pitchFamily="34" charset="-120"/>
              </a:rPr>
              <a:t>WIND</a:t>
            </a:r>
            <a:endParaRPr lang="en-US" sz="1400" dirty="0"/>
          </a:p>
        </p:txBody>
      </p:sp>
      <p:sp>
        <p:nvSpPr>
          <p:cNvPr id="10" name="Text 8"/>
          <p:cNvSpPr/>
          <p:nvPr/>
        </p:nvSpPr>
        <p:spPr>
          <a:xfrm>
            <a:off x="548640" y="1920240"/>
            <a:ext cx="8046720" cy="365760"/>
          </a:xfrm>
          <a:prstGeom prst="rect">
            <a:avLst/>
          </a:prstGeom>
          <a:noFill/>
          <a:ln/>
        </p:spPr>
        <p:txBody>
          <a:bodyPr wrap="square" rtlCol="0" anchor="ctr"/>
          <a:lstStyle/>
          <a:p>
            <a:pPr indent="0" marL="0">
              <a:buNone/>
            </a:pPr>
            <a:r>
              <a:rPr lang="en-US" sz="1200" dirty="0">
                <a:solidFill>
                  <a:srgbClr val="2B1D12"/>
                </a:solidFill>
                <a:latin typeface="Calibri" pitchFamily="34" charset="0"/>
                <a:ea typeface="Calibri" pitchFamily="34" charset="-122"/>
                <a:cs typeface="Calibri" pitchFamily="34" charset="-120"/>
              </a:rPr>
              <a:t>Blow on your structure steadily, or use a fan. Does it lean, shift, or fall?</a:t>
            </a:r>
            <a:endParaRPr lang="en-US" sz="1200" dirty="0"/>
          </a:p>
        </p:txBody>
      </p:sp>
      <p:sp>
        <p:nvSpPr>
          <p:cNvPr id="11" name="Shape 9"/>
          <p:cNvSpPr/>
          <p:nvPr/>
        </p:nvSpPr>
        <p:spPr>
          <a:xfrm>
            <a:off x="365760" y="2450592"/>
            <a:ext cx="8412480" cy="777240"/>
          </a:xfrm>
          <a:prstGeom prst="roundRect">
            <a:avLst>
              <a:gd name="adj" fmla="val 9412"/>
            </a:avLst>
          </a:prstGeom>
          <a:solidFill>
            <a:srgbClr val="FFFFFF"/>
          </a:solidFill>
          <a:ln w="19050">
            <a:solidFill>
              <a:srgbClr val="E8DDD2"/>
            </a:solidFill>
            <a:prstDash val="solid"/>
          </a:ln>
        </p:spPr>
      </p:sp>
      <p:sp>
        <p:nvSpPr>
          <p:cNvPr id="12" name="Text 10"/>
          <p:cNvSpPr/>
          <p:nvPr/>
        </p:nvSpPr>
        <p:spPr>
          <a:xfrm>
            <a:off x="548640" y="2542032"/>
            <a:ext cx="8046720" cy="256032"/>
          </a:xfrm>
          <a:prstGeom prst="rect">
            <a:avLst/>
          </a:prstGeom>
          <a:noFill/>
          <a:ln/>
        </p:spPr>
        <p:txBody>
          <a:bodyPr wrap="square" rtlCol="0" anchor="ctr"/>
          <a:lstStyle/>
          <a:p>
            <a:pPr indent="0" marL="0">
              <a:buNone/>
            </a:pPr>
            <a:r>
              <a:rPr lang="en-US" sz="1400" b="1" dirty="0">
                <a:solidFill>
                  <a:srgbClr val="E65100"/>
                </a:solidFill>
                <a:latin typeface="Cambria" pitchFamily="34" charset="0"/>
                <a:ea typeface="Cambria" pitchFamily="34" charset="-122"/>
                <a:cs typeface="Cambria" pitchFamily="34" charset="-120"/>
              </a:rPr>
              <a:t>WATER</a:t>
            </a:r>
            <a:endParaRPr lang="en-US" sz="1400" dirty="0"/>
          </a:p>
        </p:txBody>
      </p:sp>
      <p:sp>
        <p:nvSpPr>
          <p:cNvPr id="13" name="Text 11"/>
          <p:cNvSpPr/>
          <p:nvPr/>
        </p:nvSpPr>
        <p:spPr>
          <a:xfrm>
            <a:off x="548640" y="2816352"/>
            <a:ext cx="8046720" cy="365760"/>
          </a:xfrm>
          <a:prstGeom prst="rect">
            <a:avLst/>
          </a:prstGeom>
          <a:noFill/>
          <a:ln/>
        </p:spPr>
        <p:txBody>
          <a:bodyPr wrap="square" rtlCol="0" anchor="ctr"/>
          <a:lstStyle/>
          <a:p>
            <a:pPr indent="0" marL="0">
              <a:buNone/>
            </a:pPr>
            <a:r>
              <a:rPr lang="en-US" sz="1200" dirty="0">
                <a:solidFill>
                  <a:srgbClr val="2B1D12"/>
                </a:solidFill>
                <a:latin typeface="Calibri" pitchFamily="34" charset="0"/>
                <a:ea typeface="Calibri" pitchFamily="34" charset="-122"/>
                <a:cs typeface="Calibri" pitchFamily="34" charset="-120"/>
              </a:rPr>
              <a:t>Spray or pour a small amount of water at the base. Does water reach the "floor" of your structure?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ENGINEERING CHALLENGE, STEPS 5-6</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Record, Then Redesign</a:t>
            </a:r>
            <a:endParaRPr lang="en-US" sz="2100" dirty="0"/>
          </a:p>
        </p:txBody>
      </p:sp>
      <p:sp>
        <p:nvSpPr>
          <p:cNvPr id="7" name="Text 5"/>
          <p:cNvSpPr/>
          <p:nvPr/>
        </p:nvSpPr>
        <p:spPr>
          <a:xfrm>
            <a:off x="320040" y="1097280"/>
            <a:ext cx="8503920" cy="777240"/>
          </a:xfrm>
          <a:prstGeom prst="rect">
            <a:avLst/>
          </a:prstGeom>
          <a:noFill/>
          <a:ln/>
        </p:spPr>
        <p:txBody>
          <a:bodyPr wrap="square" rtlCol="0" anchor="t"/>
          <a:lstStyle/>
          <a:p>
            <a:pPr indent="0" marL="0">
              <a:lnSpc>
                <a:spcPts val="2000"/>
              </a:lnSpc>
              <a:buNone/>
            </a:pPr>
            <a:r>
              <a:rPr lang="en-US" sz="1200" dirty="0">
                <a:solidFill>
                  <a:srgbClr val="2B1D12"/>
                </a:solidFill>
                <a:latin typeface="Calibri" pitchFamily="34" charset="0"/>
                <a:ea typeface="Calibri" pitchFamily="34" charset="-122"/>
                <a:cs typeface="Calibri" pitchFamily="34" charset="-120"/>
              </a:rPr>
              <a:t>Record what happened: describe both tests specifically. What held up? What gave way first? Write exactly what you saw — not just 'it worked' or 'it broke,' but where and how.</a:t>
            </a:r>
            <a:endParaRPr lang="en-US" sz="1200" dirty="0"/>
          </a:p>
        </p:txBody>
      </p:sp>
      <p:sp>
        <p:nvSpPr>
          <p:cNvPr id="8" name="Shape 6"/>
          <p:cNvSpPr/>
          <p:nvPr/>
        </p:nvSpPr>
        <p:spPr>
          <a:xfrm>
            <a:off x="320040" y="196596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203911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29514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Redesign — identify the weakest part of your structure. Write one specific change you would make and explain why it should help.</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Like an Engineer</a:t>
            </a:r>
            <a:endParaRPr lang="en-US" sz="2100" dirty="0"/>
          </a:p>
        </p:txBody>
      </p:sp>
      <p:sp>
        <p:nvSpPr>
          <p:cNvPr id="7" name="Shape 5"/>
          <p:cNvSpPr/>
          <p:nvPr/>
        </p:nvSpPr>
        <p:spPr>
          <a:xfrm>
            <a:off x="320040" y="1280160"/>
            <a:ext cx="8503920" cy="869950"/>
          </a:xfrm>
          <a:prstGeom prst="roundRect">
            <a:avLst>
              <a:gd name="adj" fmla="val 8409"/>
            </a:avLst>
          </a:prstGeom>
          <a:solidFill>
            <a:srgbClr val="EEF8F0"/>
          </a:solidFill>
          <a:ln w="19050">
            <a:solidFill>
              <a:srgbClr val="52B788"/>
            </a:solidFill>
            <a:prstDash val="solid"/>
          </a:ln>
        </p:spPr>
      </p:sp>
      <p:sp>
        <p:nvSpPr>
          <p:cNvPr id="8" name="Text 6"/>
          <p:cNvSpPr/>
          <p:nvPr/>
        </p:nvSpPr>
        <p:spPr>
          <a:xfrm>
            <a:off x="502920" y="135331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609344"/>
            <a:ext cx="8138160" cy="485902"/>
          </a:xfrm>
          <a:prstGeom prst="rect">
            <a:avLst/>
          </a:prstGeom>
          <a:noFill/>
          <a:ln/>
        </p:spPr>
        <p:txBody>
          <a:bodyPr wrap="square" rtlCol="0" anchor="t"/>
          <a:lstStyle/>
          <a:p>
            <a:pPr marL="342900" indent="-342900">
              <a:lnSpc>
                <a:spcPts val="2170"/>
              </a:lnSpc>
              <a:buSzPct val="100000"/>
              <a:buChar char="●"/>
            </a:pPr>
            <a:r>
              <a:rPr lang="en-US" sz="1400" dirty="0">
                <a:solidFill>
                  <a:srgbClr val="1B4332"/>
                </a:solidFill>
                <a:latin typeface="Calibri" pitchFamily="34" charset="0"/>
                <a:ea typeface="Calibri" pitchFamily="34" charset="-122"/>
                <a:cs typeface="Calibri" pitchFamily="34" charset="-120"/>
              </a:rPr>
              <a:t>Why is it useful to know where your design failed, not just whether it failed?</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Record Your Thinking</a:t>
            </a:r>
            <a:endParaRPr lang="en-US" sz="2100" dirty="0"/>
          </a:p>
        </p:txBody>
      </p:sp>
      <p:sp>
        <p:nvSpPr>
          <p:cNvPr id="7" name="Shape 5"/>
          <p:cNvSpPr/>
          <p:nvPr/>
        </p:nvSpPr>
        <p:spPr>
          <a:xfrm>
            <a:off x="320040" y="1143000"/>
            <a:ext cx="8503920" cy="1835975"/>
          </a:xfrm>
          <a:prstGeom prst="roundRect">
            <a:avLst>
              <a:gd name="adj" fmla="val 3984"/>
            </a:avLst>
          </a:prstGeom>
          <a:solidFill>
            <a:srgbClr val="EEF8F0"/>
          </a:solidFill>
          <a:ln w="19050">
            <a:solidFill>
              <a:srgbClr val="52B788"/>
            </a:solidFill>
            <a:prstDash val="solid"/>
          </a:ln>
        </p:spPr>
      </p:sp>
      <p:sp>
        <p:nvSpPr>
          <p:cNvPr id="8" name="Text 6"/>
          <p:cNvSpPr/>
          <p:nvPr/>
        </p:nvSpPr>
        <p:spPr>
          <a:xfrm>
            <a:off x="502920" y="121615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72184"/>
            <a:ext cx="8138160" cy="1451927"/>
          </a:xfrm>
          <a:prstGeom prst="rect">
            <a:avLst/>
          </a:prstGeom>
          <a:noFill/>
          <a:ln/>
        </p:spPr>
        <p:txBody>
          <a:bodyPr wrap="square" rtlCol="0" anchor="t"/>
          <a:lstStyle/>
          <a:p>
            <a:pPr marL="342900" indent="-342900">
              <a:lnSpc>
                <a:spcPts val="1783"/>
              </a:lnSpc>
              <a:buSzPct val="100000"/>
              <a:buChar char="●"/>
            </a:pPr>
            <a:r>
              <a:rPr lang="en-US" sz="1150" dirty="0">
                <a:solidFill>
                  <a:srgbClr val="1B4332"/>
                </a:solidFill>
                <a:latin typeface="Calibri" pitchFamily="34" charset="0"/>
                <a:ea typeface="Calibri" pitchFamily="34" charset="-122"/>
                <a:cs typeface="Calibri" pitchFamily="34" charset="-120"/>
              </a:rPr>
              <a:t>Describe what happened during the wind test and the water test — what was the first thing that moved, shifted, or failed?</a:t>
            </a:r>
            <a:endParaRPr lang="en-US" sz="1150" dirty="0"/>
          </a:p>
          <a:p>
            <a:pPr marL="342900" indent="-342900">
              <a:lnSpc>
                <a:spcPts val="1783"/>
              </a:lnSpc>
              <a:buSzPct val="100000"/>
              <a:buChar char="●"/>
            </a:pPr>
            <a:r>
              <a:rPr lang="en-US" sz="1150" dirty="0">
                <a:solidFill>
                  <a:srgbClr val="1B4332"/>
                </a:solidFill>
                <a:latin typeface="Calibri" pitchFamily="34" charset="0"/>
                <a:ea typeface="Calibri" pitchFamily="34" charset="-122"/>
                <a:cs typeface="Calibri" pitchFamily="34" charset="-120"/>
              </a:rPr>
              <a:t>Identify the weakest part of your design. What specific change would you make, and how should it help?</a:t>
            </a:r>
            <a:endParaRPr lang="en-US" sz="1150" dirty="0"/>
          </a:p>
          <a:p>
            <a:pPr marL="342900" indent="-342900">
              <a:lnSpc>
                <a:spcPts val="1783"/>
              </a:lnSpc>
              <a:buSzPct val="100000"/>
              <a:buChar char="●"/>
            </a:pPr>
            <a:r>
              <a:rPr lang="en-US" sz="1150" dirty="0">
                <a:solidFill>
                  <a:srgbClr val="1B4332"/>
                </a:solidFill>
                <a:latin typeface="Calibri" pitchFamily="34" charset="0"/>
                <a:ea typeface="Calibri" pitchFamily="34" charset="-122"/>
                <a:cs typeface="Calibri" pitchFamily="34" charset="-120"/>
              </a:rPr>
              <a:t>Tell the story of your engineering challenge from start to finish — what you planned, built, tested, and what you'd do differently.</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It Through</a:t>
            </a:r>
            <a:endParaRPr lang="en-US" sz="2100" dirty="0"/>
          </a:p>
        </p:txBody>
      </p:sp>
      <p:sp>
        <p:nvSpPr>
          <p:cNvPr id="7" name="Shape 5"/>
          <p:cNvSpPr/>
          <p:nvPr/>
        </p:nvSpPr>
        <p:spPr>
          <a:xfrm>
            <a:off x="320040" y="1097280"/>
            <a:ext cx="8503920" cy="1792415"/>
          </a:xfrm>
          <a:prstGeom prst="roundRect">
            <a:avLst>
              <a:gd name="adj" fmla="val 4081"/>
            </a:avLst>
          </a:prstGeom>
          <a:solidFill>
            <a:srgbClr val="EEF8F0"/>
          </a:solidFill>
          <a:ln w="19050">
            <a:solidFill>
              <a:srgbClr val="52B788"/>
            </a:solidFill>
            <a:prstDash val="solid"/>
          </a:ln>
        </p:spPr>
      </p:sp>
      <p:sp>
        <p:nvSpPr>
          <p:cNvPr id="8" name="Text 6"/>
          <p:cNvSpPr/>
          <p:nvPr/>
        </p:nvSpPr>
        <p:spPr>
          <a:xfrm>
            <a:off x="502920" y="11704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26464"/>
            <a:ext cx="8138160" cy="1408367"/>
          </a:xfrm>
          <a:prstGeom prst="rect">
            <a:avLst/>
          </a:prstGeom>
          <a:noFill/>
          <a:ln/>
        </p:spPr>
        <p:txBody>
          <a:bodyPr wrap="square" rtlCol="0" anchor="t"/>
          <a:lstStyle/>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Which part of your structure held up best? What do you think made it the strongest part?</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Look at your criteria from Step 1. Did your structure meet them? What's your evidence?</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Florida engineers had to redesign buildings after real hurricanes. How is what you did today similar to what they do? How is it different?</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If you could use one more material that wasn't available today, what would you choose, and where would you add it?</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 criteria describe in an engineering design problem?</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What do criteria describe in an engineering design problem?</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The materials you are allowed to use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What the solution needs to do to solve the problem</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How long the project will take</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Remember: criteria are the goals. Constraints are the limits. Which one is this question asking about?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 criteria describe in an engineering design problem?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Criteria describe the goals: what success looks like for your design.</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Why is testing a prototype so important?</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Why is testing a prototype so important in engineering?</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It shows that the design is finished and ready to use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It reveals weaknesses so the engineer can improve the design</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It decides which color to paint the structure</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about what testing actually showed you about YOUR structure today.</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Why is testing a prototype so important?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Finding weaknesses is the whole point. That's what makes the next version better.</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3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Which feature would most help survive flooding?</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Which building feature would most help a structure survive flooding?</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Extra-large windows on every wall</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A raised foundation that lifts the floor above the ground</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A very flat roof to hold rainwater</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about where floodwater goes — what needs to stay above the waterline?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3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Which feature would most help survive flooding?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Raising the floor means floodwater can pass underneath without getting inside.</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Label Your Design</a:t>
            </a:r>
            <a:endParaRPr lang="en-US" sz="2100" dirty="0"/>
          </a:p>
        </p:txBody>
      </p:sp>
      <p:sp>
        <p:nvSpPr>
          <p:cNvPr id="7" name="Text 5"/>
          <p:cNvSpPr/>
          <p:nvPr/>
        </p:nvSpPr>
        <p:spPr>
          <a:xfrm>
            <a:off x="457200" y="1097280"/>
            <a:ext cx="8229600" cy="2377440"/>
          </a:xfrm>
          <a:prstGeom prst="rect">
            <a:avLst/>
          </a:prstGeom>
          <a:noFill/>
          <a:ln/>
        </p:spPr>
        <p:txBody>
          <a:bodyPr wrap="square" rtlCol="0" anchor="t"/>
          <a:lstStyle/>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1. Name one feature of your structure meant to help it survive wind. What did that feature do?</a:t>
            </a:r>
            <a:endParaRPr lang="en-US" sz="1250" dirty="0"/>
          </a:p>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2. Name one feature meant to help it survive flooding. How does it work?</a:t>
            </a:r>
            <a:endParaRPr lang="en-US" sz="1250" dirty="0"/>
          </a:p>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3. Did your finished prototype match your original sketch? Describe one change and why you made it.</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B</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Short Answer</a:t>
            </a:r>
            <a:endParaRPr lang="en-US" sz="2100" dirty="0"/>
          </a:p>
        </p:txBody>
      </p:sp>
      <p:sp>
        <p:nvSpPr>
          <p:cNvPr id="7" name="Text 5"/>
          <p:cNvSpPr/>
          <p:nvPr/>
        </p:nvSpPr>
        <p:spPr>
          <a:xfrm>
            <a:off x="457200" y="1097280"/>
            <a:ext cx="8229600" cy="2651760"/>
          </a:xfrm>
          <a:prstGeom prst="rect">
            <a:avLst/>
          </a:prstGeom>
          <a:noFill/>
          <a:ln/>
        </p:spPr>
        <p:txBody>
          <a:bodyPr wrap="square" rtlCol="0" anchor="t"/>
          <a:lstStyle/>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4. What happened during your test? Be specific about which part was affected first.</a:t>
            </a:r>
            <a:endParaRPr lang="en-US" sz="1250" dirty="0"/>
          </a:p>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5. What is the difference between a constraint and a criteria? Give an example of each from today.</a:t>
            </a:r>
            <a:endParaRPr lang="en-US" sz="1250" dirty="0"/>
          </a:p>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6. Compare your original design to your redesign. What changed, and why did that make sense based on your test?</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WRITE &amp; EXPLAIN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How Testing Made You a Better Engineer</a:t>
            </a:r>
            <a:endParaRPr lang="en-US" sz="2100" dirty="0"/>
          </a:p>
        </p:txBody>
      </p:sp>
      <p:sp>
        <p:nvSpPr>
          <p:cNvPr id="7" name="Text 5"/>
          <p:cNvSpPr/>
          <p:nvPr/>
        </p:nvSpPr>
        <p:spPr>
          <a:xfrm>
            <a:off x="365760" y="1097280"/>
            <a:ext cx="8412480" cy="411480"/>
          </a:xfrm>
          <a:prstGeom prst="rect">
            <a:avLst/>
          </a:prstGeom>
          <a:noFill/>
          <a:ln/>
        </p:spPr>
        <p:txBody>
          <a:bodyPr wrap="square" rtlCol="0" anchor="ctr"/>
          <a:lstStyle/>
          <a:p>
            <a:pPr indent="0" marL="0">
              <a:buNone/>
            </a:pPr>
            <a:r>
              <a:rPr lang="en-US" sz="1300" i="1" dirty="0">
                <a:solidFill>
                  <a:srgbClr val="5A4D3E"/>
                </a:solidFill>
                <a:latin typeface="Calibri" pitchFamily="34" charset="0"/>
                <a:ea typeface="Calibri" pitchFamily="34" charset="-122"/>
                <a:cs typeface="Calibri" pitchFamily="34" charset="-120"/>
              </a:rPr>
              <a:t>How did testing help you become a better engineer in today's challenge?</a:t>
            </a:r>
            <a:endParaRPr lang="en-US" sz="1300" dirty="0"/>
          </a:p>
        </p:txBody>
      </p:sp>
      <p:sp>
        <p:nvSpPr>
          <p:cNvPr id="8" name="Shape 6"/>
          <p:cNvSpPr/>
          <p:nvPr/>
        </p:nvSpPr>
        <p:spPr>
          <a:xfrm>
            <a:off x="365760" y="1600200"/>
            <a:ext cx="8412480" cy="658368"/>
          </a:xfrm>
          <a:prstGeom prst="roundRect">
            <a:avLst>
              <a:gd name="adj" fmla="val 11111"/>
            </a:avLst>
          </a:prstGeom>
          <a:solidFill>
            <a:srgbClr val="FFF3E0"/>
          </a:solidFill>
          <a:ln w="19050">
            <a:solidFill>
              <a:srgbClr val="F57C00"/>
            </a:solidFill>
            <a:prstDash val="solid"/>
          </a:ln>
        </p:spPr>
      </p:sp>
      <p:sp>
        <p:nvSpPr>
          <p:cNvPr id="9" name="Text 7"/>
          <p:cNvSpPr/>
          <p:nvPr/>
        </p:nvSpPr>
        <p:spPr>
          <a:xfrm>
            <a:off x="548640" y="1655064"/>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What do you think?</a:t>
            </a:r>
            <a:endParaRPr lang="en-US" sz="1150" dirty="0"/>
          </a:p>
        </p:txBody>
      </p:sp>
      <p:sp>
        <p:nvSpPr>
          <p:cNvPr id="10" name="Text 8"/>
          <p:cNvSpPr/>
          <p:nvPr/>
        </p:nvSpPr>
        <p:spPr>
          <a:xfrm>
            <a:off x="548640" y="1892808"/>
            <a:ext cx="8046720" cy="329184"/>
          </a:xfrm>
          <a:prstGeom prst="rect">
            <a:avLst/>
          </a:prstGeom>
          <a:noFill/>
          <a:ln/>
        </p:spPr>
        <p:txBody>
          <a:bodyPr wrap="square" rtlCol="0" anchor="ctr"/>
          <a:lstStyle/>
          <a:p>
            <a:pPr indent="0" marL="0">
              <a:buNone/>
            </a:pPr>
            <a:r>
              <a:rPr lang="en-US" sz="1200" i="1" dirty="0">
                <a:solidFill>
                  <a:srgbClr val="2B1D12"/>
                </a:solidFill>
                <a:latin typeface="Calibri" pitchFamily="34" charset="0"/>
                <a:ea typeface="Calibri" pitchFamily="34" charset="-122"/>
                <a:cs typeface="Calibri" pitchFamily="34" charset="-120"/>
              </a:rPr>
              <a:t>"I think testing helped me because…"</a:t>
            </a:r>
            <a:endParaRPr lang="en-US" sz="1200" dirty="0"/>
          </a:p>
        </p:txBody>
      </p:sp>
      <p:sp>
        <p:nvSpPr>
          <p:cNvPr id="11" name="Shape 9"/>
          <p:cNvSpPr/>
          <p:nvPr/>
        </p:nvSpPr>
        <p:spPr>
          <a:xfrm>
            <a:off x="365760" y="2350008"/>
            <a:ext cx="8412480" cy="658368"/>
          </a:xfrm>
          <a:prstGeom prst="roundRect">
            <a:avLst>
              <a:gd name="adj" fmla="val 11111"/>
            </a:avLst>
          </a:prstGeom>
          <a:solidFill>
            <a:srgbClr val="FFF3E0"/>
          </a:solidFill>
          <a:ln w="19050">
            <a:solidFill>
              <a:srgbClr val="F57C00"/>
            </a:solidFill>
            <a:prstDash val="solid"/>
          </a:ln>
        </p:spPr>
      </p:sp>
      <p:sp>
        <p:nvSpPr>
          <p:cNvPr id="12" name="Text 10"/>
          <p:cNvSpPr/>
          <p:nvPr/>
        </p:nvSpPr>
        <p:spPr>
          <a:xfrm>
            <a:off x="548640" y="2404872"/>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What did you observe that supports your thinking?</a:t>
            </a:r>
            <a:endParaRPr lang="en-US" sz="1150" dirty="0"/>
          </a:p>
        </p:txBody>
      </p:sp>
      <p:sp>
        <p:nvSpPr>
          <p:cNvPr id="13" name="Text 11"/>
          <p:cNvSpPr/>
          <p:nvPr/>
        </p:nvSpPr>
        <p:spPr>
          <a:xfrm>
            <a:off x="548640" y="2642616"/>
            <a:ext cx="8046720" cy="329184"/>
          </a:xfrm>
          <a:prstGeom prst="rect">
            <a:avLst/>
          </a:prstGeom>
          <a:noFill/>
          <a:ln/>
        </p:spPr>
        <p:txBody>
          <a:bodyPr wrap="square" rtlCol="0" anchor="ctr"/>
          <a:lstStyle/>
          <a:p>
            <a:pPr indent="0" marL="0">
              <a:buNone/>
            </a:pPr>
            <a:r>
              <a:rPr lang="en-US" sz="1200" i="1" dirty="0">
                <a:solidFill>
                  <a:srgbClr val="2B1D12"/>
                </a:solidFill>
                <a:latin typeface="Calibri" pitchFamily="34" charset="0"/>
                <a:ea typeface="Calibri" pitchFamily="34" charset="-122"/>
                <a:cs typeface="Calibri" pitchFamily="34" charset="-120"/>
              </a:rPr>
              <a:t>"When I tested my structure, I observed that…"</a:t>
            </a:r>
            <a:endParaRPr lang="en-US" sz="1200" dirty="0"/>
          </a:p>
        </p:txBody>
      </p:sp>
      <p:sp>
        <p:nvSpPr>
          <p:cNvPr id="14" name="Shape 12"/>
          <p:cNvSpPr/>
          <p:nvPr/>
        </p:nvSpPr>
        <p:spPr>
          <a:xfrm>
            <a:off x="365760" y="3099816"/>
            <a:ext cx="8412480" cy="658368"/>
          </a:xfrm>
          <a:prstGeom prst="roundRect">
            <a:avLst>
              <a:gd name="adj" fmla="val 11111"/>
            </a:avLst>
          </a:prstGeom>
          <a:solidFill>
            <a:srgbClr val="FFF3E0"/>
          </a:solidFill>
          <a:ln w="19050">
            <a:solidFill>
              <a:srgbClr val="F57C00"/>
            </a:solidFill>
            <a:prstDash val="solid"/>
          </a:ln>
        </p:spPr>
      </p:sp>
      <p:sp>
        <p:nvSpPr>
          <p:cNvPr id="15" name="Text 13"/>
          <p:cNvSpPr/>
          <p:nvPr/>
        </p:nvSpPr>
        <p:spPr>
          <a:xfrm>
            <a:off x="548640" y="3154680"/>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Why does that make sense?</a:t>
            </a:r>
            <a:endParaRPr lang="en-US" sz="1150" dirty="0"/>
          </a:p>
        </p:txBody>
      </p:sp>
      <p:sp>
        <p:nvSpPr>
          <p:cNvPr id="16" name="Text 14"/>
          <p:cNvSpPr/>
          <p:nvPr/>
        </p:nvSpPr>
        <p:spPr>
          <a:xfrm>
            <a:off x="548640" y="3392424"/>
            <a:ext cx="8046720" cy="329184"/>
          </a:xfrm>
          <a:prstGeom prst="rect">
            <a:avLst/>
          </a:prstGeom>
          <a:noFill/>
          <a:ln/>
        </p:spPr>
        <p:txBody>
          <a:bodyPr wrap="square" rtlCol="0" anchor="ctr"/>
          <a:lstStyle/>
          <a:p>
            <a:pPr indent="0" marL="0">
              <a:buNone/>
            </a:pPr>
            <a:r>
              <a:rPr lang="en-US" sz="1200" i="1" dirty="0">
                <a:solidFill>
                  <a:srgbClr val="2B1D12"/>
                </a:solidFill>
                <a:latin typeface="Calibri" pitchFamily="34" charset="0"/>
                <a:ea typeface="Calibri" pitchFamily="34" charset="-122"/>
                <a:cs typeface="Calibri" pitchFamily="34" charset="-120"/>
              </a:rPr>
              <a:t>"This makes sense because engineers need to know…"</a:t>
            </a:r>
            <a:endParaRPr lang="en-US" sz="1200" dirty="0"/>
          </a:p>
        </p:txBody>
      </p:sp>
      <p:sp>
        <p:nvSpPr>
          <p:cNvPr id="17" name="Text 15"/>
          <p:cNvSpPr/>
          <p:nvPr/>
        </p:nvSpPr>
        <p:spPr>
          <a:xfrm>
            <a:off x="365760" y="3895344"/>
            <a:ext cx="8412480" cy="320040"/>
          </a:xfrm>
          <a:prstGeom prst="rect">
            <a:avLst/>
          </a:prstGeom>
          <a:noFill/>
          <a:ln/>
        </p:spPr>
        <p:txBody>
          <a:bodyPr wrap="square" rtlCol="0" anchor="ctr"/>
          <a:lstStyle/>
          <a:p>
            <a:pPr indent="0" marL="0">
              <a:buNone/>
            </a:pPr>
            <a:r>
              <a:rPr lang="en-US" sz="1100" i="1" dirty="0">
                <a:solidFill>
                  <a:srgbClr val="5A4D3E"/>
                </a:solidFill>
                <a:latin typeface="Calibri" pitchFamily="34" charset="0"/>
                <a:ea typeface="Calibri" pitchFamily="34" charset="-122"/>
                <a:cs typeface="Calibri" pitchFamily="34" charset="-120"/>
              </a:rPr>
              <a:t>Try to use at least one of these words: prototype, redesign, criteria, constraint</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C + REFLECT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Draw Your Improved Design</a:t>
            </a:r>
            <a:endParaRPr lang="en-US" sz="2100" dirty="0"/>
          </a:p>
        </p:txBody>
      </p:sp>
      <p:sp>
        <p:nvSpPr>
          <p:cNvPr id="7" name="Text 5"/>
          <p:cNvSpPr/>
          <p:nvPr/>
        </p:nvSpPr>
        <p:spPr>
          <a:xfrm>
            <a:off x="320040" y="1005840"/>
            <a:ext cx="8503920" cy="868680"/>
          </a:xfrm>
          <a:prstGeom prst="rect">
            <a:avLst/>
          </a:prstGeom>
          <a:noFill/>
          <a:ln/>
        </p:spPr>
        <p:txBody>
          <a:bodyPr wrap="square" rtlCol="0" anchor="t"/>
          <a:lstStyle/>
          <a:p>
            <a:pPr indent="0" marL="0">
              <a:lnSpc>
                <a:spcPts val="2000"/>
              </a:lnSpc>
              <a:buNone/>
            </a:pPr>
            <a:r>
              <a:rPr lang="en-US" sz="1150" dirty="0">
                <a:solidFill>
                  <a:srgbClr val="2B1D12"/>
                </a:solidFill>
                <a:latin typeface="Calibri" pitchFamily="34" charset="0"/>
                <a:ea typeface="Calibri" pitchFamily="34" charset="-122"/>
                <a:cs typeface="Calibri" pitchFamily="34" charset="-120"/>
              </a:rPr>
              <a:t>Draw an improved version of your structure. Label at least 5 features, with one sentence per label explaining how it helps survive storm forces. Then reflect: what do you know now that you didn't know at the start of today?</a:t>
            </a:r>
            <a:endParaRPr lang="en-US" sz="1150" dirty="0"/>
          </a:p>
        </p:txBody>
      </p:sp>
      <p:sp>
        <p:nvSpPr>
          <p:cNvPr id="8" name="Shape 6"/>
          <p:cNvSpPr/>
          <p:nvPr/>
        </p:nvSpPr>
        <p:spPr>
          <a:xfrm>
            <a:off x="365760" y="1965960"/>
            <a:ext cx="8412480" cy="1371600"/>
          </a:xfrm>
          <a:prstGeom prst="roundRect">
            <a:avLst>
              <a:gd name="adj" fmla="val 5333"/>
            </a:avLst>
          </a:prstGeom>
          <a:solidFill>
            <a:srgbClr val="FFFFFF"/>
          </a:solidFill>
          <a:ln w="19050">
            <a:solidFill>
              <a:srgbClr val="E8DDD2"/>
            </a:solidFill>
            <a:prstDash val="solid"/>
          </a:ln>
        </p:spPr>
      </p:sp>
      <p:sp>
        <p:nvSpPr>
          <p:cNvPr id="9" name="Text 7"/>
          <p:cNvSpPr/>
          <p:nvPr/>
        </p:nvSpPr>
        <p:spPr>
          <a:xfrm>
            <a:off x="548640" y="2057400"/>
            <a:ext cx="8046720" cy="228600"/>
          </a:xfrm>
          <a:prstGeom prst="rect">
            <a:avLst/>
          </a:prstGeom>
          <a:noFill/>
          <a:ln/>
        </p:spPr>
        <p:txBody>
          <a:bodyPr wrap="square" rtlCol="0" anchor="ctr"/>
          <a:lstStyle/>
          <a:p>
            <a:pPr indent="0" marL="0">
              <a:buNone/>
            </a:pPr>
            <a:r>
              <a:rPr lang="en-US" sz="1050" b="1" spc="100" kern="0" dirty="0">
                <a:solidFill>
                  <a:srgbClr val="7B5EA7"/>
                </a:solidFill>
                <a:latin typeface="Calibri" pitchFamily="34" charset="0"/>
                <a:ea typeface="Calibri" pitchFamily="34" charset="-122"/>
                <a:cs typeface="Calibri" pitchFamily="34" charset="-120"/>
              </a:rPr>
              <a:t>MAKE SURE YOUR SUBMISSION INCLUDES</a:t>
            </a:r>
            <a:endParaRPr lang="en-US" sz="1050" dirty="0"/>
          </a:p>
        </p:txBody>
      </p:sp>
      <p:sp>
        <p:nvSpPr>
          <p:cNvPr id="10" name="Text 8"/>
          <p:cNvSpPr/>
          <p:nvPr/>
        </p:nvSpPr>
        <p:spPr>
          <a:xfrm>
            <a:off x="548640" y="2331720"/>
            <a:ext cx="8046720" cy="960120"/>
          </a:xfrm>
          <a:prstGeom prst="rect">
            <a:avLst/>
          </a:prstGeom>
          <a:noFill/>
          <a:ln/>
        </p:spPr>
        <p:txBody>
          <a:bodyPr wrap="square" rtlCol="0" anchor="ctr"/>
          <a:lstStyle/>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labeled prototype sketch and test observations/redesign plan</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Part A and Part B short answer responses</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Write &amp; Explain response using all three prompts</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Part C improved design drawing with at least 5 labeled features</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828800"/>
            <a:ext cx="8229600" cy="64008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Great Engineering Today!</a:t>
            </a:r>
            <a:endParaRPr lang="en-US" sz="2800" dirty="0"/>
          </a:p>
        </p:txBody>
      </p:sp>
      <p:sp>
        <p:nvSpPr>
          <p:cNvPr id="5" name="Text 3"/>
          <p:cNvSpPr/>
          <p:nvPr/>
        </p:nvSpPr>
        <p:spPr>
          <a:xfrm>
            <a:off x="457200" y="2514600"/>
            <a:ext cx="8229600" cy="457200"/>
          </a:xfrm>
          <a:prstGeom prst="rect">
            <a:avLst/>
          </a:prstGeom>
          <a:noFill/>
          <a:ln/>
        </p:spPr>
        <p:txBody>
          <a:bodyPr wrap="square" rtlCol="0" anchor="ctr"/>
          <a:lstStyle/>
          <a:p>
            <a:pPr algn="ctr" indent="0" marL="0">
              <a:buNone/>
            </a:pPr>
            <a:r>
              <a:rPr lang="en-US" sz="1400" dirty="0">
                <a:solidFill>
                  <a:srgbClr val="FFCA28"/>
                </a:solidFill>
                <a:latin typeface="Calibri" pitchFamily="34" charset="0"/>
                <a:ea typeface="Calibri" pitchFamily="34" charset="-122"/>
                <a:cs typeface="Calibri" pitchFamily="34" charset="-120"/>
              </a:rPr>
              <a:t>Next unit: Forces and Motion — pushes, pulls, and what makes things move!</a:t>
            </a:r>
            <a:endParaRPr lang="en-US" sz="1400" dirty="0"/>
          </a:p>
        </p:txBody>
      </p:sp>
      <p:sp>
        <p:nvSpPr>
          <p:cNvPr id="6" name="Text 4"/>
          <p:cNvSpPr/>
          <p:nvPr/>
        </p:nvSpPr>
        <p:spPr>
          <a:xfrm>
            <a:off x="457200" y="4709160"/>
            <a:ext cx="8229600" cy="274320"/>
          </a:xfrm>
          <a:prstGeom prst="rect">
            <a:avLst/>
          </a:prstGeom>
          <a:noFill/>
          <a:ln/>
        </p:spPr>
        <p:txBody>
          <a:bodyPr wrap="square" rtlCol="0" anchor="ctr"/>
          <a:lstStyle/>
          <a:p>
            <a:pPr algn="ctr" indent="0" marL="0">
              <a:buNone/>
            </a:pPr>
            <a:r>
              <a:rPr lang="en-US" sz="900" dirty="0">
                <a:solidFill>
                  <a:srgbClr val="55C8E8"/>
                </a:solidFill>
                <a:latin typeface="Calibri" pitchFamily="34" charset="0"/>
                <a:ea typeface="Calibri" pitchFamily="34" charset="-122"/>
                <a:cs typeface="Calibri" pitchFamily="34" charset="-120"/>
              </a:rPr>
              <a:t>Optima Academy Online · 3rd Grade Science · Lesson 4.02 · NGSS 3-5-ETS1-1 · CPALMS SC.3.N.1.1, SC.3.N.1.3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2026-07-12T02:52:55Z</dcterms:created>
  <dcterms:modified xsi:type="dcterms:W3CDTF">2026-07-12T02:52:55Z</dcterms:modified>
</cp:coreProperties>
</file>