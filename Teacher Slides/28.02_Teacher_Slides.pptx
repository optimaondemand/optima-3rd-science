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(light travels straight, reflected/absorbed) rehearsed in Section 1 (Slide 10) and Investigation Step 1 (Slide 16). I Can #2 (what happens on different surfaces) rehearsed in Section 2 (Slide 11) and Investigation Steps 2-3 (Slides 16-17). I Can #3 (friction produces heat) rehearsed in Section 3 (Slide 12) and Investigation Step 4 (Slide 17). All three assessed in Self-Check (Slides 20-22) and Assignment (Slides 23-25).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the concept of reflection using a familiar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seeing a reflection requires the light to bounce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the connection between absorption and heat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absorbed light energy converts to heat, unrelated to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identifying friction as the heat source in a rubbing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friction, not light or sound, is the cause of heat from rubbing.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28.02 · WEEK 28</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3200"/>
              </a:lnSpc>
              <a:buNone/>
            </a:pPr>
            <a:r>
              <a:rPr lang="en-US" sz="2600" b="1" dirty="0">
                <a:solidFill>
                  <a:srgbClr val="FFFFFF"/>
                </a:solidFill>
                <a:latin typeface="Cambria" pitchFamily="34" charset="0"/>
                <a:ea typeface="Cambria" pitchFamily="34" charset="-122"/>
                <a:cs typeface="Cambria" pitchFamily="34" charset="-120"/>
              </a:rPr>
              <a:t>Investigation: Light,</a:t>
            </a:r>
            <a:endParaRPr lang="en-US" sz="2600" dirty="0"/>
          </a:p>
          <a:p>
            <a:pPr indent="0" marL="0">
              <a:lnSpc>
                <a:spcPts val="3200"/>
              </a:lnSpc>
              <a:buNone/>
            </a:pPr>
            <a:r>
              <a:rPr lang="en-US" sz="2600" b="1" dirty="0">
                <a:solidFill>
                  <a:srgbClr val="FFFFFF"/>
                </a:solidFill>
                <a:latin typeface="Cambria" pitchFamily="34" charset="0"/>
                <a:ea typeface="Cambria" pitchFamily="34" charset="-122"/>
                <a:cs typeface="Cambria" pitchFamily="34" charset="-120"/>
              </a:rPr>
              <a:t>Reflection, Absorption, and Heat</a:t>
            </a:r>
            <a:endParaRPr lang="en-US" sz="26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CPALMS SC.3.P.10.3 · Light and Heat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280160"/>
          </a:xfrm>
          <a:prstGeom prst="roundRect">
            <a:avLst>
              <a:gd name="adj" fmla="val 7143"/>
            </a:avLst>
          </a:prstGeom>
          <a:solidFill>
            <a:srgbClr val="F3EEFB"/>
          </a:solidFill>
          <a:ln w="25400">
            <a:solidFill>
              <a:srgbClr val="7B5EA7"/>
            </a:solidFill>
            <a:prstDash val="solid"/>
          </a:ln>
        </p:spPr>
      </p:sp>
      <p:sp>
        <p:nvSpPr>
          <p:cNvPr id="8" name="Text 6"/>
          <p:cNvSpPr/>
          <p:nvPr/>
        </p:nvSpPr>
        <p:spPr>
          <a:xfrm>
            <a:off x="548640" y="1371600"/>
            <a:ext cx="8046720" cy="914400"/>
          </a:xfrm>
          <a:prstGeom prst="rect">
            <a:avLst/>
          </a:prstGeom>
          <a:noFill/>
          <a:ln/>
        </p:spPr>
        <p:txBody>
          <a:bodyPr wrap="square" rtlCol="0" anchor="t"/>
          <a:lstStyle/>
          <a:p>
            <a:pPr indent="0" marL="0">
              <a:lnSpc>
                <a:spcPts val="2400"/>
              </a:lnSpc>
              <a:buNone/>
            </a:pPr>
            <a:r>
              <a:rPr lang="en-US" sz="1800" i="1" dirty="0">
                <a:solidFill>
                  <a:srgbClr val="3A2B5C"/>
                </a:solidFill>
                <a:latin typeface="Cambria" pitchFamily="34" charset="0"/>
                <a:ea typeface="Cambria" pitchFamily="34" charset="-122"/>
                <a:cs typeface="Cambria" pitchFamily="34" charset="-120"/>
              </a:rPr>
              <a:t>"How do light and heat energy interact with different materials?"</a:t>
            </a:r>
            <a:endParaRPr lang="en-US" sz="1800" dirty="0"/>
          </a:p>
        </p:txBody>
      </p:sp>
      <p:sp>
        <p:nvSpPr>
          <p:cNvPr id="9" name="Text 7"/>
          <p:cNvSpPr/>
          <p:nvPr/>
        </p:nvSpPr>
        <p:spPr>
          <a:xfrm>
            <a:off x="320040" y="274320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By the end of this investigation, you will observe how light reflects, is absorbed, and how friction creates heat.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explain that light travels in a straight line and can be reflected or absorbed.</a:t>
            </a:r>
            <a:endParaRPr lang="en-US" sz="135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describe what happens when light hits different surfaces.</a:t>
            </a:r>
            <a:endParaRPr lang="en-US" sz="135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demonstrate how rubbing (friction) produces heat energy.</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005840"/>
          </a:xfrm>
          <a:prstGeom prst="roundRect">
            <a:avLst>
              <a:gd name="adj" fmla="val 7273"/>
            </a:avLst>
          </a:prstGeom>
          <a:solidFill>
            <a:srgbClr val="EEF8F0"/>
          </a:solidFill>
          <a:ln w="19050">
            <a:solidFill>
              <a:srgbClr val="52B788"/>
            </a:solidFill>
            <a:prstDash val="solid"/>
          </a:ln>
        </p:spPr>
      </p:sp>
      <p:sp>
        <p:nvSpPr>
          <p:cNvPr id="8" name="Text 6"/>
          <p:cNvSpPr/>
          <p:nvPr/>
        </p:nvSpPr>
        <p:spPr>
          <a:xfrm>
            <a:off x="548640" y="1325880"/>
            <a:ext cx="8046720" cy="731520"/>
          </a:xfrm>
          <a:prstGeom prst="rect">
            <a:avLst/>
          </a:prstGeom>
          <a:noFill/>
          <a:ln/>
        </p:spPr>
        <p:txBody>
          <a:bodyPr wrap="square" rtlCol="0" anchor="t"/>
          <a:lstStyle/>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Science notebook</a:t>
            </a:r>
            <a:endParaRPr lang="en-US" sz="1500" dirty="0"/>
          </a:p>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Pencil &amp; colored pencils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Do Dark Clothes Feel Warmer in the Sun?</a:t>
            </a:r>
            <a:endParaRPr lang="en-US" sz="2100" dirty="0"/>
          </a:p>
        </p:txBody>
      </p:sp>
      <p:sp>
        <p:nvSpPr>
          <p:cNvPr id="7" name="Text 5"/>
          <p:cNvSpPr/>
          <p:nvPr/>
        </p:nvSpPr>
        <p:spPr>
          <a:xfrm>
            <a:off x="320040" y="1097280"/>
            <a:ext cx="8503920" cy="10972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On a sunny day, have you ever noticed that a black shirt feels much hotter than a white shirt? Both are in the same sunlight, but one feels warmer. Something about the color and material changes what happens to the light.</a:t>
            </a:r>
            <a:endParaRPr lang="en-US" sz="1300" dirty="0"/>
          </a:p>
        </p:txBody>
      </p:sp>
      <p:sp>
        <p:nvSpPr>
          <p:cNvPr id="8" name="Shape 6"/>
          <p:cNvSpPr/>
          <p:nvPr/>
        </p:nvSpPr>
        <p:spPr>
          <a:xfrm>
            <a:off x="320040" y="2286000"/>
            <a:ext cx="8503920" cy="822960"/>
          </a:xfrm>
          <a:prstGeom prst="roundRect">
            <a:avLst>
              <a:gd name="adj" fmla="val 8889"/>
            </a:avLst>
          </a:prstGeom>
          <a:solidFill>
            <a:srgbClr val="FFF9E8"/>
          </a:solidFill>
          <a:ln w="19050">
            <a:solidFill>
              <a:srgbClr val="F9A825"/>
            </a:solidFill>
            <a:prstDash val="solid"/>
          </a:ln>
        </p:spPr>
      </p:sp>
      <p:sp>
        <p:nvSpPr>
          <p:cNvPr id="9" name="Text 7"/>
          <p:cNvSpPr/>
          <p:nvPr/>
        </p:nvSpPr>
        <p:spPr>
          <a:xfrm>
            <a:off x="502920" y="23591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57860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Why do you think dark colors feel warmer in the sun? Write one idea about what happens to sunlight when it hits dark things vs. light things.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Reflection</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When light bounces off a surface. Mirrors, smooth water, and shiny metals reflect light.</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Absorption</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When a material takes in light energy instead of bouncing it back. Dark colors absorb more light.</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Light Travels Straight</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Light moves in straight lines called rays. That is why shadows have sharp edges.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Friction</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force created when two surfaces rub together. Friction produces heat energy.</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Heat Transfer</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When heat energy moves from a warmer object to a cooler one. The Sun transfers heat to Earth.</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Surface</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The outside of an object. Smooth, shiny surfaces reflect more light. Rough, dark surfaces absorb more.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554480"/>
            <a:ext cx="8046720" cy="868680"/>
          </a:xfrm>
          <a:prstGeom prst="rect">
            <a:avLst/>
          </a:prstGeom>
          <a:noFill/>
          <a:ln/>
        </p:spPr>
        <p:txBody>
          <a:bodyPr wrap="square" rtlCol="0" anchor="ctr"/>
          <a:lstStyle/>
          <a:p>
            <a:pPr algn="ctr" indent="0" marL="0">
              <a:buNone/>
            </a:pPr>
            <a:r>
              <a:rPr lang="en-US" sz="1500" i="1" dirty="0">
                <a:solidFill>
                  <a:srgbClr val="3A2410"/>
                </a:solidFill>
                <a:latin typeface="Cambria" pitchFamily="34" charset="0"/>
                <a:ea typeface="Cambria" pitchFamily="34" charset="-122"/>
                <a:cs typeface="Cambria" pitchFamily="34" charset="-120"/>
              </a:rPr>
              <a:t>"Light travels in straight lines — when it hits a surface, it can be reflected like a mirror or absorbed like a dark road."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Light Travels</a:t>
            </a:r>
            <a:endParaRPr lang="en-US" sz="2100" dirty="0"/>
          </a:p>
        </p:txBody>
      </p:sp>
      <p:sp>
        <p:nvSpPr>
          <p:cNvPr id="7" name="Text 5"/>
          <p:cNvSpPr/>
          <p:nvPr/>
        </p:nvSpPr>
        <p:spPr>
          <a:xfrm>
            <a:off x="320040" y="1097280"/>
            <a:ext cx="8503920" cy="13716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Light always travels in straight lines. That is why you can see a beam of light from a flashlight — it goes in one direction until it hits something. When light hits a surface, two things can happen: it bounces off or it gets soaked up. What happens depends on the surface.</a:t>
            </a:r>
            <a:endParaRPr lang="en-US" sz="1300" dirty="0"/>
          </a:p>
        </p:txBody>
      </p:sp>
      <p:sp>
        <p:nvSpPr>
          <p:cNvPr id="8" name="Shape 6"/>
          <p:cNvSpPr/>
          <p:nvPr/>
        </p:nvSpPr>
        <p:spPr>
          <a:xfrm>
            <a:off x="320040" y="256032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6334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88950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 you think flashlight beams look like straight lines? What happens when the beam hits a wall?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Reflection and Absorption</a:t>
            </a:r>
            <a:endParaRPr lang="en-US" sz="2100" dirty="0"/>
          </a:p>
        </p:txBody>
      </p:sp>
      <p:sp>
        <p:nvSpPr>
          <p:cNvPr id="7" name="Text 5"/>
          <p:cNvSpPr/>
          <p:nvPr/>
        </p:nvSpPr>
        <p:spPr>
          <a:xfrm>
            <a:off x="320040" y="1097280"/>
            <a:ext cx="8503920" cy="164592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Reflection happens when light bounces off a surface. Mirrors, calm water, and shiny metal are great reflectors — the light hits and bounces back toward your eyes. Absorption happens when a material takes in the light energy instead of reflecting it. Dark colors absorb more light and turn it into heat. That is why dark surfaces feel warmer in the sun.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Friction and Heat</a:t>
            </a:r>
            <a:endParaRPr lang="en-US" sz="2100" dirty="0"/>
          </a:p>
        </p:txBody>
      </p:sp>
      <p:sp>
        <p:nvSpPr>
          <p:cNvPr id="7" name="Text 5"/>
          <p:cNvSpPr/>
          <p:nvPr/>
        </p:nvSpPr>
        <p:spPr>
          <a:xfrm>
            <a:off x="320040" y="1051560"/>
            <a:ext cx="8503920" cy="100584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Heat does not only come from the Sun. Friction also creates heat energy. When you rub your hands together, the friction between your skin makes heat. The faster you rub, the warmer your hands get.</a:t>
            </a:r>
            <a:endParaRPr lang="en-US" sz="1250" dirty="0"/>
          </a:p>
        </p:txBody>
      </p:sp>
      <p:sp>
        <p:nvSpPr>
          <p:cNvPr id="8" name="Shape 6"/>
          <p:cNvSpPr/>
          <p:nvPr/>
        </p:nvSpPr>
        <p:spPr>
          <a:xfrm>
            <a:off x="320040" y="2148840"/>
            <a:ext cx="8503920" cy="685800"/>
          </a:xfrm>
          <a:prstGeom prst="roundRect">
            <a:avLst>
              <a:gd name="adj" fmla="val 10667"/>
            </a:avLst>
          </a:prstGeom>
          <a:solidFill>
            <a:srgbClr val="E3F2FD"/>
          </a:solidFill>
          <a:ln w="19050">
            <a:solidFill>
              <a:srgbClr val="0288D1"/>
            </a:solidFill>
            <a:prstDash val="solid"/>
          </a:ln>
        </p:spPr>
      </p:sp>
      <p:sp>
        <p:nvSpPr>
          <p:cNvPr id="9" name="Text 7"/>
          <p:cNvSpPr/>
          <p:nvPr/>
        </p:nvSpPr>
        <p:spPr>
          <a:xfrm>
            <a:off x="502920" y="2221992"/>
            <a:ext cx="8138160" cy="219456"/>
          </a:xfrm>
          <a:prstGeom prst="rect">
            <a:avLst/>
          </a:prstGeom>
          <a:noFill/>
          <a:ln/>
        </p:spPr>
        <p:txBody>
          <a:bodyPr wrap="square" rtlCol="0" anchor="ctr"/>
          <a:lstStyle/>
          <a:p>
            <a:pPr indent="0" marL="0">
              <a:buNone/>
            </a:pPr>
            <a:r>
              <a:rPr lang="en-US" sz="1050" b="1" spc="100" kern="0" dirty="0">
                <a:solidFill>
                  <a:srgbClr val="0277BD"/>
                </a:solidFill>
                <a:latin typeface="Calibri" pitchFamily="34" charset="0"/>
                <a:ea typeface="Calibri" pitchFamily="34" charset="-122"/>
                <a:cs typeface="Calibri" pitchFamily="34" charset="-120"/>
              </a:rPr>
              <a:t>Real-World Connection</a:t>
            </a:r>
            <a:endParaRPr lang="en-US" sz="1050" dirty="0"/>
          </a:p>
        </p:txBody>
      </p:sp>
      <p:sp>
        <p:nvSpPr>
          <p:cNvPr id="10" name="Text 8"/>
          <p:cNvSpPr/>
          <p:nvPr/>
        </p:nvSpPr>
        <p:spPr>
          <a:xfrm>
            <a:off x="502920" y="2441448"/>
            <a:ext cx="8138160" cy="365760"/>
          </a:xfrm>
          <a:prstGeom prst="rect">
            <a:avLst/>
          </a:prstGeom>
          <a:noFill/>
          <a:ln/>
        </p:spPr>
        <p:txBody>
          <a:bodyPr wrap="square" rtlCol="0" anchor="t"/>
          <a:lstStyle/>
          <a:p>
            <a:pPr indent="0" marL="0">
              <a:buNone/>
            </a:pPr>
            <a:r>
              <a:rPr lang="en-US" sz="1100" dirty="0">
                <a:solidFill>
                  <a:srgbClr val="2B1D12"/>
                </a:solidFill>
                <a:latin typeface="Calibri" pitchFamily="34" charset="0"/>
                <a:ea typeface="Calibri" pitchFamily="34" charset="-122"/>
                <a:cs typeface="Calibri" pitchFamily="34" charset="-120"/>
              </a:rPr>
              <a:t>Tires on a road create friction, and that friction creates heat. After a long drive, car tires are warm to the touch because of all that friction.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Reflect, Absorb, or Rub</a:t>
            </a:r>
            <a:endParaRPr lang="en-US" sz="2100" dirty="0"/>
          </a:p>
        </p:txBody>
      </p:sp>
      <p:sp>
        <p:nvSpPr>
          <p:cNvPr id="7" name="Shape 5"/>
          <p:cNvSpPr/>
          <p:nvPr/>
        </p:nvSpPr>
        <p:spPr>
          <a:xfrm>
            <a:off x="320040" y="1188720"/>
            <a:ext cx="8503920" cy="1097280"/>
          </a:xfrm>
          <a:prstGeom prst="roundRect">
            <a:avLst>
              <a:gd name="adj" fmla="val 6667"/>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74980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Light travels in straight lines. It can be reflected (bounced off) or absorbed (taken in). Dark surfaces absorb more light and get warmer. Friction between surfaces also creates heat.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NATURE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Mirrors vs. Black Surfaces</a:t>
            </a:r>
            <a:endParaRPr lang="en-US" sz="2100" dirty="0"/>
          </a:p>
        </p:txBody>
      </p:sp>
      <p:sp>
        <p:nvSpPr>
          <p:cNvPr id="7" name="Text 5"/>
          <p:cNvSpPr/>
          <p:nvPr/>
        </p:nvSpPr>
        <p:spPr>
          <a:xfrm>
            <a:off x="320040" y="1097280"/>
            <a:ext cx="8503920" cy="1280160"/>
          </a:xfrm>
          <a:prstGeom prst="rect">
            <a:avLst/>
          </a:prstGeom>
          <a:noFill/>
          <a:ln/>
        </p:spPr>
        <p:txBody>
          <a:bodyPr wrap="square" rtlCol="0" anchor="t"/>
          <a:lstStyle/>
          <a:p>
            <a:pPr indent="0" marL="0">
              <a:lnSpc>
                <a:spcPts val="2000"/>
              </a:lnSpc>
              <a:buNone/>
            </a:pPr>
            <a:r>
              <a:rPr lang="en-US" sz="1500" dirty="0">
                <a:solidFill>
                  <a:srgbClr val="2B1D12"/>
                </a:solidFill>
                <a:latin typeface="Calibri" pitchFamily="34" charset="0"/>
                <a:ea typeface="Calibri" pitchFamily="34" charset="-122"/>
                <a:cs typeface="Calibri" pitchFamily="34" charset="-120"/>
              </a:rPr>
              <a:t>A mirror reflects about 95% of the light that hits it — but a perfectly black surface absorbs almost 100%, turning all that light into heat!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Dark Roads Get Hot</a:t>
            </a:r>
            <a:endParaRPr lang="en-US" sz="2100" dirty="0"/>
          </a:p>
        </p:txBody>
      </p:sp>
      <p:sp>
        <p:nvSpPr>
          <p:cNvPr id="7" name="Text 5"/>
          <p:cNvSpPr/>
          <p:nvPr/>
        </p:nvSpPr>
        <p:spPr>
          <a:xfrm>
            <a:off x="320040" y="1051560"/>
            <a:ext cx="8503920" cy="173736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On a summer day, a dark parking lot is much hotter than a light-colored sidewalk. The dark asphalt absorbs most of the sunlight that hits it, and all that absorbed light turns into heat energy. The light-colored concrete reflects more light back into the air, so it stays cooler. This is why many cities are painting rooftops white — to reflect sunlight and keep buildings cooler.</a:t>
            </a:r>
            <a:endParaRPr lang="en-US" sz="1250" dirty="0"/>
          </a:p>
        </p:txBody>
      </p:sp>
      <p:sp>
        <p:nvSpPr>
          <p:cNvPr id="8" name="Shape 6"/>
          <p:cNvSpPr/>
          <p:nvPr/>
        </p:nvSpPr>
        <p:spPr>
          <a:xfrm>
            <a:off x="320040" y="288036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9535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20954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Color matters! The color of a surface tells you a lot about whether it reflects or absorbs light.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Light and Heat Exploration</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Investigate how light interacts with different surfaces. You'll need your science notebook, pencil, and colored pencils.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1–2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Light Travels Straight &amp; Reflection Test</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Step 1 — Light Travels Straight: Draw a flashlight beam going in a straight line at a wall. Then draw what happens when a book blocks the beam — it stops. Label your drawing.</a:t>
            </a:r>
            <a:endParaRPr lang="en-US" sz="1200" dirty="0"/>
          </a:p>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Step 2 — Reflection Test: Draw what happens when a flashlight shines on a mirror, white paper, and black paper. Which reflects the most? Which reflects the least?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3–4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Absorption/Heat &amp; Friction Test</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Step 3 — Absorption and Heat: Two cups of water in the sun — one wrapped in black paper, one in white. Predict and draw which cup gets warmer. The dark cup absorbs more light and heats up faster.</a:t>
            </a:r>
            <a:endParaRPr lang="en-US" sz="1200" dirty="0"/>
          </a:p>
          <a:p>
            <a:pPr marL="342900" indent="-342900">
              <a:lnSpc>
                <a:spcPts val="2200"/>
              </a:lnSpc>
              <a:buSzPct val="100000"/>
              <a:buChar char="•"/>
            </a:pPr>
            <a:r>
              <a:rPr lang="en-US" sz="1200" dirty="0">
                <a:solidFill>
                  <a:srgbClr val="2B1D12"/>
                </a:solidFill>
                <a:latin typeface="Calibri" pitchFamily="34" charset="0"/>
                <a:ea typeface="Calibri" pitchFamily="34" charset="-122"/>
                <a:cs typeface="Calibri" pitchFamily="34" charset="-120"/>
              </a:rPr>
              <a:t>Step 4 — Friction Test: Rub your hands together slowly, then fast. Which felt warmer? Draw and describe. Friction turns motion energy into heat energy.</a:t>
            </a:r>
            <a:endParaRPr lang="en-US" sz="1200" dirty="0"/>
          </a:p>
        </p:txBody>
      </p:sp>
      <p:sp>
        <p:nvSpPr>
          <p:cNvPr id="8" name="Shape 6"/>
          <p:cNvSpPr/>
          <p:nvPr/>
        </p:nvSpPr>
        <p:spPr>
          <a:xfrm>
            <a:off x="320040" y="315468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32278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4838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Which surfaces reflected the most light? Which absorbed the most? What pattern do you see between color and heat?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What You Observed</a:t>
            </a:r>
            <a:endParaRPr lang="en-US" sz="2100" dirty="0"/>
          </a:p>
        </p:txBody>
      </p:sp>
      <p:sp>
        <p:nvSpPr>
          <p:cNvPr id="7" name="Text 5"/>
          <p:cNvSpPr/>
          <p:nvPr/>
        </p:nvSpPr>
        <p:spPr>
          <a:xfrm>
            <a:off x="320040" y="1051560"/>
            <a:ext cx="8503920" cy="246888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happened when light hit different surfaces? Describe the difference between the mirror and the black paper.</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Which surface got the warmest? Why do you think that happened?</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Draw your reflection and absorption diagrams with arrows showing where the light goes.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Tell the story of your investigation from beginning to end — what you did, what you noticed, and what you figured out.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Why do you think dark shirts feel warmer in the sun than white shirts?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How is reflection different from absorption? What happens to the light energy in each case?</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Where in your everyday life do you see reflection? Where do you see absorption?</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How is the heat from friction different from the heat from the Sun? What causes each one?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at a Mirror?</a:t>
            </a:r>
            <a:endParaRPr lang="en-US" sz="2100" dirty="0"/>
          </a:p>
        </p:txBody>
      </p:sp>
      <p:sp>
        <p:nvSpPr>
          <p:cNvPr id="7" name="Text 5"/>
          <p:cNvSpPr/>
          <p:nvPr/>
        </p:nvSpPr>
        <p:spPr>
          <a:xfrm>
            <a:off x="320040" y="1005840"/>
            <a:ext cx="8503920" cy="1257300"/>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What happens when light hits a mirror?</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The light is reflected — it bounces off the surface</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The light is absorbed — it is taken in by the mirror</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The light passes through the mirror</a:t>
            </a:r>
            <a:endParaRPr lang="en-US" sz="1500" dirty="0"/>
          </a:p>
        </p:txBody>
      </p:sp>
      <p:sp>
        <p:nvSpPr>
          <p:cNvPr id="8" name="Shape 6"/>
          <p:cNvSpPr/>
          <p:nvPr/>
        </p:nvSpPr>
        <p:spPr>
          <a:xfrm>
            <a:off x="320040" y="23545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277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471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39471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44957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61416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you see in a mirror. If the light were absorbed, could you see your reflection?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Happens at a Mirror?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Mirrors are smooth and shiny, so they reflect light — the light bounces off the surface.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Dark Surfaces Feel Warmer</a:t>
            </a:r>
            <a:endParaRPr lang="en-US" sz="2100" dirty="0"/>
          </a:p>
        </p:txBody>
      </p:sp>
      <p:sp>
        <p:nvSpPr>
          <p:cNvPr id="7" name="Text 5"/>
          <p:cNvSpPr/>
          <p:nvPr/>
        </p:nvSpPr>
        <p:spPr>
          <a:xfrm>
            <a:off x="320040" y="1005840"/>
            <a:ext cx="8503920" cy="1514475"/>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Why does a dark-colored surface feel warmer in the sun than a light-colored surface?</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Dark surfaces reflect more light energy</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Dark surfaces absorb more light energy and convert it to heat</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Dark surfaces create more friction</a:t>
            </a:r>
            <a:endParaRPr lang="en-US" sz="1500" dirty="0"/>
          </a:p>
        </p:txBody>
      </p:sp>
      <p:sp>
        <p:nvSpPr>
          <p:cNvPr id="8" name="Shape 6"/>
          <p:cNvSpPr/>
          <p:nvPr/>
        </p:nvSpPr>
        <p:spPr>
          <a:xfrm>
            <a:off x="320040" y="2611755"/>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684907"/>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904363"/>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651885"/>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706749"/>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871341"/>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what absorption means. When light is absorbed, where does the energy go?</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Dark Surfaces Feel Warmer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Dark surfaces absorb more light energy. That absorbed energy turns into heat, making the surface feel warmer.</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Rubbing Two Sticks Together</a:t>
            </a:r>
            <a:endParaRPr lang="en-US" sz="2100" dirty="0"/>
          </a:p>
        </p:txBody>
      </p:sp>
      <p:sp>
        <p:nvSpPr>
          <p:cNvPr id="7" name="Text 5"/>
          <p:cNvSpPr/>
          <p:nvPr/>
        </p:nvSpPr>
        <p:spPr>
          <a:xfrm>
            <a:off x="320040" y="1005840"/>
            <a:ext cx="8503920" cy="1514475"/>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student rubs two sticks together quickly and they start to feel warm. What is causing the heat?</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Reflection of light</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Absorption of sound energy</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Friction between the two surfaces</a:t>
            </a:r>
            <a:endParaRPr lang="en-US" sz="1500" dirty="0"/>
          </a:p>
        </p:txBody>
      </p:sp>
      <p:sp>
        <p:nvSpPr>
          <p:cNvPr id="8" name="Shape 6"/>
          <p:cNvSpPr/>
          <p:nvPr/>
        </p:nvSpPr>
        <p:spPr>
          <a:xfrm>
            <a:off x="320040" y="2611755"/>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684907"/>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904363"/>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651885"/>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706749"/>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871341"/>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The sticks are being rubbed together. What happens when two surfaces rub against each other?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Rubbing Two Sticks Together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Rubbing two surfaces together creates friction, and friction produces heat energy.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Light Interaction Chart</a:t>
            </a:r>
            <a:endParaRPr lang="en-US" sz="2100" dirty="0"/>
          </a:p>
        </p:txBody>
      </p:sp>
      <p:sp>
        <p:nvSpPr>
          <p:cNvPr id="7" name="Text 5"/>
          <p:cNvSpPr/>
          <p:nvPr/>
        </p:nvSpPr>
        <p:spPr>
          <a:xfrm>
            <a:off x="320040" y="1051560"/>
            <a:ext cx="8503920" cy="1828800"/>
          </a:xfrm>
          <a:prstGeom prst="rect">
            <a:avLst/>
          </a:prstGeom>
          <a:noFill/>
          <a:ln/>
        </p:spPr>
        <p:txBody>
          <a:bodyPr wrap="square" rtlCol="0" anchor="t"/>
          <a:lstStyle/>
          <a:p>
            <a:pPr marL="342900" indent="-342900">
              <a:lnSpc>
                <a:spcPts val="2400"/>
              </a:lnSpc>
              <a:buSzPct val="100000"/>
              <a:buChar char="•"/>
            </a:pPr>
            <a:r>
              <a:rPr lang="en-US" sz="1250" dirty="0">
                <a:solidFill>
                  <a:srgbClr val="2B1D12"/>
                </a:solidFill>
                <a:latin typeface="Calibri" pitchFamily="34" charset="0"/>
                <a:ea typeface="Calibri" pitchFamily="34" charset="-122"/>
                <a:cs typeface="Calibri" pitchFamily="34" charset="-120"/>
              </a:rPr>
              <a:t>Mirror → Does light reflect or absorb? How do you know?</a:t>
            </a:r>
            <a:endParaRPr lang="en-US" sz="1250" dirty="0"/>
          </a:p>
          <a:p>
            <a:pPr marL="342900" indent="-342900">
              <a:lnSpc>
                <a:spcPts val="2400"/>
              </a:lnSpc>
              <a:buSzPct val="100000"/>
              <a:buChar char="•"/>
            </a:pPr>
            <a:r>
              <a:rPr lang="en-US" sz="1250" dirty="0">
                <a:solidFill>
                  <a:srgbClr val="2B1D12"/>
                </a:solidFill>
                <a:latin typeface="Calibri" pitchFamily="34" charset="0"/>
                <a:ea typeface="Calibri" pitchFamily="34" charset="-122"/>
                <a:cs typeface="Calibri" pitchFamily="34" charset="-120"/>
              </a:rPr>
              <a:t>White paper → Does light mostly reflect or absorb? What happens to the temperature?</a:t>
            </a:r>
            <a:endParaRPr lang="en-US" sz="1250" dirty="0"/>
          </a:p>
          <a:p>
            <a:pPr marL="342900" indent="-342900">
              <a:lnSpc>
                <a:spcPts val="2400"/>
              </a:lnSpc>
              <a:buSzPct val="100000"/>
              <a:buChar char="•"/>
            </a:pPr>
            <a:r>
              <a:rPr lang="en-US" sz="1250" dirty="0">
                <a:solidFill>
                  <a:srgbClr val="2B1D12"/>
                </a:solidFill>
                <a:latin typeface="Calibri" pitchFamily="34" charset="0"/>
                <a:ea typeface="Calibri" pitchFamily="34" charset="-122"/>
                <a:cs typeface="Calibri" pitchFamily="34" charset="-120"/>
              </a:rPr>
              <a:t>Black paper → Does light mostly reflect or absorb? What happens to the temperature?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Explain the Investigation</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Part B (complete sentences): 1) Explain the difference between reflection and absorption, with an example for each. 2) Why do dark surfaces get warmer in sunlight? Use "absorb." 3) How does friction create heat?</a:t>
            </a:r>
            <a:endParaRPr lang="en-US" sz="115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27432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How do light and heat energy interact with different materials? Use evidence from your investigation.</a:t>
            </a:r>
            <a:endParaRPr lang="en-US" sz="1100" dirty="0"/>
          </a:p>
        </p:txBody>
      </p:sp>
      <p:sp>
        <p:nvSpPr>
          <p:cNvPr id="10" name="Text 8"/>
          <p:cNvSpPr/>
          <p:nvPr/>
        </p:nvSpPr>
        <p:spPr>
          <a:xfrm>
            <a:off x="502920" y="2715768"/>
            <a:ext cx="8138160" cy="77724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"I learned that light can be reflected or absorbed because…"</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"My investigation showed that dark surfaces…"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"Friction also creates heat energy, which I know because…"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&amp;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What to Turn In</a:t>
            </a:r>
            <a:endParaRPr lang="en-US" sz="2100" dirty="0"/>
          </a:p>
        </p:txBody>
      </p:sp>
      <p:sp>
        <p:nvSpPr>
          <p:cNvPr id="7" name="Text 5"/>
          <p:cNvSpPr/>
          <p:nvPr/>
        </p:nvSpPr>
        <p:spPr>
          <a:xfrm>
            <a:off x="320040" y="1051560"/>
            <a:ext cx="8503920" cy="100584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Part C: Draw a flashlight shining on three surfaces: a mirror, white paper, and black paper. Use arrows to show where the light goes for each. Label whether each surface mainly reflects or absorbs the light.</a:t>
            </a:r>
            <a:endParaRPr lang="en-US" sz="1200" dirty="0"/>
          </a:p>
        </p:txBody>
      </p:sp>
      <p:sp>
        <p:nvSpPr>
          <p:cNvPr id="8" name="Shape 6"/>
          <p:cNvSpPr/>
          <p:nvPr/>
        </p:nvSpPr>
        <p:spPr>
          <a:xfrm>
            <a:off x="320040" y="2148840"/>
            <a:ext cx="8503920" cy="1234440"/>
          </a:xfrm>
          <a:prstGeom prst="roundRect">
            <a:avLst>
              <a:gd name="adj" fmla="val 5926"/>
            </a:avLst>
          </a:prstGeom>
          <a:solidFill>
            <a:srgbClr val="EEF8F0"/>
          </a:solidFill>
          <a:ln w="19050">
            <a:solidFill>
              <a:srgbClr val="52B788"/>
            </a:solidFill>
            <a:prstDash val="solid"/>
          </a:ln>
        </p:spPr>
      </p:sp>
      <p:sp>
        <p:nvSpPr>
          <p:cNvPr id="9" name="Text 7"/>
          <p:cNvSpPr/>
          <p:nvPr/>
        </p:nvSpPr>
        <p:spPr>
          <a:xfrm>
            <a:off x="502920" y="2240280"/>
            <a:ext cx="8138160" cy="228600"/>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SUBMIT ON CANVAS — must include:</a:t>
            </a:r>
            <a:endParaRPr lang="en-US" sz="1100" dirty="0"/>
          </a:p>
        </p:txBody>
      </p:sp>
      <p:sp>
        <p:nvSpPr>
          <p:cNvPr id="10" name="Text 8"/>
          <p:cNvSpPr/>
          <p:nvPr/>
        </p:nvSpPr>
        <p:spPr>
          <a:xfrm>
            <a:off x="502920" y="2496312"/>
            <a:ext cx="8138160" cy="822960"/>
          </a:xfrm>
          <a:prstGeom prst="rect">
            <a:avLst/>
          </a:prstGeom>
          <a:noFill/>
          <a:ln/>
        </p:spPr>
        <p:txBody>
          <a:bodyPr wrap="square" rtlCol="0" anchor="t"/>
          <a:lstStyle/>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Light and surface investigation drawings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Data chart showing predictions, results, and explanations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Short answer responses in Part B (complete sentences)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Write &amp; Explain response using at least one vocabulary word</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Part C diagram with arrows and labels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Amazing Investigation!</a:t>
            </a:r>
            <a:endParaRPr lang="en-US" sz="3000" dirty="0"/>
          </a:p>
        </p:txBody>
      </p:sp>
      <p:sp>
        <p:nvSpPr>
          <p:cNvPr id="5" name="Text 3"/>
          <p:cNvSpPr/>
          <p:nvPr/>
        </p:nvSpPr>
        <p:spPr>
          <a:xfrm>
            <a:off x="457200" y="2377440"/>
            <a:ext cx="8229600" cy="1097280"/>
          </a:xfrm>
          <a:prstGeom prst="rect">
            <a:avLst/>
          </a:prstGeom>
          <a:noFill/>
          <a:ln/>
        </p:spPr>
        <p:txBody>
          <a:bodyPr wrap="square" rtlCol="0" anchor="ctr"/>
          <a:lstStyle/>
          <a:p>
            <a:pPr indent="0" marL="0">
              <a:lnSpc>
                <a:spcPts val="1800"/>
              </a:lnSpc>
              <a:buNone/>
            </a:pPr>
            <a:r>
              <a:rPr lang="en-US" sz="1300" i="1" dirty="0">
                <a:solidFill>
                  <a:srgbClr val="FFCA28"/>
                </a:solidFill>
                <a:latin typeface="Calibri" pitchFamily="34" charset="0"/>
                <a:ea typeface="Calibri" pitchFamily="34" charset="-122"/>
                <a:cs typeface="Calibri" pitchFamily="34" charset="-120"/>
              </a:rPr>
              <a:t>You discovered that light travels in straight lines, reflects off shiny surfaces, and is absorbed by dark surfaces. You also proved that friction creates heat. Energy is everywhere!</a:t>
            </a:r>
            <a:endParaRPr lang="en-US" sz="1300" dirty="0"/>
          </a:p>
        </p:txBody>
      </p:sp>
      <p:sp>
        <p:nvSpPr>
          <p:cNvPr id="6" name="Text 4"/>
          <p:cNvSpPr/>
          <p:nvPr/>
        </p:nvSpPr>
        <p:spPr>
          <a:xfrm>
            <a:off x="457200" y="4297680"/>
            <a:ext cx="8229600" cy="365760"/>
          </a:xfrm>
          <a:prstGeom prst="rect">
            <a:avLst/>
          </a:prstGeom>
          <a:noFill/>
          <a:ln/>
        </p:spPr>
        <p:txBody>
          <a:bodyPr wrap="square"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29.01 · What Makes the Everglades Special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2026-07-13T18:48:59Z</dcterms:created>
  <dcterms:modified xsi:type="dcterms:W3CDTF">2026-07-13T18:48:59Z</dcterms:modified>
</cp:coreProperties>
</file>