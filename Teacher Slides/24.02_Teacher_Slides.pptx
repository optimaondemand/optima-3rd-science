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map: I Can #1 (name/explain real conservation practices) is rehearsed in Sections 1-3 (Slides 10-12) and the Conservation in Action photo (Slide 9). I Can #2 (sort actions by category, explain reduced impact) is rehearsed in the 12-action sort activity (Slides 18-21) and the copy chart (Slide 22). I Can #3 (evaluate a solution, make a claim) is rehearsed via the Comparing Solutions criteria/constraints table (Slide 13), Think Like a Conservationist (Slide 23), Record Your Thinking (Slide 24), and the formal Write &amp; Explain (Slide 30). All three assessed in Self-Check (Slides 26-28) and Assignment (Slides 29-31).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the core definition of conservation.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conservation is proactive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classification of a real-world example into the correct conservation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water conservation targets waste in water use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classification of a habitat protection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habitat protection can happen at small, neighborhood scale, not just in parks.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371600"/>
            <a:ext cx="8229600" cy="365760"/>
          </a:xfrm>
          <a:prstGeom prst="rect">
            <a:avLst/>
          </a:prstGeom>
          <a:noFill/>
          <a:ln/>
        </p:spPr>
        <p:txBody>
          <a:bodyPr wrap="square" rtlCol="0" anchor="ctr"/>
          <a:lstStyle/>
          <a:p>
            <a:pPr indent="0" marL="0">
              <a:buNone/>
            </a:pPr>
            <a:r>
              <a:rPr lang="en-US" sz="1400" b="1" spc="150" kern="0" dirty="0">
                <a:solidFill>
                  <a:srgbClr val="55C8E8"/>
                </a:solidFill>
                <a:latin typeface="Calibri" pitchFamily="34" charset="0"/>
                <a:ea typeface="Calibri" pitchFamily="34" charset="-122"/>
                <a:cs typeface="Calibri" pitchFamily="34" charset="-120"/>
              </a:rPr>
              <a:t>LESSON 24.02 · WEEK 24</a:t>
            </a:r>
            <a:endParaRPr lang="en-US" sz="1400" dirty="0"/>
          </a:p>
        </p:txBody>
      </p:sp>
      <p:sp>
        <p:nvSpPr>
          <p:cNvPr id="5" name="Text 3"/>
          <p:cNvSpPr/>
          <p:nvPr/>
        </p:nvSpPr>
        <p:spPr>
          <a:xfrm>
            <a:off x="457200" y="1828800"/>
            <a:ext cx="8229600" cy="1463040"/>
          </a:xfrm>
          <a:prstGeom prst="rect">
            <a:avLst/>
          </a:prstGeom>
          <a:noFill/>
          <a:ln/>
        </p:spPr>
        <p:txBody>
          <a:bodyPr wrap="square" rtlCol="0" anchor="ctr"/>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How Can We Practice</a:t>
            </a:r>
            <a:endParaRPr lang="en-US" sz="3400" dirty="0"/>
          </a:p>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Conservation?</a:t>
            </a:r>
            <a:endParaRPr lang="en-US" sz="3400" dirty="0"/>
          </a:p>
        </p:txBody>
      </p:sp>
      <p:sp>
        <p:nvSpPr>
          <p:cNvPr id="6" name="Text 4"/>
          <p:cNvSpPr/>
          <p:nvPr/>
        </p:nvSpPr>
        <p:spPr>
          <a:xfrm>
            <a:off x="457200" y="3931920"/>
            <a:ext cx="8229600" cy="365760"/>
          </a:xfrm>
          <a:prstGeom prst="rect">
            <a:avLst/>
          </a:prstGeom>
          <a:noFill/>
          <a:ln/>
        </p:spPr>
        <p:txBody>
          <a:bodyPr wrap="square" rtlCol="0" anchor="ctr"/>
          <a:lstStyle/>
          <a:p>
            <a:pPr indent="0" marL="0">
              <a:buNone/>
            </a:pPr>
            <a:r>
              <a:rPr lang="en-US" sz="1300" i="1" dirty="0">
                <a:solidFill>
                  <a:srgbClr val="FFCA28"/>
                </a:solidFill>
                <a:latin typeface="Calibri" pitchFamily="34" charset="0"/>
                <a:ea typeface="Calibri" pitchFamily="34" charset="-122"/>
                <a:cs typeface="Calibri" pitchFamily="34" charset="-120"/>
              </a:rPr>
              <a:t>NGSS 3-ESS3-1 · Earth and Human Activity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OUR BIG QUESTION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About This...</a:t>
            </a:r>
            <a:endParaRPr lang="en-US" sz="2100" dirty="0"/>
          </a:p>
        </p:txBody>
      </p:sp>
      <p:sp>
        <p:nvSpPr>
          <p:cNvPr id="7" name="Shape 5"/>
          <p:cNvSpPr/>
          <p:nvPr/>
        </p:nvSpPr>
        <p:spPr>
          <a:xfrm>
            <a:off x="320040" y="1188720"/>
            <a:ext cx="8503920" cy="1463040"/>
          </a:xfrm>
          <a:prstGeom prst="roundRect">
            <a:avLst>
              <a:gd name="adj" fmla="val 6250"/>
            </a:avLst>
          </a:prstGeom>
          <a:solidFill>
            <a:srgbClr val="F3EEFB"/>
          </a:solidFill>
          <a:ln w="25400">
            <a:solidFill>
              <a:srgbClr val="7B5EA7"/>
            </a:solidFill>
            <a:prstDash val="solid"/>
          </a:ln>
        </p:spPr>
      </p:sp>
      <p:sp>
        <p:nvSpPr>
          <p:cNvPr id="8" name="Text 6"/>
          <p:cNvSpPr/>
          <p:nvPr/>
        </p:nvSpPr>
        <p:spPr>
          <a:xfrm>
            <a:off x="548640" y="1371600"/>
            <a:ext cx="8046720" cy="1097280"/>
          </a:xfrm>
          <a:prstGeom prst="rect">
            <a:avLst/>
          </a:prstGeom>
          <a:noFill/>
          <a:ln/>
        </p:spPr>
        <p:txBody>
          <a:bodyPr wrap="square" rtlCol="0" anchor="t"/>
          <a:lstStyle/>
          <a:p>
            <a:pPr indent="0" marL="0">
              <a:lnSpc>
                <a:spcPts val="2400"/>
              </a:lnSpc>
              <a:buNone/>
            </a:pPr>
            <a:r>
              <a:rPr lang="en-US" sz="1800" i="1" dirty="0">
                <a:solidFill>
                  <a:srgbClr val="3A2B5C"/>
                </a:solidFill>
                <a:latin typeface="Cambria" pitchFamily="34" charset="0"/>
                <a:ea typeface="Cambria" pitchFamily="34" charset="-122"/>
                <a:cs typeface="Cambria" pitchFamily="34" charset="-120"/>
              </a:rPr>
              <a:t>"What can people do to take care of the natural world — and why does it matter which actions we choose?"</a:t>
            </a:r>
            <a:endParaRPr lang="en-US" sz="1800" dirty="0"/>
          </a:p>
        </p:txBody>
      </p:sp>
      <p:sp>
        <p:nvSpPr>
          <p:cNvPr id="9" name="Text 7"/>
          <p:cNvSpPr/>
          <p:nvPr/>
        </p:nvSpPr>
        <p:spPr>
          <a:xfrm>
            <a:off x="320040" y="2926080"/>
            <a:ext cx="8503920" cy="640080"/>
          </a:xfrm>
          <a:prstGeom prst="rect">
            <a:avLst/>
          </a:prstGeom>
          <a:noFill/>
          <a:ln/>
        </p:spPr>
        <p:txBody>
          <a:bodyPr wrap="square" rtlCol="0" anchor="t"/>
          <a:lstStyle/>
          <a:p>
            <a:pPr indent="0" marL="0">
              <a:lnSpc>
                <a:spcPts val="2000"/>
              </a:lnSpc>
              <a:buNone/>
            </a:pPr>
            <a:r>
              <a:rPr lang="en-US" sz="1400" dirty="0">
                <a:solidFill>
                  <a:srgbClr val="2B1D12"/>
                </a:solidFill>
                <a:latin typeface="Calibri" pitchFamily="34" charset="0"/>
                <a:ea typeface="Calibri" pitchFamily="34" charset="-122"/>
                <a:cs typeface="Calibri" pitchFamily="34" charset="-120"/>
              </a:rPr>
              <a:t>Keep this question in mind as you work. By the end, you should be able to answer it with examples from what you did today.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 Can Statements</a:t>
            </a:r>
            <a:endParaRPr lang="en-US" sz="2100" dirty="0"/>
          </a:p>
        </p:txBody>
      </p:sp>
      <p:sp>
        <p:nvSpPr>
          <p:cNvPr id="7" name="Shape 5"/>
          <p:cNvSpPr/>
          <p:nvPr/>
        </p:nvSpPr>
        <p:spPr>
          <a:xfrm>
            <a:off x="320040" y="1097280"/>
            <a:ext cx="8503920" cy="777240"/>
          </a:xfrm>
          <a:prstGeom prst="roundRect">
            <a:avLst>
              <a:gd name="adj" fmla="val 9412"/>
            </a:avLst>
          </a:prstGeom>
          <a:solidFill>
            <a:srgbClr val="FFF3E0"/>
          </a:solidFill>
          <a:ln w="12700">
            <a:solidFill>
              <a:srgbClr val="F57C00"/>
            </a:solidFill>
            <a:prstDash val="solid"/>
          </a:ln>
        </p:spPr>
      </p:sp>
      <p:sp>
        <p:nvSpPr>
          <p:cNvPr id="8" name="Text 6"/>
          <p:cNvSpPr/>
          <p:nvPr/>
        </p:nvSpPr>
        <p:spPr>
          <a:xfrm>
            <a:off x="548640" y="1207008"/>
            <a:ext cx="8046720" cy="548640"/>
          </a:xfrm>
          <a:prstGeom prst="rect">
            <a:avLst/>
          </a:prstGeom>
          <a:noFill/>
          <a:ln/>
        </p:spPr>
        <p:txBody>
          <a:bodyPr wrap="square" rtlCol="0" anchor="ctr"/>
          <a:lstStyle/>
          <a:p>
            <a:pPr indent="0" marL="0">
              <a:buNone/>
            </a:pPr>
            <a:r>
              <a:rPr lang="en-US" sz="1400" b="1" dirty="0">
                <a:solidFill>
                  <a:srgbClr val="3A2410"/>
                </a:solidFill>
                <a:latin typeface="Calibri" pitchFamily="34" charset="0"/>
                <a:ea typeface="Calibri" pitchFamily="34" charset="-122"/>
                <a:cs typeface="Calibri" pitchFamily="34" charset="-120"/>
              </a:rPr>
              <a:t>I can name and explain real conservation practices people use to protect the environment.</a:t>
            </a:r>
            <a:endParaRPr lang="en-US" sz="1400" dirty="0"/>
          </a:p>
        </p:txBody>
      </p:sp>
      <p:sp>
        <p:nvSpPr>
          <p:cNvPr id="9" name="Shape 7"/>
          <p:cNvSpPr/>
          <p:nvPr/>
        </p:nvSpPr>
        <p:spPr>
          <a:xfrm>
            <a:off x="320040" y="2011680"/>
            <a:ext cx="8503920" cy="777240"/>
          </a:xfrm>
          <a:prstGeom prst="roundRect">
            <a:avLst>
              <a:gd name="adj" fmla="val 9412"/>
            </a:avLst>
          </a:prstGeom>
          <a:solidFill>
            <a:srgbClr val="FFF3E0"/>
          </a:solidFill>
          <a:ln w="12700">
            <a:solidFill>
              <a:srgbClr val="F57C00"/>
            </a:solidFill>
            <a:prstDash val="solid"/>
          </a:ln>
        </p:spPr>
      </p:sp>
      <p:sp>
        <p:nvSpPr>
          <p:cNvPr id="10" name="Text 8"/>
          <p:cNvSpPr/>
          <p:nvPr/>
        </p:nvSpPr>
        <p:spPr>
          <a:xfrm>
            <a:off x="548640" y="2121408"/>
            <a:ext cx="8046720" cy="548640"/>
          </a:xfrm>
          <a:prstGeom prst="rect">
            <a:avLst/>
          </a:prstGeom>
          <a:noFill/>
          <a:ln/>
        </p:spPr>
        <p:txBody>
          <a:bodyPr wrap="square" rtlCol="0" anchor="ctr"/>
          <a:lstStyle/>
          <a:p>
            <a:pPr indent="0" marL="0">
              <a:buNone/>
            </a:pPr>
            <a:r>
              <a:rPr lang="en-US" sz="1400" b="1" dirty="0">
                <a:solidFill>
                  <a:srgbClr val="3A2410"/>
                </a:solidFill>
                <a:latin typeface="Calibri" pitchFamily="34" charset="0"/>
                <a:ea typeface="Calibri" pitchFamily="34" charset="-122"/>
                <a:cs typeface="Calibri" pitchFamily="34" charset="-120"/>
              </a:rPr>
              <a:t>I can sort conservation actions by category and explain how each one reduces human impact.</a:t>
            </a:r>
            <a:endParaRPr lang="en-US" sz="1400" dirty="0"/>
          </a:p>
        </p:txBody>
      </p:sp>
      <p:sp>
        <p:nvSpPr>
          <p:cNvPr id="11" name="Shape 9"/>
          <p:cNvSpPr/>
          <p:nvPr/>
        </p:nvSpPr>
        <p:spPr>
          <a:xfrm>
            <a:off x="320040" y="2926080"/>
            <a:ext cx="8503920" cy="777240"/>
          </a:xfrm>
          <a:prstGeom prst="roundRect">
            <a:avLst>
              <a:gd name="adj" fmla="val 9412"/>
            </a:avLst>
          </a:prstGeom>
          <a:solidFill>
            <a:srgbClr val="FFF3E0"/>
          </a:solidFill>
          <a:ln w="12700">
            <a:solidFill>
              <a:srgbClr val="F57C00"/>
            </a:solidFill>
            <a:prstDash val="solid"/>
          </a:ln>
        </p:spPr>
      </p:sp>
      <p:sp>
        <p:nvSpPr>
          <p:cNvPr id="12" name="Text 10"/>
          <p:cNvSpPr/>
          <p:nvPr/>
        </p:nvSpPr>
        <p:spPr>
          <a:xfrm>
            <a:off x="548640" y="3035808"/>
            <a:ext cx="8046720" cy="548640"/>
          </a:xfrm>
          <a:prstGeom prst="rect">
            <a:avLst/>
          </a:prstGeom>
          <a:noFill/>
          <a:ln/>
        </p:spPr>
        <p:txBody>
          <a:bodyPr wrap="square" rtlCol="0" anchor="ctr"/>
          <a:lstStyle/>
          <a:p>
            <a:pPr indent="0" marL="0">
              <a:buNone/>
            </a:pPr>
            <a:r>
              <a:rPr lang="en-US" sz="1400" b="1" dirty="0">
                <a:solidFill>
                  <a:srgbClr val="3A2410"/>
                </a:solidFill>
                <a:latin typeface="Calibri" pitchFamily="34" charset="0"/>
                <a:ea typeface="Calibri" pitchFamily="34" charset="-122"/>
                <a:cs typeface="Calibri" pitchFamily="34" charset="-120"/>
              </a:rPr>
              <a:t>I can evaluate a conservation solution and make a claim about why it helps the environment.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YOU'LL NEED</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Materials</a:t>
            </a:r>
            <a:endParaRPr lang="en-US" sz="2100" dirty="0"/>
          </a:p>
        </p:txBody>
      </p:sp>
      <p:sp>
        <p:nvSpPr>
          <p:cNvPr id="7" name="Shape 5"/>
          <p:cNvSpPr/>
          <p:nvPr/>
        </p:nvSpPr>
        <p:spPr>
          <a:xfrm>
            <a:off x="320040" y="1188720"/>
            <a:ext cx="8503920" cy="1371600"/>
          </a:xfrm>
          <a:prstGeom prst="roundRect">
            <a:avLst>
              <a:gd name="adj" fmla="val 5333"/>
            </a:avLst>
          </a:prstGeom>
          <a:solidFill>
            <a:srgbClr val="EEF8F0"/>
          </a:solidFill>
          <a:ln w="19050">
            <a:solidFill>
              <a:srgbClr val="52B788"/>
            </a:solidFill>
            <a:prstDash val="solid"/>
          </a:ln>
        </p:spPr>
      </p:sp>
      <p:sp>
        <p:nvSpPr>
          <p:cNvPr id="8" name="Text 6"/>
          <p:cNvSpPr/>
          <p:nvPr/>
        </p:nvSpPr>
        <p:spPr>
          <a:xfrm>
            <a:off x="548640" y="1325880"/>
            <a:ext cx="8046720" cy="1097280"/>
          </a:xfrm>
          <a:prstGeom prst="rect">
            <a:avLst/>
          </a:prstGeom>
          <a:noFill/>
          <a:ln/>
        </p:spPr>
        <p:txBody>
          <a:bodyPr wrap="square" rtlCol="0" anchor="t"/>
          <a:lstStyle/>
          <a:p>
            <a:pPr marL="342900" indent="-342900">
              <a:lnSpc>
                <a:spcPts val="2400"/>
              </a:lnSpc>
              <a:buSzPct val="100000"/>
              <a:buChar char="•"/>
            </a:pPr>
            <a:r>
              <a:rPr lang="en-US" sz="1400" dirty="0">
                <a:solidFill>
                  <a:srgbClr val="1B4332"/>
                </a:solidFill>
                <a:latin typeface="Calibri" pitchFamily="34" charset="0"/>
                <a:ea typeface="Calibri" pitchFamily="34" charset="-122"/>
                <a:cs typeface="Calibri" pitchFamily="34" charset="-120"/>
              </a:rPr>
              <a:t>Science notebook</a:t>
            </a:r>
            <a:endParaRPr lang="en-US" sz="1400" dirty="0"/>
          </a:p>
          <a:p>
            <a:pPr marL="342900" indent="-342900">
              <a:lnSpc>
                <a:spcPts val="2400"/>
              </a:lnSpc>
              <a:buSzPct val="100000"/>
              <a:buChar char="•"/>
            </a:pPr>
            <a:r>
              <a:rPr lang="en-US" sz="1400" dirty="0">
                <a:solidFill>
                  <a:srgbClr val="1B4332"/>
                </a:solidFill>
                <a:latin typeface="Calibri" pitchFamily="34" charset="0"/>
                <a:ea typeface="Calibri" pitchFamily="34" charset="-122"/>
                <a:cs typeface="Calibri" pitchFamily="34" charset="-120"/>
              </a:rPr>
              <a:t>Pencil &amp; colored pencils</a:t>
            </a:r>
            <a:endParaRPr lang="en-US" sz="1400" dirty="0"/>
          </a:p>
          <a:p>
            <a:pPr marL="342900" indent="-342900">
              <a:lnSpc>
                <a:spcPts val="2400"/>
              </a:lnSpc>
              <a:buSzPct val="100000"/>
              <a:buChar char="•"/>
            </a:pPr>
            <a:r>
              <a:rPr lang="en-US" sz="1400" dirty="0">
                <a:solidFill>
                  <a:srgbClr val="1B4332"/>
                </a:solidFill>
                <a:latin typeface="Calibri" pitchFamily="34" charset="0"/>
                <a:ea typeface="Calibri" pitchFamily="34" charset="-122"/>
                <a:cs typeface="Calibri" pitchFamily="34" charset="-120"/>
              </a:rPr>
              <a:t>Scissors (optional)</a:t>
            </a:r>
            <a:endParaRPr lang="en-US" sz="1400" dirty="0"/>
          </a:p>
          <a:p>
            <a:pPr marL="342900" indent="-342900">
              <a:lnSpc>
                <a:spcPts val="2400"/>
              </a:lnSpc>
              <a:buSzPct val="100000"/>
              <a:buChar char="•"/>
            </a:pPr>
            <a:r>
              <a:rPr lang="en-US" sz="1400" dirty="0">
                <a:solidFill>
                  <a:srgbClr val="1B4332"/>
                </a:solidFill>
                <a:latin typeface="Calibri" pitchFamily="34" charset="0"/>
                <a:ea typeface="Calibri" pitchFamily="34" charset="-122"/>
                <a:cs typeface="Calibri" pitchFamily="34" charset="-120"/>
              </a:rPr>
              <a:t>Action Sort cards (printed or written)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NOTICE &amp; WONDER</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 You Already Know?</a:t>
            </a:r>
            <a:endParaRPr lang="en-US" sz="2100" dirty="0"/>
          </a:p>
        </p:txBody>
      </p:sp>
      <p:sp>
        <p:nvSpPr>
          <p:cNvPr id="7" name="Text 5"/>
          <p:cNvSpPr/>
          <p:nvPr/>
        </p:nvSpPr>
        <p:spPr>
          <a:xfrm>
            <a:off x="320040" y="1097280"/>
            <a:ext cx="8503920" cy="914400"/>
          </a:xfrm>
          <a:prstGeom prst="rect">
            <a:avLst/>
          </a:prstGeom>
          <a:noFill/>
          <a:ln/>
        </p:spPr>
        <p:txBody>
          <a:bodyPr wrap="square" rtlCol="0" anchor="t"/>
          <a:lstStyle/>
          <a:p>
            <a:pPr indent="0" marL="0">
              <a:lnSpc>
                <a:spcPts val="2000"/>
              </a:lnSpc>
              <a:buNone/>
            </a:pPr>
            <a:r>
              <a:rPr lang="en-US" sz="1400" dirty="0">
                <a:solidFill>
                  <a:srgbClr val="2B1D12"/>
                </a:solidFill>
                <a:latin typeface="Calibri" pitchFamily="34" charset="0"/>
                <a:ea typeface="Calibri" pitchFamily="34" charset="-122"/>
                <a:cs typeface="Calibri" pitchFamily="34" charset="-120"/>
              </a:rPr>
              <a:t>Think about the last time you saw someone — or something — taking care of the natural world. Maybe a recycling bin. Maybe a nature preserve. Maybe someone turning off a faucet.</a:t>
            </a:r>
            <a:endParaRPr lang="en-US" sz="1400" dirty="0"/>
          </a:p>
        </p:txBody>
      </p:sp>
      <p:sp>
        <p:nvSpPr>
          <p:cNvPr id="8" name="Shape 6"/>
          <p:cNvSpPr/>
          <p:nvPr/>
        </p:nvSpPr>
        <p:spPr>
          <a:xfrm>
            <a:off x="320040" y="2103120"/>
            <a:ext cx="8503920" cy="914400"/>
          </a:xfrm>
          <a:prstGeom prst="roundRect">
            <a:avLst>
              <a:gd name="adj" fmla="val 8000"/>
            </a:avLst>
          </a:prstGeom>
          <a:solidFill>
            <a:srgbClr val="FFF9E8"/>
          </a:solidFill>
          <a:ln w="19050">
            <a:solidFill>
              <a:srgbClr val="F9A825"/>
            </a:solidFill>
            <a:prstDash val="solid"/>
          </a:ln>
        </p:spPr>
      </p:sp>
      <p:sp>
        <p:nvSpPr>
          <p:cNvPr id="9" name="Text 7"/>
          <p:cNvSpPr/>
          <p:nvPr/>
        </p:nvSpPr>
        <p:spPr>
          <a:xfrm>
            <a:off x="502920" y="217627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395728"/>
            <a:ext cx="8138160" cy="56692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Write 3 things people do to take care of the environment. Then write 1 question you have: something you're not sure about or want to know more about.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WORD WALL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Key Vocabulary — Part 1</a:t>
            </a:r>
            <a:endParaRPr lang="en-US" sz="2100" dirty="0"/>
          </a:p>
        </p:txBody>
      </p:sp>
      <p:sp>
        <p:nvSpPr>
          <p:cNvPr id="7" name="Shape 5"/>
          <p:cNvSpPr/>
          <p:nvPr/>
        </p:nvSpPr>
        <p:spPr>
          <a:xfrm>
            <a:off x="320040" y="1097280"/>
            <a:ext cx="8503920" cy="868680"/>
          </a:xfrm>
          <a:prstGeom prst="roundRect">
            <a:avLst>
              <a:gd name="adj" fmla="val 8421"/>
            </a:avLst>
          </a:prstGeom>
          <a:solidFill>
            <a:srgbClr val="FFFFFF"/>
          </a:solidFill>
          <a:ln w="19050">
            <a:solidFill>
              <a:srgbClr val="55C8E8"/>
            </a:solidFill>
            <a:prstDash val="solid"/>
          </a:ln>
        </p:spPr>
      </p:sp>
      <p:sp>
        <p:nvSpPr>
          <p:cNvPr id="8" name="Text 6"/>
          <p:cNvSpPr/>
          <p:nvPr/>
        </p:nvSpPr>
        <p:spPr>
          <a:xfrm>
            <a:off x="502920" y="117043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Conservation</a:t>
            </a:r>
            <a:endParaRPr lang="en-US" sz="1500" dirty="0"/>
          </a:p>
        </p:txBody>
      </p:sp>
      <p:sp>
        <p:nvSpPr>
          <p:cNvPr id="9" name="Text 7"/>
          <p:cNvSpPr/>
          <p:nvPr/>
        </p:nvSpPr>
        <p:spPr>
          <a:xfrm>
            <a:off x="502920" y="146304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Protecting natural resources — like water, land, and wildlife — so they aren't used up or destroyed.</a:t>
            </a:r>
            <a:endParaRPr lang="en-US" sz="1250" dirty="0"/>
          </a:p>
        </p:txBody>
      </p:sp>
      <p:sp>
        <p:nvSpPr>
          <p:cNvPr id="10" name="Shape 8"/>
          <p:cNvSpPr/>
          <p:nvPr/>
        </p:nvSpPr>
        <p:spPr>
          <a:xfrm>
            <a:off x="320040" y="2057400"/>
            <a:ext cx="8503920" cy="868680"/>
          </a:xfrm>
          <a:prstGeom prst="roundRect">
            <a:avLst>
              <a:gd name="adj" fmla="val 8421"/>
            </a:avLst>
          </a:prstGeom>
          <a:solidFill>
            <a:srgbClr val="FFFFFF"/>
          </a:solidFill>
          <a:ln w="19050">
            <a:solidFill>
              <a:srgbClr val="55C8E8"/>
            </a:solidFill>
            <a:prstDash val="solid"/>
          </a:ln>
        </p:spPr>
      </p:sp>
      <p:sp>
        <p:nvSpPr>
          <p:cNvPr id="11" name="Text 9"/>
          <p:cNvSpPr/>
          <p:nvPr/>
        </p:nvSpPr>
        <p:spPr>
          <a:xfrm>
            <a:off x="502920" y="213055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Recycling</a:t>
            </a:r>
            <a:endParaRPr lang="en-US" sz="1500" dirty="0"/>
          </a:p>
        </p:txBody>
      </p:sp>
      <p:sp>
        <p:nvSpPr>
          <p:cNvPr id="12" name="Text 10"/>
          <p:cNvSpPr/>
          <p:nvPr/>
        </p:nvSpPr>
        <p:spPr>
          <a:xfrm>
            <a:off x="502920" y="242316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Collecting used materials — like paper, plastic, or metal — and turning them into something new.</a:t>
            </a:r>
            <a:endParaRPr lang="en-US" sz="1250" dirty="0"/>
          </a:p>
        </p:txBody>
      </p:sp>
      <p:sp>
        <p:nvSpPr>
          <p:cNvPr id="13" name="Shape 11"/>
          <p:cNvSpPr/>
          <p:nvPr/>
        </p:nvSpPr>
        <p:spPr>
          <a:xfrm>
            <a:off x="320040" y="3017520"/>
            <a:ext cx="8503920" cy="868680"/>
          </a:xfrm>
          <a:prstGeom prst="roundRect">
            <a:avLst>
              <a:gd name="adj" fmla="val 8421"/>
            </a:avLst>
          </a:prstGeom>
          <a:solidFill>
            <a:srgbClr val="FFFFFF"/>
          </a:solidFill>
          <a:ln w="19050">
            <a:solidFill>
              <a:srgbClr val="55C8E8"/>
            </a:solidFill>
            <a:prstDash val="solid"/>
          </a:ln>
        </p:spPr>
      </p:sp>
      <p:sp>
        <p:nvSpPr>
          <p:cNvPr id="14" name="Text 12"/>
          <p:cNvSpPr/>
          <p:nvPr/>
        </p:nvSpPr>
        <p:spPr>
          <a:xfrm>
            <a:off x="502920" y="309067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Habitat</a:t>
            </a:r>
            <a:endParaRPr lang="en-US" sz="1500" dirty="0"/>
          </a:p>
        </p:txBody>
      </p:sp>
      <p:sp>
        <p:nvSpPr>
          <p:cNvPr id="15" name="Text 13"/>
          <p:cNvSpPr/>
          <p:nvPr/>
        </p:nvSpPr>
        <p:spPr>
          <a:xfrm>
            <a:off x="502920" y="338328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The natural home where a plant or animal finds food, water, and shelter.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WORD WALL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Key Vocabulary — Part 2</a:t>
            </a:r>
            <a:endParaRPr lang="en-US" sz="2100" dirty="0"/>
          </a:p>
        </p:txBody>
      </p:sp>
      <p:sp>
        <p:nvSpPr>
          <p:cNvPr id="7" name="Shape 5"/>
          <p:cNvSpPr/>
          <p:nvPr/>
        </p:nvSpPr>
        <p:spPr>
          <a:xfrm>
            <a:off x="320040" y="1097280"/>
            <a:ext cx="8503920" cy="868680"/>
          </a:xfrm>
          <a:prstGeom prst="roundRect">
            <a:avLst>
              <a:gd name="adj" fmla="val 8421"/>
            </a:avLst>
          </a:prstGeom>
          <a:solidFill>
            <a:srgbClr val="FFFFFF"/>
          </a:solidFill>
          <a:ln w="19050">
            <a:solidFill>
              <a:srgbClr val="55C8E8"/>
            </a:solidFill>
            <a:prstDash val="solid"/>
          </a:ln>
        </p:spPr>
      </p:sp>
      <p:sp>
        <p:nvSpPr>
          <p:cNvPr id="8" name="Text 6"/>
          <p:cNvSpPr/>
          <p:nvPr/>
        </p:nvSpPr>
        <p:spPr>
          <a:xfrm>
            <a:off x="502920" y="117043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Water Conservation</a:t>
            </a:r>
            <a:endParaRPr lang="en-US" sz="1500" dirty="0"/>
          </a:p>
        </p:txBody>
      </p:sp>
      <p:sp>
        <p:nvSpPr>
          <p:cNvPr id="9" name="Text 7"/>
          <p:cNvSpPr/>
          <p:nvPr/>
        </p:nvSpPr>
        <p:spPr>
          <a:xfrm>
            <a:off x="502920" y="146304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Using water carefully and reducing waste, so there is enough clean water for people, animals, and plants.</a:t>
            </a:r>
            <a:endParaRPr lang="en-US" sz="1250" dirty="0"/>
          </a:p>
        </p:txBody>
      </p:sp>
      <p:sp>
        <p:nvSpPr>
          <p:cNvPr id="10" name="Shape 8"/>
          <p:cNvSpPr/>
          <p:nvPr/>
        </p:nvSpPr>
        <p:spPr>
          <a:xfrm>
            <a:off x="320040" y="2057400"/>
            <a:ext cx="8503920" cy="868680"/>
          </a:xfrm>
          <a:prstGeom prst="roundRect">
            <a:avLst>
              <a:gd name="adj" fmla="val 8421"/>
            </a:avLst>
          </a:prstGeom>
          <a:solidFill>
            <a:srgbClr val="FFFFFF"/>
          </a:solidFill>
          <a:ln w="19050">
            <a:solidFill>
              <a:srgbClr val="55C8E8"/>
            </a:solidFill>
            <a:prstDash val="solid"/>
          </a:ln>
        </p:spPr>
      </p:sp>
      <p:sp>
        <p:nvSpPr>
          <p:cNvPr id="11" name="Text 9"/>
          <p:cNvSpPr/>
          <p:nvPr/>
        </p:nvSpPr>
        <p:spPr>
          <a:xfrm>
            <a:off x="502920" y="213055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Reduce</a:t>
            </a:r>
            <a:endParaRPr lang="en-US" sz="1500" dirty="0"/>
          </a:p>
        </p:txBody>
      </p:sp>
      <p:sp>
        <p:nvSpPr>
          <p:cNvPr id="12" name="Text 10"/>
          <p:cNvSpPr/>
          <p:nvPr/>
        </p:nvSpPr>
        <p:spPr>
          <a:xfrm>
            <a:off x="502920" y="242316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Using less of something — like electricity, plastic, or water — so fewer resources are used up or wasted.</a:t>
            </a:r>
            <a:endParaRPr lang="en-US" sz="1250" dirty="0"/>
          </a:p>
        </p:txBody>
      </p:sp>
      <p:sp>
        <p:nvSpPr>
          <p:cNvPr id="13" name="Shape 11"/>
          <p:cNvSpPr/>
          <p:nvPr/>
        </p:nvSpPr>
        <p:spPr>
          <a:xfrm>
            <a:off x="320040" y="3017520"/>
            <a:ext cx="8503920" cy="868680"/>
          </a:xfrm>
          <a:prstGeom prst="roundRect">
            <a:avLst>
              <a:gd name="adj" fmla="val 8421"/>
            </a:avLst>
          </a:prstGeom>
          <a:solidFill>
            <a:srgbClr val="FFFFFF"/>
          </a:solidFill>
          <a:ln w="19050">
            <a:solidFill>
              <a:srgbClr val="55C8E8"/>
            </a:solidFill>
            <a:prstDash val="solid"/>
          </a:ln>
        </p:spPr>
      </p:sp>
      <p:sp>
        <p:nvSpPr>
          <p:cNvPr id="14" name="Text 12"/>
          <p:cNvSpPr/>
          <p:nvPr/>
        </p:nvSpPr>
        <p:spPr>
          <a:xfrm>
            <a:off x="502920" y="309067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Stewardship</a:t>
            </a:r>
            <a:endParaRPr lang="en-US" sz="1500" dirty="0"/>
          </a:p>
        </p:txBody>
      </p:sp>
      <p:sp>
        <p:nvSpPr>
          <p:cNvPr id="15" name="Text 13"/>
          <p:cNvSpPr/>
          <p:nvPr/>
        </p:nvSpPr>
        <p:spPr>
          <a:xfrm>
            <a:off x="502920" y="338328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Taking responsibility for caring for the Earth. A steward looks after something that belongs to everyone.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COPY THIS DOWN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In Your Science Notebook</a:t>
            </a:r>
            <a:endParaRPr lang="en-US" sz="2100" dirty="0"/>
          </a:p>
        </p:txBody>
      </p:sp>
      <p:sp>
        <p:nvSpPr>
          <p:cNvPr id="7" name="Shape 5"/>
          <p:cNvSpPr/>
          <p:nvPr/>
        </p:nvSpPr>
        <p:spPr>
          <a:xfrm>
            <a:off x="320040" y="1371600"/>
            <a:ext cx="8503920" cy="1188720"/>
          </a:xfrm>
          <a:prstGeom prst="roundRect">
            <a:avLst>
              <a:gd name="adj" fmla="val 7692"/>
            </a:avLst>
          </a:prstGeom>
          <a:solidFill>
            <a:srgbClr val="FFF3E0"/>
          </a:solidFill>
          <a:ln w="25400">
            <a:solidFill>
              <a:srgbClr val="F57C00"/>
            </a:solidFill>
            <a:prstDash val="solid"/>
          </a:ln>
        </p:spPr>
      </p:sp>
      <p:sp>
        <p:nvSpPr>
          <p:cNvPr id="8" name="Text 6"/>
          <p:cNvSpPr/>
          <p:nvPr/>
        </p:nvSpPr>
        <p:spPr>
          <a:xfrm>
            <a:off x="548640" y="1600200"/>
            <a:ext cx="8046720" cy="822960"/>
          </a:xfrm>
          <a:prstGeom prst="rect">
            <a:avLst/>
          </a:prstGeom>
          <a:noFill/>
          <a:ln/>
        </p:spPr>
        <p:txBody>
          <a:bodyPr wrap="square" rtlCol="0" anchor="ctr"/>
          <a:lstStyle/>
          <a:p>
            <a:pPr algn="ctr" indent="0" marL="0">
              <a:buNone/>
            </a:pPr>
            <a:r>
              <a:rPr lang="en-US" sz="1700" i="1" dirty="0">
                <a:solidFill>
                  <a:srgbClr val="3A2410"/>
                </a:solidFill>
                <a:latin typeface="Cambria" pitchFamily="34" charset="0"/>
                <a:ea typeface="Cambria" pitchFamily="34" charset="-122"/>
                <a:cs typeface="Cambria" pitchFamily="34" charset="-120"/>
              </a:rPr>
              <a:t>"Conservation means protecting natural resources so they last for future generations."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PHOTO · CONSERVATION IN ACTION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Choices That Help the Natural World</a:t>
            </a:r>
            <a:endParaRPr lang="en-US" sz="2100" dirty="0"/>
          </a:p>
        </p:txBody>
      </p:sp>
      <p:sp>
        <p:nvSpPr>
          <p:cNvPr id="7" name="Shape 5"/>
          <p:cNvSpPr/>
          <p:nvPr/>
        </p:nvSpPr>
        <p:spPr>
          <a:xfrm>
            <a:off x="1691640" y="960120"/>
            <a:ext cx="5760720" cy="2423160"/>
          </a:xfrm>
          <a:prstGeom prst="roundRect">
            <a:avLst>
              <a:gd name="adj" fmla="val 2264"/>
            </a:avLst>
          </a:prstGeom>
          <a:solidFill>
            <a:srgbClr val="FFFFFF"/>
          </a:solidFill>
          <a:ln w="19050">
            <a:solidFill>
              <a:srgbClr val="E8DDD2"/>
            </a:solidFill>
            <a:prstDash val="solid"/>
          </a:ln>
        </p:spPr>
      </p:sp>
      <p:pic>
        <p:nvPicPr>
          <p:cNvPr id="8" name="Image 0" descr="/sessions/modest-gifted-goldberg/mnt/optima-3rd-science/images/24-2-conservation-actions.png">    </p:cNvPr>
          <p:cNvPicPr>
            <a:picLocks noChangeAspect="1"/>
          </p:cNvPicPr>
          <p:nvPr/>
        </p:nvPicPr>
        <p:blipFill>
          <a:blip r:embed="rId1"/>
          <a:srcRect l="0" r="0" t="0" b="0"/>
          <a:stretch/>
        </p:blipFill>
        <p:spPr>
          <a:xfrm>
            <a:off x="1737360" y="1005840"/>
            <a:ext cx="5669280" cy="2331720"/>
          </a:xfrm>
          <a:prstGeom prst="rect">
            <a:avLst/>
          </a:prstGeom>
        </p:spPr>
      </p:pic>
      <p:sp>
        <p:nvSpPr>
          <p:cNvPr id="9" name="Text 6"/>
          <p:cNvSpPr/>
          <p:nvPr/>
        </p:nvSpPr>
        <p:spPr>
          <a:xfrm>
            <a:off x="1737360" y="3410712"/>
            <a:ext cx="5669280" cy="469773"/>
          </a:xfrm>
          <a:prstGeom prst="rect">
            <a:avLst/>
          </a:prstGeom>
          <a:noFill/>
          <a:ln/>
        </p:spPr>
        <p:txBody>
          <a:bodyPr wrap="square" rtlCol="0" anchor="t"/>
          <a:lstStyle/>
          <a:p>
            <a:pPr algn="ctr" indent="0" marL="0">
              <a:buNone/>
            </a:pPr>
            <a:r>
              <a:rPr lang="en-US" sz="1050" i="1" dirty="0">
                <a:solidFill>
                  <a:srgbClr val="5A4D3E"/>
                </a:solidFill>
                <a:latin typeface="Calibri" pitchFamily="34" charset="0"/>
                <a:ea typeface="Calibri" pitchFamily="34" charset="-122"/>
                <a:cs typeface="Calibri" pitchFamily="34" charset="-120"/>
              </a:rPr>
              <a:t>Conservation in action: recycling, water care, and habitat protection working together.</a:t>
            </a:r>
            <a:endParaRPr lang="en-US" sz="1050" dirty="0"/>
          </a:p>
        </p:txBody>
      </p:sp>
      <p:sp>
        <p:nvSpPr>
          <p:cNvPr id="10" name="Text 7"/>
          <p:cNvSpPr/>
          <p:nvPr/>
        </p:nvSpPr>
        <p:spPr>
          <a:xfrm>
            <a:off x="320040" y="3971925"/>
            <a:ext cx="8503920" cy="82296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People make choices every day that either help or harm the natural world. These are three ways that real communities protect it.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Reducing Waste</a:t>
            </a:r>
            <a:endParaRPr lang="en-US" sz="2100" dirty="0"/>
          </a:p>
        </p:txBody>
      </p:sp>
      <p:sp>
        <p:nvSpPr>
          <p:cNvPr id="7" name="Text 5"/>
          <p:cNvSpPr/>
          <p:nvPr/>
        </p:nvSpPr>
        <p:spPr>
          <a:xfrm>
            <a:off x="320040" y="1097280"/>
            <a:ext cx="8503920" cy="155448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Every day, people throw things away — food packaging, old paper, plastic bottles. But a lot of that waste doesn't have to be waste. Recycling turns old materials into new ones. Even smarter is to reduce in the first place — buying less, choosing products with less packaging, and reusing things before throwing them out. Less trash going in means less damage coming out.</a:t>
            </a:r>
            <a:endParaRPr lang="en-US" sz="1250" dirty="0"/>
          </a:p>
        </p:txBody>
      </p:sp>
      <p:sp>
        <p:nvSpPr>
          <p:cNvPr id="8" name="Shape 6"/>
          <p:cNvSpPr/>
          <p:nvPr/>
        </p:nvSpPr>
        <p:spPr>
          <a:xfrm>
            <a:off x="320040" y="274320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281635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307238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If your whole school stopped using single-use plastic bags for one year, what do you think would happen to the amount of trash in your community?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Water Conservation</a:t>
            </a:r>
            <a:endParaRPr lang="en-US" sz="2100" dirty="0"/>
          </a:p>
        </p:txBody>
      </p:sp>
      <p:sp>
        <p:nvSpPr>
          <p:cNvPr id="7" name="Text 5"/>
          <p:cNvSpPr/>
          <p:nvPr/>
        </p:nvSpPr>
        <p:spPr>
          <a:xfrm>
            <a:off x="320040" y="1097280"/>
            <a:ext cx="8503920" cy="182880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Fresh water is not unlimited — only a small fraction of Earth's water is fresh water we can drink or use to grow food. Water conservation means making thoughtful choices: turning off the tap while brushing your teeth, fixing leaky pipes, or planting drought-resistant plants. These small choices add up fast — a single dripping faucet wastes over 3,000 gallons of water per year.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Protecting Habitats</a:t>
            </a:r>
            <a:endParaRPr lang="en-US" sz="2100" dirty="0"/>
          </a:p>
        </p:txBody>
      </p:sp>
      <p:sp>
        <p:nvSpPr>
          <p:cNvPr id="7" name="Text 5"/>
          <p:cNvSpPr/>
          <p:nvPr/>
        </p:nvSpPr>
        <p:spPr>
          <a:xfrm>
            <a:off x="320040" y="1051560"/>
            <a:ext cx="8503920" cy="118872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When land is cleared for buildings or roads, animals lose their homes. Communities protect habitats by setting aside land as nature preserves, planting native plants, and keeping streams and wetlands clean. National parks protect millions of acres of habitat.</a:t>
            </a:r>
            <a:endParaRPr lang="en-US" sz="1250" dirty="0"/>
          </a:p>
        </p:txBody>
      </p:sp>
      <p:sp>
        <p:nvSpPr>
          <p:cNvPr id="8" name="Shape 6"/>
          <p:cNvSpPr/>
          <p:nvPr/>
        </p:nvSpPr>
        <p:spPr>
          <a:xfrm>
            <a:off x="320040" y="2331720"/>
            <a:ext cx="8503920" cy="685800"/>
          </a:xfrm>
          <a:prstGeom prst="roundRect">
            <a:avLst>
              <a:gd name="adj" fmla="val 10667"/>
            </a:avLst>
          </a:prstGeom>
          <a:solidFill>
            <a:srgbClr val="E3F2FD"/>
          </a:solidFill>
          <a:ln w="19050">
            <a:solidFill>
              <a:srgbClr val="0288D1"/>
            </a:solidFill>
            <a:prstDash val="solid"/>
          </a:ln>
        </p:spPr>
      </p:sp>
      <p:sp>
        <p:nvSpPr>
          <p:cNvPr id="9" name="Text 7"/>
          <p:cNvSpPr/>
          <p:nvPr/>
        </p:nvSpPr>
        <p:spPr>
          <a:xfrm>
            <a:off x="502920" y="2404872"/>
            <a:ext cx="8138160" cy="219456"/>
          </a:xfrm>
          <a:prstGeom prst="rect">
            <a:avLst/>
          </a:prstGeom>
          <a:noFill/>
          <a:ln/>
        </p:spPr>
        <p:txBody>
          <a:bodyPr wrap="square" rtlCol="0" anchor="ctr"/>
          <a:lstStyle/>
          <a:p>
            <a:pPr indent="0" marL="0">
              <a:buNone/>
            </a:pPr>
            <a:r>
              <a:rPr lang="en-US" sz="1050" b="1" spc="100" kern="0" dirty="0">
                <a:solidFill>
                  <a:srgbClr val="0277BD"/>
                </a:solidFill>
                <a:latin typeface="Calibri" pitchFamily="34" charset="0"/>
                <a:ea typeface="Calibri" pitchFamily="34" charset="-122"/>
                <a:cs typeface="Calibri" pitchFamily="34" charset="-120"/>
              </a:rPr>
              <a:t>Real-World Connection</a:t>
            </a:r>
            <a:endParaRPr lang="en-US" sz="1050" dirty="0"/>
          </a:p>
        </p:txBody>
      </p:sp>
      <p:sp>
        <p:nvSpPr>
          <p:cNvPr id="10" name="Text 8"/>
          <p:cNvSpPr/>
          <p:nvPr/>
        </p:nvSpPr>
        <p:spPr>
          <a:xfrm>
            <a:off x="502920" y="2624328"/>
            <a:ext cx="8138160" cy="365760"/>
          </a:xfrm>
          <a:prstGeom prst="rect">
            <a:avLst/>
          </a:prstGeom>
          <a:noFill/>
          <a:ln/>
        </p:spPr>
        <p:txBody>
          <a:bodyPr wrap="square" rtlCol="0" anchor="t"/>
          <a:lstStyle/>
          <a:p>
            <a:pPr indent="0" marL="0">
              <a:buNone/>
            </a:pPr>
            <a:r>
              <a:rPr lang="en-US" sz="1100" dirty="0">
                <a:solidFill>
                  <a:srgbClr val="2B1D12"/>
                </a:solidFill>
                <a:latin typeface="Calibri" pitchFamily="34" charset="0"/>
                <a:ea typeface="Calibri" pitchFamily="34" charset="-122"/>
                <a:cs typeface="Calibri" pitchFamily="34" charset="-120"/>
              </a:rPr>
              <a:t>The Everglades in Florida is one of the most protected wetland habitats on Earth, home to more than 350 species of birds alone.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COMPARING SOLUTIONS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Which One Works Best?</a:t>
            </a:r>
            <a:endParaRPr lang="en-US" sz="2100" dirty="0"/>
          </a:p>
        </p:txBody>
      </p:sp>
      <p:sp>
        <p:nvSpPr>
          <p:cNvPr id="7" name="Text 5"/>
          <p:cNvSpPr/>
          <p:nvPr/>
        </p:nvSpPr>
        <p:spPr>
          <a:xfrm>
            <a:off x="320040" y="1005840"/>
            <a:ext cx="8503920" cy="457200"/>
          </a:xfrm>
          <a:prstGeom prst="rect">
            <a:avLst/>
          </a:prstGeom>
          <a:noFill/>
          <a:ln/>
        </p:spPr>
        <p:txBody>
          <a:bodyPr wrap="square" rtlCol="0" anchor="t"/>
          <a:lstStyle/>
          <a:p>
            <a:pPr indent="0" marL="0">
              <a:lnSpc>
                <a:spcPts val="2000"/>
              </a:lnSpc>
              <a:buNone/>
            </a:pPr>
            <a:r>
              <a:rPr lang="en-US" sz="1100" dirty="0">
                <a:solidFill>
                  <a:srgbClr val="2B1D12"/>
                </a:solidFill>
                <a:latin typeface="Calibri" pitchFamily="34" charset="0"/>
                <a:ea typeface="Calibri" pitchFamily="34" charset="-122"/>
                <a:cs typeface="Calibri" pitchFamily="34" charset="-120"/>
              </a:rPr>
              <a:t>Engineers and scientists compare solutions by checking them against criteria (what the solution needs to do) and constraints (limits like time, money, or materials).</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1554480"/>
          <a:ext cx="8503920" cy="2194560"/>
        </p:xfrm>
        <a:graphic>
          <a:graphicData uri="http://schemas.openxmlformats.org/drawingml/2006/table">
            <a:tbl>
              <a:tblPr/>
              <a:tblGrid>
                <a:gridCol w="2834640"/>
                <a:gridCol w="2834640"/>
                <a:gridCol w="2834640"/>
              </a:tblGrid>
              <a:tr h="36576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Criteria</a:t>
                      </a:r>
                      <a:endParaRPr lang="en-US" sz="9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solidFill>
                      <a:srgbClr val="0E1C4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School Recycling Program</a:t>
                      </a:r>
                      <a:endParaRPr lang="en-US" sz="9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solidFill>
                      <a:srgbClr val="0E1C4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Community Tree Planting</a:t>
                      </a:r>
                      <a:endParaRPr lang="en-US" sz="9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solidFill>
                      <a:srgbClr val="0E1C42"/>
                    </a:solidFill>
                  </a:tcPr>
                </a:tc>
              </a:tr>
              <a:tr h="365760">
                <a:tc>
                  <a:txBody>
                    <a:bodyPr/>
                    <a:lstStyle/>
                    <a:p>
                      <a:pPr indent="0" marL="0">
                        <a:buNone/>
                      </a:pPr>
                      <a:r>
                        <a:rPr lang="en-US" sz="950" dirty="0">
                          <a:solidFill>
                            <a:srgbClr val="2B1D12"/>
                          </a:solidFill>
                          <a:latin typeface="Calibri" pitchFamily="34" charset="0"/>
                          <a:ea typeface="Calibri" pitchFamily="34" charset="-122"/>
                          <a:cs typeface="Calibri" pitchFamily="34" charset="-120"/>
                        </a:rPr>
                        <a:t>Reduces waste going to landfill</a:t>
                      </a:r>
                      <a:endParaRPr lang="en-US" sz="9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950" dirty="0">
                          <a:solidFill>
                            <a:srgbClr val="2B1D12"/>
                          </a:solidFill>
                          <a:latin typeface="Calibri" pitchFamily="34" charset="0"/>
                          <a:ea typeface="Calibri" pitchFamily="34" charset="-122"/>
                          <a:cs typeface="Calibri" pitchFamily="34" charset="-120"/>
                        </a:rPr>
                        <a:t>Yes — paper and plastic get reused</a:t>
                      </a:r>
                      <a:endParaRPr lang="en-US" sz="9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950" dirty="0">
                          <a:solidFill>
                            <a:srgbClr val="2B1D12"/>
                          </a:solidFill>
                          <a:latin typeface="Calibri" pitchFamily="34" charset="0"/>
                          <a:ea typeface="Calibri" pitchFamily="34" charset="-122"/>
                          <a:cs typeface="Calibri" pitchFamily="34" charset="-120"/>
                        </a:rPr>
                        <a:t>No — doesn't address waste directly</a:t>
                      </a:r>
                      <a:endParaRPr lang="en-US" sz="9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r>
              <a:tr h="365760">
                <a:tc>
                  <a:txBody>
                    <a:bodyPr/>
                    <a:lstStyle/>
                    <a:p>
                      <a:pPr indent="0" marL="0">
                        <a:buNone/>
                      </a:pPr>
                      <a:r>
                        <a:rPr lang="en-US" sz="950" dirty="0">
                          <a:solidFill>
                            <a:srgbClr val="2B1D12"/>
                          </a:solidFill>
                          <a:latin typeface="Calibri" pitchFamily="34" charset="0"/>
                          <a:ea typeface="Calibri" pitchFamily="34" charset="-122"/>
                          <a:cs typeface="Calibri" pitchFamily="34" charset="-120"/>
                        </a:rPr>
                        <a:t>Helps local animals</a:t>
                      </a:r>
                      <a:endParaRPr lang="en-US" sz="9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950" dirty="0">
                          <a:solidFill>
                            <a:srgbClr val="2B1D12"/>
                          </a:solidFill>
                          <a:latin typeface="Calibri" pitchFamily="34" charset="0"/>
                          <a:ea typeface="Calibri" pitchFamily="34" charset="-122"/>
                          <a:cs typeface="Calibri" pitchFamily="34" charset="-120"/>
                        </a:rPr>
                        <a:t>Some — less litter, fewer hazards</a:t>
                      </a:r>
                      <a:endParaRPr lang="en-US" sz="9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950" dirty="0">
                          <a:solidFill>
                            <a:srgbClr val="2B1D12"/>
                          </a:solidFill>
                          <a:latin typeface="Calibri" pitchFamily="34" charset="0"/>
                          <a:ea typeface="Calibri" pitchFamily="34" charset="-122"/>
                          <a:cs typeface="Calibri" pitchFamily="34" charset="-120"/>
                        </a:rPr>
                        <a:t>Yes — trees provide food and shelter</a:t>
                      </a:r>
                      <a:endParaRPr lang="en-US" sz="9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r>
              <a:tr h="365760">
                <a:tc>
                  <a:txBody>
                    <a:bodyPr/>
                    <a:lstStyle/>
                    <a:p>
                      <a:pPr indent="0" marL="0">
                        <a:buNone/>
                      </a:pPr>
                      <a:r>
                        <a:rPr lang="en-US" sz="950" dirty="0">
                          <a:solidFill>
                            <a:srgbClr val="2B1D12"/>
                          </a:solidFill>
                          <a:latin typeface="Calibri" pitchFamily="34" charset="0"/>
                          <a:ea typeface="Calibri" pitchFamily="34" charset="-122"/>
                          <a:cs typeface="Calibri" pitchFamily="34" charset="-120"/>
                        </a:rPr>
                        <a:t>Improves air quality</a:t>
                      </a:r>
                      <a:endParaRPr lang="en-US" sz="9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950" dirty="0">
                          <a:solidFill>
                            <a:srgbClr val="2B1D12"/>
                          </a:solidFill>
                          <a:latin typeface="Calibri" pitchFamily="34" charset="0"/>
                          <a:ea typeface="Calibri" pitchFamily="34" charset="-122"/>
                          <a:cs typeface="Calibri" pitchFamily="34" charset="-120"/>
                        </a:rPr>
                        <a:t>A little — fewer things burned</a:t>
                      </a:r>
                      <a:endParaRPr lang="en-US" sz="9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950" dirty="0">
                          <a:solidFill>
                            <a:srgbClr val="2B1D12"/>
                          </a:solidFill>
                          <a:latin typeface="Calibri" pitchFamily="34" charset="0"/>
                          <a:ea typeface="Calibri" pitchFamily="34" charset="-122"/>
                          <a:cs typeface="Calibri" pitchFamily="34" charset="-120"/>
                        </a:rPr>
                        <a:t>Yes — trees clean the air</a:t>
                      </a:r>
                      <a:endParaRPr lang="en-US" sz="9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r>
              <a:tr h="365760">
                <a:tc>
                  <a:txBody>
                    <a:bodyPr/>
                    <a:lstStyle/>
                    <a:p>
                      <a:pPr indent="0" marL="0">
                        <a:buNone/>
                      </a:pPr>
                      <a:r>
                        <a:rPr lang="en-US" sz="950" dirty="0">
                          <a:solidFill>
                            <a:srgbClr val="2B1D12"/>
                          </a:solidFill>
                          <a:latin typeface="Calibri" pitchFamily="34" charset="0"/>
                          <a:ea typeface="Calibri" pitchFamily="34" charset="-122"/>
                          <a:cs typeface="Calibri" pitchFamily="34" charset="-120"/>
                        </a:rPr>
                        <a:t>Constraint: cost</a:t>
                      </a:r>
                      <a:endParaRPr lang="en-US" sz="9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950" dirty="0">
                          <a:solidFill>
                            <a:srgbClr val="2B1D12"/>
                          </a:solidFill>
                          <a:latin typeface="Calibri" pitchFamily="34" charset="0"/>
                          <a:ea typeface="Calibri" pitchFamily="34" charset="-122"/>
                          <a:cs typeface="Calibri" pitchFamily="34" charset="-120"/>
                        </a:rPr>
                        <a:t>Low — bins and signs</a:t>
                      </a:r>
                      <a:endParaRPr lang="en-US" sz="9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950" dirty="0">
                          <a:solidFill>
                            <a:srgbClr val="2B1D12"/>
                          </a:solidFill>
                          <a:latin typeface="Calibri" pitchFamily="34" charset="0"/>
                          <a:ea typeface="Calibri" pitchFamily="34" charset="-122"/>
                          <a:cs typeface="Calibri" pitchFamily="34" charset="-120"/>
                        </a:rPr>
                        <a:t>Medium — saplings, tools, volunteers</a:t>
                      </a:r>
                      <a:endParaRPr lang="en-US" sz="9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r>
              <a:tr h="365760">
                <a:tc>
                  <a:txBody>
                    <a:bodyPr/>
                    <a:lstStyle/>
                    <a:p>
                      <a:pPr indent="0" marL="0">
                        <a:buNone/>
                      </a:pPr>
                      <a:r>
                        <a:rPr lang="en-US" sz="950" dirty="0">
                          <a:solidFill>
                            <a:srgbClr val="2B1D12"/>
                          </a:solidFill>
                          <a:latin typeface="Calibri" pitchFamily="34" charset="0"/>
                          <a:ea typeface="Calibri" pitchFamily="34" charset="-122"/>
                          <a:cs typeface="Calibri" pitchFamily="34" charset="-120"/>
                        </a:rPr>
                        <a:t>Constraint: time to see results</a:t>
                      </a:r>
                      <a:endParaRPr lang="en-US" sz="9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950" dirty="0">
                          <a:solidFill>
                            <a:srgbClr val="2B1D12"/>
                          </a:solidFill>
                          <a:latin typeface="Calibri" pitchFamily="34" charset="0"/>
                          <a:ea typeface="Calibri" pitchFamily="34" charset="-122"/>
                          <a:cs typeface="Calibri" pitchFamily="34" charset="-120"/>
                        </a:rPr>
                        <a:t>Fast — works right away</a:t>
                      </a:r>
                      <a:endParaRPr lang="en-US" sz="9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c>
                  <a:txBody>
                    <a:bodyPr/>
                    <a:lstStyle/>
                    <a:p>
                      <a:pPr indent="0" marL="0">
                        <a:buNone/>
                      </a:pPr>
                      <a:r>
                        <a:rPr lang="en-US" sz="950" dirty="0">
                          <a:solidFill>
                            <a:srgbClr val="2B1D12"/>
                          </a:solidFill>
                          <a:latin typeface="Calibri" pitchFamily="34" charset="0"/>
                          <a:ea typeface="Calibri" pitchFamily="34" charset="-122"/>
                          <a:cs typeface="Calibri" pitchFamily="34" charset="-120"/>
                        </a:rPr>
                        <a:t>Slow — trees take years to grow</a:t>
                      </a:r>
                      <a:endParaRPr lang="en-US" sz="950" dirty="0">
                        <a:latin typeface="Calibri" charset="0"/>
                        <a:ea typeface="Calibri" charset="0"/>
                        <a:cs typeface="Calibri" charset="0"/>
                      </a:endParaRPr>
                    </a:p>
                  </a:txBody>
                  <a:tcPr marL="91440" marR="91440" marT="45720" marB="45720" anchor="ctr">
                    <a:lnL w="12700" cap="flat" cmpd="sng" algn="ctr">
                      <a:solidFill>
                        <a:srgbClr val="E8DDD2"/>
                      </a:solidFill>
                      <a:prstDash val="solid"/>
                      <a:round/>
                      <a:headEnd type="none" w="med" len="med"/>
                      <a:tailEnd type="none" w="med" len="med"/>
                    </a:lnL>
                    <a:lnR w="12700" cap="flat" cmpd="sng" algn="ctr">
                      <a:solidFill>
                        <a:srgbClr val="E8DDD2"/>
                      </a:solidFill>
                      <a:prstDash val="solid"/>
                      <a:round/>
                      <a:headEnd type="none" w="med" len="med"/>
                      <a:tailEnd type="none" w="med" len="med"/>
                    </a:lnR>
                    <a:lnT w="12700" cap="flat" cmpd="sng" algn="ctr">
                      <a:solidFill>
                        <a:srgbClr val="E8DDD2"/>
                      </a:solidFill>
                      <a:prstDash val="solid"/>
                      <a:round/>
                      <a:headEnd type="none" w="med" len="med"/>
                      <a:tailEnd type="none" w="med" len="med"/>
                    </a:lnT>
                    <a:lnB w="12700" cap="flat" cmpd="sng" algn="ctr">
                      <a:solidFill>
                        <a:srgbClr val="E8DDD2"/>
                      </a:solidFill>
                      <a:prstDash val="solid"/>
                      <a:round/>
                      <a:headEnd type="none" w="med" len="med"/>
                      <a:tailEnd type="none" w="med" len="med"/>
                    </a:lnB>
                  </a:tcPr>
                </a:tc>
              </a:tr>
            </a:tbl>
          </a:graphicData>
        </a:graphic>
      </p:graphicFrame>
      <p:sp>
        <p:nvSpPr>
          <p:cNvPr id="9" name="Text 6"/>
          <p:cNvSpPr/>
          <p:nvPr/>
        </p:nvSpPr>
        <p:spPr>
          <a:xfrm>
            <a:off x="320040" y="3840480"/>
            <a:ext cx="8503920" cy="457200"/>
          </a:xfrm>
          <a:prstGeom prst="rect">
            <a:avLst/>
          </a:prstGeom>
          <a:noFill/>
          <a:ln/>
        </p:spPr>
        <p:txBody>
          <a:bodyPr wrap="square" rtlCol="0" anchor="t"/>
          <a:lstStyle/>
          <a:p>
            <a:pPr indent="0" marL="0">
              <a:lnSpc>
                <a:spcPts val="2000"/>
              </a:lnSpc>
              <a:buNone/>
            </a:pPr>
            <a:r>
              <a:rPr lang="en-US" sz="1100" i="1" dirty="0">
                <a:solidFill>
                  <a:srgbClr val="2B1D12"/>
                </a:solidFill>
                <a:latin typeface="Calibri" pitchFamily="34" charset="0"/>
                <a:ea typeface="Calibri" pitchFamily="34" charset="-122"/>
                <a:cs typeface="Calibri" pitchFamily="34" charset="-120"/>
              </a:rPr>
              <a:t>Neither solution is "wrong." The best choice depends on the problem and constraints you're working with.</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TAP A ZONE TO LEARN MORE</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Four Categories of Conservation Practice</a:t>
            </a:r>
            <a:endParaRPr lang="en-US" sz="2100" dirty="0"/>
          </a:p>
        </p:txBody>
      </p:sp>
      <p:sp>
        <p:nvSpPr>
          <p:cNvPr id="7" name="Text 5"/>
          <p:cNvSpPr/>
          <p:nvPr/>
        </p:nvSpPr>
        <p:spPr>
          <a:xfrm>
            <a:off x="320040" y="1097280"/>
            <a:ext cx="8503920" cy="1188720"/>
          </a:xfrm>
          <a:prstGeom prst="rect">
            <a:avLst/>
          </a:prstGeom>
          <a:noFill/>
          <a:ln/>
        </p:spPr>
        <p:txBody>
          <a:bodyPr wrap="square" rtlCol="0" anchor="t"/>
          <a:lstStyle/>
          <a:p>
            <a:pPr indent="0" marL="0">
              <a:lnSpc>
                <a:spcPts val="2000"/>
              </a:lnSpc>
              <a:buNone/>
            </a:pPr>
            <a:r>
              <a:rPr lang="en-US" sz="1400" dirty="0">
                <a:solidFill>
                  <a:srgbClr val="2B1D12"/>
                </a:solidFill>
                <a:latin typeface="Calibri" pitchFamily="34" charset="0"/>
                <a:ea typeface="Calibri" pitchFamily="34" charset="-122"/>
                <a:cs typeface="Calibri" pitchFamily="34" charset="-120"/>
              </a:rPr>
              <a:t>The interactive shows four categories of conservation practice — each one reduces human impact on the natural world in a different way: reducing waste, conserving water, protecting habitats, and community stewardship.</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CONCEPT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Cause and Effect</a:t>
            </a:r>
            <a:endParaRPr lang="en-US" sz="2100" dirty="0"/>
          </a:p>
        </p:txBody>
      </p:sp>
      <p:sp>
        <p:nvSpPr>
          <p:cNvPr id="7" name="Shape 5"/>
          <p:cNvSpPr/>
          <p:nvPr/>
        </p:nvSpPr>
        <p:spPr>
          <a:xfrm>
            <a:off x="320040" y="1188720"/>
            <a:ext cx="8503920" cy="1097280"/>
          </a:xfrm>
          <a:prstGeom prst="roundRect">
            <a:avLst>
              <a:gd name="adj" fmla="val 6667"/>
            </a:avLst>
          </a:prstGeom>
          <a:solidFill>
            <a:srgbClr val="F0F8E8"/>
          </a:solidFill>
          <a:ln w="19050">
            <a:solidFill>
              <a:srgbClr val="C8E0B8"/>
            </a:solidFill>
            <a:prstDash val="solid"/>
          </a:ln>
        </p:spPr>
      </p:sp>
      <p:sp>
        <p:nvSpPr>
          <p:cNvPr id="8" name="Text 6"/>
          <p:cNvSpPr/>
          <p:nvPr/>
        </p:nvSpPr>
        <p:spPr>
          <a:xfrm>
            <a:off x="502920" y="126187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KEY CONCEPT</a:t>
            </a:r>
            <a:endParaRPr lang="en-US" sz="1100" dirty="0"/>
          </a:p>
        </p:txBody>
      </p:sp>
      <p:sp>
        <p:nvSpPr>
          <p:cNvPr id="9" name="Text 7"/>
          <p:cNvSpPr/>
          <p:nvPr/>
        </p:nvSpPr>
        <p:spPr>
          <a:xfrm>
            <a:off x="502920" y="1481328"/>
            <a:ext cx="8138160" cy="74980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Humans can take steps to reduce their impact on the environment. Recycling, conserving water, and protecting habitats are real solutions that make a measurable difference — but only if people actually put them into practice.</a:t>
            </a:r>
            <a:endParaRPr lang="en-US" sz="1400" dirty="0"/>
          </a:p>
        </p:txBody>
      </p:sp>
      <p:sp>
        <p:nvSpPr>
          <p:cNvPr id="10" name="Text 8"/>
          <p:cNvSpPr/>
          <p:nvPr/>
        </p:nvSpPr>
        <p:spPr>
          <a:xfrm>
            <a:off x="320040" y="2423160"/>
            <a:ext cx="8503920" cy="640080"/>
          </a:xfrm>
          <a:prstGeom prst="rect">
            <a:avLst/>
          </a:prstGeom>
          <a:noFill/>
          <a:ln/>
        </p:spPr>
        <p:txBody>
          <a:bodyPr wrap="square" rtlCol="0" anchor="t"/>
          <a:lstStyle/>
          <a:p>
            <a:pPr indent="0" marL="0">
              <a:lnSpc>
                <a:spcPts val="2000"/>
              </a:lnSpc>
              <a:buNone/>
            </a:pPr>
            <a:r>
              <a:rPr lang="en-US" sz="1200" i="1" dirty="0">
                <a:solidFill>
                  <a:srgbClr val="2B1D12"/>
                </a:solidFill>
                <a:latin typeface="Calibri" pitchFamily="34" charset="0"/>
                <a:ea typeface="Calibri" pitchFamily="34" charset="-122"/>
                <a:cs typeface="Calibri" pitchFamily="34" charset="-120"/>
              </a:rPr>
              <a:t>Cause and effect: when people reduce waste, landfills shrink. When water is conserved, streams stay fuller. When habitats are protected, wildlife populations recover.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AMAZING CONSERVATION FACT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One Ton of Paper</a:t>
            </a:r>
            <a:endParaRPr lang="en-US" sz="2100" dirty="0"/>
          </a:p>
        </p:txBody>
      </p:sp>
      <p:sp>
        <p:nvSpPr>
          <p:cNvPr id="7" name="Text 5"/>
          <p:cNvSpPr/>
          <p:nvPr/>
        </p:nvSpPr>
        <p:spPr>
          <a:xfrm>
            <a:off x="320040" y="1097280"/>
            <a:ext cx="8503920" cy="1188720"/>
          </a:xfrm>
          <a:prstGeom prst="rect">
            <a:avLst/>
          </a:prstGeom>
          <a:noFill/>
          <a:ln/>
        </p:spPr>
        <p:txBody>
          <a:bodyPr wrap="square" rtlCol="0" anchor="t"/>
          <a:lstStyle/>
          <a:p>
            <a:pPr indent="0" marL="0">
              <a:lnSpc>
                <a:spcPts val="2000"/>
              </a:lnSpc>
              <a:buNone/>
            </a:pPr>
            <a:r>
              <a:rPr lang="en-US" sz="1500" dirty="0">
                <a:solidFill>
                  <a:srgbClr val="2B1D12"/>
                </a:solidFill>
                <a:latin typeface="Calibri" pitchFamily="34" charset="0"/>
                <a:ea typeface="Calibri" pitchFamily="34" charset="-122"/>
                <a:cs typeface="Calibri" pitchFamily="34" charset="-120"/>
              </a:rPr>
              <a:t>Recycling one ton of paper saves 17 trees, 7,000 gallons of water, and enough energy to power a home for six months. That's from one trip to the recycling bin.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CURIOUS? GO DEEPER</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3 R's — And Why Order Matters</a:t>
            </a:r>
            <a:endParaRPr lang="en-US" sz="2100" dirty="0"/>
          </a:p>
        </p:txBody>
      </p:sp>
      <p:sp>
        <p:nvSpPr>
          <p:cNvPr id="7" name="Text 5"/>
          <p:cNvSpPr/>
          <p:nvPr/>
        </p:nvSpPr>
        <p:spPr>
          <a:xfrm>
            <a:off x="320040" y="1051560"/>
            <a:ext cx="8503920" cy="1920240"/>
          </a:xfrm>
          <a:prstGeom prst="rect">
            <a:avLst/>
          </a:prstGeom>
          <a:noFill/>
          <a:ln/>
        </p:spPr>
        <p:txBody>
          <a:bodyPr wrap="square" rtlCol="0" anchor="t"/>
          <a:lstStyle/>
          <a:p>
            <a:pPr indent="0" marL="0">
              <a:lnSpc>
                <a:spcPts val="2000"/>
              </a:lnSpc>
              <a:buNone/>
            </a:pPr>
            <a:r>
              <a:rPr lang="en-US" sz="1150" dirty="0">
                <a:solidFill>
                  <a:srgbClr val="2B1D12"/>
                </a:solidFill>
                <a:latin typeface="Calibri" pitchFamily="34" charset="0"/>
                <a:ea typeface="Calibri" pitchFamily="34" charset="-122"/>
                <a:cs typeface="Calibri" pitchFamily="34" charset="-120"/>
              </a:rPr>
              <a:t>You've heard "Reduce, Reuse, Recycle" — the order is intentional. Reducing is more powerful than recycling because using less means fewer resources are needed in the first place. Reusing keeps a product in use without creating new waste. Recycling still uses energy and water. In a circular economy, waste from one process becomes raw material for another — almost nothing gets thrown "away." This is how nature already works: leaves fall, decompose, and become soil.</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Conservation Action List (1–6)</a:t>
            </a:r>
            <a:endParaRPr lang="en-US" sz="2100" dirty="0"/>
          </a:p>
        </p:txBody>
      </p:sp>
      <p:sp>
        <p:nvSpPr>
          <p:cNvPr id="7" name="Text 5"/>
          <p:cNvSpPr/>
          <p:nvPr/>
        </p:nvSpPr>
        <p:spPr>
          <a:xfrm>
            <a:off x="320040" y="1005840"/>
            <a:ext cx="8503920" cy="411480"/>
          </a:xfrm>
          <a:prstGeom prst="rect">
            <a:avLst/>
          </a:prstGeom>
          <a:noFill/>
          <a:ln/>
        </p:spPr>
        <p:txBody>
          <a:bodyPr wrap="square" rtlCol="0" anchor="t"/>
          <a:lstStyle/>
          <a:p>
            <a:pPr indent="0" marL="0">
              <a:lnSpc>
                <a:spcPts val="2000"/>
              </a:lnSpc>
              <a:buNone/>
            </a:pPr>
            <a:r>
              <a:rPr lang="en-US" sz="1200" dirty="0">
                <a:solidFill>
                  <a:srgbClr val="2B1D12"/>
                </a:solidFill>
                <a:latin typeface="Calibri" pitchFamily="34" charset="0"/>
                <a:ea typeface="Calibri" pitchFamily="34" charset="-122"/>
                <a:cs typeface="Calibri" pitchFamily="34" charset="-120"/>
              </a:rPr>
              <a:t>Sort, rate, and plan. Below is a list of 12 real conservation actions.</a:t>
            </a:r>
            <a:endParaRPr lang="en-US" sz="1200" dirty="0"/>
          </a:p>
        </p:txBody>
      </p:sp>
      <p:sp>
        <p:nvSpPr>
          <p:cNvPr id="8" name="Text 6"/>
          <p:cNvSpPr/>
          <p:nvPr/>
        </p:nvSpPr>
        <p:spPr>
          <a:xfrm>
            <a:off x="320040" y="1508760"/>
            <a:ext cx="8503920" cy="2194560"/>
          </a:xfrm>
          <a:prstGeom prst="rect">
            <a:avLst/>
          </a:prstGeom>
          <a:noFill/>
          <a:ln/>
        </p:spPr>
        <p:txBody>
          <a:bodyPr wrap="square" rtlCol="0" anchor="t"/>
          <a:lstStyle/>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1. Turn off lights when leaving a room</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2. Recycle paper and plastic at home</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3. Take shorter showers</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4. Plant native flowers in a yard</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5. Bring a reusable bag to the store</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6. Fix a leaky faucet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Conservation Action List (7–12)</a:t>
            </a:r>
            <a:endParaRPr lang="en-US" sz="2100" dirty="0"/>
          </a:p>
        </p:txBody>
      </p:sp>
      <p:sp>
        <p:nvSpPr>
          <p:cNvPr id="7" name="Text 5"/>
          <p:cNvSpPr/>
          <p:nvPr/>
        </p:nvSpPr>
        <p:spPr>
          <a:xfrm>
            <a:off x="320040" y="1051560"/>
            <a:ext cx="8503920" cy="2194560"/>
          </a:xfrm>
          <a:prstGeom prst="rect">
            <a:avLst/>
          </a:prstGeom>
          <a:noFill/>
          <a:ln/>
        </p:spPr>
        <p:txBody>
          <a:bodyPr wrap="square" rtlCol="0" anchor="t"/>
          <a:lstStyle/>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7. Leave a wild area of a yard unmowed</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8. Compost food scraps instead of trashing them</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9. Only run the dishwasher when it's full</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10. Volunteer to clean up a stream or trail</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11. Choose products with less packaging</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12. Install a rain barrel to collect water</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SORT, RATE, PICK, PLAN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Four Steps to Work Through</a:t>
            </a:r>
            <a:endParaRPr lang="en-US" sz="2100" dirty="0"/>
          </a:p>
        </p:txBody>
      </p:sp>
      <p:sp>
        <p:nvSpPr>
          <p:cNvPr id="7" name="Text 5"/>
          <p:cNvSpPr/>
          <p:nvPr/>
        </p:nvSpPr>
        <p:spPr>
          <a:xfrm>
            <a:off x="320040" y="1051560"/>
            <a:ext cx="8503920" cy="2560320"/>
          </a:xfrm>
          <a:prstGeom prst="rect">
            <a:avLst/>
          </a:prstGeom>
          <a:noFill/>
          <a:ln/>
        </p:spPr>
        <p:txBody>
          <a:bodyPr wrap="square" rtlCol="0" anchor="t"/>
          <a:lstStyle/>
          <a:p>
            <a:pPr marL="342900" indent="-342900">
              <a:lnSpc>
                <a:spcPts val="2100"/>
              </a:lnSpc>
              <a:buSzPct val="100000"/>
              <a:buChar char="•"/>
            </a:pPr>
            <a:r>
              <a:rPr lang="en-US" sz="1150" dirty="0">
                <a:solidFill>
                  <a:srgbClr val="2B1D12"/>
                </a:solidFill>
                <a:latin typeface="Calibri" pitchFamily="34" charset="0"/>
                <a:ea typeface="Calibri" pitchFamily="34" charset="-122"/>
                <a:cs typeface="Calibri" pitchFamily="34" charset="-120"/>
              </a:rPr>
              <a:t>Sort the Actions: Draw three columns — Reduce Waste, Save Water, Protect Habitat. Write each action under the column that fits best.</a:t>
            </a:r>
            <a:endParaRPr lang="en-US" sz="1150" dirty="0"/>
          </a:p>
          <a:p>
            <a:pPr marL="342900" indent="-342900">
              <a:lnSpc>
                <a:spcPts val="2100"/>
              </a:lnSpc>
              <a:buSzPct val="100000"/>
              <a:buChar char="•"/>
            </a:pPr>
            <a:r>
              <a:rPr lang="en-US" sz="1150" dirty="0">
                <a:solidFill>
                  <a:srgbClr val="2B1D12"/>
                </a:solidFill>
                <a:latin typeface="Calibri" pitchFamily="34" charset="0"/>
                <a:ea typeface="Calibri" pitchFamily="34" charset="-122"/>
                <a:cs typeface="Calibri" pitchFamily="34" charset="-120"/>
              </a:rPr>
              <a:t>Rate the Impact: Rate each action 1-3 stars (1 = one person, 2 = a neighborhood, 3 = an ecosystem or whole community).</a:t>
            </a:r>
            <a:endParaRPr lang="en-US" sz="1150" dirty="0"/>
          </a:p>
          <a:p>
            <a:pPr marL="342900" indent="-342900">
              <a:lnSpc>
                <a:spcPts val="2100"/>
              </a:lnSpc>
              <a:buSzPct val="100000"/>
              <a:buChar char="•"/>
            </a:pPr>
            <a:r>
              <a:rPr lang="en-US" sz="1150" dirty="0">
                <a:solidFill>
                  <a:srgbClr val="2B1D12"/>
                </a:solidFill>
                <a:latin typeface="Calibri" pitchFamily="34" charset="0"/>
                <a:ea typeface="Calibri" pitchFamily="34" charset="-122"/>
                <a:cs typeface="Calibri" pitchFamily="34" charset="-120"/>
              </a:rPr>
              <a:t>Pick Your Best Action: Choose the action that would make the biggest difference in your community. Explain your choice.</a:t>
            </a:r>
            <a:endParaRPr lang="en-US" sz="1150" dirty="0"/>
          </a:p>
          <a:p>
            <a:pPr marL="342900" indent="-342900">
              <a:lnSpc>
                <a:spcPts val="2100"/>
              </a:lnSpc>
              <a:buSzPct val="100000"/>
              <a:buChar char="•"/>
            </a:pPr>
            <a:r>
              <a:rPr lang="en-US" sz="1150" dirty="0">
                <a:solidFill>
                  <a:srgbClr val="2B1D12"/>
                </a:solidFill>
                <a:latin typeface="Calibri" pitchFamily="34" charset="0"/>
                <a:ea typeface="Calibri" pitchFamily="34" charset="-122"/>
                <a:cs typeface="Calibri" pitchFamily="34" charset="-120"/>
              </a:rPr>
              <a:t>Make a Mini Plan: In 3-5 sentences, write what you'd do, who would help, and what would change. Use two vocabulary words.</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COPY THIS CHART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Conservation Action Sort</a:t>
            </a:r>
            <a:endParaRPr lang="en-US" sz="2100" dirty="0"/>
          </a:p>
        </p:txBody>
      </p:sp>
      <p:sp>
        <p:nvSpPr>
          <p:cNvPr id="7" name="Shape 5"/>
          <p:cNvSpPr/>
          <p:nvPr/>
        </p:nvSpPr>
        <p:spPr>
          <a:xfrm>
            <a:off x="320040" y="1097280"/>
            <a:ext cx="8503920" cy="640080"/>
          </a:xfrm>
          <a:prstGeom prst="roundRect">
            <a:avLst>
              <a:gd name="adj" fmla="val 11429"/>
            </a:avLst>
          </a:prstGeom>
          <a:solidFill>
            <a:srgbClr val="FFF3E0"/>
          </a:solidFill>
          <a:ln w="19050">
            <a:solidFill>
              <a:srgbClr val="F57C00"/>
            </a:solidFill>
            <a:prstDash val="solid"/>
          </a:ln>
        </p:spPr>
      </p:sp>
      <p:sp>
        <p:nvSpPr>
          <p:cNvPr id="8" name="Text 6"/>
          <p:cNvSpPr/>
          <p:nvPr/>
        </p:nvSpPr>
        <p:spPr>
          <a:xfrm>
            <a:off x="502920" y="1234440"/>
            <a:ext cx="8138160" cy="411480"/>
          </a:xfrm>
          <a:prstGeom prst="rect">
            <a:avLst/>
          </a:prstGeom>
          <a:noFill/>
          <a:ln/>
        </p:spPr>
        <p:txBody>
          <a:bodyPr wrap="square" rtlCol="0" anchor="ctr"/>
          <a:lstStyle/>
          <a:p>
            <a:pPr indent="0" marL="0">
              <a:buNone/>
            </a:pPr>
            <a:r>
              <a:rPr lang="en-US" sz="1200" b="1" dirty="0">
                <a:solidFill>
                  <a:srgbClr val="3A2410"/>
                </a:solidFill>
                <a:latin typeface="Calibri" pitchFamily="34" charset="0"/>
                <a:ea typeface="Calibri" pitchFamily="34" charset="-122"/>
                <a:cs typeface="Calibri" pitchFamily="34" charset="-120"/>
              </a:rPr>
              <a:t>COPY: Conservation Action | Category | ⭐ Impact Rating (1–3) — one row for each of the 12 actions</a:t>
            </a:r>
            <a:endParaRPr lang="en-US" sz="1200" dirty="0"/>
          </a:p>
        </p:txBody>
      </p:sp>
      <p:sp>
        <p:nvSpPr>
          <p:cNvPr id="9" name="Shape 7"/>
          <p:cNvSpPr/>
          <p:nvPr/>
        </p:nvSpPr>
        <p:spPr>
          <a:xfrm>
            <a:off x="320040" y="1874520"/>
            <a:ext cx="8503920" cy="1086485"/>
          </a:xfrm>
          <a:prstGeom prst="roundRect">
            <a:avLst>
              <a:gd name="adj" fmla="val 6733"/>
            </a:avLst>
          </a:prstGeom>
          <a:solidFill>
            <a:srgbClr val="EEF8F0"/>
          </a:solidFill>
          <a:ln w="19050">
            <a:solidFill>
              <a:srgbClr val="52B788"/>
            </a:solidFill>
            <a:prstDash val="solid"/>
          </a:ln>
        </p:spPr>
      </p:sp>
      <p:sp>
        <p:nvSpPr>
          <p:cNvPr id="10" name="Text 8"/>
          <p:cNvSpPr/>
          <p:nvPr/>
        </p:nvSpPr>
        <p:spPr>
          <a:xfrm>
            <a:off x="502920" y="194767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1" name="Text 9"/>
          <p:cNvSpPr/>
          <p:nvPr/>
        </p:nvSpPr>
        <p:spPr>
          <a:xfrm>
            <a:off x="502920" y="220370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Two actions might both protect water — but one might protect more water, or protect it in a more lasting way. How do you decide which one matters more? What would you need to know?</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RECORD YOUR THINKING</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Organize and Explain Your Reasoning</a:t>
            </a:r>
            <a:endParaRPr lang="en-US" sz="2100" dirty="0"/>
          </a:p>
        </p:txBody>
      </p:sp>
      <p:sp>
        <p:nvSpPr>
          <p:cNvPr id="7" name="Text 5"/>
          <p:cNvSpPr/>
          <p:nvPr/>
        </p:nvSpPr>
        <p:spPr>
          <a:xfrm>
            <a:off x="320040" y="1051560"/>
            <a:ext cx="8503920" cy="2560320"/>
          </a:xfrm>
          <a:prstGeom prst="rect">
            <a:avLst/>
          </a:prstGeom>
          <a:noFill/>
          <a:ln/>
        </p:spPr>
        <p:txBody>
          <a:bodyPr wrap="square" rtlCol="0" anchor="t"/>
          <a:lstStyle/>
          <a:p>
            <a:pPr marL="342900" indent="-342900">
              <a:lnSpc>
                <a:spcPts val="2100"/>
              </a:lnSpc>
              <a:buSzPct val="100000"/>
              <a:buChar char="•"/>
            </a:pPr>
            <a:r>
              <a:rPr lang="en-US" sz="1150" dirty="0">
                <a:solidFill>
                  <a:srgbClr val="2B1D12"/>
                </a:solidFill>
                <a:latin typeface="Calibri" pitchFamily="34" charset="0"/>
                <a:ea typeface="Calibri" pitchFamily="34" charset="-122"/>
                <a:cs typeface="Calibri" pitchFamily="34" charset="-120"/>
              </a:rPr>
              <a:t>Did any of the 12 actions surprise you — harder to categorize, or bigger/smaller impact than expected? Explain.</a:t>
            </a:r>
            <a:endParaRPr lang="en-US" sz="1150" dirty="0"/>
          </a:p>
          <a:p>
            <a:pPr marL="342900" indent="-342900">
              <a:lnSpc>
                <a:spcPts val="2100"/>
              </a:lnSpc>
              <a:buSzPct val="100000"/>
              <a:buChar char="•"/>
            </a:pPr>
            <a:r>
              <a:rPr lang="en-US" sz="1150" dirty="0">
                <a:solidFill>
                  <a:srgbClr val="2B1D12"/>
                </a:solidFill>
                <a:latin typeface="Calibri" pitchFamily="34" charset="0"/>
                <a:ea typeface="Calibri" pitchFamily="34" charset="-122"/>
                <a:cs typeface="Calibri" pitchFamily="34" charset="-120"/>
              </a:rPr>
              <a:t>Which category had the most actions? Why do you think that is?</a:t>
            </a:r>
            <a:endParaRPr lang="en-US" sz="1150" dirty="0"/>
          </a:p>
          <a:p>
            <a:pPr marL="342900" indent="-342900">
              <a:lnSpc>
                <a:spcPts val="2100"/>
              </a:lnSpc>
              <a:buSzPct val="100000"/>
              <a:buChar char="•"/>
            </a:pPr>
            <a:r>
              <a:rPr lang="en-US" sz="1150" dirty="0">
                <a:solidFill>
                  <a:srgbClr val="2B1D12"/>
                </a:solidFill>
                <a:latin typeface="Calibri" pitchFamily="34" charset="0"/>
                <a:ea typeface="Calibri" pitchFamily="34" charset="-122"/>
                <a:cs typeface="Calibri" pitchFamily="34" charset="-120"/>
              </a:rPr>
              <a:t>Draw a simple diagram showing one conservation action and its effect. Label at least 3 parts: the action, the resource it protects, and one animal or plant that benefits.</a:t>
            </a:r>
            <a:endParaRPr lang="en-US" sz="1150" dirty="0"/>
          </a:p>
          <a:p>
            <a:pPr marL="342900" indent="-342900">
              <a:lnSpc>
                <a:spcPts val="2100"/>
              </a:lnSpc>
              <a:buSzPct val="100000"/>
              <a:buChar char="•"/>
            </a:pPr>
            <a:r>
              <a:rPr lang="en-US" sz="1150" dirty="0">
                <a:solidFill>
                  <a:srgbClr val="2B1D12"/>
                </a:solidFill>
                <a:latin typeface="Calibri" pitchFamily="34" charset="0"/>
                <a:ea typeface="Calibri" pitchFamily="34" charset="-122"/>
                <a:cs typeface="Calibri" pitchFamily="34" charset="-120"/>
              </a:rPr>
              <a:t>Tell the story of your investigation from start to finish — what you sorted, what you found, and what you decided to plan.</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 · THINK IT THROUGH</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Through Each Question On Your Own</a:t>
            </a:r>
            <a:endParaRPr lang="en-US" sz="2100" dirty="0"/>
          </a:p>
        </p:txBody>
      </p:sp>
      <p:sp>
        <p:nvSpPr>
          <p:cNvPr id="7" name="Text 5"/>
          <p:cNvSpPr/>
          <p:nvPr/>
        </p:nvSpPr>
        <p:spPr>
          <a:xfrm>
            <a:off x="320040" y="1051560"/>
            <a:ext cx="8503920" cy="2560320"/>
          </a:xfrm>
          <a:prstGeom prst="rect">
            <a:avLst/>
          </a:prstGeom>
          <a:noFill/>
          <a:ln/>
        </p:spPr>
        <p:txBody>
          <a:bodyPr wrap="square" rtlCol="0" anchor="t"/>
          <a:lstStyle/>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Which action in your top category is easiest for most families to do right now — and which would be hardest? Why?</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You gave one action a 3-star rating. What evidence do you have that it really makes a big difference?</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If a community stopped all habitat protection efforts for 10 years, what would happen to the animals and plants that live there?</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If you could add a 13th action to the list, what would it be and why?</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Does Conservation Mean?</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What does the word conservation mean?</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Throwing old materials into a landfill</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Protecting natural resources so they aren't used up or destroyed</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Burning waste to reduce how much goes to the dump</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back to the vocab cards. Conservation is about protecting resources, not getting rid of them.</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Does Conservation Mean?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Conservation means taking care of resources — land, water, wildlife — so they last for future generations.</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Fixing a Leaky Fountain</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community fixes a leaky pipe in a park fountain. What type of conservation practice is this?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Habitat protection</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Reduce waste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Water conservation</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A leaky pipe is about water being wasted. Which conservation category is about using water carefully?</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Fixing a Leaky Fountain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C — Fixing a leak stops water from being wasted; that's water conservation in action. Small fixes add up to a lot of water saved over time.</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Native Wildflowers &amp; Unmowed Yard</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family plants native wildflowers along the edge of their yard and leaves a section unmowed. Which conservation practice does this best represent?</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Habitat protection</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Recycling</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Water conservation</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This is about giving animals a place to live. Which conservation category protects the homes of wildlife?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Native Wildflowers &amp; Unmowed Yard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A — Native plants and unmowed areas give insects, birds, and small animals food and shelter — that's habitat protection at the neighborhood level.</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Classify and Identify</a:t>
            </a:r>
            <a:endParaRPr lang="en-US" sz="2100" dirty="0"/>
          </a:p>
        </p:txBody>
      </p:sp>
      <p:sp>
        <p:nvSpPr>
          <p:cNvPr id="7" name="Text 5"/>
          <p:cNvSpPr/>
          <p:nvPr/>
        </p:nvSpPr>
        <p:spPr>
          <a:xfrm>
            <a:off x="320040" y="1051560"/>
            <a:ext cx="8503920" cy="182880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Use your completed sort chart to answer in your notebook: 1) Name one Reduce Waste action and explain how it reduces human impact. 2) Name one Save Water action and explain who or what benefits. 3) Name one Protect Habitat action and name a specific animal or plant that benefits and how.</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B &amp; WRITE AND EXPLAIN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Short Answer + Make Your Claim</a:t>
            </a:r>
            <a:endParaRPr lang="en-US" sz="2100" dirty="0"/>
          </a:p>
        </p:txBody>
      </p:sp>
      <p:sp>
        <p:nvSpPr>
          <p:cNvPr id="7" name="Text 5"/>
          <p:cNvSpPr/>
          <p:nvPr/>
        </p:nvSpPr>
        <p:spPr>
          <a:xfrm>
            <a:off x="320040" y="1051560"/>
            <a:ext cx="8503920" cy="1188720"/>
          </a:xfrm>
          <a:prstGeom prst="rect">
            <a:avLst/>
          </a:prstGeom>
          <a:noFill/>
          <a:ln/>
        </p:spPr>
        <p:txBody>
          <a:bodyPr wrap="square" rtlCol="0" anchor="t"/>
          <a:lstStyle/>
          <a:p>
            <a:pPr indent="0" marL="0">
              <a:lnSpc>
                <a:spcPts val="2000"/>
              </a:lnSpc>
              <a:buNone/>
            </a:pPr>
            <a:r>
              <a:rPr lang="en-US" sz="1100" dirty="0">
                <a:solidFill>
                  <a:srgbClr val="2B1D12"/>
                </a:solidFill>
                <a:latin typeface="Calibri" pitchFamily="34" charset="0"/>
                <a:ea typeface="Calibri" pitchFamily="34" charset="-122"/>
                <a:cs typeface="Calibri" pitchFamily="34" charset="-120"/>
              </a:rPr>
              <a:t>Part B (complete sentences): 1) What's the difference between reducing and recycling? Why is reducing more powerful? 2) Why is habitat protection important for animals? 3) Explain your star rating for your best conservation action — what makes it high-impact?</a:t>
            </a:r>
            <a:endParaRPr lang="en-US" sz="1100" dirty="0"/>
          </a:p>
        </p:txBody>
      </p:sp>
      <p:sp>
        <p:nvSpPr>
          <p:cNvPr id="8" name="Shape 6"/>
          <p:cNvSpPr/>
          <p:nvPr/>
        </p:nvSpPr>
        <p:spPr>
          <a:xfrm>
            <a:off x="320040" y="2331720"/>
            <a:ext cx="8503920" cy="1234440"/>
          </a:xfrm>
          <a:prstGeom prst="roundRect">
            <a:avLst>
              <a:gd name="adj" fmla="val 5926"/>
            </a:avLst>
          </a:prstGeom>
          <a:solidFill>
            <a:srgbClr val="F3EEFB"/>
          </a:solidFill>
          <a:ln w="19050">
            <a:solidFill>
              <a:srgbClr val="7B5EA7"/>
            </a:solidFill>
            <a:prstDash val="solid"/>
          </a:ln>
        </p:spPr>
      </p:sp>
      <p:sp>
        <p:nvSpPr>
          <p:cNvPr id="9" name="Text 7"/>
          <p:cNvSpPr/>
          <p:nvPr/>
        </p:nvSpPr>
        <p:spPr>
          <a:xfrm>
            <a:off x="502920" y="2423160"/>
            <a:ext cx="8138160" cy="365760"/>
          </a:xfrm>
          <a:prstGeom prst="rect">
            <a:avLst/>
          </a:prstGeom>
          <a:noFill/>
          <a:ln/>
        </p:spPr>
        <p:txBody>
          <a:bodyPr wrap="square" rtlCol="0" anchor="ctr"/>
          <a:lstStyle/>
          <a:p>
            <a:pPr indent="0" marL="0">
              <a:buNone/>
            </a:pPr>
            <a:r>
              <a:rPr lang="en-US" sz="1100" b="1" dirty="0">
                <a:solidFill>
                  <a:srgbClr val="3A2B5C"/>
                </a:solidFill>
                <a:latin typeface="Calibri" pitchFamily="34" charset="0"/>
                <a:ea typeface="Calibri" pitchFamily="34" charset="-122"/>
                <a:cs typeface="Calibri" pitchFamily="34" charset="-120"/>
              </a:rPr>
              <a:t>WRITE &amp; EXPLAIN — Make a claim: does your chosen conservation action really reduce human impact on the environment? Use what you observed today to support your thinking.</a:t>
            </a:r>
            <a:endParaRPr lang="en-US" sz="1100" dirty="0"/>
          </a:p>
        </p:txBody>
      </p:sp>
      <p:sp>
        <p:nvSpPr>
          <p:cNvPr id="10" name="Text 8"/>
          <p:cNvSpPr/>
          <p:nvPr/>
        </p:nvSpPr>
        <p:spPr>
          <a:xfrm>
            <a:off x="502920" y="2807208"/>
            <a:ext cx="8138160" cy="685800"/>
          </a:xfrm>
          <a:prstGeom prst="rect">
            <a:avLst/>
          </a:prstGeom>
          <a:noFill/>
          <a:ln/>
        </p:spPr>
        <p:txBody>
          <a:bodyPr wrap="square" rtlCol="0" anchor="t"/>
          <a:lstStyle/>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Start with: "I think that [your chosen action] helps the environment because…"</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Then: "I know this because during the sort activity, I noticed that…"</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Finish with: "This makes sense because when humans [action], the result is that…"</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CANVAS SUBMISSION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to Turn In</a:t>
            </a:r>
            <a:endParaRPr lang="en-US" sz="2100" dirty="0"/>
          </a:p>
        </p:txBody>
      </p:sp>
      <p:sp>
        <p:nvSpPr>
          <p:cNvPr id="7" name="Shape 5"/>
          <p:cNvSpPr/>
          <p:nvPr/>
        </p:nvSpPr>
        <p:spPr>
          <a:xfrm>
            <a:off x="320040" y="1097280"/>
            <a:ext cx="8503920" cy="1371600"/>
          </a:xfrm>
          <a:prstGeom prst="roundRect">
            <a:avLst>
              <a:gd name="adj" fmla="val 5333"/>
            </a:avLst>
          </a:prstGeom>
          <a:solidFill>
            <a:srgbClr val="EEF8F0"/>
          </a:solidFill>
          <a:ln w="19050">
            <a:solidFill>
              <a:srgbClr val="52B788"/>
            </a:solidFill>
            <a:prstDash val="solid"/>
          </a:ln>
        </p:spPr>
      </p:sp>
      <p:sp>
        <p:nvSpPr>
          <p:cNvPr id="8" name="Text 6"/>
          <p:cNvSpPr/>
          <p:nvPr/>
        </p:nvSpPr>
        <p:spPr>
          <a:xfrm>
            <a:off x="502920" y="1207008"/>
            <a:ext cx="8138160" cy="256032"/>
          </a:xfrm>
          <a:prstGeom prst="rect">
            <a:avLst/>
          </a:prstGeom>
          <a:noFill/>
          <a:ln/>
        </p:spPr>
        <p:txBody>
          <a:bodyPr wrap="square" rtlCol="0" anchor="ctr"/>
          <a:lstStyle/>
          <a:p>
            <a:pPr indent="0" marL="0">
              <a:buNone/>
            </a:pPr>
            <a:r>
              <a:rPr lang="en-US" sz="1200" b="1" dirty="0">
                <a:solidFill>
                  <a:srgbClr val="1B4332"/>
                </a:solidFill>
                <a:latin typeface="Calibri" pitchFamily="34" charset="0"/>
                <a:ea typeface="Calibri" pitchFamily="34" charset="-122"/>
                <a:cs typeface="Calibri" pitchFamily="34" charset="-120"/>
              </a:rPr>
              <a:t>SUBMIT ON CANVAS — must include:</a:t>
            </a:r>
            <a:endParaRPr lang="en-US" sz="1200" dirty="0"/>
          </a:p>
        </p:txBody>
      </p:sp>
      <p:sp>
        <p:nvSpPr>
          <p:cNvPr id="9" name="Text 7"/>
          <p:cNvSpPr/>
          <p:nvPr/>
        </p:nvSpPr>
        <p:spPr>
          <a:xfrm>
            <a:off x="502920" y="1508760"/>
            <a:ext cx="8138160" cy="914400"/>
          </a:xfrm>
          <a:prstGeom prst="rect">
            <a:avLst/>
          </a:prstGeom>
          <a:noFill/>
          <a:ln/>
        </p:spPr>
        <p:txBody>
          <a:bodyPr wrap="square" rtlCol="0" anchor="t"/>
          <a:lstStyle/>
          <a:p>
            <a:pPr marL="342900" indent="-342900">
              <a:lnSpc>
                <a:spcPts val="2000"/>
              </a:lnSpc>
              <a:buSzPct val="100000"/>
              <a:buChar char="•"/>
            </a:pPr>
            <a:r>
              <a:rPr lang="en-US" sz="1200" dirty="0">
                <a:solidFill>
                  <a:srgbClr val="1B4332"/>
                </a:solidFill>
                <a:latin typeface="Calibri" pitchFamily="34" charset="0"/>
                <a:ea typeface="Calibri" pitchFamily="34" charset="-122"/>
                <a:cs typeface="Calibri" pitchFamily="34" charset="-120"/>
              </a:rPr>
              <a:t>Sort chart — all 12 actions placed into a category with an impact rating</a:t>
            </a:r>
            <a:endParaRPr lang="en-US" sz="1200" dirty="0"/>
          </a:p>
          <a:p>
            <a:pPr marL="342900" indent="-342900">
              <a:lnSpc>
                <a:spcPts val="2000"/>
              </a:lnSpc>
              <a:buSzPct val="100000"/>
              <a:buChar char="•"/>
            </a:pPr>
            <a:r>
              <a:rPr lang="en-US" sz="1200" dirty="0">
                <a:solidFill>
                  <a:srgbClr val="1B4332"/>
                </a:solidFill>
                <a:latin typeface="Calibri" pitchFamily="34" charset="0"/>
                <a:ea typeface="Calibri" pitchFamily="34" charset="-122"/>
                <a:cs typeface="Calibri" pitchFamily="34" charset="-120"/>
              </a:rPr>
              <a:t>Write &amp; Explain response — all three prompts answered with science vocabulary</a:t>
            </a:r>
            <a:endParaRPr lang="en-US" sz="1200" dirty="0"/>
          </a:p>
          <a:p>
            <a:pPr marL="342900" indent="-342900">
              <a:lnSpc>
                <a:spcPts val="2000"/>
              </a:lnSpc>
              <a:buSzPct val="100000"/>
              <a:buChar char="•"/>
            </a:pPr>
            <a:r>
              <a:rPr lang="en-US" sz="1200" dirty="0">
                <a:solidFill>
                  <a:srgbClr val="1B4332"/>
                </a:solidFill>
                <a:latin typeface="Calibri" pitchFamily="34" charset="0"/>
                <a:ea typeface="Calibri" pitchFamily="34" charset="-122"/>
                <a:cs typeface="Calibri" pitchFamily="34" charset="-120"/>
              </a:rPr>
              <a:t>Notebook diagram, drawn and labeled with at least 3 parts</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645920"/>
            <a:ext cx="8229600" cy="822960"/>
          </a:xfrm>
          <a:prstGeom prst="rect">
            <a:avLst/>
          </a:prstGeom>
          <a:noFill/>
          <a:ln/>
        </p:spPr>
        <p:txBody>
          <a:bodyPr wrap="square" rtlCol="0" anchor="ctr"/>
          <a:lstStyle/>
          <a:p>
            <a:pPr indent="0" marL="0">
              <a:lnSpc>
                <a:spcPts val="3400"/>
              </a:lnSpc>
              <a:buNone/>
            </a:pPr>
            <a:r>
              <a:rPr lang="en-US" sz="2800" b="1" dirty="0">
                <a:solidFill>
                  <a:srgbClr val="FFFFFF"/>
                </a:solidFill>
                <a:latin typeface="Cambria" pitchFamily="34" charset="0"/>
                <a:ea typeface="Cambria" pitchFamily="34" charset="-122"/>
                <a:cs typeface="Cambria" pitchFamily="34" charset="-120"/>
              </a:rPr>
              <a:t>Great Work, Conservation Scientist!</a:t>
            </a:r>
            <a:endParaRPr lang="en-US" sz="2800" dirty="0"/>
          </a:p>
        </p:txBody>
      </p:sp>
      <p:sp>
        <p:nvSpPr>
          <p:cNvPr id="5" name="Text 3"/>
          <p:cNvSpPr/>
          <p:nvPr/>
        </p:nvSpPr>
        <p:spPr>
          <a:xfrm>
            <a:off x="457200" y="2651760"/>
            <a:ext cx="8229600" cy="548640"/>
          </a:xfrm>
          <a:prstGeom prst="rect">
            <a:avLst/>
          </a:prstGeom>
          <a:noFill/>
          <a:ln/>
        </p:spPr>
        <p:txBody>
          <a:bodyPr wrap="square" rtlCol="0" anchor="ctr"/>
          <a:lstStyle/>
          <a:p>
            <a:pPr indent="0" marL="0">
              <a:buNone/>
            </a:pPr>
            <a:r>
              <a:rPr lang="en-US" sz="1600" i="1" dirty="0">
                <a:solidFill>
                  <a:srgbClr val="FFCA28"/>
                </a:solidFill>
                <a:latin typeface="Calibri" pitchFamily="34" charset="0"/>
                <a:ea typeface="Calibri" pitchFamily="34" charset="-122"/>
                <a:cs typeface="Calibri" pitchFamily="34" charset="-120"/>
              </a:rPr>
              <a:t>You've completed Quarter 3 — Human Impact &amp; Conservation!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2026-07-13T17:45:26Z</dcterms:created>
  <dcterms:modified xsi:type="dcterms:W3CDTF">2026-07-13T17:45:26Z</dcterms:modified>
</cp:coreProperties>
</file>