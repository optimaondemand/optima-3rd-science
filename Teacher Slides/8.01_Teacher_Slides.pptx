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unit! Q2 Unit 4 — Life Cycles, Traits, &amp; Inheritance. Today: the plant life cycle, plant needs, and plant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kicks off the plant life cycle unit — the seed-to-tree contrast is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(life cycle stages) -&gt; Section 1, life cycle diagram, Self-Check Q1, Part C. I Can #2 (what plants need) -&gt; Section 2, Self-Check Q2, Write &amp; Explain, Part B Q5. I Can #3 (structures &amp; jobs) -&gt; Section 3, roots photo, Self-Check Q3, Part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doesn't have a real plant handy, a windowsill herb, garden plant, or a clear photo works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question is just as valuable as a right answer — scientists start with questions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say each word out loud before flipping the card, as the HTML instructs.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connects directly to Section 3 today — roots, stem, leaves,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sentence previews all three sections of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Think: why do scientists call it a 'cycle' instead of just a 'timeline'? What makes it different from a list of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garden observation photo from the Core Lesson video intro — the 'Plants Need' sign lists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connection: eating a carrot = eating a root, celery = stem, spinach = 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this together before moving to the Amazing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Botanists are scientists who study plants — they track life cycles across very different timescales, from a dandelion's few weeks to a saguaro cactus's 35 years before its first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Scientists don't just read about plants — they look at them closely, the way a botanist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Like a Scientist: what evidence tells you the stage? What would you look for to know if it could make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 students connect their own measurements (evidence) to a stage claim (conclusion). Same structure as the Write &amp; Explain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a great preview of tomorrow's data-comparison lesson (8.02).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I Can #1 and Section 1's germination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missed, flip back to the germination vocabulary card and the seed-germination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I Can #2 and Section 2's list of plant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what leaves specifically do with sunlight — Section 3's structures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I Can #3 and Section 3's structures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Leaves catch sunlight and flowers help reproduce — but only roots absorb water from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draw on their own Sketch and Label observation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in complete sentences using science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evidence-to-claim structure as Record Your Thinking. Have 1-2 students rehearse aloud: the tomato plant has leaves/stem/water/light but no flowers, so it's a young plant needing more time and continued sunlight/water to reach maturity and flower.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8.02 — students will analyze plant growth data and use evidence to explain why plants grow differently in different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How Do Plants Grow and Change?</a:t>
            </a:r>
            <a:endParaRPr lang="en-US" sz="2700" dirty="0"/>
          </a:p>
        </p:txBody>
      </p:sp>
      <p:sp>
        <p:nvSpPr>
          <p:cNvPr id="6" name="Text 4"/>
          <p:cNvSpPr/>
          <p:nvPr/>
        </p:nvSpPr>
        <p:spPr>
          <a:xfrm>
            <a:off x="457200" y="2606040"/>
            <a:ext cx="8229600" cy="365760"/>
          </a:xfrm>
          <a:prstGeom prst="rect">
            <a:avLst/>
          </a:prstGeom>
          <a:noFill/>
          <a:ln/>
        </p:spPr>
        <p:txBody>
          <a:bodyPr wrap="square" rtlCol="0" anchor="ctr"/>
          <a:lstStyle/>
          <a:p>
            <a:pPr algn="ctr" indent="0" marL="0">
              <a:buNone/>
            </a:pPr>
            <a:r>
              <a:rPr lang="en-US" sz="1300" dirty="0">
                <a:solidFill>
                  <a:srgbClr val="FFCA28"/>
                </a:solidFill>
                <a:latin typeface="Calibri" pitchFamily="34" charset="0"/>
                <a:ea typeface="Calibri" pitchFamily="34" charset="-122"/>
                <a:cs typeface="Calibri" pitchFamily="34" charset="-120"/>
              </a:rPr>
              <a:t>Lesson 8.01  ·  Week 8  ·  NGSS 3-LS1-1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457200" y="1371600"/>
            <a:ext cx="822960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731520" y="1508760"/>
            <a:ext cx="7680960" cy="1463040"/>
          </a:xfrm>
          <a:prstGeom prst="rect">
            <a:avLst/>
          </a:prstGeom>
          <a:noFill/>
          <a:ln/>
        </p:spPr>
        <p:txBody>
          <a:bodyPr wrap="square"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"A tiny seed smaller than your pinky nail can turn into a tree taller than your house. How does that happen — and what does a plant need along the way?"</a:t>
            </a:r>
            <a:endParaRPr lang="en-US" sz="1600" dirty="0"/>
          </a:p>
        </p:txBody>
      </p:sp>
      <p:sp>
        <p:nvSpPr>
          <p:cNvPr id="9" name="Text 7"/>
          <p:cNvSpPr/>
          <p:nvPr/>
        </p:nvSpPr>
        <p:spPr>
          <a:xfrm>
            <a:off x="731520" y="3246120"/>
            <a:ext cx="7680960" cy="457200"/>
          </a:xfrm>
          <a:prstGeom prst="rect">
            <a:avLst/>
          </a:prstGeom>
          <a:noFill/>
          <a:ln/>
        </p:spPr>
        <p:txBody>
          <a:bodyPr wrap="square" rtlCol="0" anchor="t"/>
          <a:lstStyle/>
          <a:p>
            <a:pPr algn="ctr" indent="0" marL="0">
              <a:buNone/>
            </a:pPr>
            <a:r>
              <a:rPr lang="en-US" sz="1250" dirty="0">
                <a:solidFill>
                  <a:srgbClr val="5A4D3E"/>
                </a:solidFill>
                <a:latin typeface="Calibri" pitchFamily="34" charset="0"/>
                <a:ea typeface="Calibri" pitchFamily="34" charset="-122"/>
                <a:cs typeface="Calibri" pitchFamily="34" charset="-120"/>
              </a:rPr>
              <a:t>Keep this question in mind. By the end, you'll be able to answer it with evidence.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097280"/>
            <a:ext cx="8229600" cy="914400"/>
          </a:xfrm>
          <a:prstGeom prst="roundRect">
            <a:avLst>
              <a:gd name="adj" fmla="val 8000"/>
            </a:avLst>
          </a:prstGeom>
          <a:solidFill>
            <a:srgbClr val="FFFFFF"/>
          </a:solidFill>
          <a:ln w="19050">
            <a:solidFill>
              <a:srgbClr val="E8DDD2"/>
            </a:solidFill>
            <a:prstDash val="solid"/>
          </a:ln>
        </p:spPr>
      </p:sp>
      <p:sp>
        <p:nvSpPr>
          <p:cNvPr id="8" name="Shape 6"/>
          <p:cNvSpPr/>
          <p:nvPr/>
        </p:nvSpPr>
        <p:spPr>
          <a:xfrm>
            <a:off x="640080" y="1353312"/>
            <a:ext cx="411480" cy="411480"/>
          </a:xfrm>
          <a:prstGeom prst="ellipse">
            <a:avLst/>
          </a:prstGeom>
          <a:solidFill>
            <a:srgbClr val="52B788"/>
          </a:solidFill>
          <a:ln/>
        </p:spPr>
      </p:sp>
      <p:sp>
        <p:nvSpPr>
          <p:cNvPr id="9" name="Text 7"/>
          <p:cNvSpPr/>
          <p:nvPr/>
        </p:nvSpPr>
        <p:spPr>
          <a:xfrm>
            <a:off x="640080" y="135331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170432"/>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describe the stages of a plant's life cycle from seed to mature plant.</a:t>
            </a:r>
            <a:endParaRPr lang="en-US" sz="1300" dirty="0"/>
          </a:p>
        </p:txBody>
      </p:sp>
      <p:sp>
        <p:nvSpPr>
          <p:cNvPr id="11" name="Shape 9"/>
          <p:cNvSpPr/>
          <p:nvPr/>
        </p:nvSpPr>
        <p:spPr>
          <a:xfrm>
            <a:off x="457200" y="2121408"/>
            <a:ext cx="8229600" cy="914400"/>
          </a:xfrm>
          <a:prstGeom prst="roundRect">
            <a:avLst>
              <a:gd name="adj" fmla="val 8000"/>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52B788"/>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194560"/>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explain what plants need to survive and grow.</a:t>
            </a:r>
            <a:endParaRPr lang="en-US" sz="1300" dirty="0"/>
          </a:p>
        </p:txBody>
      </p:sp>
      <p:sp>
        <p:nvSpPr>
          <p:cNvPr id="15" name="Shape 13"/>
          <p:cNvSpPr/>
          <p:nvPr/>
        </p:nvSpPr>
        <p:spPr>
          <a:xfrm>
            <a:off x="457200" y="3145536"/>
            <a:ext cx="8229600" cy="914400"/>
          </a:xfrm>
          <a:prstGeom prst="roundRect">
            <a:avLst>
              <a:gd name="adj" fmla="val 8000"/>
            </a:avLst>
          </a:prstGeom>
          <a:solidFill>
            <a:srgbClr val="FFFFFF"/>
          </a:solidFill>
          <a:ln w="19050">
            <a:solidFill>
              <a:srgbClr val="E8DDD2"/>
            </a:solidFill>
            <a:prstDash val="solid"/>
          </a:ln>
        </p:spPr>
      </p:sp>
      <p:sp>
        <p:nvSpPr>
          <p:cNvPr id="16" name="Shape 14"/>
          <p:cNvSpPr/>
          <p:nvPr/>
        </p:nvSpPr>
        <p:spPr>
          <a:xfrm>
            <a:off x="640080" y="3401568"/>
            <a:ext cx="411480" cy="411480"/>
          </a:xfrm>
          <a:prstGeom prst="ellipse">
            <a:avLst/>
          </a:prstGeom>
          <a:solidFill>
            <a:srgbClr val="52B788"/>
          </a:solidFill>
          <a:ln/>
        </p:spPr>
      </p:sp>
      <p:sp>
        <p:nvSpPr>
          <p:cNvPr id="17" name="Text 15"/>
          <p:cNvSpPr/>
          <p:nvPr/>
        </p:nvSpPr>
        <p:spPr>
          <a:xfrm>
            <a:off x="640080" y="3401568"/>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18688"/>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identify plant structures and explain what each one does.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097280"/>
            <a:ext cx="8046720" cy="530352"/>
          </a:xfrm>
          <a:prstGeom prst="roundRect">
            <a:avLst>
              <a:gd name="adj" fmla="val 13793"/>
            </a:avLst>
          </a:prstGeom>
          <a:solidFill>
            <a:srgbClr val="FFFFFF"/>
          </a:solidFill>
          <a:ln w="12700">
            <a:solidFill>
              <a:srgbClr val="E8DDD2"/>
            </a:solidFill>
            <a:prstDash val="solid"/>
          </a:ln>
        </p:spPr>
      </p:sp>
      <p:sp>
        <p:nvSpPr>
          <p:cNvPr id="8" name="Shape 6"/>
          <p:cNvSpPr/>
          <p:nvPr/>
        </p:nvSpPr>
        <p:spPr>
          <a:xfrm>
            <a:off x="777240" y="1271016"/>
            <a:ext cx="182880" cy="182880"/>
          </a:xfrm>
          <a:prstGeom prst="ellipse">
            <a:avLst/>
          </a:prstGeom>
          <a:solidFill>
            <a:srgbClr val="2D6A4F"/>
          </a:solidFill>
          <a:ln/>
        </p:spPr>
      </p:sp>
      <p:sp>
        <p:nvSpPr>
          <p:cNvPr id="9" name="Text 7"/>
          <p:cNvSpPr/>
          <p:nvPr/>
        </p:nvSpPr>
        <p:spPr>
          <a:xfrm>
            <a:off x="1143000" y="112471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Science notebook</a:t>
            </a:r>
            <a:endParaRPr lang="en-US" sz="1300" dirty="0"/>
          </a:p>
        </p:txBody>
      </p:sp>
      <p:sp>
        <p:nvSpPr>
          <p:cNvPr id="10" name="Shape 8"/>
          <p:cNvSpPr/>
          <p:nvPr/>
        </p:nvSpPr>
        <p:spPr>
          <a:xfrm>
            <a:off x="548640" y="1737360"/>
            <a:ext cx="8046720" cy="530352"/>
          </a:xfrm>
          <a:prstGeom prst="roundRect">
            <a:avLst>
              <a:gd name="adj" fmla="val 13793"/>
            </a:avLst>
          </a:prstGeom>
          <a:solidFill>
            <a:srgbClr val="FFFFFF"/>
          </a:solidFill>
          <a:ln w="12700">
            <a:solidFill>
              <a:srgbClr val="E8DDD2"/>
            </a:solidFill>
            <a:prstDash val="solid"/>
          </a:ln>
        </p:spPr>
      </p:sp>
      <p:sp>
        <p:nvSpPr>
          <p:cNvPr id="11" name="Shape 9"/>
          <p:cNvSpPr/>
          <p:nvPr/>
        </p:nvSpPr>
        <p:spPr>
          <a:xfrm>
            <a:off x="777240" y="1911096"/>
            <a:ext cx="182880" cy="182880"/>
          </a:xfrm>
          <a:prstGeom prst="ellipse">
            <a:avLst/>
          </a:prstGeom>
          <a:solidFill>
            <a:srgbClr val="2D6A4F"/>
          </a:solidFill>
          <a:ln/>
        </p:spPr>
      </p:sp>
      <p:sp>
        <p:nvSpPr>
          <p:cNvPr id="12" name="Text 10"/>
          <p:cNvSpPr/>
          <p:nvPr/>
        </p:nvSpPr>
        <p:spPr>
          <a:xfrm>
            <a:off x="1143000" y="176479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Pencil &amp; colored pencils</a:t>
            </a:r>
            <a:endParaRPr lang="en-US" sz="1300" dirty="0"/>
          </a:p>
        </p:txBody>
      </p:sp>
      <p:sp>
        <p:nvSpPr>
          <p:cNvPr id="13" name="Shape 11"/>
          <p:cNvSpPr/>
          <p:nvPr/>
        </p:nvSpPr>
        <p:spPr>
          <a:xfrm>
            <a:off x="548640" y="2377440"/>
            <a:ext cx="8046720" cy="530352"/>
          </a:xfrm>
          <a:prstGeom prst="roundRect">
            <a:avLst>
              <a:gd name="adj" fmla="val 13793"/>
            </a:avLst>
          </a:prstGeom>
          <a:solidFill>
            <a:srgbClr val="FFFFFF"/>
          </a:solidFill>
          <a:ln w="12700">
            <a:solidFill>
              <a:srgbClr val="E8DDD2"/>
            </a:solidFill>
            <a:prstDash val="solid"/>
          </a:ln>
        </p:spPr>
      </p:sp>
      <p:sp>
        <p:nvSpPr>
          <p:cNvPr id="14" name="Shape 12"/>
          <p:cNvSpPr/>
          <p:nvPr/>
        </p:nvSpPr>
        <p:spPr>
          <a:xfrm>
            <a:off x="777240" y="2551176"/>
            <a:ext cx="182880" cy="182880"/>
          </a:xfrm>
          <a:prstGeom prst="ellipse">
            <a:avLst/>
          </a:prstGeom>
          <a:solidFill>
            <a:srgbClr val="2D6A4F"/>
          </a:solidFill>
          <a:ln/>
        </p:spPr>
      </p:sp>
      <p:sp>
        <p:nvSpPr>
          <p:cNvPr id="15" name="Text 13"/>
          <p:cNvSpPr/>
          <p:nvPr/>
        </p:nvSpPr>
        <p:spPr>
          <a:xfrm>
            <a:off x="1143000" y="240487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Ruler</a:t>
            </a:r>
            <a:endParaRPr lang="en-US" sz="1300" dirty="0"/>
          </a:p>
        </p:txBody>
      </p:sp>
      <p:sp>
        <p:nvSpPr>
          <p:cNvPr id="16" name="Shape 14"/>
          <p:cNvSpPr/>
          <p:nvPr/>
        </p:nvSpPr>
        <p:spPr>
          <a:xfrm>
            <a:off x="548640" y="3017520"/>
            <a:ext cx="8046720" cy="530352"/>
          </a:xfrm>
          <a:prstGeom prst="roundRect">
            <a:avLst>
              <a:gd name="adj" fmla="val 13793"/>
            </a:avLst>
          </a:prstGeom>
          <a:solidFill>
            <a:srgbClr val="FFFFFF"/>
          </a:solidFill>
          <a:ln w="12700">
            <a:solidFill>
              <a:srgbClr val="E8DDD2"/>
            </a:solidFill>
            <a:prstDash val="solid"/>
          </a:ln>
        </p:spPr>
      </p:sp>
      <p:sp>
        <p:nvSpPr>
          <p:cNvPr id="17" name="Shape 15"/>
          <p:cNvSpPr/>
          <p:nvPr/>
        </p:nvSpPr>
        <p:spPr>
          <a:xfrm>
            <a:off x="777240" y="3191256"/>
            <a:ext cx="182880" cy="182880"/>
          </a:xfrm>
          <a:prstGeom prst="ellipse">
            <a:avLst/>
          </a:prstGeom>
          <a:solidFill>
            <a:srgbClr val="2D6A4F"/>
          </a:solidFill>
          <a:ln/>
        </p:spPr>
      </p:sp>
      <p:sp>
        <p:nvSpPr>
          <p:cNvPr id="18" name="Text 16"/>
          <p:cNvSpPr/>
          <p:nvPr/>
        </p:nvSpPr>
        <p:spPr>
          <a:xfrm>
            <a:off x="1143000" y="304495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real plant (or a detailed photo of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 About Plants?</a:t>
            </a:r>
            <a:endParaRPr lang="en-US" sz="2100" dirty="0"/>
          </a:p>
        </p:txBody>
      </p:sp>
      <p:sp>
        <p:nvSpPr>
          <p:cNvPr id="7" name="Text 5"/>
          <p:cNvSpPr/>
          <p:nvPr/>
        </p:nvSpPr>
        <p:spPr>
          <a:xfrm>
            <a:off x="320040" y="1143000"/>
            <a:ext cx="8503920" cy="7772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Think about the last time you saw a plant — in a garden, a pot, or growing through a sidewalk crack. Plants are everywhere, and they all start from something tiny.</a:t>
            </a:r>
            <a:endParaRPr lang="en-US" sz="1300" dirty="0"/>
          </a:p>
        </p:txBody>
      </p:sp>
      <p:sp>
        <p:nvSpPr>
          <p:cNvPr id="8" name="Shape 6"/>
          <p:cNvSpPr/>
          <p:nvPr/>
        </p:nvSpPr>
        <p:spPr>
          <a:xfrm>
            <a:off x="320040" y="20116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0848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042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Draw a seed and a full-grown plant side by side. What's different between them? Write at least 2 things you notice and 1 question you wonder about how a plant grows.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Cycle and Its Start</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life cycle</a:t>
            </a:r>
            <a:endParaRPr lang="en-US" sz="14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The stages an organism goes through as it grows, reproduces, and eventually dies.</a:t>
            </a:r>
            <a:endParaRPr lang="en-US" sz="12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germination</a:t>
            </a:r>
            <a:endParaRPr lang="en-US" sz="14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When a seed starts to sprout and grow its first tiny root and stem.</a:t>
            </a:r>
            <a:endParaRPr lang="en-US" sz="12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seedling</a:t>
            </a:r>
            <a:endParaRPr lang="en-US" sz="14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 very young plant that has just sprouted from a seed and is starting to grow.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Plants Need and Are Made Of</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nutrients</a:t>
            </a:r>
            <a:endParaRPr lang="en-US" sz="14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Materials that living things need to grow and stay healthy — plants absorb these from soil.</a:t>
            </a:r>
            <a:endParaRPr lang="en-US" sz="12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mature plant</a:t>
            </a:r>
            <a:endParaRPr lang="en-US" sz="14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 fully grown plant that is able to produce flowers, fruit, or seeds of its own.</a:t>
            </a:r>
            <a:endParaRPr lang="en-US" sz="12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structure</a:t>
            </a:r>
            <a:endParaRPr lang="en-US" sz="14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 part of a plant or animal that does a specific job to help it survive.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417320"/>
          </a:xfrm>
          <a:prstGeom prst="roundRect">
            <a:avLst>
              <a:gd name="adj" fmla="val 5161"/>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10698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"Every flowering plant goes through a life cycle — from seed to seedling to mature plant — and each stage depends on sunlight, water, air, and nutrients."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From Seed to Seed Again</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Every flowering plant has a life cycle: seed → seedling → young plant → mature plant. When the mature plant makes new seeds, the whole cycle can start again. A seed holds everything a plant needs to begin; a seedling is the seed after it germinates and pushes a shoot through the soil.</a:t>
            </a:r>
            <a:endParaRPr lang="en-US" sz="1150" dirty="0"/>
          </a:p>
        </p:txBody>
      </p:sp>
      <p:sp>
        <p:nvSpPr>
          <p:cNvPr id="8" name="Shape 6"/>
          <p:cNvSpPr/>
          <p:nvPr/>
        </p:nvSpPr>
        <p:spPr>
          <a:xfrm>
            <a:off x="457200" y="2057400"/>
            <a:ext cx="8229600" cy="1508760"/>
          </a:xfrm>
          <a:prstGeom prst="roundRect">
            <a:avLst>
              <a:gd name="adj" fmla="val 4848"/>
            </a:avLst>
          </a:prstGeom>
          <a:solidFill>
            <a:srgbClr val="FFF3E0"/>
          </a:solidFill>
          <a:ln w="25400">
            <a:solidFill>
              <a:srgbClr val="F9A825"/>
            </a:solidFill>
            <a:prstDash val="dash"/>
          </a:ln>
        </p:spPr>
      </p:sp>
      <p:sp>
        <p:nvSpPr>
          <p:cNvPr id="9" name="Text 7"/>
          <p:cNvSpPr/>
          <p:nvPr/>
        </p:nvSpPr>
        <p:spPr>
          <a:xfrm>
            <a:off x="640080" y="21488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23160"/>
            <a:ext cx="7863840" cy="79552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close-up macro photograph of a bean or pea seed that has just begun to germinate. The seed coat has cracked open and a thick, curved white root (radicle) is curling downward into dark, moist soil. A tiny pale-green shoot is just beginning to push upward. The seed rests in rich dark earth with visible soil texture. Shot in natural light, slightly overhead angle. No white background — the background is dark moist soil. Real-world macro photography style, vivid and detailed, suitable for 3rd graders.</a:t>
            </a:r>
            <a:endParaRPr lang="en-US" sz="1100" dirty="0"/>
          </a:p>
        </p:txBody>
      </p:sp>
      <p:sp>
        <p:nvSpPr>
          <p:cNvPr id="11" name="Text 9"/>
          <p:cNvSpPr/>
          <p:nvPr/>
        </p:nvSpPr>
        <p:spPr>
          <a:xfrm>
            <a:off x="640080" y="327355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images/8-01-seed-germination.png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Plants Need to Live</a:t>
            </a:r>
            <a:endParaRPr lang="en-US" sz="2100" dirty="0"/>
          </a:p>
        </p:txBody>
      </p:sp>
      <p:sp>
        <p:nvSpPr>
          <p:cNvPr id="7" name="Shape 5"/>
          <p:cNvSpPr/>
          <p:nvPr/>
        </p:nvSpPr>
        <p:spPr>
          <a:xfrm>
            <a:off x="320040" y="109728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11704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3898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A seed can sit in a drawer for years without changing. What do you think starts the change once it's in soil?</a:t>
            </a:r>
            <a:endParaRPr lang="en-US" sz="1300" dirty="0"/>
          </a:p>
        </p:txBody>
      </p:sp>
      <p:sp>
        <p:nvSpPr>
          <p:cNvPr id="10" name="Text 8"/>
          <p:cNvSpPr/>
          <p:nvPr/>
        </p:nvSpPr>
        <p:spPr>
          <a:xfrm>
            <a:off x="320040" y="2057400"/>
            <a:ext cx="8503920" cy="77724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Plants need sunlight to make food, water to carry materials through their bodies, air (especially carbon dioxide), space for roots and stems, and nutrients from the soil. Take away any one of those things, and the plant struggles.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Plant Parts and Their Jobs</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Each plant structure has a specific job. Roots anchor the plant and soak up water and nutrients. The stem holds the plant upright and moves water from roots up to leaves. Leaves catch sunlight to make food. The flower helps the plant reproduce by making seeds.</a:t>
            </a:r>
            <a:endParaRPr lang="en-US" sz="1150" dirty="0"/>
          </a:p>
        </p:txBody>
      </p:sp>
      <p:sp>
        <p:nvSpPr>
          <p:cNvPr id="8" name="Shape 6"/>
          <p:cNvSpPr/>
          <p:nvPr/>
        </p:nvSpPr>
        <p:spPr>
          <a:xfrm>
            <a:off x="457200" y="2057400"/>
            <a:ext cx="8229600" cy="1554480"/>
          </a:xfrm>
          <a:prstGeom prst="roundRect">
            <a:avLst>
              <a:gd name="adj" fmla="val 4706"/>
            </a:avLst>
          </a:prstGeom>
          <a:solidFill>
            <a:srgbClr val="FFF3E0"/>
          </a:solidFill>
          <a:ln w="25400">
            <a:solidFill>
              <a:srgbClr val="F9A825"/>
            </a:solidFill>
            <a:prstDash val="dash"/>
          </a:ln>
        </p:spPr>
      </p:sp>
      <p:sp>
        <p:nvSpPr>
          <p:cNvPr id="9" name="Text 7"/>
          <p:cNvSpPr/>
          <p:nvPr/>
        </p:nvSpPr>
        <p:spPr>
          <a:xfrm>
            <a:off x="640080" y="21488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23160"/>
            <a:ext cx="7863840" cy="84124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 photograph taken outdoors in a garden: two hands holding a small plant — such as a bean seedling or small leafy garden plant — that has been gently pulled from the ground. The root system is clearly visible below the stem: a dense network of white and tan roots branching outward, with dark moist soil clinging to them. The green leafy top is visible above. Natural sunlight, garden setting with blurred soil or grass in the background. No white background. Warm natural lighting, real-world photography style.</a:t>
            </a:r>
            <a:endParaRPr lang="en-US" sz="1100" dirty="0"/>
          </a:p>
        </p:txBody>
      </p:sp>
      <p:sp>
        <p:nvSpPr>
          <p:cNvPr id="11" name="Text 9"/>
          <p:cNvSpPr/>
          <p:nvPr/>
        </p:nvSpPr>
        <p:spPr>
          <a:xfrm>
            <a:off x="640080" y="331927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images/8-01-plant-roots.png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34440"/>
            <a:ext cx="8503920" cy="1600200"/>
          </a:xfrm>
          <a:prstGeom prst="roundRect">
            <a:avLst>
              <a:gd name="adj" fmla="val 4571"/>
            </a:avLst>
          </a:prstGeom>
          <a:solidFill>
            <a:srgbClr val="F0F8E8"/>
          </a:solidFill>
          <a:ln w="19050">
            <a:solidFill>
              <a:srgbClr val="C8E0B8"/>
            </a:solidFill>
            <a:prstDash val="solid"/>
          </a:ln>
        </p:spPr>
      </p:sp>
      <p:sp>
        <p:nvSpPr>
          <p:cNvPr id="8" name="Text 6"/>
          <p:cNvSpPr/>
          <p:nvPr/>
        </p:nvSpPr>
        <p:spPr>
          <a:xfrm>
            <a:off x="502920" y="130759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27048"/>
            <a:ext cx="8138160" cy="125272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All flowering plants share the same life cycle: seed, seedling, young plant, mature plant. The mature plant makes new seeds, and the cycle begins again. Each stage depends on the plant having what it needs — sunlight, water, air, space, and nutrients — and on its structures, like roots and leaves, to gather those resources.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PLANT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Tree Older Than the Pyramids</a:t>
            </a:r>
            <a:endParaRPr lang="en-US" sz="2100" dirty="0"/>
          </a:p>
        </p:txBody>
      </p:sp>
      <p:sp>
        <p:nvSpPr>
          <p:cNvPr id="7" name="Text 5"/>
          <p:cNvSpPr/>
          <p:nvPr/>
        </p:nvSpPr>
        <p:spPr>
          <a:xfrm>
            <a:off x="320040" y="1097280"/>
            <a:ext cx="8503920" cy="8686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A bristlecone pine tree in the White Mountains of California is over 5,000 years old. It was already a mature tree when the ancient Egyptians were building the pyramids — and it's still completing its life cycle today.</a:t>
            </a:r>
            <a:endParaRPr lang="en-US" sz="1250" dirty="0"/>
          </a:p>
        </p:txBody>
      </p:sp>
      <p:sp>
        <p:nvSpPr>
          <p:cNvPr id="8" name="Shape 6"/>
          <p:cNvSpPr/>
          <p:nvPr/>
        </p:nvSpPr>
        <p:spPr>
          <a:xfrm>
            <a:off x="457200" y="2057400"/>
            <a:ext cx="8229600" cy="1463040"/>
          </a:xfrm>
          <a:prstGeom prst="roundRect">
            <a:avLst>
              <a:gd name="adj" fmla="val 5000"/>
            </a:avLst>
          </a:prstGeom>
          <a:solidFill>
            <a:srgbClr val="FFF3E0"/>
          </a:solidFill>
          <a:ln w="25400">
            <a:solidFill>
              <a:srgbClr val="F9A825"/>
            </a:solidFill>
            <a:prstDash val="dash"/>
          </a:ln>
        </p:spPr>
      </p:sp>
      <p:sp>
        <p:nvSpPr>
          <p:cNvPr id="9" name="Text 7"/>
          <p:cNvSpPr/>
          <p:nvPr/>
        </p:nvSpPr>
        <p:spPr>
          <a:xfrm>
            <a:off x="640080" y="21488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23160"/>
            <a:ext cx="7863840" cy="7498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 landscape photograph of an ancient bristlecone pine tree (Pinus longaeva) in the White Mountains of California or Great Basin National Park. The tree is gnarled and sculptural — thick twisted bare wood bleached silver-white by centuries of sun, with small clusters of dark green needles still alive on a few branches. Rocky, high-altitude terrain surrounds it: pale limestone or dolomite ground, sparse low vegetation. Deep blue sky in the background. Wide or medium shot showing the full tree. Dramatic natural lighting, no white background, real-world landscape photography.</a:t>
            </a:r>
            <a:endParaRPr lang="en-US" sz="1100" dirty="0"/>
          </a:p>
        </p:txBody>
      </p:sp>
      <p:sp>
        <p:nvSpPr>
          <p:cNvPr id="11" name="Text 9"/>
          <p:cNvSpPr/>
          <p:nvPr/>
        </p:nvSpPr>
        <p:spPr>
          <a:xfrm>
            <a:off x="640080" y="322783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images/8-01-bristlecone-pine.png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PLANT OBSERVATION LAB · 15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 and List, Measure and Count</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9050">
            <a:solidFill>
              <a:srgbClr val="F57C00"/>
            </a:solidFill>
            <a:prstDash val="solid"/>
          </a:ln>
        </p:spPr>
      </p:sp>
      <p:sp>
        <p:nvSpPr>
          <p:cNvPr id="8" name="Text 6"/>
          <p:cNvSpPr/>
          <p:nvPr/>
        </p:nvSpPr>
        <p:spPr>
          <a:xfrm>
            <a:off x="502920" y="115214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9" name="Text 7"/>
          <p:cNvSpPr/>
          <p:nvPr/>
        </p:nvSpPr>
        <p:spPr>
          <a:xfrm>
            <a:off x="502920" y="131673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Look and List: look at your plant from different angles — top, side, close up. Write at least 5 things you notice. Be specific: 'the leaves have a wavy edge' is better than 'it has leaves.'</a:t>
            </a:r>
            <a:endParaRPr lang="en-US" sz="1300" dirty="0"/>
          </a:p>
        </p:txBody>
      </p:sp>
      <p:sp>
        <p:nvSpPr>
          <p:cNvPr id="10" name="Text 8"/>
          <p:cNvSpPr/>
          <p:nvPr/>
        </p:nvSpPr>
        <p:spPr>
          <a:xfrm>
            <a:off x="320040" y="2011680"/>
            <a:ext cx="8503920" cy="6400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Measure and Count: use a ruler to measure the plant's height. Count the number of leaves. Write both numbers in your notebook.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PLANT OBSERVATION LAB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Sketch, Label, and Identify the Stage</a:t>
            </a:r>
            <a:endParaRPr lang="en-US" sz="2100" dirty="0"/>
          </a:p>
        </p:txBody>
      </p:sp>
      <p:sp>
        <p:nvSpPr>
          <p:cNvPr id="7" name="Text 5"/>
          <p:cNvSpPr/>
          <p:nvPr/>
        </p:nvSpPr>
        <p:spPr>
          <a:xfrm>
            <a:off x="320040" y="1143000"/>
            <a:ext cx="8503920" cy="6400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Sketch and Label: draw the plant in your notebook. Label any structures you can identify — root, stem, leaves, flower (if it has one).</a:t>
            </a:r>
            <a:endParaRPr lang="en-US" sz="1300" dirty="0"/>
          </a:p>
        </p:txBody>
      </p:sp>
      <p:sp>
        <p:nvSpPr>
          <p:cNvPr id="8" name="Shape 6"/>
          <p:cNvSpPr/>
          <p:nvPr/>
        </p:nvSpPr>
        <p:spPr>
          <a:xfrm>
            <a:off x="320040" y="187452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19476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2037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Identify the Stage: based on what you see, which stage of the life cycle is this plant in — seedling, young plant, or mature plant? Write your answer and explain how you know.</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Pause and Think About What You Found</a:t>
            </a:r>
            <a:endParaRPr lang="en-US" sz="2100" dirty="0"/>
          </a:p>
        </p:txBody>
      </p:sp>
      <p:sp>
        <p:nvSpPr>
          <p:cNvPr id="7" name="Shape 5"/>
          <p:cNvSpPr/>
          <p:nvPr/>
        </p:nvSpPr>
        <p:spPr>
          <a:xfrm>
            <a:off x="320040" y="1097280"/>
            <a:ext cx="8503920" cy="1625092"/>
          </a:xfrm>
          <a:prstGeom prst="roundRect">
            <a:avLst>
              <a:gd name="adj" fmla="val 4501"/>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241044"/>
          </a:xfrm>
          <a:prstGeom prst="rect">
            <a:avLst/>
          </a:prstGeom>
          <a:noFill/>
          <a:ln/>
        </p:spPr>
        <p:txBody>
          <a:bodyPr wrap="square" rtlCol="0" anchor="t"/>
          <a:lstStyle/>
          <a:p>
            <a:pPr marL="342900" indent="-342900">
              <a:lnSpc>
                <a:spcPts val="1705"/>
              </a:lnSpc>
              <a:buSzPct val="100000"/>
              <a:buChar char="●"/>
            </a:pPr>
            <a:r>
              <a:rPr lang="en-US" sz="1100" dirty="0">
                <a:solidFill>
                  <a:srgbClr val="1B4332"/>
                </a:solidFill>
                <a:latin typeface="Calibri" pitchFamily="34" charset="0"/>
                <a:ea typeface="Calibri" pitchFamily="34" charset="-122"/>
                <a:cs typeface="Calibri" pitchFamily="34" charset="-120"/>
              </a:rPr>
              <a:t>What measurements did you record? Write the plant's height and number of leaves.</a:t>
            </a:r>
            <a:endParaRPr lang="en-US" sz="1100" dirty="0"/>
          </a:p>
          <a:p>
            <a:pPr marL="342900" indent="-342900">
              <a:lnSpc>
                <a:spcPts val="1705"/>
              </a:lnSpc>
              <a:buSzPct val="100000"/>
              <a:buChar char="●"/>
            </a:pPr>
            <a:r>
              <a:rPr lang="en-US" sz="1100" dirty="0">
                <a:solidFill>
                  <a:srgbClr val="1B4332"/>
                </a:solidFill>
                <a:latin typeface="Calibri" pitchFamily="34" charset="0"/>
                <a:ea typeface="Calibri" pitchFamily="34" charset="-122"/>
                <a:cs typeface="Calibri" pitchFamily="34" charset="-120"/>
              </a:rPr>
              <a:t>Which stage of the life cycle is your plant in? How do you know?</a:t>
            </a:r>
            <a:endParaRPr lang="en-US" sz="1100" dirty="0"/>
          </a:p>
          <a:p>
            <a:pPr marL="342900" indent="-342900">
              <a:lnSpc>
                <a:spcPts val="1705"/>
              </a:lnSpc>
              <a:buSzPct val="100000"/>
              <a:buChar char="●"/>
            </a:pPr>
            <a:r>
              <a:rPr lang="en-US" sz="1100" dirty="0">
                <a:solidFill>
                  <a:srgbClr val="1B4332"/>
                </a:solidFill>
                <a:latin typeface="Calibri" pitchFamily="34" charset="0"/>
                <a:ea typeface="Calibri" pitchFamily="34" charset="-122"/>
                <a:cs typeface="Calibri" pitchFamily="34" charset="-120"/>
              </a:rPr>
              <a:t>Draw and label your plant, showing at least 3 structures.</a:t>
            </a:r>
            <a:endParaRPr lang="en-US" sz="1100" dirty="0"/>
          </a:p>
          <a:p>
            <a:pPr marL="342900" indent="-342900">
              <a:lnSpc>
                <a:spcPts val="1705"/>
              </a:lnSpc>
              <a:buSzPct val="100000"/>
              <a:buChar char="●"/>
            </a:pPr>
            <a:r>
              <a:rPr lang="en-US" sz="1100" dirty="0">
                <a:solidFill>
                  <a:srgbClr val="1B4332"/>
                </a:solidFill>
                <a:latin typeface="Calibri" pitchFamily="34" charset="0"/>
                <a:ea typeface="Calibri" pitchFamily="34" charset="-122"/>
                <a:cs typeface="Calibri" pitchFamily="34" charset="-120"/>
              </a:rPr>
              <a:t>Tell the whole story of your observation — what you did, what you noticed, and what you figured out.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999107"/>
          </a:xfrm>
          <a:prstGeom prst="roundRect">
            <a:avLst>
              <a:gd name="adj" fmla="val 3659"/>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615059"/>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did you notice about your plant that surprised you? Was there anything that didn't match what you expected?</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Which structure of your plant do you think is working the hardest right now — and what evidence do you have for that?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If you moved this plant into a dark closet with no sunlight for two weeks, what do you predict would happen? Use what you learned about what plants need.</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Extend: what's one thing you'd want to measure or observe if you could check on this same plant again in two weeks? Why?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plant do during germination?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does a plant do during germination?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It produces flowers and seeds.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It loses its leaves and goes dormant.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It starts to sprout — sending out a root and a tiny shoot.</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back to the up-close photo of the seed cracking open. What was happening in that picture?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does a plant do during germination?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Germination is the start of growth: the seed cracks open and the first root and shoot appear.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plant in a dark closet with water and soil, no light</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plant is put in a dark closet with water and soil but no light. What would most likely happen?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It would grow faster because it's protected.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It would stop growing because it can't make food without sunlight.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Nothing would change — water is all a plant really needs.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Which of the five things plants need is missing in this closet scenario?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plant in a dark closet with water and soil, no light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Leaves need sunlight to make food for the plant. Without light, the plant can't make energy and will stop growing.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structure absorbs water from soil?</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plant structure absorbs water from the soil?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roots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leaves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flower</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Which structure did you see clearly in the roots photograph — the part below the soil line?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structure absorbs water from soil?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Roots anchor the plant and pull in water and nutrients from the soil, which the stem then carries upward to the leaves.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Label the Plant</a:t>
            </a:r>
            <a:endParaRPr lang="en-US" sz="2100" dirty="0"/>
          </a:p>
        </p:txBody>
      </p:sp>
      <p:sp>
        <p:nvSpPr>
          <p:cNvPr id="7" name="Text 5"/>
          <p:cNvSpPr/>
          <p:nvPr/>
        </p:nvSpPr>
        <p:spPr>
          <a:xfrm>
            <a:off x="320040" y="1097280"/>
            <a:ext cx="8503920" cy="6858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Use these words to label a plant drawing in your notebook: root, stem, leaf, flower. Then write what job each part does, in your own words.</a:t>
            </a:r>
            <a:endParaRPr lang="en-US" sz="1300" dirty="0"/>
          </a:p>
        </p:txBody>
      </p:sp>
      <p:sp>
        <p:nvSpPr>
          <p:cNvPr id="8" name="Text 6"/>
          <p:cNvSpPr/>
          <p:nvPr/>
        </p:nvSpPr>
        <p:spPr>
          <a:xfrm>
            <a:off x="457200" y="1874520"/>
            <a:ext cx="8229600" cy="173736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1. Draw a simple plant with all four structures visible. Label each one.</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2. Next to each label, write one sentence explaining what that structure does for the plant.</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3. Circle the structure you think has the most important job. Be ready to explain your choice.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51560"/>
            <a:ext cx="8229600" cy="246888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4. Name the four stages of a plant's life cycle in order. Describe what happens at each stage in one sentence.</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5. A farmer plants seeds in a field but forgets to water them. What will most likely happen, and why?</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6. How is a seedling different from a mature plant? Name at least two differences.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Tomato Plant on the Windowsill</a:t>
            </a:r>
            <a:endParaRPr lang="en-US" sz="2100" dirty="0"/>
          </a:p>
        </p:txBody>
      </p:sp>
      <p:sp>
        <p:nvSpPr>
          <p:cNvPr id="7" name="Text 5"/>
          <p:cNvSpPr/>
          <p:nvPr/>
        </p:nvSpPr>
        <p:spPr>
          <a:xfrm>
            <a:off x="365760" y="1005840"/>
            <a:ext cx="8412480" cy="640080"/>
          </a:xfrm>
          <a:prstGeom prst="rect">
            <a:avLst/>
          </a:prstGeom>
          <a:noFill/>
          <a:ln/>
        </p:spPr>
        <p:txBody>
          <a:bodyPr wrap="square" rtlCol="0" anchor="ctr"/>
          <a:lstStyle/>
          <a:p>
            <a:pPr indent="0" marL="0">
              <a:buNone/>
            </a:pPr>
            <a:r>
              <a:rPr lang="en-US" sz="1150" i="1" dirty="0">
                <a:solidFill>
                  <a:srgbClr val="5A4D3E"/>
                </a:solidFill>
                <a:latin typeface="Calibri" pitchFamily="34" charset="0"/>
                <a:ea typeface="Calibri" pitchFamily="34" charset="-122"/>
                <a:cs typeface="Calibri" pitchFamily="34" charset="-120"/>
              </a:rPr>
              <a:t>A tomato plant is sitting on a sunny windowsill with plenty of water and soil. It has leaves and a tall stem, but no flowers yet. What stage is it in, and what does it need to complete its life cycle?</a:t>
            </a:r>
            <a:endParaRPr lang="en-US" sz="1150" dirty="0"/>
          </a:p>
        </p:txBody>
      </p:sp>
      <p:sp>
        <p:nvSpPr>
          <p:cNvPr id="8" name="Shape 6"/>
          <p:cNvSpPr/>
          <p:nvPr/>
        </p:nvSpPr>
        <p:spPr>
          <a:xfrm>
            <a:off x="365760" y="1737360"/>
            <a:ext cx="8412480" cy="621792"/>
          </a:xfrm>
          <a:prstGeom prst="roundRect">
            <a:avLst>
              <a:gd name="adj" fmla="val 11765"/>
            </a:avLst>
          </a:prstGeom>
          <a:solidFill>
            <a:srgbClr val="FFF3E0"/>
          </a:solidFill>
          <a:ln w="19050">
            <a:solidFill>
              <a:srgbClr val="F57C00"/>
            </a:solidFill>
            <a:prstDash val="solid"/>
          </a:ln>
        </p:spPr>
      </p:sp>
      <p:sp>
        <p:nvSpPr>
          <p:cNvPr id="9" name="Text 7"/>
          <p:cNvSpPr/>
          <p:nvPr/>
        </p:nvSpPr>
        <p:spPr>
          <a:xfrm>
            <a:off x="548640" y="1783080"/>
            <a:ext cx="8046720" cy="219456"/>
          </a:xfrm>
          <a:prstGeom prst="rect">
            <a:avLst/>
          </a:prstGeom>
          <a:noFill/>
          <a:ln/>
        </p:spPr>
        <p:txBody>
          <a:bodyPr wrap="square" rtlCol="0" anchor="ctr"/>
          <a:lstStyle/>
          <a:p>
            <a:pPr indent="0" marL="0">
              <a:buNone/>
            </a:pPr>
            <a:r>
              <a:rPr lang="en-US" sz="1050" b="1" dirty="0">
                <a:solidFill>
                  <a:srgbClr val="E65100"/>
                </a:solidFill>
                <a:latin typeface="Calibri" pitchFamily="34" charset="0"/>
                <a:ea typeface="Calibri" pitchFamily="34" charset="-122"/>
                <a:cs typeface="Calibri" pitchFamily="34" charset="-120"/>
              </a:rPr>
              <a:t>What do you think?</a:t>
            </a:r>
            <a:endParaRPr lang="en-US" sz="1050" dirty="0"/>
          </a:p>
        </p:txBody>
      </p:sp>
      <p:sp>
        <p:nvSpPr>
          <p:cNvPr id="10" name="Text 8"/>
          <p:cNvSpPr/>
          <p:nvPr/>
        </p:nvSpPr>
        <p:spPr>
          <a:xfrm>
            <a:off x="548640" y="2011680"/>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"I think the plant is in the ___ stage because…"</a:t>
            </a:r>
            <a:endParaRPr lang="en-US" sz="1150" dirty="0"/>
          </a:p>
        </p:txBody>
      </p:sp>
      <p:sp>
        <p:nvSpPr>
          <p:cNvPr id="11" name="Shape 9"/>
          <p:cNvSpPr/>
          <p:nvPr/>
        </p:nvSpPr>
        <p:spPr>
          <a:xfrm>
            <a:off x="365760" y="2450592"/>
            <a:ext cx="8412480" cy="621792"/>
          </a:xfrm>
          <a:prstGeom prst="roundRect">
            <a:avLst>
              <a:gd name="adj" fmla="val 11765"/>
            </a:avLst>
          </a:prstGeom>
          <a:solidFill>
            <a:srgbClr val="FFF3E0"/>
          </a:solidFill>
          <a:ln w="19050">
            <a:solidFill>
              <a:srgbClr val="F57C00"/>
            </a:solidFill>
            <a:prstDash val="solid"/>
          </a:ln>
        </p:spPr>
      </p:sp>
      <p:sp>
        <p:nvSpPr>
          <p:cNvPr id="12" name="Text 10"/>
          <p:cNvSpPr/>
          <p:nvPr/>
        </p:nvSpPr>
        <p:spPr>
          <a:xfrm>
            <a:off x="548640" y="2496312"/>
            <a:ext cx="8046720" cy="219456"/>
          </a:xfrm>
          <a:prstGeom prst="rect">
            <a:avLst/>
          </a:prstGeom>
          <a:noFill/>
          <a:ln/>
        </p:spPr>
        <p:txBody>
          <a:bodyPr wrap="square" rtlCol="0" anchor="ctr"/>
          <a:lstStyle/>
          <a:p>
            <a:pPr indent="0" marL="0">
              <a:buNone/>
            </a:pPr>
            <a:r>
              <a:rPr lang="en-US" sz="1050" b="1" dirty="0">
                <a:solidFill>
                  <a:srgbClr val="E65100"/>
                </a:solidFill>
                <a:latin typeface="Calibri" pitchFamily="34" charset="0"/>
                <a:ea typeface="Calibri" pitchFamily="34" charset="-122"/>
                <a:cs typeface="Calibri" pitchFamily="34" charset="-120"/>
              </a:rPr>
              <a:t>What did you learn that supports your thinking?</a:t>
            </a:r>
            <a:endParaRPr lang="en-US" sz="1050" dirty="0"/>
          </a:p>
        </p:txBody>
      </p:sp>
      <p:sp>
        <p:nvSpPr>
          <p:cNvPr id="13" name="Text 11"/>
          <p:cNvSpPr/>
          <p:nvPr/>
        </p:nvSpPr>
        <p:spPr>
          <a:xfrm>
            <a:off x="548640" y="2724912"/>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"The lesson showed me that…"</a:t>
            </a:r>
            <a:endParaRPr lang="en-US" sz="1150" dirty="0"/>
          </a:p>
        </p:txBody>
      </p:sp>
      <p:sp>
        <p:nvSpPr>
          <p:cNvPr id="14" name="Shape 12"/>
          <p:cNvSpPr/>
          <p:nvPr/>
        </p:nvSpPr>
        <p:spPr>
          <a:xfrm>
            <a:off x="365760" y="3163824"/>
            <a:ext cx="8412480" cy="621792"/>
          </a:xfrm>
          <a:prstGeom prst="roundRect">
            <a:avLst>
              <a:gd name="adj" fmla="val 11765"/>
            </a:avLst>
          </a:prstGeom>
          <a:solidFill>
            <a:srgbClr val="FFF3E0"/>
          </a:solidFill>
          <a:ln w="19050">
            <a:solidFill>
              <a:srgbClr val="F57C00"/>
            </a:solidFill>
            <a:prstDash val="solid"/>
          </a:ln>
        </p:spPr>
      </p:sp>
      <p:sp>
        <p:nvSpPr>
          <p:cNvPr id="15" name="Text 13"/>
          <p:cNvSpPr/>
          <p:nvPr/>
        </p:nvSpPr>
        <p:spPr>
          <a:xfrm>
            <a:off x="548640" y="3209544"/>
            <a:ext cx="8046720" cy="219456"/>
          </a:xfrm>
          <a:prstGeom prst="rect">
            <a:avLst/>
          </a:prstGeom>
          <a:noFill/>
          <a:ln/>
        </p:spPr>
        <p:txBody>
          <a:bodyPr wrap="square" rtlCol="0" anchor="ctr"/>
          <a:lstStyle/>
          <a:p>
            <a:pPr indent="0" marL="0">
              <a:buNone/>
            </a:pPr>
            <a:r>
              <a:rPr lang="en-US" sz="1050" b="1" dirty="0">
                <a:solidFill>
                  <a:srgbClr val="E65100"/>
                </a:solidFill>
                <a:latin typeface="Calibri" pitchFamily="34" charset="0"/>
                <a:ea typeface="Calibri" pitchFamily="34" charset="-122"/>
                <a:cs typeface="Calibri" pitchFamily="34" charset="-120"/>
              </a:rPr>
              <a:t>Why does that make sense?</a:t>
            </a:r>
            <a:endParaRPr lang="en-US" sz="1050" dirty="0"/>
          </a:p>
        </p:txBody>
      </p:sp>
      <p:sp>
        <p:nvSpPr>
          <p:cNvPr id="16" name="Text 14"/>
          <p:cNvSpPr/>
          <p:nvPr/>
        </p:nvSpPr>
        <p:spPr>
          <a:xfrm>
            <a:off x="548640" y="3438144"/>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"This makes sense because…"</a:t>
            </a:r>
            <a:endParaRPr lang="en-US" sz="1150" dirty="0"/>
          </a:p>
        </p:txBody>
      </p:sp>
      <p:sp>
        <p:nvSpPr>
          <p:cNvPr id="17" name="Text 15"/>
          <p:cNvSpPr/>
          <p:nvPr/>
        </p:nvSpPr>
        <p:spPr>
          <a:xfrm>
            <a:off x="365760" y="3922776"/>
            <a:ext cx="8412480" cy="320040"/>
          </a:xfrm>
          <a:prstGeom prst="rect">
            <a:avLst/>
          </a:prstGeom>
          <a:noFill/>
          <a:ln/>
        </p:spPr>
        <p:txBody>
          <a:bodyPr wrap="square" rtlCol="0" anchor="ctr"/>
          <a:lstStyle/>
          <a:p>
            <a:pPr indent="0" marL="0">
              <a:buNone/>
            </a:pPr>
            <a:r>
              <a:rPr lang="en-US" sz="1050" i="1" dirty="0">
                <a:solidFill>
                  <a:srgbClr val="5A4D3E"/>
                </a:solidFill>
                <a:latin typeface="Calibri" pitchFamily="34" charset="0"/>
                <a:ea typeface="Calibri" pitchFamily="34" charset="-122"/>
                <a:cs typeface="Calibri" pitchFamily="34" charset="-120"/>
              </a:rPr>
              <a:t>Try to use at least one of these words: life cycle, mature plant, structure</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Life Cycle Circle + Turn It In</a:t>
            </a:r>
            <a:endParaRPr lang="en-US" sz="2100" dirty="0"/>
          </a:p>
        </p:txBody>
      </p:sp>
      <p:sp>
        <p:nvSpPr>
          <p:cNvPr id="7" name="Text 5"/>
          <p:cNvSpPr/>
          <p:nvPr/>
        </p:nvSpPr>
        <p:spPr>
          <a:xfrm>
            <a:off x="320040" y="960120"/>
            <a:ext cx="8503920" cy="868680"/>
          </a:xfrm>
          <a:prstGeom prst="rect">
            <a:avLst/>
          </a:prstGeom>
          <a:noFill/>
          <a:ln/>
        </p:spPr>
        <p:txBody>
          <a:bodyPr wrap="square" rtlCol="0" anchor="t"/>
          <a:lstStyle/>
          <a:p>
            <a:pPr indent="0" marL="0">
              <a:lnSpc>
                <a:spcPts val="2000"/>
              </a:lnSpc>
              <a:buNone/>
            </a:pPr>
            <a:r>
              <a:rPr lang="en-US" sz="1050" dirty="0">
                <a:solidFill>
                  <a:srgbClr val="2B1D12"/>
                </a:solidFill>
                <a:latin typeface="Calibri" pitchFamily="34" charset="0"/>
                <a:ea typeface="Calibri" pitchFamily="34" charset="-122"/>
                <a:cs typeface="Calibri" pitchFamily="34" charset="-120"/>
              </a:rPr>
              <a:t>Draw a plant life cycle diagram with all four stages arranged in a circle (like a clock). Label each stage and draw an arrow showing the direction the cycle moves. Add one sentence below each stage describing what happens there. Reflect: what do you understand now that you didn't at the start?</a:t>
            </a:r>
            <a:endParaRPr lang="en-US" sz="1050" dirty="0"/>
          </a:p>
        </p:txBody>
      </p:sp>
      <p:sp>
        <p:nvSpPr>
          <p:cNvPr id="8" name="Shape 6"/>
          <p:cNvSpPr/>
          <p:nvPr/>
        </p:nvSpPr>
        <p:spPr>
          <a:xfrm>
            <a:off x="365760" y="192024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01168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28600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plant observation sketch with labels and measurements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A labeled diagram and Part B short answers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about the tomato plant</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C life cycle circle diagram with all four stages labeled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Great Work, Scientist!</a:t>
            </a:r>
            <a:endParaRPr lang="en-US" sz="27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Next up: comparing real plant growth data!</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850" dirty="0">
                <a:solidFill>
                  <a:srgbClr val="55C8E8"/>
                </a:solidFill>
                <a:latin typeface="Calibri" pitchFamily="34" charset="0"/>
                <a:ea typeface="Calibri" pitchFamily="34" charset="-122"/>
                <a:cs typeface="Calibri" pitchFamily="34" charset="-120"/>
              </a:rPr>
              <a:t>Optima Academy Online · 3rd Grade Science · Lesson 8.01 · NGSS 3-LS1-1 · CPALMS SC.3.L.14.1, SC.3.L.17.2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2026-07-12T13:36:44Z</dcterms:created>
  <dcterms:modified xsi:type="dcterms:W3CDTF">2026-07-12T13:36:44Z</dcterms:modified>
</cp:coreProperties>
</file>