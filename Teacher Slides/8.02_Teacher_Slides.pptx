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a data-analysis investigation building directly on 8.01's plant needs — students use real numbers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pure data-and-evidence lesson — no new hands-on growing, just analyzing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(compare 2 conditions) -&gt; Section 2, investigation Compare Two Conditions step, Assignment Part A Q3. I Can #2 (find patterns) -&gt; Section 3, Self-Check Q3, investigation Find the Pattern step. I Can #3 (evidence to explain needs) -&gt; Self-Check Q1-2, Write &amp; Explain,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live plants needed today — this is a data-analysis lesson using provided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scientists notice things before they explain them — size, color, fullness of leaves, not guesses about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word out loud before flipping the card, as the HTML instructs — these are used constantly during the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words are the exact structure of today's Write &amp; Explain — evidence and condition lead to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today's whole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Think: why do scientists measure plant height instead of just saying 'the plant looks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fair-testing principle applied to plant growth — direct callback to earlier fair-test investigations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connection: farmers and gardeners compare how crops grow in different spots to decide where to plant next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plants started as seeds at 0 cm — this is the exact data table students will use throughout the investigation and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restate this before the Amazing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Plants make food through photosynthesis — sunlight, water, and air become sugar for energy. Without light, no energy, no growth. Different plants need different amounts: ferns love shade, cacti love full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data students will use for the rest of the lesson, including the assignment's Part A and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Like a Scientist: if you grew these plants two more weeks without changing anything, would the pattern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1 of 2 — students state their data (evidence), then explain what it shows (conclusion). Same structure as the Write &amp; Explain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the trickiest — leads students to realize water and light matter in different ways, not interchangeably.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the data vocabulary card and I Can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prediction (before) from data (during/after).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I Can #3 — using evidence from data to explain what plants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everything else (seed type, soil, pot) stayed the same — the fair-test setup from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review of the pattern vocabulary card and I Can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Section 3's data -&gt; pattern -&gt; evidence -&gt; conclusion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same data table students used in the investigation — no new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 checks whether students can spot a conclusion NOT supported by the evidence — a key critical-thinking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REHEARSAL 2 of 2 — same evidence-to-conclusion structure as Record Your Thinking. Have 1-2 students rehearse aloud referencing the actual 13/4/10/2 cm numbers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Type It, Photo It, or Record It (a video explaining the graph and conclusions)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9 — how different animals grow and change through their life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25880"/>
            <a:ext cx="8229600" cy="292608"/>
          </a:xfrm>
          <a:prstGeom prst="rect">
            <a:avLst/>
          </a:prstGeom>
          <a:noFill/>
          <a:ln/>
        </p:spPr>
        <p:txBody>
          <a:bodyPr wrap="square" rtlCol="0" anchor="ctr"/>
          <a:lstStyle/>
          <a:p>
            <a:pPr algn="ctr" indent="0" marL="0">
              <a:buNone/>
            </a:pPr>
            <a:r>
              <a:rPr lang="en-US" sz="1300" b="1" spc="150" kern="0" dirty="0">
                <a:solidFill>
                  <a:srgbClr val="55C8E8"/>
                </a:solidFill>
                <a:latin typeface="Calibri" pitchFamily="34" charset="0"/>
                <a:ea typeface="Calibri" pitchFamily="34" charset="-122"/>
                <a:cs typeface="Calibri" pitchFamily="34" charset="-120"/>
              </a:rPr>
              <a:t>OPTIMA ACADEMY ONLINE · 3RD GRADE SCIENCE</a:t>
            </a:r>
            <a:endParaRPr lang="en-US" sz="1300" dirty="0"/>
          </a:p>
        </p:txBody>
      </p:sp>
      <p:sp>
        <p:nvSpPr>
          <p:cNvPr id="5" name="Text 3"/>
          <p:cNvSpPr/>
          <p:nvPr/>
        </p:nvSpPr>
        <p:spPr>
          <a:xfrm>
            <a:off x="457200" y="1737360"/>
            <a:ext cx="8229600" cy="914400"/>
          </a:xfrm>
          <a:prstGeom prst="rect">
            <a:avLst/>
          </a:prstGeom>
          <a:noFill/>
          <a:ln/>
        </p:spPr>
        <p:txBody>
          <a:bodyPr wrap="square"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Investigation: Comparing Plant Growth Data</a:t>
            </a:r>
            <a:endParaRPr lang="en-US" sz="2500" dirty="0"/>
          </a:p>
        </p:txBody>
      </p:sp>
      <p:sp>
        <p:nvSpPr>
          <p:cNvPr id="6" name="Text 4"/>
          <p:cNvSpPr/>
          <p:nvPr/>
        </p:nvSpPr>
        <p:spPr>
          <a:xfrm>
            <a:off x="457200" y="2606040"/>
            <a:ext cx="8229600" cy="365760"/>
          </a:xfrm>
          <a:prstGeom prst="rect">
            <a:avLst/>
          </a:prstGeom>
          <a:noFill/>
          <a:ln/>
        </p:spPr>
        <p:txBody>
          <a:bodyPr wrap="square" rtlCol="0" anchor="ctr"/>
          <a:lstStyle/>
          <a:p>
            <a:pPr algn="ctr" indent="0" marL="0">
              <a:buNone/>
            </a:pPr>
            <a:r>
              <a:rPr lang="en-US" sz="1300" dirty="0">
                <a:solidFill>
                  <a:srgbClr val="FFCA28"/>
                </a:solidFill>
                <a:latin typeface="Calibri" pitchFamily="34" charset="0"/>
                <a:ea typeface="Calibri" pitchFamily="34" charset="-122"/>
                <a:cs typeface="Calibri" pitchFamily="34" charset="-120"/>
              </a:rPr>
              <a:t>Lesson 8.02  ·  Week 8  ·  NGSS 3-LS1-1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457200" y="1371600"/>
            <a:ext cx="8229600" cy="1737360"/>
          </a:xfrm>
          <a:prstGeom prst="roundRect">
            <a:avLst>
              <a:gd name="adj" fmla="val 5263"/>
            </a:avLst>
          </a:prstGeom>
          <a:solidFill>
            <a:srgbClr val="0E1C42"/>
          </a:solidFill>
          <a:ln w="25400">
            <a:solidFill>
              <a:srgbClr val="55C8E8"/>
            </a:solidFill>
            <a:prstDash val="solid"/>
          </a:ln>
        </p:spPr>
      </p:sp>
      <p:sp>
        <p:nvSpPr>
          <p:cNvPr id="8" name="Text 6"/>
          <p:cNvSpPr/>
          <p:nvPr/>
        </p:nvSpPr>
        <p:spPr>
          <a:xfrm>
            <a:off x="731520" y="1600200"/>
            <a:ext cx="7680960" cy="1280160"/>
          </a:xfrm>
          <a:prstGeom prst="rect">
            <a:avLst/>
          </a:prstGeom>
          <a:noFill/>
          <a:ln/>
        </p:spPr>
        <p:txBody>
          <a:bodyPr wrap="square"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"What happens to plants when you change what they get — like sunlight or water?"</a:t>
            </a:r>
            <a:endParaRPr lang="en-US" sz="1800" dirty="0"/>
          </a:p>
        </p:txBody>
      </p:sp>
      <p:sp>
        <p:nvSpPr>
          <p:cNvPr id="9" name="Text 7"/>
          <p:cNvSpPr/>
          <p:nvPr/>
        </p:nvSpPr>
        <p:spPr>
          <a:xfrm>
            <a:off x="731520" y="3246120"/>
            <a:ext cx="7680960" cy="457200"/>
          </a:xfrm>
          <a:prstGeom prst="rect">
            <a:avLst/>
          </a:prstGeom>
          <a:noFill/>
          <a:ln/>
        </p:spPr>
        <p:txBody>
          <a:bodyPr wrap="square" rtlCol="0" anchor="t"/>
          <a:lstStyle/>
          <a:p>
            <a:pPr algn="ctr" indent="0" marL="0">
              <a:buNone/>
            </a:pPr>
            <a:r>
              <a:rPr lang="en-US" sz="1250" dirty="0">
                <a:solidFill>
                  <a:srgbClr val="5A4D3E"/>
                </a:solidFill>
                <a:latin typeface="Calibri" pitchFamily="34" charset="0"/>
                <a:ea typeface="Calibri" pitchFamily="34" charset="-122"/>
                <a:cs typeface="Calibri" pitchFamily="34" charset="-120"/>
              </a:rPr>
              <a:t>Keep this question in mind. By the end, you'll have real data to answer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457200" y="1097280"/>
            <a:ext cx="8229600" cy="914400"/>
          </a:xfrm>
          <a:prstGeom prst="roundRect">
            <a:avLst>
              <a:gd name="adj" fmla="val 8000"/>
            </a:avLst>
          </a:prstGeom>
          <a:solidFill>
            <a:srgbClr val="FFFFFF"/>
          </a:solidFill>
          <a:ln w="19050">
            <a:solidFill>
              <a:srgbClr val="E8DDD2"/>
            </a:solidFill>
            <a:prstDash val="solid"/>
          </a:ln>
        </p:spPr>
      </p:sp>
      <p:sp>
        <p:nvSpPr>
          <p:cNvPr id="8" name="Shape 6"/>
          <p:cNvSpPr/>
          <p:nvPr/>
        </p:nvSpPr>
        <p:spPr>
          <a:xfrm>
            <a:off x="640080" y="1353312"/>
            <a:ext cx="411480" cy="411480"/>
          </a:xfrm>
          <a:prstGeom prst="ellipse">
            <a:avLst/>
          </a:prstGeom>
          <a:solidFill>
            <a:srgbClr val="52B788"/>
          </a:solidFill>
          <a:ln/>
        </p:spPr>
      </p:sp>
      <p:sp>
        <p:nvSpPr>
          <p:cNvPr id="9" name="Text 7"/>
          <p:cNvSpPr/>
          <p:nvPr/>
        </p:nvSpPr>
        <p:spPr>
          <a:xfrm>
            <a:off x="640080" y="1353312"/>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234440" y="1170432"/>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compare plant growth data from two different growing conditions.</a:t>
            </a:r>
            <a:endParaRPr lang="en-US" sz="1300" dirty="0"/>
          </a:p>
        </p:txBody>
      </p:sp>
      <p:sp>
        <p:nvSpPr>
          <p:cNvPr id="11" name="Shape 9"/>
          <p:cNvSpPr/>
          <p:nvPr/>
        </p:nvSpPr>
        <p:spPr>
          <a:xfrm>
            <a:off x="457200" y="2121408"/>
            <a:ext cx="8229600" cy="914400"/>
          </a:xfrm>
          <a:prstGeom prst="roundRect">
            <a:avLst>
              <a:gd name="adj" fmla="val 8000"/>
            </a:avLst>
          </a:prstGeom>
          <a:solidFill>
            <a:srgbClr val="FFFFFF"/>
          </a:solidFill>
          <a:ln w="19050">
            <a:solidFill>
              <a:srgbClr val="E8DDD2"/>
            </a:solidFill>
            <a:prstDash val="solid"/>
          </a:ln>
        </p:spPr>
      </p:sp>
      <p:sp>
        <p:nvSpPr>
          <p:cNvPr id="12" name="Shape 10"/>
          <p:cNvSpPr/>
          <p:nvPr/>
        </p:nvSpPr>
        <p:spPr>
          <a:xfrm>
            <a:off x="640080" y="2377440"/>
            <a:ext cx="411480" cy="411480"/>
          </a:xfrm>
          <a:prstGeom prst="ellipse">
            <a:avLst/>
          </a:prstGeom>
          <a:solidFill>
            <a:srgbClr val="52B788"/>
          </a:solidFill>
          <a:ln/>
        </p:spPr>
      </p:sp>
      <p:sp>
        <p:nvSpPr>
          <p:cNvPr id="13" name="Text 11"/>
          <p:cNvSpPr/>
          <p:nvPr/>
        </p:nvSpPr>
        <p:spPr>
          <a:xfrm>
            <a:off x="640080" y="2377440"/>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234440" y="2194560"/>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find patterns in a data table and bar graph.</a:t>
            </a:r>
            <a:endParaRPr lang="en-US" sz="1300" dirty="0"/>
          </a:p>
        </p:txBody>
      </p:sp>
      <p:sp>
        <p:nvSpPr>
          <p:cNvPr id="15" name="Shape 13"/>
          <p:cNvSpPr/>
          <p:nvPr/>
        </p:nvSpPr>
        <p:spPr>
          <a:xfrm>
            <a:off x="457200" y="3145536"/>
            <a:ext cx="8229600" cy="914400"/>
          </a:xfrm>
          <a:prstGeom prst="roundRect">
            <a:avLst>
              <a:gd name="adj" fmla="val 8000"/>
            </a:avLst>
          </a:prstGeom>
          <a:solidFill>
            <a:srgbClr val="FFFFFF"/>
          </a:solidFill>
          <a:ln w="19050">
            <a:solidFill>
              <a:srgbClr val="E8DDD2"/>
            </a:solidFill>
            <a:prstDash val="solid"/>
          </a:ln>
        </p:spPr>
      </p:sp>
      <p:sp>
        <p:nvSpPr>
          <p:cNvPr id="16" name="Shape 14"/>
          <p:cNvSpPr/>
          <p:nvPr/>
        </p:nvSpPr>
        <p:spPr>
          <a:xfrm>
            <a:off x="640080" y="3401568"/>
            <a:ext cx="411480" cy="411480"/>
          </a:xfrm>
          <a:prstGeom prst="ellipse">
            <a:avLst/>
          </a:prstGeom>
          <a:solidFill>
            <a:srgbClr val="52B788"/>
          </a:solidFill>
          <a:ln/>
        </p:spPr>
      </p:sp>
      <p:sp>
        <p:nvSpPr>
          <p:cNvPr id="17" name="Text 15"/>
          <p:cNvSpPr/>
          <p:nvPr/>
        </p:nvSpPr>
        <p:spPr>
          <a:xfrm>
            <a:off x="640080" y="3401568"/>
            <a:ext cx="411480" cy="4114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234440" y="3218688"/>
            <a:ext cx="7223760" cy="77724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I can use evidence from data to explain what plants need to grow well.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Gather Your Materials</a:t>
            </a:r>
            <a:endParaRPr lang="en-US" sz="2100" dirty="0"/>
          </a:p>
        </p:txBody>
      </p:sp>
      <p:sp>
        <p:nvSpPr>
          <p:cNvPr id="7" name="Shape 5"/>
          <p:cNvSpPr/>
          <p:nvPr/>
        </p:nvSpPr>
        <p:spPr>
          <a:xfrm>
            <a:off x="548640" y="1097280"/>
            <a:ext cx="8046720" cy="530352"/>
          </a:xfrm>
          <a:prstGeom prst="roundRect">
            <a:avLst>
              <a:gd name="adj" fmla="val 13793"/>
            </a:avLst>
          </a:prstGeom>
          <a:solidFill>
            <a:srgbClr val="FFFFFF"/>
          </a:solidFill>
          <a:ln w="12700">
            <a:solidFill>
              <a:srgbClr val="E8DDD2"/>
            </a:solidFill>
            <a:prstDash val="solid"/>
          </a:ln>
        </p:spPr>
      </p:sp>
      <p:sp>
        <p:nvSpPr>
          <p:cNvPr id="8" name="Shape 6"/>
          <p:cNvSpPr/>
          <p:nvPr/>
        </p:nvSpPr>
        <p:spPr>
          <a:xfrm>
            <a:off x="777240" y="1271016"/>
            <a:ext cx="182880" cy="182880"/>
          </a:xfrm>
          <a:prstGeom prst="ellipse">
            <a:avLst/>
          </a:prstGeom>
          <a:solidFill>
            <a:srgbClr val="2D6A4F"/>
          </a:solidFill>
          <a:ln/>
        </p:spPr>
      </p:sp>
      <p:sp>
        <p:nvSpPr>
          <p:cNvPr id="9" name="Text 7"/>
          <p:cNvSpPr/>
          <p:nvPr/>
        </p:nvSpPr>
        <p:spPr>
          <a:xfrm>
            <a:off x="1143000" y="112471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Science notebook</a:t>
            </a:r>
            <a:endParaRPr lang="en-US" sz="1300" dirty="0"/>
          </a:p>
        </p:txBody>
      </p:sp>
      <p:sp>
        <p:nvSpPr>
          <p:cNvPr id="10" name="Shape 8"/>
          <p:cNvSpPr/>
          <p:nvPr/>
        </p:nvSpPr>
        <p:spPr>
          <a:xfrm>
            <a:off x="548640" y="1737360"/>
            <a:ext cx="8046720" cy="530352"/>
          </a:xfrm>
          <a:prstGeom prst="roundRect">
            <a:avLst>
              <a:gd name="adj" fmla="val 13793"/>
            </a:avLst>
          </a:prstGeom>
          <a:solidFill>
            <a:srgbClr val="FFFFFF"/>
          </a:solidFill>
          <a:ln w="12700">
            <a:solidFill>
              <a:srgbClr val="E8DDD2"/>
            </a:solidFill>
            <a:prstDash val="solid"/>
          </a:ln>
        </p:spPr>
      </p:sp>
      <p:sp>
        <p:nvSpPr>
          <p:cNvPr id="11" name="Shape 9"/>
          <p:cNvSpPr/>
          <p:nvPr/>
        </p:nvSpPr>
        <p:spPr>
          <a:xfrm>
            <a:off x="777240" y="1911096"/>
            <a:ext cx="182880" cy="182880"/>
          </a:xfrm>
          <a:prstGeom prst="ellipse">
            <a:avLst/>
          </a:prstGeom>
          <a:solidFill>
            <a:srgbClr val="2D6A4F"/>
          </a:solidFill>
          <a:ln/>
        </p:spPr>
      </p:sp>
      <p:sp>
        <p:nvSpPr>
          <p:cNvPr id="12" name="Text 10"/>
          <p:cNvSpPr/>
          <p:nvPr/>
        </p:nvSpPr>
        <p:spPr>
          <a:xfrm>
            <a:off x="1143000" y="176479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Pencil &amp; colored pencils</a:t>
            </a:r>
            <a:endParaRPr lang="en-US" sz="1300" dirty="0"/>
          </a:p>
        </p:txBody>
      </p:sp>
      <p:sp>
        <p:nvSpPr>
          <p:cNvPr id="13" name="Shape 11"/>
          <p:cNvSpPr/>
          <p:nvPr/>
        </p:nvSpPr>
        <p:spPr>
          <a:xfrm>
            <a:off x="548640" y="2377440"/>
            <a:ext cx="8046720" cy="530352"/>
          </a:xfrm>
          <a:prstGeom prst="roundRect">
            <a:avLst>
              <a:gd name="adj" fmla="val 13793"/>
            </a:avLst>
          </a:prstGeom>
          <a:solidFill>
            <a:srgbClr val="FFFFFF"/>
          </a:solidFill>
          <a:ln w="12700">
            <a:solidFill>
              <a:srgbClr val="E8DDD2"/>
            </a:solidFill>
            <a:prstDash val="solid"/>
          </a:ln>
        </p:spPr>
      </p:sp>
      <p:sp>
        <p:nvSpPr>
          <p:cNvPr id="14" name="Shape 12"/>
          <p:cNvSpPr/>
          <p:nvPr/>
        </p:nvSpPr>
        <p:spPr>
          <a:xfrm>
            <a:off x="777240" y="2551176"/>
            <a:ext cx="182880" cy="182880"/>
          </a:xfrm>
          <a:prstGeom prst="ellipse">
            <a:avLst/>
          </a:prstGeom>
          <a:solidFill>
            <a:srgbClr val="2D6A4F"/>
          </a:solidFill>
          <a:ln/>
        </p:spPr>
      </p:sp>
      <p:sp>
        <p:nvSpPr>
          <p:cNvPr id="15" name="Text 13"/>
          <p:cNvSpPr/>
          <p:nvPr/>
        </p:nvSpPr>
        <p:spPr>
          <a:xfrm>
            <a:off x="1143000" y="240487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Ruler</a:t>
            </a:r>
            <a:endParaRPr lang="en-US" sz="1300" dirty="0"/>
          </a:p>
        </p:txBody>
      </p:sp>
      <p:sp>
        <p:nvSpPr>
          <p:cNvPr id="16" name="Shape 14"/>
          <p:cNvSpPr/>
          <p:nvPr/>
        </p:nvSpPr>
        <p:spPr>
          <a:xfrm>
            <a:off x="548640" y="3017520"/>
            <a:ext cx="8046720" cy="530352"/>
          </a:xfrm>
          <a:prstGeom prst="roundRect">
            <a:avLst>
              <a:gd name="adj" fmla="val 13793"/>
            </a:avLst>
          </a:prstGeom>
          <a:solidFill>
            <a:srgbClr val="FFFFFF"/>
          </a:solidFill>
          <a:ln w="12700">
            <a:solidFill>
              <a:srgbClr val="E8DDD2"/>
            </a:solidFill>
            <a:prstDash val="solid"/>
          </a:ln>
        </p:spPr>
      </p:sp>
      <p:sp>
        <p:nvSpPr>
          <p:cNvPr id="17" name="Shape 15"/>
          <p:cNvSpPr/>
          <p:nvPr/>
        </p:nvSpPr>
        <p:spPr>
          <a:xfrm>
            <a:off x="777240" y="3191256"/>
            <a:ext cx="182880" cy="182880"/>
          </a:xfrm>
          <a:prstGeom prst="ellipse">
            <a:avLst/>
          </a:prstGeom>
          <a:solidFill>
            <a:srgbClr val="2D6A4F"/>
          </a:solidFill>
          <a:ln/>
        </p:spPr>
      </p:sp>
      <p:sp>
        <p:nvSpPr>
          <p:cNvPr id="18" name="Text 16"/>
          <p:cNvSpPr/>
          <p:nvPr/>
        </p:nvSpPr>
        <p:spPr>
          <a:xfrm>
            <a:off x="1143000" y="3044952"/>
            <a:ext cx="7315200" cy="457200"/>
          </a:xfrm>
          <a:prstGeom prst="rect">
            <a:avLst/>
          </a:prstGeom>
          <a:noFill/>
          <a:ln/>
        </p:spPr>
        <p:txBody>
          <a:bodyPr wrap="square" rtlCol="0" anchor="ctr"/>
          <a:lstStyle/>
          <a:p>
            <a:pPr indent="0" marL="0">
              <a:buNone/>
            </a:pPr>
            <a:r>
              <a:rPr lang="en-US" sz="1300" dirty="0">
                <a:solidFill>
                  <a:srgbClr val="2B1D12"/>
                </a:solidFill>
                <a:latin typeface="Calibri" pitchFamily="34" charset="0"/>
                <a:ea typeface="Calibri" pitchFamily="34" charset="-122"/>
                <a:cs typeface="Calibri" pitchFamily="34" charset="-120"/>
              </a:rPr>
              <a:t>Graph paper (optional)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WARM-UP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Four Pots, Four Conditions</a:t>
            </a:r>
            <a:endParaRPr lang="en-US" sz="2100" dirty="0"/>
          </a:p>
        </p:txBody>
      </p:sp>
      <p:sp>
        <p:nvSpPr>
          <p:cNvPr id="7" name="Text 5"/>
          <p:cNvSpPr/>
          <p:nvPr/>
        </p:nvSpPr>
        <p:spPr>
          <a:xfrm>
            <a:off x="320040" y="1051560"/>
            <a:ext cx="8503920" cy="50292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Look at the photo — four pots of plants on a windowsill. Each plant grew under a different condition.</a:t>
            </a:r>
            <a:endParaRPr lang="en-US" sz="1300" dirty="0"/>
          </a:p>
        </p:txBody>
      </p:sp>
      <p:sp>
        <p:nvSpPr>
          <p:cNvPr id="8" name="Shape 6"/>
          <p:cNvSpPr/>
          <p:nvPr/>
        </p:nvSpPr>
        <p:spPr>
          <a:xfrm>
            <a:off x="457200" y="1737360"/>
            <a:ext cx="8229600" cy="1234440"/>
          </a:xfrm>
          <a:prstGeom prst="roundRect">
            <a:avLst>
              <a:gd name="adj" fmla="val 5926"/>
            </a:avLst>
          </a:prstGeom>
          <a:solidFill>
            <a:srgbClr val="FFF3E0"/>
          </a:solidFill>
          <a:ln w="25400">
            <a:solidFill>
              <a:srgbClr val="F9A825"/>
            </a:solidFill>
            <a:prstDash val="dash"/>
          </a:ln>
        </p:spPr>
      </p:sp>
      <p:sp>
        <p:nvSpPr>
          <p:cNvPr id="9" name="Text 7"/>
          <p:cNvSpPr/>
          <p:nvPr/>
        </p:nvSpPr>
        <p:spPr>
          <a:xfrm>
            <a:off x="640080" y="182880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103120"/>
            <a:ext cx="7863840" cy="52120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real photograph of four small potted plants lined up in a row on a sunny windowsill, each clearly at a different height and fullness — one tall and lush, one very short and sparse, one medium-tall, one small with pale leaves. Natural window light streaming in. Simple terra cotta or plastic pots, ordinary potting soil. No white background, no illustrations, no labels on the pots themselves. Candid real-world classroom or home photography style, warm natural lighting.</a:t>
            </a:r>
            <a:endParaRPr lang="en-US" sz="1100" dirty="0"/>
          </a:p>
        </p:txBody>
      </p:sp>
      <p:sp>
        <p:nvSpPr>
          <p:cNvPr id="11" name="Text 9"/>
          <p:cNvSpPr/>
          <p:nvPr/>
        </p:nvSpPr>
        <p:spPr>
          <a:xfrm>
            <a:off x="640080" y="26791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images/8-02-four-plants-windowsill.png</a:t>
            </a:r>
            <a:endParaRPr lang="en-US" sz="950" dirty="0"/>
          </a:p>
        </p:txBody>
      </p:sp>
      <p:sp>
        <p:nvSpPr>
          <p:cNvPr id="12" name="Shape 10"/>
          <p:cNvSpPr/>
          <p:nvPr/>
        </p:nvSpPr>
        <p:spPr>
          <a:xfrm>
            <a:off x="320040" y="3063240"/>
            <a:ext cx="8503920" cy="902970"/>
          </a:xfrm>
          <a:prstGeom prst="roundRect">
            <a:avLst>
              <a:gd name="adj" fmla="val 8101"/>
            </a:avLst>
          </a:prstGeom>
          <a:solidFill>
            <a:srgbClr val="FFF9E8"/>
          </a:solidFill>
          <a:ln w="19050">
            <a:solidFill>
              <a:srgbClr val="F9A825"/>
            </a:solidFill>
            <a:prstDash val="solid"/>
          </a:ln>
        </p:spPr>
      </p:sp>
      <p:sp>
        <p:nvSpPr>
          <p:cNvPr id="13" name="Text 11"/>
          <p:cNvSpPr/>
          <p:nvPr/>
        </p:nvSpPr>
        <p:spPr>
          <a:xfrm>
            <a:off x="502920" y="3136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4" name="Text 12"/>
          <p:cNvSpPr/>
          <p:nvPr/>
        </p:nvSpPr>
        <p:spPr>
          <a:xfrm>
            <a:off x="502920" y="3355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about the plants? Write at least 3 observations. Then write 1 question you're wondering about.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Collecting and Seeing</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0288D1"/>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data</a:t>
            </a:r>
            <a:endParaRPr lang="en-US" sz="14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Information collected during an investigation — like measurements, counts, or observations.</a:t>
            </a:r>
            <a:endParaRPr lang="en-US" sz="12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0288D1"/>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observation</a:t>
            </a:r>
            <a:endParaRPr lang="en-US" sz="14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Something you notice using your senses — what you see, hear, smell, touch, or measure directly.</a:t>
            </a:r>
            <a:endParaRPr lang="en-US" sz="12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0288D1"/>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400" b="1" dirty="0">
                <a:solidFill>
                  <a:srgbClr val="0288D1"/>
                </a:solidFill>
                <a:latin typeface="Cambria" pitchFamily="34" charset="0"/>
                <a:ea typeface="Cambria" pitchFamily="34" charset="-122"/>
                <a:cs typeface="Cambria" pitchFamily="34" charset="-120"/>
              </a:rPr>
              <a:t>pattern</a:t>
            </a:r>
            <a:endParaRPr lang="en-US" sz="14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Something that repeats or changes in a predictable way — like plants always growing toward light.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VOCABULARY</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Explaining What the Data Shows</a:t>
            </a:r>
            <a:endParaRPr lang="en-US" sz="2100" dirty="0"/>
          </a:p>
        </p:txBody>
      </p:sp>
      <p:sp>
        <p:nvSpPr>
          <p:cNvPr id="7" name="Shape 5"/>
          <p:cNvSpPr/>
          <p:nvPr/>
        </p:nvSpPr>
        <p:spPr>
          <a:xfrm>
            <a:off x="457200" y="1188720"/>
            <a:ext cx="8229600" cy="1005840"/>
          </a:xfrm>
          <a:prstGeom prst="roundRect">
            <a:avLst>
              <a:gd name="adj" fmla="val 7273"/>
            </a:avLst>
          </a:prstGeom>
          <a:solidFill>
            <a:srgbClr val="FFFFFF"/>
          </a:solidFill>
          <a:ln w="19050">
            <a:solidFill>
              <a:srgbClr val="2D6A4F"/>
            </a:solidFill>
            <a:prstDash val="solid"/>
          </a:ln>
        </p:spPr>
      </p:sp>
      <p:sp>
        <p:nvSpPr>
          <p:cNvPr id="8" name="Text 6"/>
          <p:cNvSpPr/>
          <p:nvPr/>
        </p:nvSpPr>
        <p:spPr>
          <a:xfrm>
            <a:off x="685800" y="1280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evidence</a:t>
            </a:r>
            <a:endParaRPr lang="en-US" sz="1400" dirty="0"/>
          </a:p>
        </p:txBody>
      </p:sp>
      <p:sp>
        <p:nvSpPr>
          <p:cNvPr id="9" name="Text 7"/>
          <p:cNvSpPr/>
          <p:nvPr/>
        </p:nvSpPr>
        <p:spPr>
          <a:xfrm>
            <a:off x="2834640" y="1280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Information from your investigation that helps you support or explain your conclusion.</a:t>
            </a:r>
            <a:endParaRPr lang="en-US" sz="1200" dirty="0"/>
          </a:p>
        </p:txBody>
      </p:sp>
      <p:sp>
        <p:nvSpPr>
          <p:cNvPr id="10" name="Shape 8"/>
          <p:cNvSpPr/>
          <p:nvPr/>
        </p:nvSpPr>
        <p:spPr>
          <a:xfrm>
            <a:off x="457200" y="2331720"/>
            <a:ext cx="8229600" cy="1005840"/>
          </a:xfrm>
          <a:prstGeom prst="roundRect">
            <a:avLst>
              <a:gd name="adj" fmla="val 7273"/>
            </a:avLst>
          </a:prstGeom>
          <a:solidFill>
            <a:srgbClr val="FFFFFF"/>
          </a:solidFill>
          <a:ln w="19050">
            <a:solidFill>
              <a:srgbClr val="2D6A4F"/>
            </a:solidFill>
            <a:prstDash val="solid"/>
          </a:ln>
        </p:spPr>
      </p:sp>
      <p:sp>
        <p:nvSpPr>
          <p:cNvPr id="11" name="Text 9"/>
          <p:cNvSpPr/>
          <p:nvPr/>
        </p:nvSpPr>
        <p:spPr>
          <a:xfrm>
            <a:off x="685800" y="2423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condition</a:t>
            </a:r>
            <a:endParaRPr lang="en-US" sz="1400" dirty="0"/>
          </a:p>
        </p:txBody>
      </p:sp>
      <p:sp>
        <p:nvSpPr>
          <p:cNvPr id="12" name="Text 10"/>
          <p:cNvSpPr/>
          <p:nvPr/>
        </p:nvSpPr>
        <p:spPr>
          <a:xfrm>
            <a:off x="2834640" y="2423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The setting or situation a plant is growing in — like how much light or water it receives.</a:t>
            </a:r>
            <a:endParaRPr lang="en-US" sz="1200" dirty="0"/>
          </a:p>
        </p:txBody>
      </p:sp>
      <p:sp>
        <p:nvSpPr>
          <p:cNvPr id="13" name="Shape 11"/>
          <p:cNvSpPr/>
          <p:nvPr/>
        </p:nvSpPr>
        <p:spPr>
          <a:xfrm>
            <a:off x="457200" y="3474720"/>
            <a:ext cx="8229600" cy="1005840"/>
          </a:xfrm>
          <a:prstGeom prst="roundRect">
            <a:avLst>
              <a:gd name="adj" fmla="val 7273"/>
            </a:avLst>
          </a:prstGeom>
          <a:solidFill>
            <a:srgbClr val="FFFFFF"/>
          </a:solidFill>
          <a:ln w="19050">
            <a:solidFill>
              <a:srgbClr val="2D6A4F"/>
            </a:solidFill>
            <a:prstDash val="solid"/>
          </a:ln>
        </p:spPr>
      </p:sp>
      <p:sp>
        <p:nvSpPr>
          <p:cNvPr id="14" name="Text 12"/>
          <p:cNvSpPr/>
          <p:nvPr/>
        </p:nvSpPr>
        <p:spPr>
          <a:xfrm>
            <a:off x="685800" y="3566160"/>
            <a:ext cx="2011680" cy="822960"/>
          </a:xfrm>
          <a:prstGeom prst="rect">
            <a:avLst/>
          </a:prstGeom>
          <a:noFill/>
          <a:ln/>
        </p:spPr>
        <p:txBody>
          <a:bodyPr wrap="square" rtlCol="0" anchor="ctr"/>
          <a:lstStyle/>
          <a:p>
            <a:pPr indent="0" marL="0">
              <a:buNone/>
            </a:pPr>
            <a:r>
              <a:rPr lang="en-US" sz="1400" b="1" dirty="0">
                <a:solidFill>
                  <a:srgbClr val="2D6A4F"/>
                </a:solidFill>
                <a:latin typeface="Cambria" pitchFamily="34" charset="0"/>
                <a:ea typeface="Cambria" pitchFamily="34" charset="-122"/>
                <a:cs typeface="Cambria" pitchFamily="34" charset="-120"/>
              </a:rPr>
              <a:t>conclusion</a:t>
            </a:r>
            <a:endParaRPr lang="en-US" sz="1400" dirty="0"/>
          </a:p>
        </p:txBody>
      </p:sp>
      <p:sp>
        <p:nvSpPr>
          <p:cNvPr id="15" name="Text 13"/>
          <p:cNvSpPr/>
          <p:nvPr/>
        </p:nvSpPr>
        <p:spPr>
          <a:xfrm>
            <a:off x="2834640" y="3566160"/>
            <a:ext cx="5669280" cy="822960"/>
          </a:xfrm>
          <a:prstGeom prst="rect">
            <a:avLst/>
          </a:prstGeom>
          <a:noFill/>
          <a:ln/>
        </p:spPr>
        <p:txBody>
          <a:bodyPr wrap="square" rtlCol="0" anchor="ctr"/>
          <a:lstStyle/>
          <a:p>
            <a:pPr indent="0" marL="0">
              <a:buNone/>
            </a:pPr>
            <a:r>
              <a:rPr lang="en-US" sz="1200" dirty="0">
                <a:solidFill>
                  <a:srgbClr val="2B1D12"/>
                </a:solidFill>
                <a:latin typeface="Calibri" pitchFamily="34" charset="0"/>
                <a:ea typeface="Calibri" pitchFamily="34" charset="-122"/>
                <a:cs typeface="Calibri" pitchFamily="34" charset="-120"/>
              </a:rPr>
              <a:t>An explanation that uses evidence to answer your question — not just a guess, but based on what you found.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Notebook Entry</a:t>
            </a:r>
            <a:endParaRPr lang="en-US" sz="2100" dirty="0"/>
          </a:p>
        </p:txBody>
      </p:sp>
      <p:sp>
        <p:nvSpPr>
          <p:cNvPr id="7" name="Shape 5"/>
          <p:cNvSpPr/>
          <p:nvPr/>
        </p:nvSpPr>
        <p:spPr>
          <a:xfrm>
            <a:off x="320040" y="1280160"/>
            <a:ext cx="8503920" cy="1280160"/>
          </a:xfrm>
          <a:prstGeom prst="roundRect">
            <a:avLst>
              <a:gd name="adj" fmla="val 5714"/>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COPY CAREFULLY INTO YOUR SCIENCE NOTEBOOK</a:t>
            </a:r>
            <a:endParaRPr lang="en-US" sz="1100" dirty="0"/>
          </a:p>
        </p:txBody>
      </p:sp>
      <p:sp>
        <p:nvSpPr>
          <p:cNvPr id="9" name="Text 7"/>
          <p:cNvSpPr/>
          <p:nvPr/>
        </p:nvSpPr>
        <p:spPr>
          <a:xfrm>
            <a:off x="502920" y="1572768"/>
            <a:ext cx="8138160" cy="93268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"Scientists use data and evidence to find patterns and draw conclusions about how plants grow."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1 · PHOTO</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Scientists Watch For</a:t>
            </a:r>
            <a:endParaRPr lang="en-US" sz="2100" dirty="0"/>
          </a:p>
        </p:txBody>
      </p:sp>
      <p:sp>
        <p:nvSpPr>
          <p:cNvPr id="7" name="Text 5"/>
          <p:cNvSpPr/>
          <p:nvPr/>
        </p:nvSpPr>
        <p:spPr>
          <a:xfrm>
            <a:off x="320040" y="1051560"/>
            <a:ext cx="8503920" cy="82296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Plants don't all grow the same way. Scientists collect data about things they can measure — plant height, number of leaves, and color. A good observation is specific: '13 cm tall with 8 dark green leaves' is much more useful than 'it grew a lot.'</a:t>
            </a:r>
            <a:endParaRPr lang="en-US" sz="1200" dirty="0"/>
          </a:p>
        </p:txBody>
      </p:sp>
      <p:sp>
        <p:nvSpPr>
          <p:cNvPr id="8" name="Shape 6"/>
          <p:cNvSpPr/>
          <p:nvPr/>
        </p:nvSpPr>
        <p:spPr>
          <a:xfrm>
            <a:off x="457200" y="1965960"/>
            <a:ext cx="8229600" cy="1508760"/>
          </a:xfrm>
          <a:prstGeom prst="roundRect">
            <a:avLst>
              <a:gd name="adj" fmla="val 4848"/>
            </a:avLst>
          </a:prstGeom>
          <a:solidFill>
            <a:srgbClr val="FFF3E0"/>
          </a:solidFill>
          <a:ln w="25400">
            <a:solidFill>
              <a:srgbClr val="F9A825"/>
            </a:solidFill>
            <a:prstDash val="dash"/>
          </a:ln>
        </p:spPr>
      </p:sp>
      <p:sp>
        <p:nvSpPr>
          <p:cNvPr id="9" name="Text 7"/>
          <p:cNvSpPr/>
          <p:nvPr/>
        </p:nvSpPr>
        <p:spPr>
          <a:xfrm>
            <a:off x="640080" y="205740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331720"/>
            <a:ext cx="7863840" cy="79552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close-up photograph of a child's hands pressing a centimeter ruler against the stem of a small green seedling growing in dark soil in a pot. The ruler clearly shows centimeter markings. A science notebook with handwritten observations is slightly blurred in the background. The setting is a sunny windowsill or outdoor garden table. Warm natural lighting, rich colors, no white background or borders. Real-world educational photo, no illustrations, no cartoons. Style: candid, warm, suitable for 3rd grade science.</a:t>
            </a:r>
            <a:endParaRPr lang="en-US" sz="1100" dirty="0"/>
          </a:p>
        </p:txBody>
      </p:sp>
      <p:sp>
        <p:nvSpPr>
          <p:cNvPr id="11" name="Text 9"/>
          <p:cNvSpPr/>
          <p:nvPr/>
        </p:nvSpPr>
        <p:spPr>
          <a:xfrm>
            <a:off x="640080" y="318211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images/8-02-scientist-measuring-plant.png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Changing One Thing at a Time</a:t>
            </a:r>
            <a:endParaRPr lang="en-US" sz="2100" dirty="0"/>
          </a:p>
        </p:txBody>
      </p:sp>
      <p:sp>
        <p:nvSpPr>
          <p:cNvPr id="7" name="Shape 5"/>
          <p:cNvSpPr/>
          <p:nvPr/>
        </p:nvSpPr>
        <p:spPr>
          <a:xfrm>
            <a:off x="320040" y="1097280"/>
            <a:ext cx="8503920" cy="902970"/>
          </a:xfrm>
          <a:prstGeom prst="roundRect">
            <a:avLst>
              <a:gd name="adj" fmla="val 8101"/>
            </a:avLst>
          </a:prstGeom>
          <a:solidFill>
            <a:srgbClr val="FFF9E8"/>
          </a:solidFill>
          <a:ln w="19050">
            <a:solidFill>
              <a:srgbClr val="F9A825"/>
            </a:solidFill>
            <a:prstDash val="solid"/>
          </a:ln>
        </p:spPr>
      </p:sp>
      <p:sp>
        <p:nvSpPr>
          <p:cNvPr id="8" name="Text 6"/>
          <p:cNvSpPr/>
          <p:nvPr/>
        </p:nvSpPr>
        <p:spPr>
          <a:xfrm>
            <a:off x="502920" y="11704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9" name="Text 7"/>
          <p:cNvSpPr/>
          <p:nvPr/>
        </p:nvSpPr>
        <p:spPr>
          <a:xfrm>
            <a:off x="502920" y="13898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If two plants grow differently, how can scientists be sure exactly which condition caused the difference?</a:t>
            </a:r>
            <a:endParaRPr lang="en-US" sz="1300" dirty="0"/>
          </a:p>
        </p:txBody>
      </p:sp>
      <p:sp>
        <p:nvSpPr>
          <p:cNvPr id="10" name="Text 8"/>
          <p:cNvSpPr/>
          <p:nvPr/>
        </p:nvSpPr>
        <p:spPr>
          <a:xfrm>
            <a:off x="320040" y="2057400"/>
            <a:ext cx="8503920" cy="82296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To find out what helps plants grow, scientists change only one condition at a time. Some plants got more sunlight, some got less; others got more or less water. Everything else — same seed, same soil, same pot size — stays the same, so we know exactly why plants grow differently.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Using Graphs to Find Patterns</a:t>
            </a:r>
            <a:endParaRPr lang="en-US" sz="2100" dirty="0"/>
          </a:p>
        </p:txBody>
      </p:sp>
      <p:sp>
        <p:nvSpPr>
          <p:cNvPr id="7" name="Text 5"/>
          <p:cNvSpPr/>
          <p:nvPr/>
        </p:nvSpPr>
        <p:spPr>
          <a:xfrm>
            <a:off x="320040" y="1097280"/>
            <a:ext cx="8503920" cy="96012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A data table shows the numbers. A bar graph makes those numbers easy to see. When the bars are different heights, you can spot a pattern right away. When you find a pattern, you're ready to write a conclusion — an explanation that uses your evidence to answer the original question.</a:t>
            </a:r>
            <a:endParaRPr lang="en-US" sz="1200" dirty="0"/>
          </a:p>
        </p:txBody>
      </p:sp>
      <p:sp>
        <p:nvSpPr>
          <p:cNvPr id="8" name="Shape 6"/>
          <p:cNvSpPr/>
          <p:nvPr/>
        </p:nvSpPr>
        <p:spPr>
          <a:xfrm>
            <a:off x="457200" y="2148840"/>
            <a:ext cx="8229600" cy="548640"/>
          </a:xfrm>
          <a:prstGeom prst="roundRect">
            <a:avLst>
              <a:gd name="adj" fmla="val 13333"/>
            </a:avLst>
          </a:prstGeom>
          <a:solidFill>
            <a:srgbClr val="0E1C42"/>
          </a:solidFill>
          <a:ln/>
        </p:spPr>
      </p:sp>
      <p:sp>
        <p:nvSpPr>
          <p:cNvPr id="9" name="Text 7"/>
          <p:cNvSpPr/>
          <p:nvPr/>
        </p:nvSpPr>
        <p:spPr>
          <a:xfrm>
            <a:off x="457200" y="2148840"/>
            <a:ext cx="8229600" cy="54864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DATA  →  PATTERN  →  EVIDENCE  →  CONCLUSION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FOUR PLANTS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Growth Data You'll Use Today</a:t>
            </a:r>
            <a:endParaRPr lang="en-US" sz="2100" dirty="0"/>
          </a:p>
        </p:txBody>
      </p:sp>
      <p:sp>
        <p:nvSpPr>
          <p:cNvPr id="7" name="Shape 5"/>
          <p:cNvSpPr/>
          <p:nvPr/>
        </p:nvSpPr>
        <p:spPr>
          <a:xfrm>
            <a:off x="1371600" y="1097280"/>
            <a:ext cx="3657600" cy="457200"/>
          </a:xfrm>
          <a:prstGeom prst="rect">
            <a:avLst/>
          </a:prstGeom>
          <a:solidFill>
            <a:srgbClr val="0E1C42"/>
          </a:solidFill>
          <a:ln w="12700">
            <a:solidFill>
              <a:srgbClr val="E8DDD2"/>
            </a:solidFill>
            <a:prstDash val="solid"/>
          </a:ln>
        </p:spPr>
      </p:sp>
      <p:sp>
        <p:nvSpPr>
          <p:cNvPr id="8" name="Shape 6"/>
          <p:cNvSpPr/>
          <p:nvPr/>
        </p:nvSpPr>
        <p:spPr>
          <a:xfrm>
            <a:off x="5029200" y="1097280"/>
            <a:ext cx="2743200" cy="457200"/>
          </a:xfrm>
          <a:prstGeom prst="rect">
            <a:avLst/>
          </a:prstGeom>
          <a:solidFill>
            <a:srgbClr val="0E1C42"/>
          </a:solidFill>
          <a:ln w="12700">
            <a:solidFill>
              <a:srgbClr val="E8DDD2"/>
            </a:solidFill>
            <a:prstDash val="solid"/>
          </a:ln>
        </p:spPr>
      </p:sp>
      <p:sp>
        <p:nvSpPr>
          <p:cNvPr id="9" name="Text 7"/>
          <p:cNvSpPr/>
          <p:nvPr/>
        </p:nvSpPr>
        <p:spPr>
          <a:xfrm>
            <a:off x="1371600" y="1097280"/>
            <a:ext cx="36576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Condition</a:t>
            </a:r>
            <a:endParaRPr lang="en-US" sz="1250" dirty="0"/>
          </a:p>
        </p:txBody>
      </p:sp>
      <p:sp>
        <p:nvSpPr>
          <p:cNvPr id="10" name="Text 8"/>
          <p:cNvSpPr/>
          <p:nvPr/>
        </p:nvSpPr>
        <p:spPr>
          <a:xfrm>
            <a:off x="5029200" y="1097280"/>
            <a:ext cx="27432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Height (cm)</a:t>
            </a:r>
            <a:endParaRPr lang="en-US" sz="1250" dirty="0"/>
          </a:p>
        </p:txBody>
      </p:sp>
      <p:sp>
        <p:nvSpPr>
          <p:cNvPr id="11" name="Shape 9"/>
          <p:cNvSpPr/>
          <p:nvPr/>
        </p:nvSpPr>
        <p:spPr>
          <a:xfrm>
            <a:off x="1371600" y="1554480"/>
            <a:ext cx="3657600" cy="457200"/>
          </a:xfrm>
          <a:prstGeom prst="rect">
            <a:avLst/>
          </a:prstGeom>
          <a:solidFill>
            <a:srgbClr val="FFFFFF"/>
          </a:solidFill>
          <a:ln w="12700">
            <a:solidFill>
              <a:srgbClr val="E8DDD2"/>
            </a:solidFill>
            <a:prstDash val="solid"/>
          </a:ln>
        </p:spPr>
      </p:sp>
      <p:sp>
        <p:nvSpPr>
          <p:cNvPr id="12" name="Shape 10"/>
          <p:cNvSpPr/>
          <p:nvPr/>
        </p:nvSpPr>
        <p:spPr>
          <a:xfrm>
            <a:off x="5029200" y="1554480"/>
            <a:ext cx="2743200" cy="457200"/>
          </a:xfrm>
          <a:prstGeom prst="rect">
            <a:avLst/>
          </a:prstGeom>
          <a:solidFill>
            <a:srgbClr val="FFFFFF"/>
          </a:solidFill>
          <a:ln w="12700">
            <a:solidFill>
              <a:srgbClr val="E8DDD2"/>
            </a:solidFill>
            <a:prstDash val="solid"/>
          </a:ln>
        </p:spPr>
      </p:sp>
      <p:sp>
        <p:nvSpPr>
          <p:cNvPr id="13" name="Text 11"/>
          <p:cNvSpPr/>
          <p:nvPr/>
        </p:nvSpPr>
        <p:spPr>
          <a:xfrm>
            <a:off x="1371600" y="1554480"/>
            <a:ext cx="36576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More Sunlight</a:t>
            </a:r>
            <a:endParaRPr lang="en-US" sz="1250" dirty="0"/>
          </a:p>
        </p:txBody>
      </p:sp>
      <p:sp>
        <p:nvSpPr>
          <p:cNvPr id="14" name="Text 12"/>
          <p:cNvSpPr/>
          <p:nvPr/>
        </p:nvSpPr>
        <p:spPr>
          <a:xfrm>
            <a:off x="5029200" y="1554480"/>
            <a:ext cx="27432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13 cm</a:t>
            </a:r>
            <a:endParaRPr lang="en-US" sz="1250" dirty="0"/>
          </a:p>
        </p:txBody>
      </p:sp>
      <p:sp>
        <p:nvSpPr>
          <p:cNvPr id="15" name="Shape 13"/>
          <p:cNvSpPr/>
          <p:nvPr/>
        </p:nvSpPr>
        <p:spPr>
          <a:xfrm>
            <a:off x="1371600" y="2011680"/>
            <a:ext cx="3657600" cy="457200"/>
          </a:xfrm>
          <a:prstGeom prst="rect">
            <a:avLst/>
          </a:prstGeom>
          <a:solidFill>
            <a:srgbClr val="FFFFFF"/>
          </a:solidFill>
          <a:ln w="12700">
            <a:solidFill>
              <a:srgbClr val="E8DDD2"/>
            </a:solidFill>
            <a:prstDash val="solid"/>
          </a:ln>
        </p:spPr>
      </p:sp>
      <p:sp>
        <p:nvSpPr>
          <p:cNvPr id="16" name="Shape 14"/>
          <p:cNvSpPr/>
          <p:nvPr/>
        </p:nvSpPr>
        <p:spPr>
          <a:xfrm>
            <a:off x="5029200" y="2011680"/>
            <a:ext cx="2743200" cy="457200"/>
          </a:xfrm>
          <a:prstGeom prst="rect">
            <a:avLst/>
          </a:prstGeom>
          <a:solidFill>
            <a:srgbClr val="FFFFFF"/>
          </a:solidFill>
          <a:ln w="12700">
            <a:solidFill>
              <a:srgbClr val="E8DDD2"/>
            </a:solidFill>
            <a:prstDash val="solid"/>
          </a:ln>
        </p:spPr>
      </p:sp>
      <p:sp>
        <p:nvSpPr>
          <p:cNvPr id="17" name="Text 15"/>
          <p:cNvSpPr/>
          <p:nvPr/>
        </p:nvSpPr>
        <p:spPr>
          <a:xfrm>
            <a:off x="1371600" y="2011680"/>
            <a:ext cx="36576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Less Sunlight</a:t>
            </a:r>
            <a:endParaRPr lang="en-US" sz="1250" dirty="0"/>
          </a:p>
        </p:txBody>
      </p:sp>
      <p:sp>
        <p:nvSpPr>
          <p:cNvPr id="18" name="Text 16"/>
          <p:cNvSpPr/>
          <p:nvPr/>
        </p:nvSpPr>
        <p:spPr>
          <a:xfrm>
            <a:off x="5029200" y="2011680"/>
            <a:ext cx="27432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4 cm</a:t>
            </a:r>
            <a:endParaRPr lang="en-US" sz="1250" dirty="0"/>
          </a:p>
        </p:txBody>
      </p:sp>
      <p:sp>
        <p:nvSpPr>
          <p:cNvPr id="19" name="Shape 17"/>
          <p:cNvSpPr/>
          <p:nvPr/>
        </p:nvSpPr>
        <p:spPr>
          <a:xfrm>
            <a:off x="1371600" y="2468880"/>
            <a:ext cx="3657600" cy="457200"/>
          </a:xfrm>
          <a:prstGeom prst="rect">
            <a:avLst/>
          </a:prstGeom>
          <a:solidFill>
            <a:srgbClr val="FFFFFF"/>
          </a:solidFill>
          <a:ln w="12700">
            <a:solidFill>
              <a:srgbClr val="E8DDD2"/>
            </a:solidFill>
            <a:prstDash val="solid"/>
          </a:ln>
        </p:spPr>
      </p:sp>
      <p:sp>
        <p:nvSpPr>
          <p:cNvPr id="20" name="Shape 18"/>
          <p:cNvSpPr/>
          <p:nvPr/>
        </p:nvSpPr>
        <p:spPr>
          <a:xfrm>
            <a:off x="5029200" y="2468880"/>
            <a:ext cx="2743200" cy="457200"/>
          </a:xfrm>
          <a:prstGeom prst="rect">
            <a:avLst/>
          </a:prstGeom>
          <a:solidFill>
            <a:srgbClr val="FFFFFF"/>
          </a:solidFill>
          <a:ln w="12700">
            <a:solidFill>
              <a:srgbClr val="E8DDD2"/>
            </a:solidFill>
            <a:prstDash val="solid"/>
          </a:ln>
        </p:spPr>
      </p:sp>
      <p:sp>
        <p:nvSpPr>
          <p:cNvPr id="21" name="Text 19"/>
          <p:cNvSpPr/>
          <p:nvPr/>
        </p:nvSpPr>
        <p:spPr>
          <a:xfrm>
            <a:off x="1371600" y="2468880"/>
            <a:ext cx="36576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More Water</a:t>
            </a:r>
            <a:endParaRPr lang="en-US" sz="1250" dirty="0"/>
          </a:p>
        </p:txBody>
      </p:sp>
      <p:sp>
        <p:nvSpPr>
          <p:cNvPr id="22" name="Text 20"/>
          <p:cNvSpPr/>
          <p:nvPr/>
        </p:nvSpPr>
        <p:spPr>
          <a:xfrm>
            <a:off x="5029200" y="2468880"/>
            <a:ext cx="27432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10 cm</a:t>
            </a:r>
            <a:endParaRPr lang="en-US" sz="1250" dirty="0"/>
          </a:p>
        </p:txBody>
      </p:sp>
      <p:sp>
        <p:nvSpPr>
          <p:cNvPr id="23" name="Shape 21"/>
          <p:cNvSpPr/>
          <p:nvPr/>
        </p:nvSpPr>
        <p:spPr>
          <a:xfrm>
            <a:off x="1371600" y="2926080"/>
            <a:ext cx="3657600" cy="457200"/>
          </a:xfrm>
          <a:prstGeom prst="rect">
            <a:avLst/>
          </a:prstGeom>
          <a:solidFill>
            <a:srgbClr val="FFFFFF"/>
          </a:solidFill>
          <a:ln w="12700">
            <a:solidFill>
              <a:srgbClr val="E8DDD2"/>
            </a:solidFill>
            <a:prstDash val="solid"/>
          </a:ln>
        </p:spPr>
      </p:sp>
      <p:sp>
        <p:nvSpPr>
          <p:cNvPr id="24" name="Shape 22"/>
          <p:cNvSpPr/>
          <p:nvPr/>
        </p:nvSpPr>
        <p:spPr>
          <a:xfrm>
            <a:off x="5029200" y="2926080"/>
            <a:ext cx="2743200" cy="457200"/>
          </a:xfrm>
          <a:prstGeom prst="rect">
            <a:avLst/>
          </a:prstGeom>
          <a:solidFill>
            <a:srgbClr val="FFFFFF"/>
          </a:solidFill>
          <a:ln w="12700">
            <a:solidFill>
              <a:srgbClr val="E8DDD2"/>
            </a:solidFill>
            <a:prstDash val="solid"/>
          </a:ln>
        </p:spPr>
      </p:sp>
      <p:sp>
        <p:nvSpPr>
          <p:cNvPr id="25" name="Text 23"/>
          <p:cNvSpPr/>
          <p:nvPr/>
        </p:nvSpPr>
        <p:spPr>
          <a:xfrm>
            <a:off x="1371600" y="2926080"/>
            <a:ext cx="36576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Less Water</a:t>
            </a:r>
            <a:endParaRPr lang="en-US" sz="1250" dirty="0"/>
          </a:p>
        </p:txBody>
      </p:sp>
      <p:sp>
        <p:nvSpPr>
          <p:cNvPr id="26" name="Text 24"/>
          <p:cNvSpPr/>
          <p:nvPr/>
        </p:nvSpPr>
        <p:spPr>
          <a:xfrm>
            <a:off x="5029200" y="2926080"/>
            <a:ext cx="2743200" cy="457200"/>
          </a:xfrm>
          <a:prstGeom prst="rect">
            <a:avLst/>
          </a:prstGeom>
          <a:noFill/>
          <a:ln/>
        </p:spPr>
        <p:txBody>
          <a:bodyPr wrap="square" rtlCol="0" anchor="ctr"/>
          <a:lstStyle/>
          <a:p>
            <a:pPr algn="ctr" indent="0" marL="0">
              <a:buNone/>
            </a:pPr>
            <a:r>
              <a:rPr lang="en-US" sz="1250" dirty="0">
                <a:solidFill>
                  <a:srgbClr val="2B1D12"/>
                </a:solidFill>
                <a:latin typeface="Calibri" pitchFamily="34" charset="0"/>
                <a:ea typeface="Calibri" pitchFamily="34" charset="-122"/>
                <a:cs typeface="Calibri" pitchFamily="34" charset="-120"/>
              </a:rPr>
              <a:t>2 cm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Say It Before We Show It</a:t>
            </a:r>
            <a:endParaRPr lang="en-US" sz="2100" dirty="0"/>
          </a:p>
        </p:txBody>
      </p:sp>
      <p:sp>
        <p:nvSpPr>
          <p:cNvPr id="7" name="Shape 5"/>
          <p:cNvSpPr/>
          <p:nvPr/>
        </p:nvSpPr>
        <p:spPr>
          <a:xfrm>
            <a:off x="320040" y="1280160"/>
            <a:ext cx="8503920" cy="1463040"/>
          </a:xfrm>
          <a:prstGeom prst="roundRect">
            <a:avLst>
              <a:gd name="adj" fmla="val 5000"/>
            </a:avLst>
          </a:prstGeom>
          <a:solidFill>
            <a:srgbClr val="F0F8E8"/>
          </a:solidFill>
          <a:ln w="19050">
            <a:solidFill>
              <a:srgbClr val="C8E0B8"/>
            </a:solidFill>
            <a:prstDash val="solid"/>
          </a:ln>
        </p:spPr>
      </p:sp>
      <p:sp>
        <p:nvSpPr>
          <p:cNvPr id="8" name="Text 6"/>
          <p:cNvSpPr/>
          <p:nvPr/>
        </p:nvSpPr>
        <p:spPr>
          <a:xfrm>
            <a:off x="502920" y="135331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572768"/>
            <a:ext cx="8138160" cy="11155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Plants need sunlight and water to grow. When scientists change one condition at a time and collect data, patterns in the results show which conditions matter most. Data and graphs help us see those patterns clearly — so our conclusions are based on evidence, not guesses.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PLANT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12 Feet in a Single Summer</a:t>
            </a:r>
            <a:endParaRPr lang="en-US" sz="2100" dirty="0"/>
          </a:p>
        </p:txBody>
      </p:sp>
      <p:sp>
        <p:nvSpPr>
          <p:cNvPr id="7" name="Text 5"/>
          <p:cNvSpPr/>
          <p:nvPr/>
        </p:nvSpPr>
        <p:spPr>
          <a:xfrm>
            <a:off x="320040" y="1097280"/>
            <a:ext cx="8503920" cy="73152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A sunflower can grow up to 12 feet tall in a single summer — but only if it gets full sun. Plant it in deep shade, and it might barely make it past your knees.</a:t>
            </a:r>
            <a:endParaRPr lang="en-US" sz="1350" dirty="0"/>
          </a:p>
        </p:txBody>
      </p:sp>
      <p:sp>
        <p:nvSpPr>
          <p:cNvPr id="8" name="Shape 6"/>
          <p:cNvSpPr/>
          <p:nvPr/>
        </p:nvSpPr>
        <p:spPr>
          <a:xfrm>
            <a:off x="457200" y="1920240"/>
            <a:ext cx="8229600" cy="1508760"/>
          </a:xfrm>
          <a:prstGeom prst="roundRect">
            <a:avLst>
              <a:gd name="adj" fmla="val 4848"/>
            </a:avLst>
          </a:prstGeom>
          <a:solidFill>
            <a:srgbClr val="FFF3E0"/>
          </a:solidFill>
          <a:ln w="25400">
            <a:solidFill>
              <a:srgbClr val="F9A825"/>
            </a:solidFill>
            <a:prstDash val="dash"/>
          </a:ln>
        </p:spPr>
      </p:sp>
      <p:sp>
        <p:nvSpPr>
          <p:cNvPr id="9" name="Text 7"/>
          <p:cNvSpPr/>
          <p:nvPr/>
        </p:nvSpPr>
        <p:spPr>
          <a:xfrm>
            <a:off x="640080" y="2011680"/>
            <a:ext cx="7863840" cy="256032"/>
          </a:xfrm>
          <a:prstGeom prst="rect">
            <a:avLst/>
          </a:prstGeom>
          <a:noFill/>
          <a:ln/>
        </p:spPr>
        <p:txBody>
          <a:bodyPr wrap="square" rtlCol="0" anchor="ctr"/>
          <a:lstStyle/>
          <a:p>
            <a:pPr indent="0" marL="0">
              <a:buNone/>
            </a:pPr>
            <a:r>
              <a:rPr lang="en-US" sz="1100" b="1" spc="100" kern="0" dirty="0">
                <a:solidFill>
                  <a:srgbClr val="E65100"/>
                </a:solidFill>
                <a:latin typeface="Calibri" pitchFamily="34" charset="0"/>
                <a:ea typeface="Calibri" pitchFamily="34" charset="-122"/>
                <a:cs typeface="Calibri" pitchFamily="34" charset="-120"/>
              </a:rPr>
              <a:t>IMAGE NEEDED</a:t>
            </a:r>
            <a:endParaRPr lang="en-US" sz="1100" dirty="0"/>
          </a:p>
        </p:txBody>
      </p:sp>
      <p:sp>
        <p:nvSpPr>
          <p:cNvPr id="10" name="Text 8"/>
          <p:cNvSpPr/>
          <p:nvPr/>
        </p:nvSpPr>
        <p:spPr>
          <a:xfrm>
            <a:off x="640080" y="2286000"/>
            <a:ext cx="7863840" cy="795528"/>
          </a:xfrm>
          <a:prstGeom prst="rect">
            <a:avLst/>
          </a:prstGeom>
          <a:noFill/>
          <a:ln/>
        </p:spPr>
        <p:txBody>
          <a:bodyPr wrap="square" rtlCol="0" anchor="t"/>
          <a:lstStyle/>
          <a:p>
            <a:pPr indent="0" marL="0">
              <a:buNone/>
            </a:pPr>
            <a:r>
              <a:rPr lang="en-US" sz="1100" dirty="0">
                <a:solidFill>
                  <a:srgbClr val="5A4D3E"/>
                </a:solidFill>
                <a:latin typeface="Calibri" pitchFamily="34" charset="0"/>
                <a:ea typeface="Calibri" pitchFamily="34" charset="-122"/>
                <a:cs typeface="Calibri" pitchFamily="34" charset="-120"/>
              </a:rPr>
              <a:t>A photograph looking upward through the broad green leaves of a plant or low tree branch, toward bright natural sunlight. The sunlight streams through the leaf surfaces, making the leaf veins glow amber and gold and the rest of the leaf a rich, luminous green. Shot outdoors in a real garden, field, or forest. Warm golden light, deep greens, no white background or borders, no text or overlays. Real-world nature photography style, vibrant and warm, suitable for 3rd grade science.</a:t>
            </a:r>
            <a:endParaRPr lang="en-US" sz="1100" dirty="0"/>
          </a:p>
        </p:txBody>
      </p:sp>
      <p:sp>
        <p:nvSpPr>
          <p:cNvPr id="11" name="Text 9"/>
          <p:cNvSpPr/>
          <p:nvPr/>
        </p:nvSpPr>
        <p:spPr>
          <a:xfrm>
            <a:off x="640080" y="3136392"/>
            <a:ext cx="7863840" cy="237744"/>
          </a:xfrm>
          <a:prstGeom prst="rect">
            <a:avLst/>
          </a:prstGeom>
          <a:noFill/>
          <a:ln/>
        </p:spPr>
        <p:txBody>
          <a:bodyPr wrap="square" rtlCol="0" anchor="ctr"/>
          <a:lstStyle/>
          <a:p>
            <a:pPr indent="0" marL="0">
              <a:buNone/>
            </a:pPr>
            <a:r>
              <a:rPr lang="en-US" sz="950" i="1" dirty="0">
                <a:solidFill>
                  <a:srgbClr val="9A8E82"/>
                </a:solidFill>
                <a:latin typeface="Calibri" pitchFamily="34" charset="0"/>
                <a:ea typeface="Calibri" pitchFamily="34" charset="-122"/>
                <a:cs typeface="Calibri" pitchFamily="34" charset="-120"/>
              </a:rPr>
              <a:t>Save as: images/8-02-sunlight-through-leaves.png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 · 15 MIN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Set Up Your Data Table and Bar Graph</a:t>
            </a:r>
            <a:endParaRPr lang="en-US" sz="2100" dirty="0"/>
          </a:p>
        </p:txBody>
      </p:sp>
      <p:sp>
        <p:nvSpPr>
          <p:cNvPr id="7" name="Shape 5"/>
          <p:cNvSpPr/>
          <p:nvPr/>
        </p:nvSpPr>
        <p:spPr>
          <a:xfrm>
            <a:off x="320040" y="1097280"/>
            <a:ext cx="8503920" cy="868680"/>
          </a:xfrm>
          <a:prstGeom prst="roundRect">
            <a:avLst>
              <a:gd name="adj" fmla="val 8421"/>
            </a:avLst>
          </a:prstGeom>
          <a:solidFill>
            <a:srgbClr val="FFF3E0"/>
          </a:solidFill>
          <a:ln w="19050">
            <a:solidFill>
              <a:srgbClr val="F57C00"/>
            </a:solidFill>
            <a:prstDash val="solid"/>
          </a:ln>
        </p:spPr>
      </p:sp>
      <p:sp>
        <p:nvSpPr>
          <p:cNvPr id="8" name="Text 6"/>
          <p:cNvSpPr/>
          <p:nvPr/>
        </p:nvSpPr>
        <p:spPr>
          <a:xfrm>
            <a:off x="502920" y="115214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9" name="Text 7"/>
          <p:cNvSpPr/>
          <p:nvPr/>
        </p:nvSpPr>
        <p:spPr>
          <a:xfrm>
            <a:off x="502920" y="1316736"/>
            <a:ext cx="8138160" cy="61264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Set Up Your Data Table: draw a table with two columns — Condition and Height (cm). Fill in the four rows: More Sunlight 13 cm, Less Sunlight 4 cm, More Water 10 cm, Less Water 2 cm. All four plants started as seeds at 0 cm.</a:t>
            </a:r>
            <a:endParaRPr lang="en-US" sz="1300" dirty="0"/>
          </a:p>
        </p:txBody>
      </p:sp>
      <p:sp>
        <p:nvSpPr>
          <p:cNvPr id="10" name="Text 8"/>
          <p:cNvSpPr/>
          <p:nvPr/>
        </p:nvSpPr>
        <p:spPr>
          <a:xfrm>
            <a:off x="320040" y="2103120"/>
            <a:ext cx="8503920" cy="64008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Create a Bar Graph: put the four conditions on the bottom, height in centimeters (0-15) on the side. Draw and color a bar for each condition in a different color.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Compare Two Conditions, Find the Pattern</a:t>
            </a:r>
            <a:endParaRPr lang="en-US" sz="2100" dirty="0"/>
          </a:p>
        </p:txBody>
      </p:sp>
      <p:sp>
        <p:nvSpPr>
          <p:cNvPr id="7" name="Shape 5"/>
          <p:cNvSpPr/>
          <p:nvPr/>
        </p:nvSpPr>
        <p:spPr>
          <a:xfrm>
            <a:off x="320040" y="1097280"/>
            <a:ext cx="8503920" cy="1554734"/>
          </a:xfrm>
          <a:prstGeom prst="roundRect">
            <a:avLst>
              <a:gd name="adj" fmla="val 4705"/>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170686"/>
          </a:xfrm>
          <a:prstGeom prst="rect">
            <a:avLst/>
          </a:prstGeom>
          <a:noFill/>
          <a:ln/>
        </p:spPr>
        <p:txBody>
          <a:bodyPr wrap="square" rtlCol="0" anchor="t"/>
          <a:lstStyle/>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Compare Two Conditions: pick one pair — sunlight (More vs Less) or water (More vs Less). Write the difference in centimeters. Which condition had a bigger impact?</a:t>
            </a:r>
            <a:endParaRPr lang="en-US" sz="1150" dirty="0"/>
          </a:p>
          <a:p>
            <a:pPr marL="342900" indent="-342900">
              <a:lnSpc>
                <a:spcPts val="1783"/>
              </a:lnSpc>
              <a:buSzPct val="100000"/>
              <a:buChar char="●"/>
            </a:pPr>
            <a:r>
              <a:rPr lang="en-US" sz="1150" dirty="0">
                <a:solidFill>
                  <a:srgbClr val="1B4332"/>
                </a:solidFill>
                <a:latin typeface="Calibri" pitchFamily="34" charset="0"/>
                <a:ea typeface="Calibri" pitchFamily="34" charset="-122"/>
                <a:cs typeface="Calibri" pitchFamily="34" charset="-120"/>
              </a:rPr>
              <a:t>Find the Pattern: write one sentence describing the pattern you see, starting with "Plants with more ___ grew ___ than plants with less ___."</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Pause and Think About What You Found</a:t>
            </a:r>
            <a:endParaRPr lang="en-US" sz="2100" dirty="0"/>
          </a:p>
        </p:txBody>
      </p:sp>
      <p:sp>
        <p:nvSpPr>
          <p:cNvPr id="7" name="Shape 5"/>
          <p:cNvSpPr/>
          <p:nvPr/>
        </p:nvSpPr>
        <p:spPr>
          <a:xfrm>
            <a:off x="320040" y="1097280"/>
            <a:ext cx="8503920" cy="1792415"/>
          </a:xfrm>
          <a:prstGeom prst="roundRect">
            <a:avLst>
              <a:gd name="adj" fmla="val 4081"/>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408367"/>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Which plant grew the tallest? Which grew the shortest? Write the heights in centimeters.</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What pattern do you see between the sunlight conditions? Between the water conditions?</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Draw a simple sketch of your bar graph, labeling each bar with the condition name and height.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Tell the story of this investigation from beginning to end — what scientists wanted to find out, what they measured, and what the data showed.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It Through</a:t>
            </a:r>
            <a:endParaRPr lang="en-US" sz="2100" dirty="0"/>
          </a:p>
        </p:txBody>
      </p:sp>
      <p:sp>
        <p:nvSpPr>
          <p:cNvPr id="7" name="Shape 5"/>
          <p:cNvSpPr/>
          <p:nvPr/>
        </p:nvSpPr>
        <p:spPr>
          <a:xfrm>
            <a:off x="320040" y="1097280"/>
            <a:ext cx="8503920" cy="1999107"/>
          </a:xfrm>
          <a:prstGeom prst="roundRect">
            <a:avLst>
              <a:gd name="adj" fmla="val 3659"/>
            </a:avLst>
          </a:prstGeom>
          <a:solidFill>
            <a:srgbClr val="EEF8F0"/>
          </a:solidFill>
          <a:ln w="19050">
            <a:solidFill>
              <a:srgbClr val="52B788"/>
            </a:solidFill>
            <a:prstDash val="solid"/>
          </a:ln>
        </p:spPr>
      </p:sp>
      <p:sp>
        <p:nvSpPr>
          <p:cNvPr id="8" name="Text 6"/>
          <p:cNvSpPr/>
          <p:nvPr/>
        </p:nvSpPr>
        <p:spPr>
          <a:xfrm>
            <a:off x="502920" y="11704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9" name="Text 7"/>
          <p:cNvSpPr/>
          <p:nvPr/>
        </p:nvSpPr>
        <p:spPr>
          <a:xfrm>
            <a:off x="502920" y="1426464"/>
            <a:ext cx="8138160" cy="1615059"/>
          </a:xfrm>
          <a:prstGeom prst="rect">
            <a:avLst/>
          </a:prstGeom>
          <a:noFill/>
          <a:ln/>
        </p:spPr>
        <p:txBody>
          <a:bodyPr wrap="square" rtlCol="0" anchor="t"/>
          <a:lstStyle/>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Which growing condition made the biggest difference in plant height? How do you know — what in your data shows that?</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The plants with more water and less sunlight both had green leaves, but different heights. What does that tell you about what plants need most to grow tall?</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Connect to Nature: a garden in a shady yard grows poorly every year. Based on your data, what would you tell the gardener to change?</a:t>
            </a:r>
            <a:endParaRPr lang="en-US" sz="1050" dirty="0"/>
          </a:p>
          <a:p>
            <a:pPr marL="342900" indent="-342900">
              <a:lnSpc>
                <a:spcPts val="1628"/>
              </a:lnSpc>
              <a:buSzPct val="100000"/>
              <a:buChar char="●"/>
            </a:pPr>
            <a:r>
              <a:rPr lang="en-US" sz="1050" dirty="0">
                <a:solidFill>
                  <a:srgbClr val="1B4332"/>
                </a:solidFill>
                <a:latin typeface="Calibri" pitchFamily="34" charset="0"/>
                <a:ea typeface="Calibri" pitchFamily="34" charset="-122"/>
                <a:cs typeface="Calibri" pitchFamily="34" charset="-120"/>
              </a:rPr>
              <a:t>Improve or Extend: what's one more condition you'd want to test? What do you predict, and why?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a plant investigation, what is data?</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In a plant investigation, what is data?</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guess about what might happen before you test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Information collected during an investigation, like measurements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drawing of the plant you want to grow</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Is a guess before testing the same thing as the numbers you actually collect?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1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a plant investigation, what is data?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Data is the actual information — the numbers and observations — you collect during the investigation. A guess beforehand is a prediction, not data.</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13 cm in sun vs. 4 cm in shade — what does this tell you?</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The plant in full sunlight grew 13 cm. The plant in shade grew 4 cm. What does this data tell you?</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Sunlight helps plants grow taller</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Shade is better for very tall plants</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The two plants had different kinds of seeds</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What was the one condition that changed between these two plants?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2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13 cm in sun vs. 4 cm in shade — what does this tell you?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The difference in height (13 cm vs. 4 cm) is evidence that more sunlight leads to more growth. The only thing that changed was the sunlight.</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More water = taller, every time — what is this?</a:t>
            </a:r>
            <a:endParaRPr lang="en-US" sz="2100" dirty="0"/>
          </a:p>
        </p:txBody>
      </p:sp>
      <p:sp>
        <p:nvSpPr>
          <p:cNvPr id="7" name="Text 5"/>
          <p:cNvSpPr/>
          <p:nvPr/>
        </p:nvSpPr>
        <p:spPr>
          <a:xfrm>
            <a:off x="320040" y="1005840"/>
            <a:ext cx="8503920" cy="822960"/>
          </a:xfrm>
          <a:prstGeom prst="rect">
            <a:avLst/>
          </a:prstGeom>
          <a:noFill/>
          <a:ln/>
        </p:spPr>
        <p:txBody>
          <a:bodyPr wrap="square" rtlCol="0" anchor="t"/>
          <a:lstStyle/>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scientist notices that every time she gives plants more water, they grow taller — until they get too much. This is an example of what?</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A) A conclusion with no evidence</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B) A single observation</a:t>
            </a:r>
            <a:endParaRPr lang="en-US" sz="1600" dirty="0"/>
          </a:p>
          <a:p>
            <a:pPr indent="0" marL="0">
              <a:lnSpc>
                <a:spcPts val="2000"/>
              </a:lnSpc>
              <a:buNone/>
            </a:pPr>
            <a:r>
              <a:rPr lang="en-US" sz="1600" b="1" dirty="0">
                <a:solidFill>
                  <a:srgbClr val="2B1D12"/>
                </a:solidFill>
                <a:latin typeface="Calibri" pitchFamily="34" charset="0"/>
                <a:ea typeface="Calibri" pitchFamily="34" charset="-122"/>
                <a:cs typeface="Calibri" pitchFamily="34" charset="-120"/>
              </a:rPr>
              <a:t>C) A pattern in data</a:t>
            </a:r>
            <a:endParaRPr lang="en-US" sz="1600" dirty="0"/>
          </a:p>
        </p:txBody>
      </p:sp>
      <p:sp>
        <p:nvSpPr>
          <p:cNvPr id="8" name="Shape 6"/>
          <p:cNvSpPr/>
          <p:nvPr/>
        </p:nvSpPr>
        <p:spPr>
          <a:xfrm>
            <a:off x="320040" y="192024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199339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21284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296037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01523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17982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Does something that happens the same way, over and over, sound like a single observation — or something else?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3 OF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More water = taller, every time — what is this?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Something that repeats consistently, like 'every time more water = more growth,' is a pattern. Patterns help scientists make predictions.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Identify &amp; Organize</a:t>
            </a:r>
            <a:endParaRPr lang="en-US" sz="2100" dirty="0"/>
          </a:p>
        </p:txBody>
      </p:sp>
      <p:sp>
        <p:nvSpPr>
          <p:cNvPr id="7" name="Text 5"/>
          <p:cNvSpPr/>
          <p:nvPr/>
        </p:nvSpPr>
        <p:spPr>
          <a:xfrm>
            <a:off x="320040" y="1051560"/>
            <a:ext cx="8503920" cy="457200"/>
          </a:xfrm>
          <a:prstGeom prst="rect">
            <a:avLst/>
          </a:prstGeom>
          <a:noFill/>
          <a:ln/>
        </p:spPr>
        <p:txBody>
          <a:bodyPr wrap="square" rtlCol="0" anchor="t"/>
          <a:lstStyle/>
          <a:p>
            <a:pPr indent="0" marL="0">
              <a:lnSpc>
                <a:spcPts val="2000"/>
              </a:lnSpc>
              <a:buNone/>
            </a:pPr>
            <a:r>
              <a:rPr lang="en-US" sz="1200" dirty="0">
                <a:solidFill>
                  <a:srgbClr val="2B1D12"/>
                </a:solidFill>
                <a:latin typeface="Calibri" pitchFamily="34" charset="0"/>
                <a:ea typeface="Calibri" pitchFamily="34" charset="-122"/>
                <a:cs typeface="Calibri" pitchFamily="34" charset="-120"/>
              </a:rPr>
              <a:t>Copy the data table into your notebook (all four plants started as seeds — 0 cm tall).</a:t>
            </a:r>
            <a:endParaRPr lang="en-US" sz="1200" dirty="0"/>
          </a:p>
        </p:txBody>
      </p:sp>
      <p:sp>
        <p:nvSpPr>
          <p:cNvPr id="8" name="Shape 6"/>
          <p:cNvSpPr/>
          <p:nvPr/>
        </p:nvSpPr>
        <p:spPr>
          <a:xfrm>
            <a:off x="1828800" y="1600200"/>
            <a:ext cx="3200400" cy="365760"/>
          </a:xfrm>
          <a:prstGeom prst="rect">
            <a:avLst/>
          </a:prstGeom>
          <a:solidFill>
            <a:srgbClr val="0E1C42"/>
          </a:solidFill>
          <a:ln w="12700">
            <a:solidFill>
              <a:srgbClr val="E8DDD2"/>
            </a:solidFill>
            <a:prstDash val="solid"/>
          </a:ln>
        </p:spPr>
      </p:sp>
      <p:sp>
        <p:nvSpPr>
          <p:cNvPr id="9" name="Shape 7"/>
          <p:cNvSpPr/>
          <p:nvPr/>
        </p:nvSpPr>
        <p:spPr>
          <a:xfrm>
            <a:off x="5029200" y="1600200"/>
            <a:ext cx="2286000" cy="365760"/>
          </a:xfrm>
          <a:prstGeom prst="rect">
            <a:avLst/>
          </a:prstGeom>
          <a:solidFill>
            <a:srgbClr val="0E1C42"/>
          </a:solidFill>
          <a:ln w="12700">
            <a:solidFill>
              <a:srgbClr val="E8DDD2"/>
            </a:solidFill>
            <a:prstDash val="solid"/>
          </a:ln>
        </p:spPr>
      </p:sp>
      <p:sp>
        <p:nvSpPr>
          <p:cNvPr id="10" name="Text 8"/>
          <p:cNvSpPr/>
          <p:nvPr/>
        </p:nvSpPr>
        <p:spPr>
          <a:xfrm>
            <a:off x="1828800" y="1600200"/>
            <a:ext cx="32004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11" name="Text 9"/>
          <p:cNvSpPr/>
          <p:nvPr/>
        </p:nvSpPr>
        <p:spPr>
          <a:xfrm>
            <a:off x="5029200" y="1600200"/>
            <a:ext cx="22860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Height (cm)</a:t>
            </a:r>
            <a:endParaRPr lang="en-US" sz="1100" dirty="0"/>
          </a:p>
        </p:txBody>
      </p:sp>
      <p:sp>
        <p:nvSpPr>
          <p:cNvPr id="12" name="Shape 10"/>
          <p:cNvSpPr/>
          <p:nvPr/>
        </p:nvSpPr>
        <p:spPr>
          <a:xfrm>
            <a:off x="1828800" y="1984248"/>
            <a:ext cx="3200400" cy="365760"/>
          </a:xfrm>
          <a:prstGeom prst="rect">
            <a:avLst/>
          </a:prstGeom>
          <a:solidFill>
            <a:srgbClr val="FFFFFF"/>
          </a:solidFill>
          <a:ln w="12700">
            <a:solidFill>
              <a:srgbClr val="E8DDD2"/>
            </a:solidFill>
            <a:prstDash val="solid"/>
          </a:ln>
        </p:spPr>
      </p:sp>
      <p:sp>
        <p:nvSpPr>
          <p:cNvPr id="13" name="Shape 11"/>
          <p:cNvSpPr/>
          <p:nvPr/>
        </p:nvSpPr>
        <p:spPr>
          <a:xfrm>
            <a:off x="5029200" y="1984248"/>
            <a:ext cx="2286000" cy="365760"/>
          </a:xfrm>
          <a:prstGeom prst="rect">
            <a:avLst/>
          </a:prstGeom>
          <a:solidFill>
            <a:srgbClr val="FFFFFF"/>
          </a:solidFill>
          <a:ln w="12700">
            <a:solidFill>
              <a:srgbClr val="E8DDD2"/>
            </a:solidFill>
            <a:prstDash val="solid"/>
          </a:ln>
        </p:spPr>
      </p:sp>
      <p:sp>
        <p:nvSpPr>
          <p:cNvPr id="14" name="Text 12"/>
          <p:cNvSpPr/>
          <p:nvPr/>
        </p:nvSpPr>
        <p:spPr>
          <a:xfrm>
            <a:off x="1828800" y="1984248"/>
            <a:ext cx="32004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More Sunlight</a:t>
            </a:r>
            <a:endParaRPr lang="en-US" sz="1100" dirty="0"/>
          </a:p>
        </p:txBody>
      </p:sp>
      <p:sp>
        <p:nvSpPr>
          <p:cNvPr id="15" name="Text 13"/>
          <p:cNvSpPr/>
          <p:nvPr/>
        </p:nvSpPr>
        <p:spPr>
          <a:xfrm>
            <a:off x="5029200" y="1984248"/>
            <a:ext cx="22860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13 cm</a:t>
            </a:r>
            <a:endParaRPr lang="en-US" sz="1100" dirty="0"/>
          </a:p>
        </p:txBody>
      </p:sp>
      <p:sp>
        <p:nvSpPr>
          <p:cNvPr id="16" name="Shape 14"/>
          <p:cNvSpPr/>
          <p:nvPr/>
        </p:nvSpPr>
        <p:spPr>
          <a:xfrm>
            <a:off x="1828800" y="2368296"/>
            <a:ext cx="3200400" cy="365760"/>
          </a:xfrm>
          <a:prstGeom prst="rect">
            <a:avLst/>
          </a:prstGeom>
          <a:solidFill>
            <a:srgbClr val="FFFFFF"/>
          </a:solidFill>
          <a:ln w="12700">
            <a:solidFill>
              <a:srgbClr val="E8DDD2"/>
            </a:solidFill>
            <a:prstDash val="solid"/>
          </a:ln>
        </p:spPr>
      </p:sp>
      <p:sp>
        <p:nvSpPr>
          <p:cNvPr id="17" name="Shape 15"/>
          <p:cNvSpPr/>
          <p:nvPr/>
        </p:nvSpPr>
        <p:spPr>
          <a:xfrm>
            <a:off x="5029200" y="2368296"/>
            <a:ext cx="2286000" cy="365760"/>
          </a:xfrm>
          <a:prstGeom prst="rect">
            <a:avLst/>
          </a:prstGeom>
          <a:solidFill>
            <a:srgbClr val="FFFFFF"/>
          </a:solidFill>
          <a:ln w="12700">
            <a:solidFill>
              <a:srgbClr val="E8DDD2"/>
            </a:solidFill>
            <a:prstDash val="solid"/>
          </a:ln>
        </p:spPr>
      </p:sp>
      <p:sp>
        <p:nvSpPr>
          <p:cNvPr id="18" name="Text 16"/>
          <p:cNvSpPr/>
          <p:nvPr/>
        </p:nvSpPr>
        <p:spPr>
          <a:xfrm>
            <a:off x="1828800" y="2368296"/>
            <a:ext cx="32004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Less Sunlight</a:t>
            </a:r>
            <a:endParaRPr lang="en-US" sz="1100" dirty="0"/>
          </a:p>
        </p:txBody>
      </p:sp>
      <p:sp>
        <p:nvSpPr>
          <p:cNvPr id="19" name="Text 17"/>
          <p:cNvSpPr/>
          <p:nvPr/>
        </p:nvSpPr>
        <p:spPr>
          <a:xfrm>
            <a:off x="5029200" y="2368296"/>
            <a:ext cx="22860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4 cm</a:t>
            </a:r>
            <a:endParaRPr lang="en-US" sz="1100" dirty="0"/>
          </a:p>
        </p:txBody>
      </p:sp>
      <p:sp>
        <p:nvSpPr>
          <p:cNvPr id="20" name="Shape 18"/>
          <p:cNvSpPr/>
          <p:nvPr/>
        </p:nvSpPr>
        <p:spPr>
          <a:xfrm>
            <a:off x="1828800" y="2752344"/>
            <a:ext cx="3200400" cy="365760"/>
          </a:xfrm>
          <a:prstGeom prst="rect">
            <a:avLst/>
          </a:prstGeom>
          <a:solidFill>
            <a:srgbClr val="FFFFFF"/>
          </a:solidFill>
          <a:ln w="12700">
            <a:solidFill>
              <a:srgbClr val="E8DDD2"/>
            </a:solidFill>
            <a:prstDash val="solid"/>
          </a:ln>
        </p:spPr>
      </p:sp>
      <p:sp>
        <p:nvSpPr>
          <p:cNvPr id="21" name="Shape 19"/>
          <p:cNvSpPr/>
          <p:nvPr/>
        </p:nvSpPr>
        <p:spPr>
          <a:xfrm>
            <a:off x="5029200" y="2752344"/>
            <a:ext cx="2286000" cy="365760"/>
          </a:xfrm>
          <a:prstGeom prst="rect">
            <a:avLst/>
          </a:prstGeom>
          <a:solidFill>
            <a:srgbClr val="FFFFFF"/>
          </a:solidFill>
          <a:ln w="12700">
            <a:solidFill>
              <a:srgbClr val="E8DDD2"/>
            </a:solidFill>
            <a:prstDash val="solid"/>
          </a:ln>
        </p:spPr>
      </p:sp>
      <p:sp>
        <p:nvSpPr>
          <p:cNvPr id="22" name="Text 20"/>
          <p:cNvSpPr/>
          <p:nvPr/>
        </p:nvSpPr>
        <p:spPr>
          <a:xfrm>
            <a:off x="1828800" y="2752344"/>
            <a:ext cx="32004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More Water</a:t>
            </a:r>
            <a:endParaRPr lang="en-US" sz="1100" dirty="0"/>
          </a:p>
        </p:txBody>
      </p:sp>
      <p:sp>
        <p:nvSpPr>
          <p:cNvPr id="23" name="Text 21"/>
          <p:cNvSpPr/>
          <p:nvPr/>
        </p:nvSpPr>
        <p:spPr>
          <a:xfrm>
            <a:off x="5029200" y="2752344"/>
            <a:ext cx="22860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10 cm</a:t>
            </a:r>
            <a:endParaRPr lang="en-US" sz="1100" dirty="0"/>
          </a:p>
        </p:txBody>
      </p:sp>
      <p:sp>
        <p:nvSpPr>
          <p:cNvPr id="24" name="Shape 22"/>
          <p:cNvSpPr/>
          <p:nvPr/>
        </p:nvSpPr>
        <p:spPr>
          <a:xfrm>
            <a:off x="1828800" y="3136392"/>
            <a:ext cx="3200400" cy="365760"/>
          </a:xfrm>
          <a:prstGeom prst="rect">
            <a:avLst/>
          </a:prstGeom>
          <a:solidFill>
            <a:srgbClr val="FFFFFF"/>
          </a:solidFill>
          <a:ln w="12700">
            <a:solidFill>
              <a:srgbClr val="E8DDD2"/>
            </a:solidFill>
            <a:prstDash val="solid"/>
          </a:ln>
        </p:spPr>
      </p:sp>
      <p:sp>
        <p:nvSpPr>
          <p:cNvPr id="25" name="Shape 23"/>
          <p:cNvSpPr/>
          <p:nvPr/>
        </p:nvSpPr>
        <p:spPr>
          <a:xfrm>
            <a:off x="5029200" y="3136392"/>
            <a:ext cx="2286000" cy="365760"/>
          </a:xfrm>
          <a:prstGeom prst="rect">
            <a:avLst/>
          </a:prstGeom>
          <a:solidFill>
            <a:srgbClr val="FFFFFF"/>
          </a:solidFill>
          <a:ln w="12700">
            <a:solidFill>
              <a:srgbClr val="E8DDD2"/>
            </a:solidFill>
            <a:prstDash val="solid"/>
          </a:ln>
        </p:spPr>
      </p:sp>
      <p:sp>
        <p:nvSpPr>
          <p:cNvPr id="26" name="Text 24"/>
          <p:cNvSpPr/>
          <p:nvPr/>
        </p:nvSpPr>
        <p:spPr>
          <a:xfrm>
            <a:off x="1828800" y="3136392"/>
            <a:ext cx="32004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Less Water</a:t>
            </a:r>
            <a:endParaRPr lang="en-US" sz="1100" dirty="0"/>
          </a:p>
        </p:txBody>
      </p:sp>
      <p:sp>
        <p:nvSpPr>
          <p:cNvPr id="27" name="Text 25"/>
          <p:cNvSpPr/>
          <p:nvPr/>
        </p:nvSpPr>
        <p:spPr>
          <a:xfrm>
            <a:off x="5029200" y="3136392"/>
            <a:ext cx="2286000" cy="365760"/>
          </a:xfrm>
          <a:prstGeom prst="rect">
            <a:avLst/>
          </a:prstGeom>
          <a:noFill/>
          <a:ln/>
        </p:spPr>
        <p:txBody>
          <a:bodyPr wrap="square" rtlCol="0" anchor="ctr"/>
          <a:lstStyle/>
          <a:p>
            <a:pPr algn="ctr" indent="0" marL="0">
              <a:buNone/>
            </a:pPr>
            <a:r>
              <a:rPr lang="en-US" sz="1100" dirty="0">
                <a:solidFill>
                  <a:srgbClr val="2B1D12"/>
                </a:solidFill>
                <a:latin typeface="Calibri" pitchFamily="34" charset="0"/>
                <a:ea typeface="Calibri" pitchFamily="34" charset="-122"/>
                <a:cs typeface="Calibri" pitchFamily="34" charset="-120"/>
              </a:rPr>
              <a:t>2 cm</a:t>
            </a:r>
            <a:endParaRPr lang="en-US" sz="1100" dirty="0"/>
          </a:p>
        </p:txBody>
      </p:sp>
      <p:sp>
        <p:nvSpPr>
          <p:cNvPr id="28" name="Text 26"/>
          <p:cNvSpPr/>
          <p:nvPr/>
        </p:nvSpPr>
        <p:spPr>
          <a:xfrm>
            <a:off x="457200" y="3657600"/>
            <a:ext cx="8229600" cy="822960"/>
          </a:xfrm>
          <a:prstGeom prst="rect">
            <a:avLst/>
          </a:prstGeom>
          <a:noFill/>
          <a:ln/>
        </p:spPr>
        <p:txBody>
          <a:bodyPr wrap="square" rtlCol="0" anchor="t"/>
          <a:lstStyle/>
          <a:p>
            <a:pPr indent="0" marL="0">
              <a:lnSpc>
                <a:spcPts val="1500"/>
              </a:lnSpc>
              <a:buNone/>
            </a:pPr>
            <a:r>
              <a:rPr lang="en-US" sz="1050" dirty="0">
                <a:solidFill>
                  <a:srgbClr val="2B1D12"/>
                </a:solidFill>
                <a:latin typeface="Calibri" pitchFamily="34" charset="0"/>
                <a:ea typeface="Calibri" pitchFamily="34" charset="-122"/>
                <a:cs typeface="Calibri" pitchFamily="34" charset="-120"/>
              </a:rPr>
              <a:t>1. Label 'most' or 'least' for the two sunlight plants, then for the two water plants (don't compare sunlight to water).</a:t>
            </a:r>
            <a:endParaRPr lang="en-US" sz="1050" dirty="0"/>
          </a:p>
          <a:p>
            <a:pPr indent="0" marL="0">
              <a:lnSpc>
                <a:spcPts val="1500"/>
              </a:lnSpc>
              <a:buNone/>
            </a:pPr>
            <a:r>
              <a:rPr lang="en-US" sz="1050" dirty="0">
                <a:solidFill>
                  <a:srgbClr val="2B1D12"/>
                </a:solidFill>
                <a:latin typeface="Calibri" pitchFamily="34" charset="0"/>
                <a:ea typeface="Calibri" pitchFamily="34" charset="-122"/>
                <a:cs typeface="Calibri" pitchFamily="34" charset="-120"/>
              </a:rPr>
              <a:t>2. How many centimeters taller was More Sunlight than Less Sunlight? Show your subtraction.</a:t>
            </a:r>
            <a:endParaRPr lang="en-US" sz="1050" dirty="0"/>
          </a:p>
          <a:p>
            <a:pPr indent="0" marL="0">
              <a:lnSpc>
                <a:spcPts val="1500"/>
              </a:lnSpc>
              <a:buNone/>
            </a:pPr>
            <a:r>
              <a:rPr lang="en-US" sz="1050" dirty="0">
                <a:solidFill>
                  <a:srgbClr val="2B1D12"/>
                </a:solidFill>
                <a:latin typeface="Calibri" pitchFamily="34" charset="0"/>
                <a:ea typeface="Calibri" pitchFamily="34" charset="-122"/>
                <a:cs typeface="Calibri" pitchFamily="34" charset="-120"/>
              </a:rPr>
              <a:t>3. Which pair showed the bigger difference — sunlight or water? Write your answer in a complete sentence.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0288D1"/>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a:t>
            </a:r>
            <a:endParaRPr lang="en-US" sz="2100" dirty="0"/>
          </a:p>
        </p:txBody>
      </p:sp>
      <p:sp>
        <p:nvSpPr>
          <p:cNvPr id="7" name="Text 5"/>
          <p:cNvSpPr/>
          <p:nvPr/>
        </p:nvSpPr>
        <p:spPr>
          <a:xfrm>
            <a:off x="457200" y="1051560"/>
            <a:ext cx="8229600" cy="2651760"/>
          </a:xfrm>
          <a:prstGeom prst="rect">
            <a:avLst/>
          </a:prstGeom>
          <a:noFill/>
          <a:ln/>
        </p:spPr>
        <p:txBody>
          <a:bodyPr wrap="square" rtlCol="0" anchor="t"/>
          <a:lstStyle/>
          <a:p>
            <a:pPr indent="0" marL="0">
              <a:lnSpc>
                <a:spcPts val="2600"/>
              </a:lnSpc>
              <a:buNone/>
            </a:pPr>
            <a:r>
              <a:rPr lang="en-US" sz="1200" dirty="0">
                <a:solidFill>
                  <a:srgbClr val="2B1D12"/>
                </a:solidFill>
                <a:latin typeface="Calibri" pitchFamily="34" charset="0"/>
                <a:ea typeface="Calibri" pitchFamily="34" charset="-122"/>
                <a:cs typeface="Calibri" pitchFamily="34" charset="-120"/>
              </a:rPr>
              <a:t>4. What pattern do you see in the data? Describe it using at least two of the conditions from the investigation.</a:t>
            </a:r>
            <a:endParaRPr lang="en-US" sz="1200" dirty="0"/>
          </a:p>
          <a:p>
            <a:pPr indent="0" marL="0">
              <a:lnSpc>
                <a:spcPts val="2600"/>
              </a:lnSpc>
              <a:buNone/>
            </a:pPr>
            <a:r>
              <a:rPr lang="en-US" sz="1200" dirty="0">
                <a:solidFill>
                  <a:srgbClr val="2B1D12"/>
                </a:solidFill>
                <a:latin typeface="Calibri" pitchFamily="34" charset="0"/>
                <a:ea typeface="Calibri" pitchFamily="34" charset="-122"/>
                <a:cs typeface="Calibri" pitchFamily="34" charset="-120"/>
              </a:rPr>
              <a:t>5. Explain why scientists only change one condition at a time when they test plants. Why does that matter?</a:t>
            </a:r>
            <a:endParaRPr lang="en-US" sz="1200" dirty="0"/>
          </a:p>
          <a:p>
            <a:pPr indent="0" marL="0">
              <a:lnSpc>
                <a:spcPts val="2600"/>
              </a:lnSpc>
              <a:buNone/>
            </a:pPr>
            <a:r>
              <a:rPr lang="en-US" sz="1200" dirty="0">
                <a:solidFill>
                  <a:srgbClr val="2B1D12"/>
                </a:solidFill>
                <a:latin typeface="Calibri" pitchFamily="34" charset="0"/>
                <a:ea typeface="Calibri" pitchFamily="34" charset="-122"/>
                <a:cs typeface="Calibri" pitchFamily="34" charset="-120"/>
              </a:rPr>
              <a:t>6. A friend says 'the plant with more sunlight grew the most because we gave it a better pot.' Is this a good conclusion? Why or why not?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E651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WRITE &amp;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What the Data Tells You</a:t>
            </a:r>
            <a:endParaRPr lang="en-US" sz="2100" dirty="0"/>
          </a:p>
        </p:txBody>
      </p:sp>
      <p:sp>
        <p:nvSpPr>
          <p:cNvPr id="7" name="Text 5"/>
          <p:cNvSpPr/>
          <p:nvPr/>
        </p:nvSpPr>
        <p:spPr>
          <a:xfrm>
            <a:off x="365760" y="1051560"/>
            <a:ext cx="8412480" cy="457200"/>
          </a:xfrm>
          <a:prstGeom prst="rect">
            <a:avLst/>
          </a:prstGeom>
          <a:noFill/>
          <a:ln/>
        </p:spPr>
        <p:txBody>
          <a:bodyPr wrap="square" rtlCol="0" anchor="ctr"/>
          <a:lstStyle/>
          <a:p>
            <a:pPr indent="0" marL="0">
              <a:buNone/>
            </a:pPr>
            <a:r>
              <a:rPr lang="en-US" sz="1250" i="1" dirty="0">
                <a:solidFill>
                  <a:srgbClr val="5A4D3E"/>
                </a:solidFill>
                <a:latin typeface="Calibri" pitchFamily="34" charset="0"/>
                <a:ea typeface="Calibri" pitchFamily="34" charset="-122"/>
                <a:cs typeface="Calibri" pitchFamily="34" charset="-120"/>
              </a:rPr>
              <a:t>What did the data from this investigation tell you about what plants need to grow?</a:t>
            </a:r>
            <a:endParaRPr lang="en-US" sz="1250" dirty="0"/>
          </a:p>
        </p:txBody>
      </p:sp>
      <p:sp>
        <p:nvSpPr>
          <p:cNvPr id="8" name="Shape 6"/>
          <p:cNvSpPr/>
          <p:nvPr/>
        </p:nvSpPr>
        <p:spPr>
          <a:xfrm>
            <a:off x="365760" y="1600200"/>
            <a:ext cx="8412480" cy="621792"/>
          </a:xfrm>
          <a:prstGeom prst="roundRect">
            <a:avLst>
              <a:gd name="adj" fmla="val 11765"/>
            </a:avLst>
          </a:prstGeom>
          <a:solidFill>
            <a:srgbClr val="FFF3E0"/>
          </a:solidFill>
          <a:ln w="19050">
            <a:solidFill>
              <a:srgbClr val="F57C00"/>
            </a:solidFill>
            <a:prstDash val="solid"/>
          </a:ln>
        </p:spPr>
      </p:sp>
      <p:sp>
        <p:nvSpPr>
          <p:cNvPr id="9" name="Text 7"/>
          <p:cNvSpPr/>
          <p:nvPr/>
        </p:nvSpPr>
        <p:spPr>
          <a:xfrm>
            <a:off x="548640" y="1645920"/>
            <a:ext cx="8046720" cy="219456"/>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What did you observe?</a:t>
            </a:r>
            <a:endParaRPr lang="en-US" sz="1100" dirty="0"/>
          </a:p>
        </p:txBody>
      </p:sp>
      <p:sp>
        <p:nvSpPr>
          <p:cNvPr id="10" name="Text 8"/>
          <p:cNvSpPr/>
          <p:nvPr/>
        </p:nvSpPr>
        <p:spPr>
          <a:xfrm>
            <a:off x="548640" y="1874520"/>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"When I looked at the data, I noticed that…"</a:t>
            </a:r>
            <a:endParaRPr lang="en-US" sz="1150" dirty="0"/>
          </a:p>
        </p:txBody>
      </p:sp>
      <p:sp>
        <p:nvSpPr>
          <p:cNvPr id="11" name="Shape 9"/>
          <p:cNvSpPr/>
          <p:nvPr/>
        </p:nvSpPr>
        <p:spPr>
          <a:xfrm>
            <a:off x="365760" y="2313432"/>
            <a:ext cx="8412480" cy="621792"/>
          </a:xfrm>
          <a:prstGeom prst="roundRect">
            <a:avLst>
              <a:gd name="adj" fmla="val 11765"/>
            </a:avLst>
          </a:prstGeom>
          <a:solidFill>
            <a:srgbClr val="FFF3E0"/>
          </a:solidFill>
          <a:ln w="19050">
            <a:solidFill>
              <a:srgbClr val="F57C00"/>
            </a:solidFill>
            <a:prstDash val="solid"/>
          </a:ln>
        </p:spPr>
      </p:sp>
      <p:sp>
        <p:nvSpPr>
          <p:cNvPr id="12" name="Text 10"/>
          <p:cNvSpPr/>
          <p:nvPr/>
        </p:nvSpPr>
        <p:spPr>
          <a:xfrm>
            <a:off x="548640" y="2359152"/>
            <a:ext cx="8046720" cy="219456"/>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What does that tell you?</a:t>
            </a:r>
            <a:endParaRPr lang="en-US" sz="1100" dirty="0"/>
          </a:p>
        </p:txBody>
      </p:sp>
      <p:sp>
        <p:nvSpPr>
          <p:cNvPr id="13" name="Text 11"/>
          <p:cNvSpPr/>
          <p:nvPr/>
        </p:nvSpPr>
        <p:spPr>
          <a:xfrm>
            <a:off x="548640" y="2587752"/>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"This evidence shows me that plants…"</a:t>
            </a:r>
            <a:endParaRPr lang="en-US" sz="1150" dirty="0"/>
          </a:p>
        </p:txBody>
      </p:sp>
      <p:sp>
        <p:nvSpPr>
          <p:cNvPr id="14" name="Shape 12"/>
          <p:cNvSpPr/>
          <p:nvPr/>
        </p:nvSpPr>
        <p:spPr>
          <a:xfrm>
            <a:off x="365760" y="3026664"/>
            <a:ext cx="8412480" cy="621792"/>
          </a:xfrm>
          <a:prstGeom prst="roundRect">
            <a:avLst>
              <a:gd name="adj" fmla="val 11765"/>
            </a:avLst>
          </a:prstGeom>
          <a:solidFill>
            <a:srgbClr val="FFF3E0"/>
          </a:solidFill>
          <a:ln w="19050">
            <a:solidFill>
              <a:srgbClr val="F57C00"/>
            </a:solidFill>
            <a:prstDash val="solid"/>
          </a:ln>
        </p:spPr>
      </p:sp>
      <p:sp>
        <p:nvSpPr>
          <p:cNvPr id="15" name="Text 13"/>
          <p:cNvSpPr/>
          <p:nvPr/>
        </p:nvSpPr>
        <p:spPr>
          <a:xfrm>
            <a:off x="548640" y="3072384"/>
            <a:ext cx="8046720" cy="219456"/>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Why does that make sense?</a:t>
            </a:r>
            <a:endParaRPr lang="en-US" sz="1100" dirty="0"/>
          </a:p>
        </p:txBody>
      </p:sp>
      <p:sp>
        <p:nvSpPr>
          <p:cNvPr id="16" name="Text 14"/>
          <p:cNvSpPr/>
          <p:nvPr/>
        </p:nvSpPr>
        <p:spPr>
          <a:xfrm>
            <a:off x="548640" y="3300984"/>
            <a:ext cx="8046720" cy="310896"/>
          </a:xfrm>
          <a:prstGeom prst="rect">
            <a:avLst/>
          </a:prstGeom>
          <a:noFill/>
          <a:ln/>
        </p:spPr>
        <p:txBody>
          <a:bodyPr wrap="square" rtlCol="0" anchor="ctr"/>
          <a:lstStyle/>
          <a:p>
            <a:pPr indent="0" marL="0">
              <a:buNone/>
            </a:pPr>
            <a:r>
              <a:rPr lang="en-US" sz="1150" i="1" dirty="0">
                <a:solidFill>
                  <a:srgbClr val="2B1D12"/>
                </a:solidFill>
                <a:latin typeface="Calibri" pitchFamily="34" charset="0"/>
                <a:ea typeface="Calibri" pitchFamily="34" charset="-122"/>
                <a:cs typeface="Calibri" pitchFamily="34" charset="-120"/>
              </a:rPr>
              <a:t>"This makes sense because plants need…"</a:t>
            </a:r>
            <a:endParaRPr lang="en-US" sz="1150" dirty="0"/>
          </a:p>
        </p:txBody>
      </p:sp>
      <p:sp>
        <p:nvSpPr>
          <p:cNvPr id="17" name="Text 15"/>
          <p:cNvSpPr/>
          <p:nvPr/>
        </p:nvSpPr>
        <p:spPr>
          <a:xfrm>
            <a:off x="365760" y="3785616"/>
            <a:ext cx="8412480" cy="320040"/>
          </a:xfrm>
          <a:prstGeom prst="rect">
            <a:avLst/>
          </a:prstGeom>
          <a:noFill/>
          <a:ln/>
        </p:spPr>
        <p:txBody>
          <a:bodyPr wrap="square" rtlCol="0" anchor="ctr"/>
          <a:lstStyle/>
          <a:p>
            <a:pPr indent="0" marL="0">
              <a:buNone/>
            </a:pPr>
            <a:r>
              <a:rPr lang="en-US" sz="1050" i="1" dirty="0">
                <a:solidFill>
                  <a:srgbClr val="5A4D3E"/>
                </a:solidFill>
                <a:latin typeface="Calibri" pitchFamily="34" charset="0"/>
                <a:ea typeface="Calibri" pitchFamily="34" charset="-122"/>
                <a:cs typeface="Calibri" pitchFamily="34" charset="-120"/>
              </a:rPr>
              <a:t>Try to use at least one of these words: data, evidence, pattern, condition, conclusion</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 REFLECT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Bar Graph + Turn It In</a:t>
            </a:r>
            <a:endParaRPr lang="en-US" sz="2100" dirty="0"/>
          </a:p>
        </p:txBody>
      </p:sp>
      <p:sp>
        <p:nvSpPr>
          <p:cNvPr id="7" name="Text 5"/>
          <p:cNvSpPr/>
          <p:nvPr/>
        </p:nvSpPr>
        <p:spPr>
          <a:xfrm>
            <a:off x="320040" y="960120"/>
            <a:ext cx="8503920" cy="777240"/>
          </a:xfrm>
          <a:prstGeom prst="rect">
            <a:avLst/>
          </a:prstGeom>
          <a:noFill/>
          <a:ln/>
        </p:spPr>
        <p:txBody>
          <a:bodyPr wrap="square" rtlCol="0" anchor="t"/>
          <a:lstStyle/>
          <a:p>
            <a:pPr indent="0" marL="0">
              <a:lnSpc>
                <a:spcPts val="2000"/>
              </a:lnSpc>
              <a:buNone/>
            </a:pPr>
            <a:r>
              <a:rPr lang="en-US" sz="1100" dirty="0">
                <a:solidFill>
                  <a:srgbClr val="2B1D12"/>
                </a:solidFill>
                <a:latin typeface="Calibri" pitchFamily="34" charset="0"/>
                <a:ea typeface="Calibri" pitchFamily="34" charset="-122"/>
                <a:cs typeface="Calibri" pitchFamily="34" charset="-120"/>
              </a:rPr>
              <a:t>Draw a bar graph showing the four conditions and plant heights. Label everything clearly — condition names, height scale, title, and a color key. Reflect: did your Notice &amp; Wonder observations match what the data showed? What surprised you?</a:t>
            </a:r>
            <a:endParaRPr lang="en-US" sz="1100" dirty="0"/>
          </a:p>
        </p:txBody>
      </p:sp>
      <p:sp>
        <p:nvSpPr>
          <p:cNvPr id="8" name="Shape 6"/>
          <p:cNvSpPr/>
          <p:nvPr/>
        </p:nvSpPr>
        <p:spPr>
          <a:xfrm>
            <a:off x="365760" y="1828800"/>
            <a:ext cx="8412480" cy="1417320"/>
          </a:xfrm>
          <a:prstGeom prst="roundRect">
            <a:avLst>
              <a:gd name="adj" fmla="val 5161"/>
            </a:avLst>
          </a:prstGeom>
          <a:solidFill>
            <a:srgbClr val="FFFFFF"/>
          </a:solidFill>
          <a:ln w="19050">
            <a:solidFill>
              <a:srgbClr val="E8DDD2"/>
            </a:solidFill>
            <a:prstDash val="solid"/>
          </a:ln>
        </p:spPr>
      </p:sp>
      <p:sp>
        <p:nvSpPr>
          <p:cNvPr id="9" name="Text 7"/>
          <p:cNvSpPr/>
          <p:nvPr/>
        </p:nvSpPr>
        <p:spPr>
          <a:xfrm>
            <a:off x="548640" y="1920240"/>
            <a:ext cx="8046720" cy="228600"/>
          </a:xfrm>
          <a:prstGeom prst="rect">
            <a:avLst/>
          </a:prstGeom>
          <a:noFill/>
          <a:ln/>
        </p:spPr>
        <p:txBody>
          <a:bodyPr wrap="square" rtlCol="0" anchor="ctr"/>
          <a:lstStyle/>
          <a:p>
            <a:pPr indent="0" marL="0">
              <a:buNone/>
            </a:pPr>
            <a:r>
              <a:rPr lang="en-US" sz="1050" b="1" spc="100" kern="0" dirty="0">
                <a:solidFill>
                  <a:srgbClr val="7B5EA7"/>
                </a:solidFill>
                <a:latin typeface="Calibri" pitchFamily="34" charset="0"/>
                <a:ea typeface="Calibri" pitchFamily="34" charset="-122"/>
                <a:cs typeface="Calibri" pitchFamily="34" charset="-120"/>
              </a:rPr>
              <a:t>MAKE SURE YOUR SUBMISSION INCLUDES</a:t>
            </a:r>
            <a:endParaRPr lang="en-US" sz="1050" dirty="0"/>
          </a:p>
        </p:txBody>
      </p:sp>
      <p:sp>
        <p:nvSpPr>
          <p:cNvPr id="10" name="Text 8"/>
          <p:cNvSpPr/>
          <p:nvPr/>
        </p:nvSpPr>
        <p:spPr>
          <a:xfrm>
            <a:off x="548640" y="2194560"/>
            <a:ext cx="8046720" cy="1005840"/>
          </a:xfrm>
          <a:prstGeom prst="rect">
            <a:avLst/>
          </a:prstGeom>
          <a:noFill/>
          <a:ln/>
        </p:spPr>
        <p:txBody>
          <a:bodyPr wrap="square" rtlCol="0" anchor="ctr"/>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completed data table with all four conditions and heights filled in</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short answer responses to Part B questions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Write &amp; Explain response using evidence from the data</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My Part C bar graph with labeled conditions, height scale, title, and color key</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828800"/>
            <a:ext cx="8229600" cy="640080"/>
          </a:xfrm>
          <a:prstGeom prst="rect">
            <a:avLst/>
          </a:prstGeom>
          <a:noFill/>
          <a:ln/>
        </p:spPr>
        <p:txBody>
          <a:bodyPr wrap="square" rtlCol="0" anchor="ctr"/>
          <a:lstStyle/>
          <a:p>
            <a:pPr algn="ctr" indent="0" marL="0">
              <a:buNone/>
            </a:pPr>
            <a:r>
              <a:rPr lang="en-US" sz="2700" b="1" dirty="0">
                <a:solidFill>
                  <a:srgbClr val="FFFFFF"/>
                </a:solidFill>
                <a:latin typeface="Cambria" pitchFamily="34" charset="0"/>
                <a:ea typeface="Cambria" pitchFamily="34" charset="-122"/>
                <a:cs typeface="Cambria" pitchFamily="34" charset="-120"/>
              </a:rPr>
              <a:t>Amazing Work, Scientist!</a:t>
            </a:r>
            <a:endParaRPr lang="en-US" sz="2700" dirty="0"/>
          </a:p>
        </p:txBody>
      </p:sp>
      <p:sp>
        <p:nvSpPr>
          <p:cNvPr id="5" name="Text 3"/>
          <p:cNvSpPr/>
          <p:nvPr/>
        </p:nvSpPr>
        <p:spPr>
          <a:xfrm>
            <a:off x="457200" y="2514600"/>
            <a:ext cx="8229600" cy="457200"/>
          </a:xfrm>
          <a:prstGeom prst="rect">
            <a:avLst/>
          </a:prstGeom>
          <a:noFill/>
          <a:ln/>
        </p:spPr>
        <p:txBody>
          <a:bodyPr wrap="square" rtlCol="0" anchor="ctr"/>
          <a:lstStyle/>
          <a:p>
            <a:pPr algn="ctr" indent="0" marL="0">
              <a:buNone/>
            </a:pPr>
            <a:r>
              <a:rPr lang="en-US" sz="1500" dirty="0">
                <a:solidFill>
                  <a:srgbClr val="FFCA28"/>
                </a:solidFill>
                <a:latin typeface="Calibri" pitchFamily="34" charset="0"/>
                <a:ea typeface="Calibri" pitchFamily="34" charset="-122"/>
                <a:cs typeface="Calibri" pitchFamily="34" charset="-120"/>
              </a:rPr>
              <a:t>Next up: Module 9 — Animal Life Cycles!</a:t>
            </a:r>
            <a:endParaRPr lang="en-US" sz="1500" dirty="0"/>
          </a:p>
        </p:txBody>
      </p:sp>
      <p:sp>
        <p:nvSpPr>
          <p:cNvPr id="6" name="Text 4"/>
          <p:cNvSpPr/>
          <p:nvPr/>
        </p:nvSpPr>
        <p:spPr>
          <a:xfrm>
            <a:off x="457200" y="4709160"/>
            <a:ext cx="8229600" cy="274320"/>
          </a:xfrm>
          <a:prstGeom prst="rect">
            <a:avLst/>
          </a:prstGeom>
          <a:noFill/>
          <a:ln/>
        </p:spPr>
        <p:txBody>
          <a:bodyPr wrap="square" rtlCol="0" anchor="ctr"/>
          <a:lstStyle/>
          <a:p>
            <a:pPr algn="ctr" indent="0" marL="0">
              <a:buNone/>
            </a:pPr>
            <a:r>
              <a:rPr lang="en-US" sz="850" dirty="0">
                <a:solidFill>
                  <a:srgbClr val="55C8E8"/>
                </a:solidFill>
                <a:latin typeface="Calibri" pitchFamily="34" charset="0"/>
                <a:ea typeface="Calibri" pitchFamily="34" charset="-122"/>
                <a:cs typeface="Calibri" pitchFamily="34" charset="-120"/>
              </a:rPr>
              <a:t>Optima Academy Online · 3rd Grade Science · Lesson 8.02 · NGSS 3-LS1-1 · CPALMS SC.3.N.1.3, SC.3.L.17.2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2026-07-12T13:38:53Z</dcterms:created>
  <dcterms:modified xsi:type="dcterms:W3CDTF">2026-07-12T13:38:53Z</dcterms:modified>
</cp:coreProperties>
</file>