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students run 5 real trials with a car and ramp, find a pattern in their own data, and use it to predict trial 6 before testing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guess before testing — most will assume it's the exact same distance every time, which the data will complicate in an interesting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(record repeated trials) -&gt; investigation 'Run 5 Trials' step, Self-Check Q1. I Can #2 (find pattern) -&gt; 'Find Your Pattern' step, Self-Check Q3. I Can #3 (predict from pattern) -&gt; 'Make a New Prediction' rehearsal step, Self-Check Q2, Write &amp;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builds directly on 5.02's ramp setup — if that ramp is still available, reuse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no wrong answer — just think carefully and write what's in your head before testing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Trial is brand new; pattern and predict carry over from 6.01.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is the connector word for today's Write &amp; Explain — a prediction without evidence is just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for today — repetition is what turns a single result into real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fair-testing idea of the whole lesson: one result could be luck, five similar results is a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Ocean waves roll onto shore in almost the same pattern over and over — scientists can measure the time between waves and predict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sets up the Voyager 1 Amazing Fact slide coming up — the exact same logic scales from a toy car to a real spacecraft.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restate this in their own words before the Amazing Fact and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Scientists at NASA use patterns in motion to track Voyager 1 — the same idea students are using today with their car and ramp.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upfront prediction matters — it's what makes the final comparison meaningful. Don't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measurement gets its own row. Numbers should be specific — not just 'it worked.' That specificity is what makes the data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range-based pattern (low-to-high) is a slightly more sophisticated pattern statement than 6.01's single-number pattern — point that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1 of 2 for today's reasoning frame. This predict-then-verify structure is the same shape as the Write &amp; Explain assignment ahead. Have 2-3 students share their Trial 6 prediction and actual result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philosophical core of today's lesson — a single trial could be an outlier, multiple trials reveal the true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sentence-completion prompt here previews the Write &amp; Explain structure almost word for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connects directly back to lesson 5.02's ramp-height investigation from last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Foundational vocabulary check for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trial (one test) from pattern (what you find across many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Directly mirrors what students just did with their own Trial 6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each student's own Trial 6 result from the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the whole lesson stated as a multiple-choice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trial is NOT enough — this directly contradicts answer B, which some students may pick if they misunderstood fair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vocabulary-in-context check using the exact word bank from today's two vocabulary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 is a great informal-CER moment — students must construct a rebuttal to a flawed one-trial claim using today's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2 of 2 — same reasoning structure as the investigation's 'Record Your Thinking' sentence-completion prompt. Have 1-2 more students rehearse aloud before writing. Note this lesson requires TWO vocabulary words, not just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Type It, Photo It, or Record It on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7 — magnets, attraction, repulsion, and forces that work without touching.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25880"/>
            <a:ext cx="8229600" cy="292608"/>
          </a:xfrm>
          <a:prstGeom prst="rect">
            <a:avLst/>
          </a:prstGeom>
          <a:noFill/>
          <a:ln/>
        </p:spPr>
        <p:txBody>
          <a:bodyPr wrap="square"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3RD GRADE SCIENCE</a:t>
            </a:r>
            <a:endParaRPr lang="en-US" sz="1300" dirty="0"/>
          </a:p>
        </p:txBody>
      </p:sp>
      <p:sp>
        <p:nvSpPr>
          <p:cNvPr id="5" name="Text 3"/>
          <p:cNvSpPr/>
          <p:nvPr/>
        </p:nvSpPr>
        <p:spPr>
          <a:xfrm>
            <a:off x="457200" y="1737360"/>
            <a:ext cx="8229600" cy="9144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Investigation: Predicting Motion</a:t>
            </a:r>
            <a:endParaRPr lang="en-US" sz="3000" dirty="0"/>
          </a:p>
        </p:txBody>
      </p:sp>
      <p:sp>
        <p:nvSpPr>
          <p:cNvPr id="6" name="Text 4"/>
          <p:cNvSpPr/>
          <p:nvPr/>
        </p:nvSpPr>
        <p:spPr>
          <a:xfrm>
            <a:off x="457200" y="2697480"/>
            <a:ext cx="8229600" cy="365760"/>
          </a:xfrm>
          <a:prstGeom prst="rect">
            <a:avLst/>
          </a:prstGeom>
          <a:noFill/>
          <a:ln/>
        </p:spPr>
        <p:txBody>
          <a:bodyPr wrap="square" rtlCol="0" anchor="ctr"/>
          <a:lstStyle/>
          <a:p>
            <a:pPr algn="ctr" indent="0" marL="0">
              <a:buNone/>
            </a:pPr>
            <a:r>
              <a:rPr lang="en-US" sz="1400" dirty="0">
                <a:solidFill>
                  <a:srgbClr val="FFCA28"/>
                </a:solidFill>
                <a:latin typeface="Calibri" pitchFamily="34" charset="0"/>
                <a:ea typeface="Calibri" pitchFamily="34" charset="-122"/>
                <a:cs typeface="Calibri" pitchFamily="34" charset="-120"/>
              </a:rPr>
              <a:t>Lesson 6.02  ·  Week 6  ·  NGSS 3-PS2-2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548640" y="1463040"/>
            <a:ext cx="8046720" cy="1463040"/>
          </a:xfrm>
          <a:prstGeom prst="roundRect">
            <a:avLst>
              <a:gd name="adj" fmla="val 6250"/>
            </a:avLst>
          </a:prstGeom>
          <a:solidFill>
            <a:srgbClr val="0E1C42"/>
          </a:solidFill>
          <a:ln w="25400">
            <a:solidFill>
              <a:srgbClr val="55C8E8"/>
            </a:solidFill>
            <a:prstDash val="solid"/>
          </a:ln>
        </p:spPr>
      </p:sp>
      <p:sp>
        <p:nvSpPr>
          <p:cNvPr id="8" name="Text 6"/>
          <p:cNvSpPr/>
          <p:nvPr/>
        </p:nvSpPr>
        <p:spPr>
          <a:xfrm>
            <a:off x="822960" y="1645920"/>
            <a:ext cx="7498080" cy="1097280"/>
          </a:xfrm>
          <a:prstGeom prst="rect">
            <a:avLst/>
          </a:prstGeom>
          <a:noFill/>
          <a:ln/>
        </p:spPr>
        <p:txBody>
          <a:bodyPr wrap="square" rtlCol="0" anchor="ctr"/>
          <a:lstStyle/>
          <a:p>
            <a:pPr algn="ctr" indent="0" marL="0">
              <a:buNone/>
            </a:pPr>
            <a:r>
              <a:rPr lang="en-US" sz="1800" i="1" dirty="0">
                <a:solidFill>
                  <a:srgbClr val="FFFFFF"/>
                </a:solidFill>
                <a:latin typeface="Cambria" pitchFamily="34" charset="0"/>
                <a:ea typeface="Cambria" pitchFamily="34" charset="-122"/>
                <a:cs typeface="Cambria" pitchFamily="34" charset="-120"/>
              </a:rPr>
              <a:t>"If you roll a car down a ramp five times, will it travel the same distance each time? How would you know?"</a:t>
            </a:r>
            <a:endParaRPr lang="en-US" sz="1800" dirty="0"/>
          </a:p>
        </p:txBody>
      </p:sp>
      <p:sp>
        <p:nvSpPr>
          <p:cNvPr id="9" name="Text 7"/>
          <p:cNvSpPr/>
          <p:nvPr/>
        </p:nvSpPr>
        <p:spPr>
          <a:xfrm>
            <a:off x="822960" y="3063240"/>
            <a:ext cx="7498080" cy="457200"/>
          </a:xfrm>
          <a:prstGeom prst="rect">
            <a:avLst/>
          </a:prstGeom>
          <a:noFill/>
          <a:ln/>
        </p:spPr>
        <p:txBody>
          <a:bodyPr wrap="square" rtlCol="0" anchor="t"/>
          <a:lstStyle/>
          <a:p>
            <a:pPr algn="ctr" indent="0" marL="0">
              <a:buNone/>
            </a:pPr>
            <a:r>
              <a:rPr lang="en-US" sz="1300" dirty="0">
                <a:solidFill>
                  <a:srgbClr val="5A4D3E"/>
                </a:solidFill>
                <a:latin typeface="Calibri" pitchFamily="34" charset="0"/>
                <a:ea typeface="Calibri" pitchFamily="34" charset="-122"/>
                <a:cs typeface="Calibri" pitchFamily="34" charset="-120"/>
              </a:rPr>
              <a:t>Keep that question in mind as you work through the investigation today.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457200" y="1143000"/>
            <a:ext cx="8229600" cy="868680"/>
          </a:xfrm>
          <a:prstGeom prst="roundRect">
            <a:avLst>
              <a:gd name="adj" fmla="val 8421"/>
            </a:avLst>
          </a:prstGeom>
          <a:solidFill>
            <a:srgbClr val="FFFFFF"/>
          </a:solidFill>
          <a:ln w="19050">
            <a:solidFill>
              <a:srgbClr val="E8DDD2"/>
            </a:solidFill>
            <a:prstDash val="solid"/>
          </a:ln>
        </p:spPr>
      </p:sp>
      <p:sp>
        <p:nvSpPr>
          <p:cNvPr id="8" name="Shape 6"/>
          <p:cNvSpPr/>
          <p:nvPr/>
        </p:nvSpPr>
        <p:spPr>
          <a:xfrm>
            <a:off x="640080" y="1371600"/>
            <a:ext cx="411480" cy="411480"/>
          </a:xfrm>
          <a:prstGeom prst="ellipse">
            <a:avLst/>
          </a:prstGeom>
          <a:solidFill>
            <a:srgbClr val="F57C00"/>
          </a:solidFill>
          <a:ln/>
        </p:spPr>
      </p:sp>
      <p:sp>
        <p:nvSpPr>
          <p:cNvPr id="9" name="Text 7"/>
          <p:cNvSpPr/>
          <p:nvPr/>
        </p:nvSpPr>
        <p:spPr>
          <a:xfrm>
            <a:off x="640080" y="137160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234440" y="123444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observe and record repeated motion across multiple trials.</a:t>
            </a:r>
            <a:endParaRPr lang="en-US" sz="1400" dirty="0"/>
          </a:p>
        </p:txBody>
      </p:sp>
      <p:sp>
        <p:nvSpPr>
          <p:cNvPr id="11" name="Shape 9"/>
          <p:cNvSpPr/>
          <p:nvPr/>
        </p:nvSpPr>
        <p:spPr>
          <a:xfrm>
            <a:off x="457200" y="2148840"/>
            <a:ext cx="8229600" cy="868680"/>
          </a:xfrm>
          <a:prstGeom prst="roundRect">
            <a:avLst>
              <a:gd name="adj" fmla="val 8421"/>
            </a:avLst>
          </a:prstGeom>
          <a:solidFill>
            <a:srgbClr val="FFFFFF"/>
          </a:solidFill>
          <a:ln w="19050">
            <a:solidFill>
              <a:srgbClr val="E8DDD2"/>
            </a:solidFill>
            <a:prstDash val="solid"/>
          </a:ln>
        </p:spPr>
      </p:sp>
      <p:sp>
        <p:nvSpPr>
          <p:cNvPr id="12" name="Shape 10"/>
          <p:cNvSpPr/>
          <p:nvPr/>
        </p:nvSpPr>
        <p:spPr>
          <a:xfrm>
            <a:off x="640080" y="2377440"/>
            <a:ext cx="411480" cy="411480"/>
          </a:xfrm>
          <a:prstGeom prst="ellipse">
            <a:avLst/>
          </a:prstGeom>
          <a:solidFill>
            <a:srgbClr val="F57C00"/>
          </a:solidFill>
          <a:ln/>
        </p:spPr>
      </p:sp>
      <p:sp>
        <p:nvSpPr>
          <p:cNvPr id="13" name="Text 11"/>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34440" y="224028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find a pattern in my data and explain what it shows.</a:t>
            </a:r>
            <a:endParaRPr lang="en-US" sz="1400" dirty="0"/>
          </a:p>
        </p:txBody>
      </p:sp>
      <p:sp>
        <p:nvSpPr>
          <p:cNvPr id="15" name="Shape 13"/>
          <p:cNvSpPr/>
          <p:nvPr/>
        </p:nvSpPr>
        <p:spPr>
          <a:xfrm>
            <a:off x="457200" y="3154680"/>
            <a:ext cx="8229600" cy="868680"/>
          </a:xfrm>
          <a:prstGeom prst="roundRect">
            <a:avLst>
              <a:gd name="adj" fmla="val 8421"/>
            </a:avLst>
          </a:prstGeom>
          <a:solidFill>
            <a:srgbClr val="FFFFFF"/>
          </a:solidFill>
          <a:ln w="19050">
            <a:solidFill>
              <a:srgbClr val="E8DDD2"/>
            </a:solidFill>
            <a:prstDash val="solid"/>
          </a:ln>
        </p:spPr>
      </p:sp>
      <p:sp>
        <p:nvSpPr>
          <p:cNvPr id="16" name="Shape 14"/>
          <p:cNvSpPr/>
          <p:nvPr/>
        </p:nvSpPr>
        <p:spPr>
          <a:xfrm>
            <a:off x="640080" y="3383280"/>
            <a:ext cx="411480" cy="411480"/>
          </a:xfrm>
          <a:prstGeom prst="ellipse">
            <a:avLst/>
          </a:prstGeom>
          <a:solidFill>
            <a:srgbClr val="F57C00"/>
          </a:solidFill>
          <a:ln/>
        </p:spPr>
      </p:sp>
      <p:sp>
        <p:nvSpPr>
          <p:cNvPr id="17" name="Text 15"/>
          <p:cNvSpPr/>
          <p:nvPr/>
        </p:nvSpPr>
        <p:spPr>
          <a:xfrm>
            <a:off x="640080" y="338328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34440" y="3246120"/>
            <a:ext cx="7223760" cy="685800"/>
          </a:xfrm>
          <a:prstGeom prst="rect">
            <a:avLst/>
          </a:prstGeom>
          <a:noFill/>
          <a:ln/>
        </p:spPr>
        <p:txBody>
          <a:bodyPr wrap="square" rtlCol="0" anchor="ctr"/>
          <a:lstStyle/>
          <a:p>
            <a:pPr indent="0" marL="0">
              <a:buNone/>
            </a:pPr>
            <a:r>
              <a:rPr lang="en-US" sz="1400" dirty="0">
                <a:solidFill>
                  <a:srgbClr val="2B1D12"/>
                </a:solidFill>
                <a:latin typeface="Calibri" pitchFamily="34" charset="0"/>
                <a:ea typeface="Calibri" pitchFamily="34" charset="-122"/>
                <a:cs typeface="Calibri" pitchFamily="34" charset="-120"/>
              </a:rPr>
              <a:t>I can use patterns in my data to make a prediction about future motion.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Your Materials</a:t>
            </a:r>
            <a:endParaRPr lang="en-US" sz="2100" dirty="0"/>
          </a:p>
        </p:txBody>
      </p:sp>
      <p:sp>
        <p:nvSpPr>
          <p:cNvPr id="7" name="Shape 5"/>
          <p:cNvSpPr/>
          <p:nvPr/>
        </p:nvSpPr>
        <p:spPr>
          <a:xfrm>
            <a:off x="548640" y="1143000"/>
            <a:ext cx="8046720" cy="530352"/>
          </a:xfrm>
          <a:prstGeom prst="roundRect">
            <a:avLst>
              <a:gd name="adj" fmla="val 13793"/>
            </a:avLst>
          </a:prstGeom>
          <a:solidFill>
            <a:srgbClr val="FFFFFF"/>
          </a:solidFill>
          <a:ln w="12700">
            <a:solidFill>
              <a:srgbClr val="E8DDD2"/>
            </a:solidFill>
            <a:prstDash val="solid"/>
          </a:ln>
        </p:spPr>
      </p:sp>
      <p:sp>
        <p:nvSpPr>
          <p:cNvPr id="8" name="Shape 6"/>
          <p:cNvSpPr/>
          <p:nvPr/>
        </p:nvSpPr>
        <p:spPr>
          <a:xfrm>
            <a:off x="777240" y="1316736"/>
            <a:ext cx="182880" cy="182880"/>
          </a:xfrm>
          <a:prstGeom prst="ellipse">
            <a:avLst/>
          </a:prstGeom>
          <a:solidFill>
            <a:srgbClr val="0288D1"/>
          </a:solidFill>
          <a:ln/>
        </p:spPr>
      </p:sp>
      <p:sp>
        <p:nvSpPr>
          <p:cNvPr id="9" name="Text 7"/>
          <p:cNvSpPr/>
          <p:nvPr/>
        </p:nvSpPr>
        <p:spPr>
          <a:xfrm>
            <a:off x="1143000" y="117043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Science notebook &amp; pencil</a:t>
            </a:r>
            <a:endParaRPr lang="en-US" sz="1300" dirty="0"/>
          </a:p>
        </p:txBody>
      </p:sp>
      <p:sp>
        <p:nvSpPr>
          <p:cNvPr id="10" name="Shape 8"/>
          <p:cNvSpPr/>
          <p:nvPr/>
        </p:nvSpPr>
        <p:spPr>
          <a:xfrm>
            <a:off x="548640" y="1783080"/>
            <a:ext cx="8046720" cy="530352"/>
          </a:xfrm>
          <a:prstGeom prst="roundRect">
            <a:avLst>
              <a:gd name="adj" fmla="val 13793"/>
            </a:avLst>
          </a:prstGeom>
          <a:solidFill>
            <a:srgbClr val="FFFFFF"/>
          </a:solidFill>
          <a:ln w="12700">
            <a:solidFill>
              <a:srgbClr val="E8DDD2"/>
            </a:solidFill>
            <a:prstDash val="solid"/>
          </a:ln>
        </p:spPr>
      </p:sp>
      <p:sp>
        <p:nvSpPr>
          <p:cNvPr id="11" name="Shape 9"/>
          <p:cNvSpPr/>
          <p:nvPr/>
        </p:nvSpPr>
        <p:spPr>
          <a:xfrm>
            <a:off x="777240" y="1956816"/>
            <a:ext cx="182880" cy="182880"/>
          </a:xfrm>
          <a:prstGeom prst="ellipse">
            <a:avLst/>
          </a:prstGeom>
          <a:solidFill>
            <a:srgbClr val="0288D1"/>
          </a:solidFill>
          <a:ln/>
        </p:spPr>
      </p:sp>
      <p:sp>
        <p:nvSpPr>
          <p:cNvPr id="12" name="Text 10"/>
          <p:cNvSpPr/>
          <p:nvPr/>
        </p:nvSpPr>
        <p:spPr>
          <a:xfrm>
            <a:off x="1143000" y="181051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Cardboard ramp (propped on 2-3 books)</a:t>
            </a:r>
            <a:endParaRPr lang="en-US" sz="1300" dirty="0"/>
          </a:p>
        </p:txBody>
      </p:sp>
      <p:sp>
        <p:nvSpPr>
          <p:cNvPr id="13" name="Shape 11"/>
          <p:cNvSpPr/>
          <p:nvPr/>
        </p:nvSpPr>
        <p:spPr>
          <a:xfrm>
            <a:off x="548640" y="2423160"/>
            <a:ext cx="8046720" cy="530352"/>
          </a:xfrm>
          <a:prstGeom prst="roundRect">
            <a:avLst>
              <a:gd name="adj" fmla="val 13793"/>
            </a:avLst>
          </a:prstGeom>
          <a:solidFill>
            <a:srgbClr val="FFFFFF"/>
          </a:solidFill>
          <a:ln w="12700">
            <a:solidFill>
              <a:srgbClr val="E8DDD2"/>
            </a:solidFill>
            <a:prstDash val="solid"/>
          </a:ln>
        </p:spPr>
      </p:sp>
      <p:sp>
        <p:nvSpPr>
          <p:cNvPr id="14" name="Shape 12"/>
          <p:cNvSpPr/>
          <p:nvPr/>
        </p:nvSpPr>
        <p:spPr>
          <a:xfrm>
            <a:off x="777240" y="2596896"/>
            <a:ext cx="182880" cy="182880"/>
          </a:xfrm>
          <a:prstGeom prst="ellipse">
            <a:avLst/>
          </a:prstGeom>
          <a:solidFill>
            <a:srgbClr val="0288D1"/>
          </a:solidFill>
          <a:ln/>
        </p:spPr>
      </p:sp>
      <p:sp>
        <p:nvSpPr>
          <p:cNvPr id="15" name="Text 13"/>
          <p:cNvSpPr/>
          <p:nvPr/>
        </p:nvSpPr>
        <p:spPr>
          <a:xfrm>
            <a:off x="1143000" y="245059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Toy car or smooth round object</a:t>
            </a:r>
            <a:endParaRPr lang="en-US" sz="1300" dirty="0"/>
          </a:p>
        </p:txBody>
      </p:sp>
      <p:sp>
        <p:nvSpPr>
          <p:cNvPr id="16" name="Shape 14"/>
          <p:cNvSpPr/>
          <p:nvPr/>
        </p:nvSpPr>
        <p:spPr>
          <a:xfrm>
            <a:off x="548640" y="3063240"/>
            <a:ext cx="8046720" cy="530352"/>
          </a:xfrm>
          <a:prstGeom prst="roundRect">
            <a:avLst>
              <a:gd name="adj" fmla="val 13793"/>
            </a:avLst>
          </a:prstGeom>
          <a:solidFill>
            <a:srgbClr val="FFFFFF"/>
          </a:solidFill>
          <a:ln w="12700">
            <a:solidFill>
              <a:srgbClr val="E8DDD2"/>
            </a:solidFill>
            <a:prstDash val="solid"/>
          </a:ln>
        </p:spPr>
      </p:sp>
      <p:sp>
        <p:nvSpPr>
          <p:cNvPr id="17" name="Shape 15"/>
          <p:cNvSpPr/>
          <p:nvPr/>
        </p:nvSpPr>
        <p:spPr>
          <a:xfrm>
            <a:off x="777240" y="3236976"/>
            <a:ext cx="182880" cy="182880"/>
          </a:xfrm>
          <a:prstGeom prst="ellipse">
            <a:avLst/>
          </a:prstGeom>
          <a:solidFill>
            <a:srgbClr val="0288D1"/>
          </a:solidFill>
          <a:ln/>
        </p:spPr>
      </p:sp>
      <p:sp>
        <p:nvSpPr>
          <p:cNvPr id="18" name="Text 16"/>
          <p:cNvSpPr/>
          <p:nvPr/>
        </p:nvSpPr>
        <p:spPr>
          <a:xfrm>
            <a:off x="1143000" y="309067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Ruler or tape measure</a:t>
            </a:r>
            <a:endParaRPr lang="en-US" sz="1300" dirty="0"/>
          </a:p>
        </p:txBody>
      </p:sp>
      <p:sp>
        <p:nvSpPr>
          <p:cNvPr id="19" name="Shape 17"/>
          <p:cNvSpPr/>
          <p:nvPr/>
        </p:nvSpPr>
        <p:spPr>
          <a:xfrm>
            <a:off x="548640" y="3703320"/>
            <a:ext cx="8046720" cy="530352"/>
          </a:xfrm>
          <a:prstGeom prst="roundRect">
            <a:avLst>
              <a:gd name="adj" fmla="val 13793"/>
            </a:avLst>
          </a:prstGeom>
          <a:solidFill>
            <a:srgbClr val="FFFFFF"/>
          </a:solidFill>
          <a:ln w="12700">
            <a:solidFill>
              <a:srgbClr val="E8DDD2"/>
            </a:solidFill>
            <a:prstDash val="solid"/>
          </a:ln>
        </p:spPr>
      </p:sp>
      <p:sp>
        <p:nvSpPr>
          <p:cNvPr id="20" name="Shape 18"/>
          <p:cNvSpPr/>
          <p:nvPr/>
        </p:nvSpPr>
        <p:spPr>
          <a:xfrm>
            <a:off x="777240" y="3877056"/>
            <a:ext cx="182880" cy="182880"/>
          </a:xfrm>
          <a:prstGeom prst="ellipse">
            <a:avLst/>
          </a:prstGeom>
          <a:solidFill>
            <a:srgbClr val="0288D1"/>
          </a:solidFill>
          <a:ln/>
        </p:spPr>
      </p:sp>
      <p:sp>
        <p:nvSpPr>
          <p:cNvPr id="21" name="Text 19"/>
          <p:cNvSpPr/>
          <p:nvPr/>
        </p:nvSpPr>
        <p:spPr>
          <a:xfrm>
            <a:off x="1143000" y="373075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Masking tape (for floor marks)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WARM-UP</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You Already Think You Know?</a:t>
            </a:r>
            <a:endParaRPr lang="en-US" sz="2100" dirty="0"/>
          </a:p>
        </p:txBody>
      </p:sp>
      <p:sp>
        <p:nvSpPr>
          <p:cNvPr id="7" name="Text 5"/>
          <p:cNvSpPr/>
          <p:nvPr/>
        </p:nvSpPr>
        <p:spPr>
          <a:xfrm>
            <a:off x="320040" y="1143000"/>
            <a:ext cx="8503920" cy="64008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Think about a toy car sitting at the top of a ramp. You haven't rolled it yet. You don't know exactly what will happen.</a:t>
            </a:r>
            <a:endParaRPr lang="en-US" sz="1350" dirty="0"/>
          </a:p>
        </p:txBody>
      </p:sp>
      <p:sp>
        <p:nvSpPr>
          <p:cNvPr id="8" name="Shape 6"/>
          <p:cNvSpPr/>
          <p:nvPr/>
        </p:nvSpPr>
        <p:spPr>
          <a:xfrm>
            <a:off x="320040" y="187452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476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16712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Write at least 3 things you think you already know about ramps and rolling objects. Then write 1 question you're wondering about for today's investigation.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Testing Again and Again</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0288D1"/>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trial</a:t>
            </a:r>
            <a:endParaRPr lang="en-US" sz="16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One test during an investigation. Scientists run many trials to collect reliable data.</a:t>
            </a:r>
            <a:endParaRPr lang="en-US" sz="125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0288D1"/>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pattern</a:t>
            </a:r>
            <a:endParaRPr lang="en-US" sz="16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Something that repeats in a predictable way. Patterns in motion help us know what to expect.</a:t>
            </a:r>
            <a:endParaRPr lang="en-US" sz="125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0288D1"/>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600" b="1" dirty="0">
                <a:solidFill>
                  <a:srgbClr val="0288D1"/>
                </a:solidFill>
                <a:latin typeface="Cambria" pitchFamily="34" charset="0"/>
                <a:ea typeface="Cambria" pitchFamily="34" charset="-122"/>
                <a:cs typeface="Cambria" pitchFamily="34" charset="-120"/>
              </a:rPr>
              <a:t>predict</a:t>
            </a:r>
            <a:endParaRPr lang="en-US" sz="16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To say what you think will happen next, based on evidence you have already collected.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Counts as Evidence</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2D6A4F"/>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data</a:t>
            </a:r>
            <a:endParaRPr lang="en-US" sz="16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Measurements and observations you record during an investigation. Data is your evidence.</a:t>
            </a:r>
            <a:endParaRPr lang="en-US" sz="125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2D6A4F"/>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motion</a:t>
            </a:r>
            <a:endParaRPr lang="en-US" sz="16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Movement from one place to another. All moving objects have motion — fast or slow.</a:t>
            </a:r>
            <a:endParaRPr lang="en-US" sz="125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2D6A4F"/>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600" b="1" dirty="0">
                <a:solidFill>
                  <a:srgbClr val="2D6A4F"/>
                </a:solidFill>
                <a:latin typeface="Cambria" pitchFamily="34" charset="0"/>
                <a:ea typeface="Cambria" pitchFamily="34" charset="-122"/>
                <a:cs typeface="Cambria" pitchFamily="34" charset="-120"/>
              </a:rPr>
              <a:t>evidence</a:t>
            </a:r>
            <a:endParaRPr lang="en-US" sz="16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250" dirty="0">
                <a:solidFill>
                  <a:srgbClr val="2B1D12"/>
                </a:solidFill>
                <a:latin typeface="Calibri" pitchFamily="34" charset="0"/>
                <a:ea typeface="Calibri" pitchFamily="34" charset="-122"/>
                <a:cs typeface="Calibri" pitchFamily="34" charset="-120"/>
              </a:rPr>
              <a:t>Observations or measurements that support an idea. Good predictions are always based on evidence.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COPYWORK</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Notebook Entry</a:t>
            </a:r>
            <a:endParaRPr lang="en-US" sz="2100" dirty="0"/>
          </a:p>
        </p:txBody>
      </p:sp>
      <p:sp>
        <p:nvSpPr>
          <p:cNvPr id="7" name="Shape 5"/>
          <p:cNvSpPr/>
          <p:nvPr/>
        </p:nvSpPr>
        <p:spPr>
          <a:xfrm>
            <a:off x="320040" y="1280160"/>
            <a:ext cx="8503920" cy="1280160"/>
          </a:xfrm>
          <a:prstGeom prst="roundRect">
            <a:avLst>
              <a:gd name="adj" fmla="val 5714"/>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COPY CAREFULLY INTO YOUR SCIENCE NOTEBOOK</a:t>
            </a:r>
            <a:endParaRPr lang="en-US" sz="1100" dirty="0"/>
          </a:p>
        </p:txBody>
      </p:sp>
      <p:sp>
        <p:nvSpPr>
          <p:cNvPr id="9" name="Text 7"/>
          <p:cNvSpPr/>
          <p:nvPr/>
        </p:nvSpPr>
        <p:spPr>
          <a:xfrm>
            <a:off x="502920" y="1572768"/>
            <a:ext cx="8138160" cy="93268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"When scientists repeat an investigation many times, they can find patterns and make better predictions."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Trial?</a:t>
            </a:r>
            <a:endParaRPr lang="en-US" sz="2100" dirty="0"/>
          </a:p>
        </p:txBody>
      </p:sp>
      <p:sp>
        <p:nvSpPr>
          <p:cNvPr id="7" name="Text 5"/>
          <p:cNvSpPr/>
          <p:nvPr/>
        </p:nvSpPr>
        <p:spPr>
          <a:xfrm>
            <a:off x="320040" y="1143000"/>
            <a:ext cx="8503920" cy="105156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When scientists test how something moves, they don't just do it once — they repeat the test again and again. Each test is called a trial. Running multiple trials matters: if you only roll the car once, you can't tell if that result was typical, or just luck.</a:t>
            </a:r>
            <a:endParaRPr lang="en-US" sz="1300" dirty="0"/>
          </a:p>
        </p:txBody>
      </p:sp>
      <p:sp>
        <p:nvSpPr>
          <p:cNvPr id="8" name="Shape 6"/>
          <p:cNvSpPr/>
          <p:nvPr/>
        </p:nvSpPr>
        <p:spPr>
          <a:xfrm>
            <a:off x="320040" y="228600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35915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57860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If the car rolled 32 cm on your first try, would you trust that number? What if it rolled about 32 cm five times in a row?</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2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Looking for Patterns</a:t>
            </a:r>
            <a:endParaRPr lang="en-US" sz="2100" dirty="0"/>
          </a:p>
        </p:txBody>
      </p:sp>
      <p:sp>
        <p:nvSpPr>
          <p:cNvPr id="7" name="Text 5"/>
          <p:cNvSpPr/>
          <p:nvPr/>
        </p:nvSpPr>
        <p:spPr>
          <a:xfrm>
            <a:off x="320040" y="1097280"/>
            <a:ext cx="8503920" cy="96012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After several trials, scientists look at their data and ask: did something similar happen each time? If the car traveled close to the same distance every trial, that's a pattern. Patterns are clues — they tell you something reliable is happening, not just chance.</a:t>
            </a:r>
            <a:endParaRPr lang="en-US" sz="1250" dirty="0"/>
          </a:p>
        </p:txBody>
      </p:sp>
      <p:sp>
        <p:nvSpPr>
          <p:cNvPr id="8" name="Shape 6"/>
          <p:cNvSpPr/>
          <p:nvPr/>
        </p:nvSpPr>
        <p:spPr>
          <a:xfrm>
            <a:off x="457200" y="2148840"/>
            <a:ext cx="8229600" cy="1737360"/>
          </a:xfrm>
          <a:prstGeom prst="roundRect">
            <a:avLst>
              <a:gd name="adj" fmla="val 4211"/>
            </a:avLst>
          </a:prstGeom>
          <a:solidFill>
            <a:srgbClr val="FFF3E0"/>
          </a:solidFill>
          <a:ln w="25400">
            <a:solidFill>
              <a:srgbClr val="F9A825"/>
            </a:solidFill>
            <a:prstDash val="dash"/>
          </a:ln>
        </p:spPr>
      </p:sp>
      <p:sp>
        <p:nvSpPr>
          <p:cNvPr id="9" name="Text 7"/>
          <p:cNvSpPr/>
          <p:nvPr/>
        </p:nvSpPr>
        <p:spPr>
          <a:xfrm>
            <a:off x="640080" y="224028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514600"/>
            <a:ext cx="7863840" cy="102412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wide-angle photograph of ocean waves rolling onto a sandy beach, taken from shore level or just above the waterline. Multiple wave crests visible approaching the shore, showing the repeating, rhythmic pattern. Natural daylight, blue-green water, wet sand. Real outdoor coastal environment. Photographic style, no cartoons, no white background, no text overlays.</a:t>
            </a:r>
            <a:endParaRPr lang="en-US" sz="1100" dirty="0"/>
          </a:p>
        </p:txBody>
      </p:sp>
      <p:sp>
        <p:nvSpPr>
          <p:cNvPr id="11" name="Text 9"/>
          <p:cNvSpPr/>
          <p:nvPr/>
        </p:nvSpPr>
        <p:spPr>
          <a:xfrm>
            <a:off x="640080" y="35935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images/6-02-ocean-waves.png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Using Patterns to Predict</a:t>
            </a:r>
            <a:endParaRPr lang="en-US" sz="2100" dirty="0"/>
          </a:p>
        </p:txBody>
      </p:sp>
      <p:sp>
        <p:nvSpPr>
          <p:cNvPr id="7" name="Text 5"/>
          <p:cNvSpPr/>
          <p:nvPr/>
        </p:nvSpPr>
        <p:spPr>
          <a:xfrm>
            <a:off x="320040" y="1143000"/>
            <a:ext cx="8503920" cy="100584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Once you find a pattern, you can make a prediction. A prediction isn't just a guess — it's an idea based on evidence. If your car has traveled about 33 cm in five trials, you can predict the next trial will land close to that.</a:t>
            </a:r>
            <a:endParaRPr lang="en-US" sz="1300" dirty="0"/>
          </a:p>
        </p:txBody>
      </p:sp>
      <p:sp>
        <p:nvSpPr>
          <p:cNvPr id="8" name="Shape 6"/>
          <p:cNvSpPr/>
          <p:nvPr/>
        </p:nvSpPr>
        <p:spPr>
          <a:xfrm>
            <a:off x="320040" y="2240280"/>
            <a:ext cx="8503920" cy="1332547"/>
          </a:xfrm>
          <a:prstGeom prst="roundRect">
            <a:avLst>
              <a:gd name="adj" fmla="val 5490"/>
            </a:avLst>
          </a:prstGeom>
          <a:solidFill>
            <a:srgbClr val="EEF8F0"/>
          </a:solidFill>
          <a:ln w="19050">
            <a:solidFill>
              <a:srgbClr val="52B788"/>
            </a:solidFill>
            <a:prstDash val="solid"/>
          </a:ln>
        </p:spPr>
      </p:sp>
      <p:sp>
        <p:nvSpPr>
          <p:cNvPr id="9" name="Text 7"/>
          <p:cNvSpPr/>
          <p:nvPr/>
        </p:nvSpPr>
        <p:spPr>
          <a:xfrm>
            <a:off x="502920" y="2313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569464"/>
            <a:ext cx="8138160" cy="948499"/>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Scientists use patterns in motion to predict where objects will move — from baseballs to spacecraft traveling billions of miles through space. Why do you think the SAME idea works for something as small as a toy car and as big as a spacecraft?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Say It Before We Show It</a:t>
            </a:r>
            <a:endParaRPr lang="en-US" sz="2100" dirty="0"/>
          </a:p>
        </p:txBody>
      </p:sp>
      <p:sp>
        <p:nvSpPr>
          <p:cNvPr id="7" name="Shape 5"/>
          <p:cNvSpPr/>
          <p:nvPr/>
        </p:nvSpPr>
        <p:spPr>
          <a:xfrm>
            <a:off x="320040" y="1280160"/>
            <a:ext cx="8503920" cy="1463040"/>
          </a:xfrm>
          <a:prstGeom prst="roundRect">
            <a:avLst>
              <a:gd name="adj" fmla="val 5000"/>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572768"/>
            <a:ext cx="8138160" cy="111556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When an object moves in a predictable pattern, you can use that pattern to predict future motion. The more trials you run, the more confident you can be in your prediction. Patterns in data are evidence — and evidence is what separates a prediction from a guess.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MIND-BLOWING FACT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Voyager 1 — 15 Billion Miles Away</a:t>
            </a:r>
            <a:endParaRPr lang="en-US" sz="2100" dirty="0"/>
          </a:p>
        </p:txBody>
      </p:sp>
      <p:sp>
        <p:nvSpPr>
          <p:cNvPr id="7" name="Text 5"/>
          <p:cNvSpPr/>
          <p:nvPr/>
        </p:nvSpPr>
        <p:spPr>
          <a:xfrm>
            <a:off x="320040" y="1097280"/>
            <a:ext cx="8503920" cy="86868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Scientists predicted exactly where the Voyager 1 spacecraft would be over 46 years after it launched — using patterns in motion. It's now more than 15 billion miles from Earth, and scientists know right where it is.</a:t>
            </a:r>
            <a:endParaRPr lang="en-US" sz="1300" dirty="0"/>
          </a:p>
        </p:txBody>
      </p:sp>
      <p:sp>
        <p:nvSpPr>
          <p:cNvPr id="8" name="Shape 6"/>
          <p:cNvSpPr/>
          <p:nvPr/>
        </p:nvSpPr>
        <p:spPr>
          <a:xfrm>
            <a:off x="457200" y="2057400"/>
            <a:ext cx="8229600" cy="1600200"/>
          </a:xfrm>
          <a:prstGeom prst="roundRect">
            <a:avLst>
              <a:gd name="adj" fmla="val 4571"/>
            </a:avLst>
          </a:prstGeom>
          <a:solidFill>
            <a:srgbClr val="FFF3E0"/>
          </a:solidFill>
          <a:ln w="25400">
            <a:solidFill>
              <a:srgbClr val="F9A825"/>
            </a:solidFill>
            <a:prstDash val="dash"/>
          </a:ln>
        </p:spPr>
      </p:sp>
      <p:sp>
        <p:nvSpPr>
          <p:cNvPr id="9" name="Text 7"/>
          <p:cNvSpPr/>
          <p:nvPr/>
        </p:nvSpPr>
        <p:spPr>
          <a:xfrm>
            <a:off x="640080" y="214884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423160"/>
            <a:ext cx="7863840" cy="88696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Inside NASA's Jet Propulsion Laboratory mission control room. Multiple large screens on the wall displaying spacecraft trajectory paths, orbital maps, and telemetry data. Engineers and scientists seated at workstations with glowing monitors. Dramatic wide-angle view showing the scale of the room. Atmospheric dark room lit by screen glow. Real-world science environment, photographic style, no cartoons, no white background, no text overlays.</a:t>
            </a:r>
            <a:endParaRPr lang="en-US" sz="1100" dirty="0"/>
          </a:p>
        </p:txBody>
      </p:sp>
      <p:sp>
        <p:nvSpPr>
          <p:cNvPr id="11" name="Text 9"/>
          <p:cNvSpPr/>
          <p:nvPr/>
        </p:nvSpPr>
        <p:spPr>
          <a:xfrm>
            <a:off x="640080" y="33649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images/6-02-nasa-tracking.png</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 20 MIN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Predict First, Then Set Up</a:t>
            </a:r>
            <a:endParaRPr lang="en-US" sz="2100" dirty="0"/>
          </a:p>
        </p:txBody>
      </p:sp>
      <p:sp>
        <p:nvSpPr>
          <p:cNvPr id="7" name="Shape 5"/>
          <p:cNvSpPr/>
          <p:nvPr/>
        </p:nvSpPr>
        <p:spPr>
          <a:xfrm>
            <a:off x="320040" y="1097280"/>
            <a:ext cx="8503920" cy="640080"/>
          </a:xfrm>
          <a:prstGeom prst="roundRect">
            <a:avLst>
              <a:gd name="adj" fmla="val 11429"/>
            </a:avLst>
          </a:prstGeom>
          <a:solidFill>
            <a:srgbClr val="FFF3E0"/>
          </a:solidFill>
          <a:ln w="19050">
            <a:solidFill>
              <a:srgbClr val="F57C00"/>
            </a:solidFill>
            <a:prstDash val="solid"/>
          </a:ln>
        </p:spPr>
      </p:sp>
      <p:sp>
        <p:nvSpPr>
          <p:cNvPr id="8" name="Text 6"/>
          <p:cNvSpPr/>
          <p:nvPr/>
        </p:nvSpPr>
        <p:spPr>
          <a:xfrm>
            <a:off x="502920" y="115214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9" name="Text 7"/>
          <p:cNvSpPr/>
          <p:nvPr/>
        </p:nvSpPr>
        <p:spPr>
          <a:xfrm>
            <a:off x="502920" y="1316736"/>
            <a:ext cx="8138160" cy="38404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Before you touch the car: write "I think the car will travel about ___ cm." Write a real number — your best guess based on what you've seen today.</a:t>
            </a:r>
            <a:endParaRPr lang="en-US" sz="1300" dirty="0"/>
          </a:p>
        </p:txBody>
      </p:sp>
      <p:sp>
        <p:nvSpPr>
          <p:cNvPr id="10" name="Text 8"/>
          <p:cNvSpPr/>
          <p:nvPr/>
        </p:nvSpPr>
        <p:spPr>
          <a:xfrm>
            <a:off x="320040" y="1874520"/>
            <a:ext cx="8503920" cy="96012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Set up the ramp: prop one end of the cardboard on 2-3 books. Place your measuring tape along the floor from the bottom of the ramp. Put tape marks at 10, 30, 40, and 50 cm. Keep the ramp in the same position for every trial.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Run 5 Trials</a:t>
            </a:r>
            <a:endParaRPr lang="en-US" sz="2100" dirty="0"/>
          </a:p>
        </p:txBody>
      </p:sp>
      <p:sp>
        <p:nvSpPr>
          <p:cNvPr id="7" name="Text 5"/>
          <p:cNvSpPr/>
          <p:nvPr/>
        </p:nvSpPr>
        <p:spPr>
          <a:xfrm>
            <a:off x="320040" y="1143000"/>
            <a:ext cx="8503920" cy="105156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Release the car from the same spot at the top of the ramp. Don't push — just let go. Record how far it travels in your data table. Repeat 4 more times. In your Notes column, write one word about each trial (e.g. 'good run' or 'bumped the side').</a:t>
            </a:r>
            <a:endParaRPr lang="en-US" sz="1250" dirty="0"/>
          </a:p>
        </p:txBody>
      </p:sp>
      <p:sp>
        <p:nvSpPr>
          <p:cNvPr id="8" name="Shape 6"/>
          <p:cNvSpPr/>
          <p:nvPr/>
        </p:nvSpPr>
        <p:spPr>
          <a:xfrm>
            <a:off x="457200" y="2286000"/>
            <a:ext cx="8229600" cy="1463040"/>
          </a:xfrm>
          <a:prstGeom prst="roundRect">
            <a:avLst>
              <a:gd name="adj" fmla="val 5000"/>
            </a:avLst>
          </a:prstGeom>
          <a:solidFill>
            <a:srgbClr val="FFF3E0"/>
          </a:solidFill>
          <a:ln w="25400">
            <a:solidFill>
              <a:srgbClr val="F9A825"/>
            </a:solidFill>
            <a:prstDash val="dash"/>
          </a:ln>
        </p:spPr>
      </p:sp>
      <p:sp>
        <p:nvSpPr>
          <p:cNvPr id="9" name="Text 7"/>
          <p:cNvSpPr/>
          <p:nvPr/>
        </p:nvSpPr>
        <p:spPr>
          <a:xfrm>
            <a:off x="640080" y="237744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651760"/>
            <a:ext cx="7863840" cy="74980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close-up photograph of an open scientific field notebook lying on a rough wooden or stone surface outdoors. Pages show handwritten measurement data organized in neat columns — numbers, units, short labels written in pencil. A pencil rests alongside. Real outdoor nature environment softly blurred in background. Natural daylight. Photographic style, no cartoons, no white background, slightly weathered notebook with authentic handwriting.</a:t>
            </a:r>
            <a:endParaRPr lang="en-US" sz="1100" dirty="0"/>
          </a:p>
        </p:txBody>
      </p:sp>
      <p:sp>
        <p:nvSpPr>
          <p:cNvPr id="11" name="Text 9"/>
          <p:cNvSpPr/>
          <p:nvPr/>
        </p:nvSpPr>
        <p:spPr>
          <a:xfrm>
            <a:off x="640080" y="345643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images/6-02-field-notebook-data.png</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4</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Find Your Pattern</a:t>
            </a:r>
            <a:endParaRPr lang="en-US" sz="2100" dirty="0"/>
          </a:p>
        </p:txBody>
      </p:sp>
      <p:sp>
        <p:nvSpPr>
          <p:cNvPr id="7" name="Shape 5"/>
          <p:cNvSpPr/>
          <p:nvPr/>
        </p:nvSpPr>
        <p:spPr>
          <a:xfrm>
            <a:off x="320040" y="1143000"/>
            <a:ext cx="8503920" cy="1086485"/>
          </a:xfrm>
          <a:prstGeom prst="roundRect">
            <a:avLst>
              <a:gd name="adj" fmla="val 6733"/>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Look at your 5 distances. Are they close to each other? Find your lowest and highest number. Write: "The car usually travels about ___ to ___ cm." That range is your pattern.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STEP 5</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Make a New Prediction</a:t>
            </a:r>
            <a:endParaRPr lang="en-US" sz="2100" dirty="0"/>
          </a:p>
        </p:txBody>
      </p:sp>
      <p:sp>
        <p:nvSpPr>
          <p:cNvPr id="7" name="Shape 5"/>
          <p:cNvSpPr/>
          <p:nvPr/>
        </p:nvSpPr>
        <p:spPr>
          <a:xfrm>
            <a:off x="320040" y="1143000"/>
            <a:ext cx="8503920" cy="1086485"/>
          </a:xfrm>
          <a:prstGeom prst="roundRect">
            <a:avLst>
              <a:gd name="adj" fmla="val 6733"/>
            </a:avLst>
          </a:prstGeom>
          <a:solidFill>
            <a:srgbClr val="EEF8F0"/>
          </a:solidFill>
          <a:ln w="19050">
            <a:solidFill>
              <a:srgbClr val="52B788"/>
            </a:solidFill>
            <a:prstDash val="solid"/>
          </a:ln>
        </p:spPr>
      </p:sp>
      <p:sp>
        <p:nvSpPr>
          <p:cNvPr id="8" name="Text 6"/>
          <p:cNvSpPr/>
          <p:nvPr/>
        </p:nvSpPr>
        <p:spPr>
          <a:xfrm>
            <a:off x="502920" y="12161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7218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Based on your data, write a new prediction for Trial 6. Then run one more trial. How close were you? Write down what happened.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Like a Scientist</a:t>
            </a:r>
            <a:endParaRPr lang="en-US" sz="2100" dirty="0"/>
          </a:p>
        </p:txBody>
      </p:sp>
      <p:sp>
        <p:nvSpPr>
          <p:cNvPr id="7" name="Shape 5"/>
          <p:cNvSpPr/>
          <p:nvPr/>
        </p:nvSpPr>
        <p:spPr>
          <a:xfrm>
            <a:off x="320040" y="1280160"/>
            <a:ext cx="8503920" cy="1145540"/>
          </a:xfrm>
          <a:prstGeom prst="roundRect">
            <a:avLst>
              <a:gd name="adj" fmla="val 6386"/>
            </a:avLst>
          </a:prstGeom>
          <a:solidFill>
            <a:srgbClr val="EEF8F0"/>
          </a:solidFill>
          <a:ln w="19050">
            <a:solidFill>
              <a:srgbClr val="52B788"/>
            </a:solidFill>
            <a:prstDash val="solid"/>
          </a:ln>
        </p:spPr>
      </p:sp>
      <p:sp>
        <p:nvSpPr>
          <p:cNvPr id="8" name="Text 6"/>
          <p:cNvSpPr/>
          <p:nvPr/>
        </p:nvSpPr>
        <p:spPr>
          <a:xfrm>
            <a:off x="502920" y="13533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609344"/>
            <a:ext cx="8138160" cy="761492"/>
          </a:xfrm>
          <a:prstGeom prst="rect">
            <a:avLst/>
          </a:prstGeom>
          <a:noFill/>
          <a:ln/>
        </p:spPr>
        <p:txBody>
          <a:bodyPr wrap="square" rtlCol="0" anchor="t"/>
          <a:lstStyle/>
          <a:p>
            <a:pPr marL="342900" indent="-342900">
              <a:lnSpc>
                <a:spcPts val="2170"/>
              </a:lnSpc>
              <a:buSzPct val="100000"/>
              <a:buChar char="●"/>
            </a:pPr>
            <a:r>
              <a:rPr lang="en-US" sz="1400" dirty="0">
                <a:solidFill>
                  <a:srgbClr val="1B4332"/>
                </a:solidFill>
                <a:latin typeface="Calibri" pitchFamily="34" charset="0"/>
                <a:ea typeface="Calibri" pitchFamily="34" charset="-122"/>
                <a:cs typeface="Calibri" pitchFamily="34" charset="-120"/>
              </a:rPr>
              <a:t>Why do you think scientists run multiple trials instead of just one? What could go wrong if they only tested something once and called it done?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Record Your Thinking</a:t>
            </a:r>
            <a:endParaRPr lang="en-US" sz="2100" dirty="0"/>
          </a:p>
        </p:txBody>
      </p:sp>
      <p:sp>
        <p:nvSpPr>
          <p:cNvPr id="7" name="Shape 5"/>
          <p:cNvSpPr/>
          <p:nvPr/>
        </p:nvSpPr>
        <p:spPr>
          <a:xfrm>
            <a:off x="320040" y="1188720"/>
            <a:ext cx="8503920" cy="1633474"/>
          </a:xfrm>
          <a:prstGeom prst="roundRect">
            <a:avLst>
              <a:gd name="adj" fmla="val 4478"/>
            </a:avLst>
          </a:prstGeom>
          <a:solidFill>
            <a:srgbClr val="EEF8F0"/>
          </a:solidFill>
          <a:ln w="19050">
            <a:solidFill>
              <a:srgbClr val="52B788"/>
            </a:solidFill>
            <a:prstDash val="solid"/>
          </a:ln>
        </p:spPr>
      </p:sp>
      <p:sp>
        <p:nvSpPr>
          <p:cNvPr id="8" name="Text 6"/>
          <p:cNvSpPr/>
          <p:nvPr/>
        </p:nvSpPr>
        <p:spPr>
          <a:xfrm>
            <a:off x="502920" y="12618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517904"/>
            <a:ext cx="8138160" cy="1249426"/>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Complete this sentence: 'My data shows that the car usually travels about ___ cm. I know this because ___.'</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Tell the story of your investigation from beginning to end — what you did, what you noticed, and what surprised you.</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It Through</a:t>
            </a:r>
            <a:endParaRPr lang="en-US" sz="2100" dirty="0"/>
          </a:p>
        </p:txBody>
      </p:sp>
      <p:sp>
        <p:nvSpPr>
          <p:cNvPr id="7" name="Shape 5"/>
          <p:cNvSpPr/>
          <p:nvPr/>
        </p:nvSpPr>
        <p:spPr>
          <a:xfrm>
            <a:off x="320040" y="1097280"/>
            <a:ext cx="8503920" cy="1999107"/>
          </a:xfrm>
          <a:prstGeom prst="roundRect">
            <a:avLst>
              <a:gd name="adj" fmla="val 3659"/>
            </a:avLst>
          </a:prstGeom>
          <a:solidFill>
            <a:srgbClr val="EEF8F0"/>
          </a:solidFill>
          <a:ln w="19050">
            <a:solidFill>
              <a:srgbClr val="52B788"/>
            </a:solidFill>
            <a:prstDash val="solid"/>
          </a:ln>
        </p:spPr>
      </p:sp>
      <p:sp>
        <p:nvSpPr>
          <p:cNvPr id="8" name="Text 6"/>
          <p:cNvSpPr/>
          <p:nvPr/>
        </p:nvSpPr>
        <p:spPr>
          <a:xfrm>
            <a:off x="502920" y="1170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26464"/>
            <a:ext cx="8138160" cy="1615059"/>
          </a:xfrm>
          <a:prstGeom prst="rect">
            <a:avLst/>
          </a:prstGeom>
          <a:noFill/>
          <a:ln/>
        </p:spPr>
        <p:txBody>
          <a:bodyPr wrap="square" rtlCol="0" anchor="t"/>
          <a:lstStyle/>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Did all 5 trials give exactly the same distance? What does that tell you about motion?</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How close was your Trial 6 prediction to the actual result? What does that tell you about patterns as evidence?</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Where else might a scientist use repeated trials and patterns to make predictions? Think of at least one real-world example.</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What do you think would happen to the pattern if you raised the ramp higher? Bigger, smaller, or the same distances? Why?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trial in a science investigation?</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is a trial in a science investigation?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A guess you make before you start testing</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One test during an investigation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The pattern you find in your data</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A trial is one test — like one roll of the car down the ramp.</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is a trial in a science investigation?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Each time you run the investigation is one trial. Running many trials gives you more reliable data.</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ball travels ~40 cm five times — what can she predict?</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scientist rolls a ball 5 times. Each time it travels about 40 cm. What can she predict about the 6th roll?</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The ball will travel a totally different distance next time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The next roll will probably travel about 40 cm</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She needs to run 100 more trials before she can predict anything</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it — if the same thing happened 5 times in a row, what would you expect next? That's what patterns are for.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 ball travels ~40 cm five times — what can she predict?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A repeated pattern is strong evidence. She can confidently predict the 6th roll will be close to 40 cm.</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patterns in your data help you do?</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What do patterns in your data help you do?</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Change the investigation right away</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Prove that one trial is always enough</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Make predictions about what will happen next</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Patterns are especially useful for one thing: predicting what might happen next.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do patterns in your data help you do?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Patterns in your data give you evidence, and evidence is what lets you make a real prediction, not just a guess.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Label the Data Table</a:t>
            </a:r>
            <a:endParaRPr lang="en-US" sz="2100" dirty="0"/>
          </a:p>
        </p:txBody>
      </p:sp>
      <p:sp>
        <p:nvSpPr>
          <p:cNvPr id="7" name="Text 5"/>
          <p:cNvSpPr/>
          <p:nvPr/>
        </p:nvSpPr>
        <p:spPr>
          <a:xfrm>
            <a:off x="320040" y="1051560"/>
            <a:ext cx="8503920" cy="411480"/>
          </a:xfrm>
          <a:prstGeom prst="rect">
            <a:avLst/>
          </a:prstGeom>
          <a:noFill/>
          <a:ln/>
        </p:spPr>
        <p:txBody>
          <a:bodyPr wrap="square" rtlCol="0" anchor="t"/>
          <a:lstStyle/>
          <a:p>
            <a:pPr indent="0" marL="0">
              <a:lnSpc>
                <a:spcPts val="2000"/>
              </a:lnSpc>
              <a:buNone/>
            </a:pPr>
            <a:r>
              <a:rPr lang="en-US" sz="1200" i="1" dirty="0">
                <a:solidFill>
                  <a:srgbClr val="2B1D12"/>
                </a:solidFill>
                <a:latin typeface="Calibri" pitchFamily="34" charset="0"/>
                <a:ea typeface="Calibri" pitchFamily="34" charset="-122"/>
                <a:cs typeface="Calibri" pitchFamily="34" charset="-120"/>
              </a:rPr>
              <a:t>Word bank: trial, distance (cm), notes, range, pattern.</a:t>
            </a:r>
            <a:endParaRPr lang="en-US" sz="1200" dirty="0"/>
          </a:p>
        </p:txBody>
      </p:sp>
      <p:sp>
        <p:nvSpPr>
          <p:cNvPr id="8" name="Text 6"/>
          <p:cNvSpPr/>
          <p:nvPr/>
        </p:nvSpPr>
        <p:spPr>
          <a:xfrm>
            <a:off x="457200" y="1554480"/>
            <a:ext cx="8229600" cy="2377440"/>
          </a:xfrm>
          <a:prstGeom prst="rect">
            <a:avLst/>
          </a:prstGeom>
          <a:noFill/>
          <a:ln/>
        </p:spPr>
        <p:txBody>
          <a:bodyPr wrap="square" rtlCol="0" anchor="t"/>
          <a:lstStyle/>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1. What do you write in the first column of your data table? (It numbers each test you ran.)</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2. What is the measurement you record after each trial? (Hint: it's in centimeters.)</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3. After you collect all your data, what do you look for across all your trials?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a:t>
            </a:r>
            <a:endParaRPr lang="en-US" sz="2100" dirty="0"/>
          </a:p>
        </p:txBody>
      </p:sp>
      <p:sp>
        <p:nvSpPr>
          <p:cNvPr id="7" name="Text 5"/>
          <p:cNvSpPr/>
          <p:nvPr/>
        </p:nvSpPr>
        <p:spPr>
          <a:xfrm>
            <a:off x="457200" y="1051560"/>
            <a:ext cx="8229600" cy="2651760"/>
          </a:xfrm>
          <a:prstGeom prst="rect">
            <a:avLst/>
          </a:prstGeom>
          <a:noFill/>
          <a:ln/>
        </p:spPr>
        <p:txBody>
          <a:bodyPr wrap="square" rtlCol="0" anchor="t"/>
          <a:lstStyle/>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4. Data from an investigation: 32, 34, 33, 35, 34 cm. Describe the pattern you see.</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5. How did running 5 trials — instead of just 1 — help you trust your results?</a:t>
            </a:r>
            <a:endParaRPr lang="en-US" sz="1250" dirty="0"/>
          </a:p>
          <a:p>
            <a:pPr indent="0" marL="0">
              <a:lnSpc>
                <a:spcPts val="2600"/>
              </a:lnSpc>
              <a:buNone/>
            </a:pPr>
            <a:r>
              <a:rPr lang="en-US" sz="1250" dirty="0">
                <a:solidFill>
                  <a:srgbClr val="2B1D12"/>
                </a:solidFill>
                <a:latin typeface="Calibri" pitchFamily="34" charset="0"/>
                <a:ea typeface="Calibri" pitchFamily="34" charset="-122"/>
                <a:cs typeface="Calibri" pitchFamily="34" charset="-120"/>
              </a:rPr>
              <a:t>6. A student ran only one trial and said, 'I already have my answer.' What would you tell that student, and why?</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WRITE &amp;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Patterns Led to a Prediction</a:t>
            </a:r>
            <a:endParaRPr lang="en-US" sz="2100" dirty="0"/>
          </a:p>
        </p:txBody>
      </p:sp>
      <p:sp>
        <p:nvSpPr>
          <p:cNvPr id="7" name="Text 5"/>
          <p:cNvSpPr/>
          <p:nvPr/>
        </p:nvSpPr>
        <p:spPr>
          <a:xfrm>
            <a:off x="365760" y="1051560"/>
            <a:ext cx="8412480" cy="457200"/>
          </a:xfrm>
          <a:prstGeom prst="rect">
            <a:avLst/>
          </a:prstGeom>
          <a:noFill/>
          <a:ln/>
        </p:spPr>
        <p:txBody>
          <a:bodyPr wrap="square" rtlCol="0" anchor="ctr"/>
          <a:lstStyle/>
          <a:p>
            <a:pPr indent="0" marL="0">
              <a:buNone/>
            </a:pPr>
            <a:r>
              <a:rPr lang="en-US" sz="1250" i="1" dirty="0">
                <a:solidFill>
                  <a:srgbClr val="5A4D3E"/>
                </a:solidFill>
                <a:latin typeface="Calibri" pitchFamily="34" charset="0"/>
                <a:ea typeface="Calibri" pitchFamily="34" charset="-122"/>
                <a:cs typeface="Calibri" pitchFamily="34" charset="-120"/>
              </a:rPr>
              <a:t>Use your investigation data to answer: How did patterns in your data help you make a prediction?</a:t>
            </a:r>
            <a:endParaRPr lang="en-US" sz="1250" dirty="0"/>
          </a:p>
        </p:txBody>
      </p:sp>
      <p:sp>
        <p:nvSpPr>
          <p:cNvPr id="8" name="Shape 6"/>
          <p:cNvSpPr/>
          <p:nvPr/>
        </p:nvSpPr>
        <p:spPr>
          <a:xfrm>
            <a:off x="365760" y="1554480"/>
            <a:ext cx="8412480" cy="658368"/>
          </a:xfrm>
          <a:prstGeom prst="roundRect">
            <a:avLst>
              <a:gd name="adj" fmla="val 11111"/>
            </a:avLst>
          </a:prstGeom>
          <a:solidFill>
            <a:srgbClr val="FFF3E0"/>
          </a:solidFill>
          <a:ln w="19050">
            <a:solidFill>
              <a:srgbClr val="F57C00"/>
            </a:solidFill>
            <a:prstDash val="solid"/>
          </a:ln>
        </p:spPr>
      </p:sp>
      <p:sp>
        <p:nvSpPr>
          <p:cNvPr id="9" name="Text 7"/>
          <p:cNvSpPr/>
          <p:nvPr/>
        </p:nvSpPr>
        <p:spPr>
          <a:xfrm>
            <a:off x="548640" y="1609344"/>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did you observe?</a:t>
            </a:r>
            <a:endParaRPr lang="en-US" sz="1150" dirty="0"/>
          </a:p>
        </p:txBody>
      </p:sp>
      <p:sp>
        <p:nvSpPr>
          <p:cNvPr id="10" name="Text 8"/>
          <p:cNvSpPr/>
          <p:nvPr/>
        </p:nvSpPr>
        <p:spPr>
          <a:xfrm>
            <a:off x="548640" y="1847088"/>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"During my investigation, I noticed that…"</a:t>
            </a:r>
            <a:endParaRPr lang="en-US" sz="1200" dirty="0"/>
          </a:p>
        </p:txBody>
      </p:sp>
      <p:sp>
        <p:nvSpPr>
          <p:cNvPr id="11" name="Shape 9"/>
          <p:cNvSpPr/>
          <p:nvPr/>
        </p:nvSpPr>
        <p:spPr>
          <a:xfrm>
            <a:off x="365760" y="2304288"/>
            <a:ext cx="8412480" cy="658368"/>
          </a:xfrm>
          <a:prstGeom prst="roundRect">
            <a:avLst>
              <a:gd name="adj" fmla="val 11111"/>
            </a:avLst>
          </a:prstGeom>
          <a:solidFill>
            <a:srgbClr val="FFF3E0"/>
          </a:solidFill>
          <a:ln w="19050">
            <a:solidFill>
              <a:srgbClr val="F57C00"/>
            </a:solidFill>
            <a:prstDash val="solid"/>
          </a:ln>
        </p:spPr>
      </p:sp>
      <p:sp>
        <p:nvSpPr>
          <p:cNvPr id="12" name="Text 10"/>
          <p:cNvSpPr/>
          <p:nvPr/>
        </p:nvSpPr>
        <p:spPr>
          <a:xfrm>
            <a:off x="548640" y="2359152"/>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What does that tell you?</a:t>
            </a:r>
            <a:endParaRPr lang="en-US" sz="1150" dirty="0"/>
          </a:p>
        </p:txBody>
      </p:sp>
      <p:sp>
        <p:nvSpPr>
          <p:cNvPr id="13" name="Text 11"/>
          <p:cNvSpPr/>
          <p:nvPr/>
        </p:nvSpPr>
        <p:spPr>
          <a:xfrm>
            <a:off x="548640" y="2596896"/>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"This pattern tells me that…"</a:t>
            </a:r>
            <a:endParaRPr lang="en-US" sz="1200" dirty="0"/>
          </a:p>
        </p:txBody>
      </p:sp>
      <p:sp>
        <p:nvSpPr>
          <p:cNvPr id="14" name="Shape 12"/>
          <p:cNvSpPr/>
          <p:nvPr/>
        </p:nvSpPr>
        <p:spPr>
          <a:xfrm>
            <a:off x="365760" y="3054096"/>
            <a:ext cx="8412480" cy="658368"/>
          </a:xfrm>
          <a:prstGeom prst="roundRect">
            <a:avLst>
              <a:gd name="adj" fmla="val 11111"/>
            </a:avLst>
          </a:prstGeom>
          <a:solidFill>
            <a:srgbClr val="FFF3E0"/>
          </a:solidFill>
          <a:ln w="19050">
            <a:solidFill>
              <a:srgbClr val="F57C00"/>
            </a:solidFill>
            <a:prstDash val="solid"/>
          </a:ln>
        </p:spPr>
      </p:sp>
      <p:sp>
        <p:nvSpPr>
          <p:cNvPr id="15" name="Text 13"/>
          <p:cNvSpPr/>
          <p:nvPr/>
        </p:nvSpPr>
        <p:spPr>
          <a:xfrm>
            <a:off x="548640" y="3108960"/>
            <a:ext cx="8046720" cy="237744"/>
          </a:xfrm>
          <a:prstGeom prst="rect">
            <a:avLst/>
          </a:prstGeom>
          <a:noFill/>
          <a:ln/>
        </p:spPr>
        <p:txBody>
          <a:bodyPr wrap="square" rtlCol="0" anchor="ctr"/>
          <a:lstStyle/>
          <a:p>
            <a:pPr indent="0" marL="0">
              <a:buNone/>
            </a:pPr>
            <a:r>
              <a:rPr lang="en-US" sz="1150" b="1" dirty="0">
                <a:solidFill>
                  <a:srgbClr val="E65100"/>
                </a:solidFill>
                <a:latin typeface="Calibri" pitchFamily="34" charset="0"/>
                <a:ea typeface="Calibri" pitchFamily="34" charset="-122"/>
                <a:cs typeface="Calibri" pitchFamily="34" charset="-120"/>
              </a:rPr>
              <a:t>Why does that make sense?</a:t>
            </a:r>
            <a:endParaRPr lang="en-US" sz="1150" dirty="0"/>
          </a:p>
        </p:txBody>
      </p:sp>
      <p:sp>
        <p:nvSpPr>
          <p:cNvPr id="16" name="Text 14"/>
          <p:cNvSpPr/>
          <p:nvPr/>
        </p:nvSpPr>
        <p:spPr>
          <a:xfrm>
            <a:off x="548640" y="3346704"/>
            <a:ext cx="8046720" cy="329184"/>
          </a:xfrm>
          <a:prstGeom prst="rect">
            <a:avLst/>
          </a:prstGeom>
          <a:noFill/>
          <a:ln/>
        </p:spPr>
        <p:txBody>
          <a:bodyPr wrap="square" rtlCol="0" anchor="ctr"/>
          <a:lstStyle/>
          <a:p>
            <a:pPr indent="0" marL="0">
              <a:buNone/>
            </a:pPr>
            <a:r>
              <a:rPr lang="en-US" sz="1200" i="1" dirty="0">
                <a:solidFill>
                  <a:srgbClr val="2B1D12"/>
                </a:solidFill>
                <a:latin typeface="Calibri" pitchFamily="34" charset="0"/>
                <a:ea typeface="Calibri" pitchFamily="34" charset="-122"/>
                <a:cs typeface="Calibri" pitchFamily="34" charset="-120"/>
              </a:rPr>
              <a:t>"This makes sense because the evidence shows…"</a:t>
            </a:r>
            <a:endParaRPr lang="en-US" sz="1200" dirty="0"/>
          </a:p>
        </p:txBody>
      </p:sp>
      <p:sp>
        <p:nvSpPr>
          <p:cNvPr id="17" name="Text 15"/>
          <p:cNvSpPr/>
          <p:nvPr/>
        </p:nvSpPr>
        <p:spPr>
          <a:xfrm>
            <a:off x="365760" y="3849624"/>
            <a:ext cx="8412480" cy="320040"/>
          </a:xfrm>
          <a:prstGeom prst="rect">
            <a:avLst/>
          </a:prstGeom>
          <a:noFill/>
          <a:ln/>
        </p:spPr>
        <p:txBody>
          <a:bodyPr wrap="square" rtlCol="0" anchor="ctr"/>
          <a:lstStyle/>
          <a:p>
            <a:pPr indent="0" marL="0">
              <a:buNone/>
            </a:pPr>
            <a:r>
              <a:rPr lang="en-US" sz="1100" i="1" dirty="0">
                <a:solidFill>
                  <a:srgbClr val="5A4D3E"/>
                </a:solidFill>
                <a:latin typeface="Calibri" pitchFamily="34" charset="0"/>
                <a:ea typeface="Calibri" pitchFamily="34" charset="-122"/>
                <a:cs typeface="Calibri" pitchFamily="34" charset="-120"/>
              </a:rPr>
              <a:t>Try to use at least two of these words: trial, pattern, evidence, predict, data</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 REFLECT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Turn It In</a:t>
            </a:r>
            <a:endParaRPr lang="en-US" sz="2100" dirty="0"/>
          </a:p>
        </p:txBody>
      </p:sp>
      <p:sp>
        <p:nvSpPr>
          <p:cNvPr id="7" name="Text 5"/>
          <p:cNvSpPr/>
          <p:nvPr/>
        </p:nvSpPr>
        <p:spPr>
          <a:xfrm>
            <a:off x="320040" y="960120"/>
            <a:ext cx="8503920" cy="868680"/>
          </a:xfrm>
          <a:prstGeom prst="rect">
            <a:avLst/>
          </a:prstGeom>
          <a:noFill/>
          <a:ln/>
        </p:spPr>
        <p:txBody>
          <a:bodyPr wrap="square" rtlCol="0" anchor="t"/>
          <a:lstStyle/>
          <a:p>
            <a:pPr indent="0" marL="0">
              <a:lnSpc>
                <a:spcPts val="2000"/>
              </a:lnSpc>
              <a:buNone/>
            </a:pPr>
            <a:r>
              <a:rPr lang="en-US" sz="1100" dirty="0">
                <a:solidFill>
                  <a:srgbClr val="2B1D12"/>
                </a:solidFill>
                <a:latin typeface="Calibri" pitchFamily="34" charset="0"/>
                <a:ea typeface="Calibri" pitchFamily="34" charset="-122"/>
                <a:cs typeface="Calibri" pitchFamily="34" charset="-120"/>
              </a:rPr>
              <a:t>Draw the ramp investigation setup from a side view. Label at least 4 parts: the ramp, the release point, the flat surface, the measurement tape. Add an arrow for the car's motion. Then reflect: was your original prediction close to your actual data?</a:t>
            </a:r>
            <a:endParaRPr lang="en-US" sz="1100" dirty="0"/>
          </a:p>
        </p:txBody>
      </p:sp>
      <p:sp>
        <p:nvSpPr>
          <p:cNvPr id="8" name="Shape 6"/>
          <p:cNvSpPr/>
          <p:nvPr/>
        </p:nvSpPr>
        <p:spPr>
          <a:xfrm>
            <a:off x="365760" y="1920240"/>
            <a:ext cx="8412480" cy="1417320"/>
          </a:xfrm>
          <a:prstGeom prst="roundRect">
            <a:avLst>
              <a:gd name="adj" fmla="val 5161"/>
            </a:avLst>
          </a:prstGeom>
          <a:solidFill>
            <a:srgbClr val="FFFFFF"/>
          </a:solidFill>
          <a:ln w="19050">
            <a:solidFill>
              <a:srgbClr val="E8DDD2"/>
            </a:solidFill>
            <a:prstDash val="solid"/>
          </a:ln>
        </p:spPr>
      </p:sp>
      <p:sp>
        <p:nvSpPr>
          <p:cNvPr id="9" name="Text 7"/>
          <p:cNvSpPr/>
          <p:nvPr/>
        </p:nvSpPr>
        <p:spPr>
          <a:xfrm>
            <a:off x="548640" y="2011680"/>
            <a:ext cx="8046720" cy="228600"/>
          </a:xfrm>
          <a:prstGeom prst="rect">
            <a:avLst/>
          </a:prstGeom>
          <a:noFill/>
          <a:ln/>
        </p:spPr>
        <p:txBody>
          <a:bodyPr wrap="square" rtlCol="0" anchor="ctr"/>
          <a:lstStyle/>
          <a:p>
            <a:pPr indent="0" marL="0">
              <a:buNone/>
            </a:pPr>
            <a:r>
              <a:rPr lang="en-US" sz="1050" b="1" spc="100" kern="0" dirty="0">
                <a:solidFill>
                  <a:srgbClr val="7B5EA7"/>
                </a:solidFill>
                <a:latin typeface="Calibri" pitchFamily="34" charset="0"/>
                <a:ea typeface="Calibri" pitchFamily="34" charset="-122"/>
                <a:cs typeface="Calibri" pitchFamily="34" charset="-120"/>
              </a:rPr>
              <a:t>MAKE SURE YOUR SUBMISSION INCLUDES</a:t>
            </a:r>
            <a:endParaRPr lang="en-US" sz="1050" dirty="0"/>
          </a:p>
        </p:txBody>
      </p:sp>
      <p:sp>
        <p:nvSpPr>
          <p:cNvPr id="10" name="Text 8"/>
          <p:cNvSpPr/>
          <p:nvPr/>
        </p:nvSpPr>
        <p:spPr>
          <a:xfrm>
            <a:off x="548640" y="2286000"/>
            <a:ext cx="8046720" cy="1005840"/>
          </a:xfrm>
          <a:prstGeom prst="rect">
            <a:avLst/>
          </a:prstGeom>
          <a:noFill/>
          <a:ln/>
        </p:spPr>
        <p:txBody>
          <a:bodyPr wrap="square" rtlCol="0" anchor="ctr"/>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data table and bar graph showing trial distances (both axes labeled)</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Part B answers — 3 complete sentences using science vocabulary</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Write &amp; Explain response using at least 2 vocab words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Part C drawing of the ramp setup with at least 4 labeled parts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828800"/>
            <a:ext cx="8229600" cy="64008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514600"/>
            <a:ext cx="8229600" cy="457200"/>
          </a:xfrm>
          <a:prstGeom prst="rect">
            <a:avLst/>
          </a:prstGeom>
          <a:noFill/>
          <a:ln/>
        </p:spPr>
        <p:txBody>
          <a:bodyPr wrap="square" rtlCol="0" anchor="ctr"/>
          <a:lstStyle/>
          <a:p>
            <a:pPr algn="ctr" indent="0" marL="0">
              <a:buNone/>
            </a:pPr>
            <a:r>
              <a:rPr lang="en-US" sz="1500" dirty="0">
                <a:solidFill>
                  <a:srgbClr val="FFCA28"/>
                </a:solidFill>
                <a:latin typeface="Calibri" pitchFamily="34" charset="0"/>
                <a:ea typeface="Calibri" pitchFamily="34" charset="-122"/>
                <a:cs typeface="Calibri" pitchFamily="34" charset="-120"/>
              </a:rPr>
              <a:t>Next up: Module 7 — magnets and invisible forces!</a:t>
            </a:r>
            <a:endParaRPr lang="en-US" sz="1500" dirty="0"/>
          </a:p>
        </p:txBody>
      </p:sp>
      <p:sp>
        <p:nvSpPr>
          <p:cNvPr id="6" name="Text 4"/>
          <p:cNvSpPr/>
          <p:nvPr/>
        </p:nvSpPr>
        <p:spPr>
          <a:xfrm>
            <a:off x="457200" y="4709160"/>
            <a:ext cx="8229600" cy="274320"/>
          </a:xfrm>
          <a:prstGeom prst="rect">
            <a:avLst/>
          </a:prstGeom>
          <a:noFill/>
          <a:ln/>
        </p:spPr>
        <p:txBody>
          <a:bodyPr wrap="square" rtlCol="0" anchor="ctr"/>
          <a:lstStyle/>
          <a:p>
            <a:pPr algn="ctr" indent="0" marL="0">
              <a:buNone/>
            </a:pPr>
            <a:r>
              <a:rPr lang="en-US" sz="900" dirty="0">
                <a:solidFill>
                  <a:srgbClr val="55C8E8"/>
                </a:solidFill>
                <a:latin typeface="Calibri" pitchFamily="34" charset="0"/>
                <a:ea typeface="Calibri" pitchFamily="34" charset="-122"/>
                <a:cs typeface="Calibri" pitchFamily="34" charset="-120"/>
              </a:rPr>
              <a:t>Optima Academy Online · 3rd Grade Science · Lesson 6.02 · NGSS 3-PS2-2 · CPALMS SC.3.N.1.1, SC.3.N.1.3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2026-07-12T13:25:23Z</dcterms:created>
  <dcterms:modified xsi:type="dcterms:W3CDTF">2026-07-12T13:25:23Z</dcterms:modified>
</cp:coreProperties>
</file>