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(describe matter by properties) rehearsed in Section 2 (Slide 10) and the Notice &amp; Wonder object observation (Slide 5). I Can #2 (use tools to measure mass/volume/temperature) rehearsed in Section 3 (Slide 11) and Investigation Step 2 (Slide 16). I Can #3 (compare two objects by properties) rehearsed in Investigation Steps 3-4 (Slide 17) and the formal Write &amp; Explain (Slide 25). All three assessed in Self-Check (Slides 20-22) and Assignment (Slides 23-25).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the core definition of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property refers to observable/measurable features, not location or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applying the concept of mass to a real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feeling heavier means having more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matching the correct measurement tool to the property of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tool-property pairings: ruler=length, thermometer=temperature, balance=mass.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71600"/>
            <a:ext cx="8229600" cy="365760"/>
          </a:xfrm>
          <a:prstGeom prst="rect">
            <a:avLst/>
          </a:prstGeom>
          <a:noFill/>
          <a:ln/>
        </p:spPr>
        <p:txBody>
          <a:bodyPr wrap="square" rtlCol="0" anchor="ctr"/>
          <a:lstStyle/>
          <a:p>
            <a:pPr indent="0" marL="0">
              <a:buNone/>
            </a:pPr>
            <a:r>
              <a:rPr lang="en-US" sz="1400" b="1" spc="150" kern="0" dirty="0">
                <a:solidFill>
                  <a:srgbClr val="55C8E8"/>
                </a:solidFill>
                <a:latin typeface="Calibri" pitchFamily="34" charset="0"/>
                <a:ea typeface="Calibri" pitchFamily="34" charset="-122"/>
                <a:cs typeface="Calibri" pitchFamily="34" charset="-120"/>
              </a:rPr>
              <a:t>LESSON 26.01 · WEEK 26</a:t>
            </a:r>
            <a:endParaRPr lang="en-US" sz="1400" dirty="0"/>
          </a:p>
        </p:txBody>
      </p:sp>
      <p:sp>
        <p:nvSpPr>
          <p:cNvPr id="5" name="Text 3"/>
          <p:cNvSpPr/>
          <p:nvPr/>
        </p:nvSpPr>
        <p:spPr>
          <a:xfrm>
            <a:off x="457200" y="1828800"/>
            <a:ext cx="8229600" cy="1463040"/>
          </a:xfrm>
          <a:prstGeom prst="rect">
            <a:avLst/>
          </a:prstGeom>
          <a:noFill/>
          <a:ln/>
        </p:spPr>
        <p:txBody>
          <a:bodyPr wrap="square"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What Are the Properties</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of Matter?</a:t>
            </a:r>
            <a:endParaRPr lang="en-US" sz="3400" dirty="0"/>
          </a:p>
        </p:txBody>
      </p:sp>
      <p:sp>
        <p:nvSpPr>
          <p:cNvPr id="6" name="Text 4"/>
          <p:cNvSpPr/>
          <p:nvPr/>
        </p:nvSpPr>
        <p:spPr>
          <a:xfrm>
            <a:off x="457200" y="3931920"/>
            <a:ext cx="8229600" cy="365760"/>
          </a:xfrm>
          <a:prstGeom prst="rect">
            <a:avLst/>
          </a:prstGeom>
          <a:noFill/>
          <a:ln/>
        </p:spPr>
        <p:txBody>
          <a:bodyPr wrap="square" rtlCol="0" anchor="ctr"/>
          <a:lstStyle/>
          <a:p>
            <a:pPr indent="0" marL="0">
              <a:buNone/>
            </a:pPr>
            <a:r>
              <a:rPr lang="en-US" sz="1300" i="1" dirty="0">
                <a:solidFill>
                  <a:srgbClr val="FFCA28"/>
                </a:solidFill>
                <a:latin typeface="Calibri" pitchFamily="34" charset="0"/>
                <a:ea typeface="Calibri" pitchFamily="34" charset="-122"/>
                <a:cs typeface="Calibri" pitchFamily="34" charset="-120"/>
              </a:rPr>
              <a:t>CPALMS SC.3.P.8.1 · Properties of Matter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320040" y="1188720"/>
            <a:ext cx="8503920" cy="1280160"/>
          </a:xfrm>
          <a:prstGeom prst="roundRect">
            <a:avLst>
              <a:gd name="adj" fmla="val 7143"/>
            </a:avLst>
          </a:prstGeom>
          <a:solidFill>
            <a:srgbClr val="F3EEFB"/>
          </a:solidFill>
          <a:ln w="25400">
            <a:solidFill>
              <a:srgbClr val="7B5EA7"/>
            </a:solidFill>
            <a:prstDash val="solid"/>
          </a:ln>
        </p:spPr>
      </p:sp>
      <p:sp>
        <p:nvSpPr>
          <p:cNvPr id="8" name="Text 6"/>
          <p:cNvSpPr/>
          <p:nvPr/>
        </p:nvSpPr>
        <p:spPr>
          <a:xfrm>
            <a:off x="548640" y="1371600"/>
            <a:ext cx="8046720" cy="914400"/>
          </a:xfrm>
          <a:prstGeom prst="rect">
            <a:avLst/>
          </a:prstGeom>
          <a:noFill/>
          <a:ln/>
        </p:spPr>
        <p:txBody>
          <a:bodyPr wrap="square" rtlCol="0" anchor="t"/>
          <a:lstStyle/>
          <a:p>
            <a:pPr indent="0" marL="0">
              <a:lnSpc>
                <a:spcPts val="2500"/>
              </a:lnSpc>
              <a:buNone/>
            </a:pPr>
            <a:r>
              <a:rPr lang="en-US" sz="1900" i="1" dirty="0">
                <a:solidFill>
                  <a:srgbClr val="3A2B5C"/>
                </a:solidFill>
                <a:latin typeface="Cambria" pitchFamily="34" charset="0"/>
                <a:ea typeface="Cambria" pitchFamily="34" charset="-122"/>
                <a:cs typeface="Cambria" pitchFamily="34" charset="-120"/>
              </a:rPr>
              <a:t>"How do scientists describe and compare different kinds of matter?"</a:t>
            </a:r>
            <a:endParaRPr lang="en-US" sz="1900" dirty="0"/>
          </a:p>
        </p:txBody>
      </p:sp>
      <p:sp>
        <p:nvSpPr>
          <p:cNvPr id="9" name="Text 7"/>
          <p:cNvSpPr/>
          <p:nvPr/>
        </p:nvSpPr>
        <p:spPr>
          <a:xfrm>
            <a:off x="320040" y="2743200"/>
            <a:ext cx="8503920" cy="64008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By the end of this lesson, you will know how to observe and measure the properties of matter.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320040" y="1097280"/>
            <a:ext cx="8503920" cy="777240"/>
          </a:xfrm>
          <a:prstGeom prst="roundRect">
            <a:avLst>
              <a:gd name="adj" fmla="val 9412"/>
            </a:avLst>
          </a:prstGeom>
          <a:solidFill>
            <a:srgbClr val="FFF3E0"/>
          </a:solidFill>
          <a:ln w="12700">
            <a:solidFill>
              <a:srgbClr val="F57C00"/>
            </a:solidFill>
            <a:prstDash val="solid"/>
          </a:ln>
        </p:spPr>
      </p:sp>
      <p:sp>
        <p:nvSpPr>
          <p:cNvPr id="8" name="Text 6"/>
          <p:cNvSpPr/>
          <p:nvPr/>
        </p:nvSpPr>
        <p:spPr>
          <a:xfrm>
            <a:off x="548640" y="1207008"/>
            <a:ext cx="8046720" cy="548640"/>
          </a:xfrm>
          <a:prstGeom prst="rect">
            <a:avLst/>
          </a:prstGeom>
          <a:noFill/>
          <a:ln/>
        </p:spPr>
        <p:txBody>
          <a:bodyPr wrap="square" rtlCol="0" anchor="ctr"/>
          <a:lstStyle/>
          <a:p>
            <a:pPr indent="0" marL="0">
              <a:buNone/>
            </a:pPr>
            <a:r>
              <a:rPr lang="en-US" sz="1400" b="1" dirty="0">
                <a:solidFill>
                  <a:srgbClr val="3A2410"/>
                </a:solidFill>
                <a:latin typeface="Calibri" pitchFamily="34" charset="0"/>
                <a:ea typeface="Calibri" pitchFamily="34" charset="-122"/>
                <a:cs typeface="Calibri" pitchFamily="34" charset="-120"/>
              </a:rPr>
              <a:t>I can describe matter by its properties like color, shape, texture, and hardness.</a:t>
            </a:r>
            <a:endParaRPr lang="en-US" sz="1400" dirty="0"/>
          </a:p>
        </p:txBody>
      </p:sp>
      <p:sp>
        <p:nvSpPr>
          <p:cNvPr id="9" name="Shape 7"/>
          <p:cNvSpPr/>
          <p:nvPr/>
        </p:nvSpPr>
        <p:spPr>
          <a:xfrm>
            <a:off x="320040" y="2011680"/>
            <a:ext cx="8503920" cy="777240"/>
          </a:xfrm>
          <a:prstGeom prst="roundRect">
            <a:avLst>
              <a:gd name="adj" fmla="val 9412"/>
            </a:avLst>
          </a:prstGeom>
          <a:solidFill>
            <a:srgbClr val="FFF3E0"/>
          </a:solidFill>
          <a:ln w="12700">
            <a:solidFill>
              <a:srgbClr val="F57C00"/>
            </a:solidFill>
            <a:prstDash val="solid"/>
          </a:ln>
        </p:spPr>
      </p:sp>
      <p:sp>
        <p:nvSpPr>
          <p:cNvPr id="10" name="Text 8"/>
          <p:cNvSpPr/>
          <p:nvPr/>
        </p:nvSpPr>
        <p:spPr>
          <a:xfrm>
            <a:off x="548640" y="2121408"/>
            <a:ext cx="8046720" cy="548640"/>
          </a:xfrm>
          <a:prstGeom prst="rect">
            <a:avLst/>
          </a:prstGeom>
          <a:noFill/>
          <a:ln/>
        </p:spPr>
        <p:txBody>
          <a:bodyPr wrap="square" rtlCol="0" anchor="ctr"/>
          <a:lstStyle/>
          <a:p>
            <a:pPr indent="0" marL="0">
              <a:buNone/>
            </a:pPr>
            <a:r>
              <a:rPr lang="en-US" sz="1400" b="1" dirty="0">
                <a:solidFill>
                  <a:srgbClr val="3A2410"/>
                </a:solidFill>
                <a:latin typeface="Calibri" pitchFamily="34" charset="0"/>
                <a:ea typeface="Calibri" pitchFamily="34" charset="-122"/>
                <a:cs typeface="Calibri" pitchFamily="34" charset="-120"/>
              </a:rPr>
              <a:t>I can use tools to measure properties like mass, volume, and temperature.</a:t>
            </a:r>
            <a:endParaRPr lang="en-US" sz="1400" dirty="0"/>
          </a:p>
        </p:txBody>
      </p:sp>
      <p:sp>
        <p:nvSpPr>
          <p:cNvPr id="11" name="Shape 9"/>
          <p:cNvSpPr/>
          <p:nvPr/>
        </p:nvSpPr>
        <p:spPr>
          <a:xfrm>
            <a:off x="320040" y="2926080"/>
            <a:ext cx="8503920" cy="777240"/>
          </a:xfrm>
          <a:prstGeom prst="roundRect">
            <a:avLst>
              <a:gd name="adj" fmla="val 9412"/>
            </a:avLst>
          </a:prstGeom>
          <a:solidFill>
            <a:srgbClr val="FFF3E0"/>
          </a:solidFill>
          <a:ln w="12700">
            <a:solidFill>
              <a:srgbClr val="F57C00"/>
            </a:solidFill>
            <a:prstDash val="solid"/>
          </a:ln>
        </p:spPr>
      </p:sp>
      <p:sp>
        <p:nvSpPr>
          <p:cNvPr id="12" name="Text 10"/>
          <p:cNvSpPr/>
          <p:nvPr/>
        </p:nvSpPr>
        <p:spPr>
          <a:xfrm>
            <a:off x="548640" y="3035808"/>
            <a:ext cx="8046720" cy="548640"/>
          </a:xfrm>
          <a:prstGeom prst="rect">
            <a:avLst/>
          </a:prstGeom>
          <a:noFill/>
          <a:ln/>
        </p:spPr>
        <p:txBody>
          <a:bodyPr wrap="square" rtlCol="0" anchor="ctr"/>
          <a:lstStyle/>
          <a:p>
            <a:pPr indent="0" marL="0">
              <a:buNone/>
            </a:pPr>
            <a:r>
              <a:rPr lang="en-US" sz="1400" b="1" dirty="0">
                <a:solidFill>
                  <a:srgbClr val="3A2410"/>
                </a:solidFill>
                <a:latin typeface="Calibri" pitchFamily="34" charset="0"/>
                <a:ea typeface="Calibri" pitchFamily="34" charset="-122"/>
                <a:cs typeface="Calibri" pitchFamily="34" charset="-120"/>
              </a:rPr>
              <a:t>I can compare two objects by their properties and explain how they are different.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Materials</a:t>
            </a:r>
            <a:endParaRPr lang="en-US" sz="2100" dirty="0"/>
          </a:p>
        </p:txBody>
      </p:sp>
      <p:sp>
        <p:nvSpPr>
          <p:cNvPr id="7" name="Shape 5"/>
          <p:cNvSpPr/>
          <p:nvPr/>
        </p:nvSpPr>
        <p:spPr>
          <a:xfrm>
            <a:off x="320040" y="1188720"/>
            <a:ext cx="8503920" cy="1005840"/>
          </a:xfrm>
          <a:prstGeom prst="roundRect">
            <a:avLst>
              <a:gd name="adj" fmla="val 7273"/>
            </a:avLst>
          </a:prstGeom>
          <a:solidFill>
            <a:srgbClr val="EEF8F0"/>
          </a:solidFill>
          <a:ln w="19050">
            <a:solidFill>
              <a:srgbClr val="52B788"/>
            </a:solidFill>
            <a:prstDash val="solid"/>
          </a:ln>
        </p:spPr>
      </p:sp>
      <p:sp>
        <p:nvSpPr>
          <p:cNvPr id="8" name="Text 6"/>
          <p:cNvSpPr/>
          <p:nvPr/>
        </p:nvSpPr>
        <p:spPr>
          <a:xfrm>
            <a:off x="548640" y="1325880"/>
            <a:ext cx="8046720" cy="731520"/>
          </a:xfrm>
          <a:prstGeom prst="rect">
            <a:avLst/>
          </a:prstGeom>
          <a:noFill/>
          <a:ln/>
        </p:spPr>
        <p:txBody>
          <a:bodyPr wrap="square" rtlCol="0" anchor="t"/>
          <a:lstStyle/>
          <a:p>
            <a:pPr marL="342900" indent="-342900">
              <a:lnSpc>
                <a:spcPts val="2600"/>
              </a:lnSpc>
              <a:buSzPct val="100000"/>
              <a:buChar char="•"/>
            </a:pPr>
            <a:r>
              <a:rPr lang="en-US" sz="1500" dirty="0">
                <a:solidFill>
                  <a:srgbClr val="1B4332"/>
                </a:solidFill>
                <a:latin typeface="Calibri" pitchFamily="34" charset="0"/>
                <a:ea typeface="Calibri" pitchFamily="34" charset="-122"/>
                <a:cs typeface="Calibri" pitchFamily="34" charset="-120"/>
              </a:rPr>
              <a:t>Science notebook</a:t>
            </a:r>
            <a:endParaRPr lang="en-US" sz="1500" dirty="0"/>
          </a:p>
          <a:p>
            <a:pPr marL="342900" indent="-342900">
              <a:lnSpc>
                <a:spcPts val="2600"/>
              </a:lnSpc>
              <a:buSzPct val="100000"/>
              <a:buChar char="•"/>
            </a:pPr>
            <a:r>
              <a:rPr lang="en-US" sz="1500" dirty="0">
                <a:solidFill>
                  <a:srgbClr val="1B4332"/>
                </a:solidFill>
                <a:latin typeface="Calibri" pitchFamily="34" charset="0"/>
                <a:ea typeface="Calibri" pitchFamily="34" charset="-122"/>
                <a:cs typeface="Calibri" pitchFamily="34" charset="-120"/>
              </a:rPr>
              <a:t>Pencil &amp; colored pencils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 &amp; WONDER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Can You Observe?</a:t>
            </a:r>
            <a:endParaRPr lang="en-US" sz="2100" dirty="0"/>
          </a:p>
        </p:txBody>
      </p:sp>
      <p:sp>
        <p:nvSpPr>
          <p:cNvPr id="7" name="Shape 5"/>
          <p:cNvSpPr/>
          <p:nvPr/>
        </p:nvSpPr>
        <p:spPr>
          <a:xfrm>
            <a:off x="2148840" y="914400"/>
            <a:ext cx="4846320" cy="1828800"/>
          </a:xfrm>
          <a:prstGeom prst="roundRect">
            <a:avLst>
              <a:gd name="adj" fmla="val 3000"/>
            </a:avLst>
          </a:prstGeom>
          <a:solidFill>
            <a:srgbClr val="FFFFFF"/>
          </a:solidFill>
          <a:ln w="19050">
            <a:solidFill>
              <a:srgbClr val="E8DDD2"/>
            </a:solidFill>
            <a:prstDash val="solid"/>
          </a:ln>
        </p:spPr>
      </p:sp>
      <p:pic>
        <p:nvPicPr>
          <p:cNvPr id="8" name="Image 0" descr="/sessions/modest-gifted-goldberg/mnt/optima-3rd-science/images/26-01-notice-wonder-objects.png">    </p:cNvPr>
          <p:cNvPicPr>
            <a:picLocks noChangeAspect="1"/>
          </p:cNvPicPr>
          <p:nvPr/>
        </p:nvPicPr>
        <p:blipFill>
          <a:blip r:embed="rId1"/>
          <a:srcRect l="0" r="0" t="0" b="0"/>
          <a:stretch/>
        </p:blipFill>
        <p:spPr>
          <a:xfrm>
            <a:off x="2194560" y="960120"/>
            <a:ext cx="4754880" cy="1737360"/>
          </a:xfrm>
          <a:prstGeom prst="rect">
            <a:avLst/>
          </a:prstGeom>
        </p:spPr>
      </p:pic>
      <p:sp>
        <p:nvSpPr>
          <p:cNvPr id="9" name="Text 6"/>
          <p:cNvSpPr/>
          <p:nvPr/>
        </p:nvSpPr>
        <p:spPr>
          <a:xfrm>
            <a:off x="2194560" y="2770632"/>
            <a:ext cx="4754880" cy="289751"/>
          </a:xfrm>
          <a:prstGeom prst="rect">
            <a:avLst/>
          </a:prstGeom>
          <a:noFill/>
          <a:ln/>
        </p:spPr>
        <p:txBody>
          <a:bodyPr wrap="square" rtlCol="0" anchor="t"/>
          <a:lstStyle/>
          <a:p>
            <a:pPr algn="ctr" indent="0" marL="0">
              <a:buNone/>
            </a:pPr>
            <a:r>
              <a:rPr lang="en-US" sz="1050" i="1" dirty="0">
                <a:solidFill>
                  <a:srgbClr val="5A4D3E"/>
                </a:solidFill>
                <a:latin typeface="Calibri" pitchFamily="34" charset="0"/>
                <a:ea typeface="Calibri" pitchFamily="34" charset="-122"/>
                <a:cs typeface="Calibri" pitchFamily="34" charset="-120"/>
              </a:rPr>
              <a:t>Every object has properties you can observe and describe.</a:t>
            </a:r>
            <a:endParaRPr lang="en-US" sz="1050" dirty="0"/>
          </a:p>
        </p:txBody>
      </p:sp>
      <p:sp>
        <p:nvSpPr>
          <p:cNvPr id="10" name="Shape 7"/>
          <p:cNvSpPr/>
          <p:nvPr/>
        </p:nvSpPr>
        <p:spPr>
          <a:xfrm>
            <a:off x="320040" y="3151823"/>
            <a:ext cx="8503920" cy="777240"/>
          </a:xfrm>
          <a:prstGeom prst="roundRect">
            <a:avLst>
              <a:gd name="adj" fmla="val 9412"/>
            </a:avLst>
          </a:prstGeom>
          <a:solidFill>
            <a:srgbClr val="FFF9E8"/>
          </a:solidFill>
          <a:ln w="19050">
            <a:solidFill>
              <a:srgbClr val="F9A825"/>
            </a:solidFill>
            <a:prstDash val="solid"/>
          </a:ln>
        </p:spPr>
      </p:sp>
      <p:sp>
        <p:nvSpPr>
          <p:cNvPr id="11" name="Text 8"/>
          <p:cNvSpPr/>
          <p:nvPr/>
        </p:nvSpPr>
        <p:spPr>
          <a:xfrm>
            <a:off x="502920" y="3224975"/>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2" name="Text 9"/>
          <p:cNvSpPr/>
          <p:nvPr/>
        </p:nvSpPr>
        <p:spPr>
          <a:xfrm>
            <a:off x="502920" y="3444431"/>
            <a:ext cx="8138160" cy="42976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Pick any three objects near you. For each one, write down its color, shape, and how it feels. Then write one question: how are these objects different from each other?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1</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Matter</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Anything that takes up space and has weight. Solids, liquids, and gases are all matter.</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Property</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A feature of an object you can observe or measure — like color, shape, or size.</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Mass</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How much matter is in an object. You measure mass using a balance or scale.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2</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Volume</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How much space an object takes up. A basketball has more volume than a tennis ball.</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Texture</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How the surface of an object feels — smooth, rough, bumpy, or soft.</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Hardness</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How easily an object can be scratched. A diamond is very hard. Chalk is soft.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In Your Science Notebook</a:t>
            </a:r>
            <a:endParaRPr lang="en-US" sz="2100" dirty="0"/>
          </a:p>
        </p:txBody>
      </p:sp>
      <p:sp>
        <p:nvSpPr>
          <p:cNvPr id="7" name="Shape 5"/>
          <p:cNvSpPr/>
          <p:nvPr/>
        </p:nvSpPr>
        <p:spPr>
          <a:xfrm>
            <a:off x="320040" y="1371600"/>
            <a:ext cx="8503920" cy="1188720"/>
          </a:xfrm>
          <a:prstGeom prst="roundRect">
            <a:avLst>
              <a:gd name="adj" fmla="val 7692"/>
            </a:avLst>
          </a:prstGeom>
          <a:solidFill>
            <a:srgbClr val="FFF3E0"/>
          </a:solidFill>
          <a:ln w="25400">
            <a:solidFill>
              <a:srgbClr val="F57C00"/>
            </a:solidFill>
            <a:prstDash val="solid"/>
          </a:ln>
        </p:spPr>
      </p:sp>
      <p:sp>
        <p:nvSpPr>
          <p:cNvPr id="8" name="Text 6"/>
          <p:cNvSpPr/>
          <p:nvPr/>
        </p:nvSpPr>
        <p:spPr>
          <a:xfrm>
            <a:off x="548640" y="1554480"/>
            <a:ext cx="8046720" cy="868680"/>
          </a:xfrm>
          <a:prstGeom prst="rect">
            <a:avLst/>
          </a:prstGeom>
          <a:noFill/>
          <a:ln/>
        </p:spPr>
        <p:txBody>
          <a:bodyPr wrap="square" rtlCol="0" anchor="ctr"/>
          <a:lstStyle/>
          <a:p>
            <a:pPr algn="ctr" indent="0" marL="0">
              <a:buNone/>
            </a:pPr>
            <a:r>
              <a:rPr lang="en-US" sz="1600" i="1" dirty="0">
                <a:solidFill>
                  <a:srgbClr val="3A2410"/>
                </a:solidFill>
                <a:latin typeface="Cambria" pitchFamily="34" charset="0"/>
                <a:ea typeface="Cambria" pitchFamily="34" charset="-122"/>
                <a:cs typeface="Cambria" pitchFamily="34" charset="-120"/>
              </a:rPr>
              <a:t>"Scientists describe matter by observing and measuring its properties, like mass, volume, and texture."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Matter?</a:t>
            </a:r>
            <a:endParaRPr lang="en-US" sz="2100" dirty="0"/>
          </a:p>
        </p:txBody>
      </p:sp>
      <p:sp>
        <p:nvSpPr>
          <p:cNvPr id="7" name="Text 5"/>
          <p:cNvSpPr/>
          <p:nvPr/>
        </p:nvSpPr>
        <p:spPr>
          <a:xfrm>
            <a:off x="320040" y="1097280"/>
            <a:ext cx="8503920" cy="128016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Everything around you is made of matter. Your desk, the air you breathe, even the water you drink — it is all matter. Matter is anything that takes up space and has weight. Scientists study matter by looking closely at its properties.</a:t>
            </a:r>
            <a:endParaRPr lang="en-US" sz="1400" dirty="0"/>
          </a:p>
        </p:txBody>
      </p:sp>
      <p:sp>
        <p:nvSpPr>
          <p:cNvPr id="8" name="Shape 6"/>
          <p:cNvSpPr/>
          <p:nvPr/>
        </p:nvSpPr>
        <p:spPr>
          <a:xfrm>
            <a:off x="320040" y="2468880"/>
            <a:ext cx="8503920" cy="840423"/>
          </a:xfrm>
          <a:prstGeom prst="roundRect">
            <a:avLst>
              <a:gd name="adj" fmla="val 8704"/>
            </a:avLst>
          </a:prstGeom>
          <a:solidFill>
            <a:srgbClr val="EEF8F0"/>
          </a:solidFill>
          <a:ln w="19050">
            <a:solidFill>
              <a:srgbClr val="52B788"/>
            </a:solidFill>
            <a:prstDash val="solid"/>
          </a:ln>
        </p:spPr>
      </p:sp>
      <p:sp>
        <p:nvSpPr>
          <p:cNvPr id="9" name="Text 7"/>
          <p:cNvSpPr/>
          <p:nvPr/>
        </p:nvSpPr>
        <p:spPr>
          <a:xfrm>
            <a:off x="502920" y="25420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79806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Can you think of something that is NOT matter? What about light or sound — do they take up space?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Observable Properties</a:t>
            </a:r>
            <a:endParaRPr lang="en-US" sz="2100" dirty="0"/>
          </a:p>
        </p:txBody>
      </p:sp>
      <p:sp>
        <p:nvSpPr>
          <p:cNvPr id="7" name="Text 5"/>
          <p:cNvSpPr/>
          <p:nvPr/>
        </p:nvSpPr>
        <p:spPr>
          <a:xfrm>
            <a:off x="320040" y="1097280"/>
            <a:ext cx="8503920" cy="164592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Every object has properties you can see, feel, or measure. Some are easy to spot — color, shape, and size. Others take more careful looking. Texture tells you how the surface feels — smooth, rough, bumpy. Hardness tells you if it scratches easily or not. A rock is hard. Clay is soft.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Measuring Properties</a:t>
            </a:r>
            <a:endParaRPr lang="en-US" sz="2100" dirty="0"/>
          </a:p>
        </p:txBody>
      </p:sp>
      <p:sp>
        <p:nvSpPr>
          <p:cNvPr id="7" name="Text 5"/>
          <p:cNvSpPr/>
          <p:nvPr/>
        </p:nvSpPr>
        <p:spPr>
          <a:xfrm>
            <a:off x="320040" y="1051560"/>
            <a:ext cx="8503920" cy="109728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Some properties need tools to measure. Scientists use a balance to find mass — how much matter is in an object. They use rulers and containers to find volume — how much space an object takes up.</a:t>
            </a:r>
            <a:endParaRPr lang="en-US" sz="1350" dirty="0"/>
          </a:p>
        </p:txBody>
      </p:sp>
      <p:sp>
        <p:nvSpPr>
          <p:cNvPr id="8" name="Shape 6"/>
          <p:cNvSpPr/>
          <p:nvPr/>
        </p:nvSpPr>
        <p:spPr>
          <a:xfrm>
            <a:off x="320040" y="2240280"/>
            <a:ext cx="8503920" cy="685800"/>
          </a:xfrm>
          <a:prstGeom prst="roundRect">
            <a:avLst>
              <a:gd name="adj" fmla="val 10667"/>
            </a:avLst>
          </a:prstGeom>
          <a:solidFill>
            <a:srgbClr val="E3F2FD"/>
          </a:solidFill>
          <a:ln w="19050">
            <a:solidFill>
              <a:srgbClr val="0288D1"/>
            </a:solidFill>
            <a:prstDash val="solid"/>
          </a:ln>
        </p:spPr>
      </p:sp>
      <p:sp>
        <p:nvSpPr>
          <p:cNvPr id="9" name="Text 7"/>
          <p:cNvSpPr/>
          <p:nvPr/>
        </p:nvSpPr>
        <p:spPr>
          <a:xfrm>
            <a:off x="502920" y="2313432"/>
            <a:ext cx="8138160" cy="219456"/>
          </a:xfrm>
          <a:prstGeom prst="rect">
            <a:avLst/>
          </a:prstGeom>
          <a:noFill/>
          <a:ln/>
        </p:spPr>
        <p:txBody>
          <a:bodyPr wrap="square" rtlCol="0" anchor="ctr"/>
          <a:lstStyle/>
          <a:p>
            <a:pPr indent="0" marL="0">
              <a:buNone/>
            </a:pPr>
            <a:r>
              <a:rPr lang="en-US" sz="1050" b="1" spc="100" kern="0" dirty="0">
                <a:solidFill>
                  <a:srgbClr val="0277BD"/>
                </a:solidFill>
                <a:latin typeface="Calibri" pitchFamily="34" charset="0"/>
                <a:ea typeface="Calibri" pitchFamily="34" charset="-122"/>
                <a:cs typeface="Calibri" pitchFamily="34" charset="-120"/>
              </a:rPr>
              <a:t>Real-World Connection</a:t>
            </a:r>
            <a:endParaRPr lang="en-US" sz="1050" dirty="0"/>
          </a:p>
        </p:txBody>
      </p:sp>
      <p:sp>
        <p:nvSpPr>
          <p:cNvPr id="10" name="Text 8"/>
          <p:cNvSpPr/>
          <p:nvPr/>
        </p:nvSpPr>
        <p:spPr>
          <a:xfrm>
            <a:off x="502920" y="2532888"/>
            <a:ext cx="8138160" cy="365760"/>
          </a:xfrm>
          <a:prstGeom prst="rect">
            <a:avLst/>
          </a:prstGeom>
          <a:noFill/>
          <a:ln/>
        </p:spPr>
        <p:txBody>
          <a:bodyPr wrap="square" rtlCol="0" anchor="t"/>
          <a:lstStyle/>
          <a:p>
            <a:pPr indent="0" marL="0">
              <a:buNone/>
            </a:pPr>
            <a:r>
              <a:rPr lang="en-US" sz="1100" dirty="0">
                <a:solidFill>
                  <a:srgbClr val="2B1D12"/>
                </a:solidFill>
                <a:latin typeface="Calibri" pitchFamily="34" charset="0"/>
                <a:ea typeface="Calibri" pitchFamily="34" charset="-122"/>
                <a:cs typeface="Calibri" pitchFamily="34" charset="-120"/>
              </a:rPr>
              <a:t>When you pick up a bowling ball and then pick up a basketball, the bowling ball feels much heavier — it has more mass.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Matter and Its Properties</a:t>
            </a:r>
            <a:endParaRPr lang="en-US" sz="2100" dirty="0"/>
          </a:p>
        </p:txBody>
      </p:sp>
      <p:sp>
        <p:nvSpPr>
          <p:cNvPr id="7" name="Shape 5"/>
          <p:cNvSpPr/>
          <p:nvPr/>
        </p:nvSpPr>
        <p:spPr>
          <a:xfrm>
            <a:off x="320040" y="1188720"/>
            <a:ext cx="8503920" cy="1005840"/>
          </a:xfrm>
          <a:prstGeom prst="roundRect">
            <a:avLst>
              <a:gd name="adj" fmla="val 7273"/>
            </a:avLst>
          </a:prstGeom>
          <a:solidFill>
            <a:srgbClr val="F0F8E8"/>
          </a:solidFill>
          <a:ln w="19050">
            <a:solidFill>
              <a:srgbClr val="C8E0B8"/>
            </a:solidFill>
            <a:prstDash val="solid"/>
          </a:ln>
        </p:spPr>
      </p:sp>
      <p:sp>
        <p:nvSpPr>
          <p:cNvPr id="8" name="Text 6"/>
          <p:cNvSpPr/>
          <p:nvPr/>
        </p:nvSpPr>
        <p:spPr>
          <a:xfrm>
            <a:off x="502920" y="126187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481328"/>
            <a:ext cx="8138160" cy="65836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Every object is made of matter and has properties that scientists can observe and measure, like mass, volume, color, texture, and hardness.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NATURE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 Teaspoon of a Neutron Star</a:t>
            </a:r>
            <a:endParaRPr lang="en-US" sz="2100" dirty="0"/>
          </a:p>
        </p:txBody>
      </p:sp>
      <p:sp>
        <p:nvSpPr>
          <p:cNvPr id="7" name="Text 5"/>
          <p:cNvSpPr/>
          <p:nvPr/>
        </p:nvSpPr>
        <p:spPr>
          <a:xfrm>
            <a:off x="320040" y="1097280"/>
            <a:ext cx="8503920" cy="1188720"/>
          </a:xfrm>
          <a:prstGeom prst="rect">
            <a:avLst/>
          </a:prstGeom>
          <a:noFill/>
          <a:ln/>
        </p:spPr>
        <p:txBody>
          <a:bodyPr wrap="square" rtlCol="0" anchor="t"/>
          <a:lstStyle/>
          <a:p>
            <a:pPr indent="0" marL="0">
              <a:lnSpc>
                <a:spcPts val="2000"/>
              </a:lnSpc>
              <a:buNone/>
            </a:pPr>
            <a:r>
              <a:rPr lang="en-US" sz="1500" dirty="0">
                <a:solidFill>
                  <a:srgbClr val="2B1D12"/>
                </a:solidFill>
                <a:latin typeface="Calibri" pitchFamily="34" charset="0"/>
                <a:ea typeface="Calibri" pitchFamily="34" charset="-122"/>
                <a:cs typeface="Calibri" pitchFamily="34" charset="-120"/>
              </a:rPr>
              <a:t>A teaspoon of a neutron star would weigh about 6 billion tons — that is more mass than every car on Earth combined, squeezed into one tiny spoon!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CURIOUS? GO DEEPER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Sorting by Properties</a:t>
            </a:r>
            <a:endParaRPr lang="en-US" sz="2100" dirty="0"/>
          </a:p>
        </p:txBody>
      </p:sp>
      <p:sp>
        <p:nvSpPr>
          <p:cNvPr id="7" name="Text 5"/>
          <p:cNvSpPr/>
          <p:nvPr/>
        </p:nvSpPr>
        <p:spPr>
          <a:xfrm>
            <a:off x="320040" y="1051560"/>
            <a:ext cx="8503920" cy="155448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Scientists sort objects into groups based on their properties. You could sort rocks by color, or by hardness, or by texture. Each way of sorting tells you something different. When you sort objects into groups, you are classifying them. Classification helps scientists organize the world and find patterns.</a:t>
            </a:r>
            <a:endParaRPr lang="en-US" sz="1300" dirty="0"/>
          </a:p>
        </p:txBody>
      </p:sp>
      <p:sp>
        <p:nvSpPr>
          <p:cNvPr id="8" name="Shape 6"/>
          <p:cNvSpPr/>
          <p:nvPr/>
        </p:nvSpPr>
        <p:spPr>
          <a:xfrm>
            <a:off x="320040" y="2697480"/>
            <a:ext cx="8503920" cy="840423"/>
          </a:xfrm>
          <a:prstGeom prst="roundRect">
            <a:avLst>
              <a:gd name="adj" fmla="val 8704"/>
            </a:avLst>
          </a:prstGeom>
          <a:solidFill>
            <a:srgbClr val="EEF8F0"/>
          </a:solidFill>
          <a:ln w="19050">
            <a:solidFill>
              <a:srgbClr val="52B788"/>
            </a:solidFill>
            <a:prstDash val="solid"/>
          </a:ln>
        </p:spPr>
      </p:sp>
      <p:sp>
        <p:nvSpPr>
          <p:cNvPr id="9" name="Text 7"/>
          <p:cNvSpPr/>
          <p:nvPr/>
        </p:nvSpPr>
        <p:spPr>
          <a:xfrm>
            <a:off x="502920" y="27706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02666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Next time you see a pile of objects, try sorting them two different ways. What do you notice?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Properties Sort</a:t>
            </a:r>
            <a:endParaRPr lang="en-US" sz="2100" dirty="0"/>
          </a:p>
        </p:txBody>
      </p:sp>
      <p:sp>
        <p:nvSpPr>
          <p:cNvPr id="7" name="Text 5"/>
          <p:cNvSpPr/>
          <p:nvPr/>
        </p:nvSpPr>
        <p:spPr>
          <a:xfrm>
            <a:off x="320040" y="1097280"/>
            <a:ext cx="8503920" cy="100584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Observe, describe, and compare objects by their properties. You'll need 3-5 small objects from around your home (a coin, eraser, spoon, rock, sponge, etc.).</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STEPS 1–2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 Observe &amp; Record</a:t>
            </a:r>
            <a:endParaRPr lang="en-US" sz="2100" dirty="0"/>
          </a:p>
        </p:txBody>
      </p:sp>
      <p:sp>
        <p:nvSpPr>
          <p:cNvPr id="7" name="Text 5"/>
          <p:cNvSpPr/>
          <p:nvPr/>
        </p:nvSpPr>
        <p:spPr>
          <a:xfrm>
            <a:off x="320040" y="1051560"/>
            <a:ext cx="8503920" cy="2011680"/>
          </a:xfrm>
          <a:prstGeom prst="rect">
            <a:avLst/>
          </a:prstGeom>
          <a:noFill/>
          <a:ln/>
        </p:spPr>
        <p:txBody>
          <a:bodyPr wrap="square" rtlCol="0" anchor="t"/>
          <a:lstStyle/>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Step 1 — Gather and Observe: Find 3-5 small objects. Look at each one carefully. What color is it? What shape? How does the surface feel?</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Step 2 — Record Properties: Copy the properties chart into your notebook. Fill in each column for every object.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STEPS 3–4</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Compare &amp; Classify</a:t>
            </a:r>
            <a:endParaRPr lang="en-US" sz="2100" dirty="0"/>
          </a:p>
        </p:txBody>
      </p:sp>
      <p:sp>
        <p:nvSpPr>
          <p:cNvPr id="7" name="Text 5"/>
          <p:cNvSpPr/>
          <p:nvPr/>
        </p:nvSpPr>
        <p:spPr>
          <a:xfrm>
            <a:off x="320040" y="1051560"/>
            <a:ext cx="8503920" cy="2011680"/>
          </a:xfrm>
          <a:prstGeom prst="rect">
            <a:avLst/>
          </a:prstGeom>
          <a:noFill/>
          <a:ln/>
        </p:spPr>
        <p:txBody>
          <a:bodyPr wrap="square" rtlCol="0" anchor="t"/>
          <a:lstStyle/>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Step 3 — Compare: Hold two objects in your hands. Which one feels heavier? Which is smoother? Write your comparisons in your notebook.</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Step 4 — Classify: Sort your objects into two groups based on one property (rough vs. smooth). Then re-sort them a different way (heavy vs. light).</a:t>
            </a:r>
            <a:endParaRPr lang="en-US" sz="1300" dirty="0"/>
          </a:p>
        </p:txBody>
      </p:sp>
      <p:sp>
        <p:nvSpPr>
          <p:cNvPr id="8" name="Shape 6"/>
          <p:cNvSpPr/>
          <p:nvPr/>
        </p:nvSpPr>
        <p:spPr>
          <a:xfrm>
            <a:off x="320040" y="3154680"/>
            <a:ext cx="8503920" cy="840423"/>
          </a:xfrm>
          <a:prstGeom prst="roundRect">
            <a:avLst>
              <a:gd name="adj" fmla="val 8704"/>
            </a:avLst>
          </a:prstGeom>
          <a:solidFill>
            <a:srgbClr val="EEF8F0"/>
          </a:solidFill>
          <a:ln w="19050">
            <a:solidFill>
              <a:srgbClr val="52B788"/>
            </a:solidFill>
            <a:prstDash val="solid"/>
          </a:ln>
        </p:spPr>
      </p:sp>
      <p:sp>
        <p:nvSpPr>
          <p:cNvPr id="9" name="Text 7"/>
          <p:cNvSpPr/>
          <p:nvPr/>
        </p:nvSpPr>
        <p:spPr>
          <a:xfrm>
            <a:off x="502920" y="32278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48386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Which property was easiest to observe? Which one was hardest? Why?</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RECORD YOUR THINKING</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Organize What You Observed</a:t>
            </a:r>
            <a:endParaRPr lang="en-US" sz="2100" dirty="0"/>
          </a:p>
        </p:txBody>
      </p:sp>
      <p:sp>
        <p:nvSpPr>
          <p:cNvPr id="7" name="Text 5"/>
          <p:cNvSpPr/>
          <p:nvPr/>
        </p:nvSpPr>
        <p:spPr>
          <a:xfrm>
            <a:off x="320040" y="1051560"/>
            <a:ext cx="8503920" cy="2468880"/>
          </a:xfrm>
          <a:prstGeom prst="rect">
            <a:avLst/>
          </a:prstGeom>
          <a:noFill/>
          <a:ln/>
        </p:spPr>
        <p:txBody>
          <a:bodyPr wrap="square" rtlCol="0" anchor="t"/>
          <a:lstStyle/>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properties did you observe for each object? List at least three.</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Which two objects were the most different from each other? How?</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Draw and label your two sorting groups. Show which objects went in each group.</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Tell the story of your investigation from beginning to end — what you did, what you noticed, and what you figured out.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 · THINK IT THROUGH</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Through Each Question On Your Own</a:t>
            </a:r>
            <a:endParaRPr lang="en-US" sz="2100" dirty="0"/>
          </a:p>
        </p:txBody>
      </p:sp>
      <p:sp>
        <p:nvSpPr>
          <p:cNvPr id="7" name="Text 5"/>
          <p:cNvSpPr/>
          <p:nvPr/>
        </p:nvSpPr>
        <p:spPr>
          <a:xfrm>
            <a:off x="320040" y="1051560"/>
            <a:ext cx="8503920" cy="2560320"/>
          </a:xfrm>
          <a:prstGeom prst="rect">
            <a:avLst/>
          </a:prstGeom>
          <a:noFill/>
          <a:ln/>
        </p:spPr>
        <p:txBody>
          <a:bodyPr wrap="square" rtlCol="0" anchor="t"/>
          <a:lstStyle/>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What did you notice about the texture of your objects? Were any surprising?</a:t>
            </a:r>
            <a:endParaRPr lang="en-US" sz="1250" dirty="0"/>
          </a:p>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What evidence from your chart supports that two objects have different properties?</a:t>
            </a:r>
            <a:endParaRPr lang="en-US" sz="1250" dirty="0"/>
          </a:p>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Where do people sort objects by properties in real life? (Think about grocery stores, recycling, or toolboxes.)</a:t>
            </a:r>
            <a:endParaRPr lang="en-US" sz="1250" dirty="0"/>
          </a:p>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If you could add one more column to your chart, what property would you measure?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Property?</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is a property of matter?</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A feature you can observe or measure, like color, texture, or mass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The place where an object is found</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How fast an object moves</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what you can see, feel, or measure about an object — that is a property.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Property?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A property is something you can observe or measure about an object.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Rock vs. Sponge</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Two students pick up a rock and a sponge. The rock feels much heavier. What property is different?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Color</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Mass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Shape</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When something feels heavier, it has more of which property? Hint: it starts with M.</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Rock vs. Sponge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The rock has more mass than the sponge; that is why it feels heavier.</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Tool Measures Mass?</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Which tool would a scientist use to measure the mass of an object?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A ruler</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A thermometer</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A balance or scale</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A ruler measures length and a thermometer measures temperature. Which tool measures how heavy something is?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Tool Measures Mass?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A balance or scale measures mass, how much matter is in an object.</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Properties Chart</a:t>
            </a:r>
            <a:endParaRPr lang="en-US" sz="2100" dirty="0"/>
          </a:p>
        </p:txBody>
      </p:sp>
      <p:sp>
        <p:nvSpPr>
          <p:cNvPr id="7" name="Text 5"/>
          <p:cNvSpPr/>
          <p:nvPr/>
        </p:nvSpPr>
        <p:spPr>
          <a:xfrm>
            <a:off x="320040" y="1051560"/>
            <a:ext cx="8503920" cy="45720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Complete the following, describing two properties for each object:</a:t>
            </a:r>
            <a:endParaRPr lang="en-US" sz="1300" dirty="0"/>
          </a:p>
        </p:txBody>
      </p:sp>
      <p:sp>
        <p:nvSpPr>
          <p:cNvPr id="8" name="Text 6"/>
          <p:cNvSpPr/>
          <p:nvPr/>
        </p:nvSpPr>
        <p:spPr>
          <a:xfrm>
            <a:off x="320040" y="1600200"/>
            <a:ext cx="8503920" cy="1097280"/>
          </a:xfrm>
          <a:prstGeom prst="rect">
            <a:avLst/>
          </a:prstGeom>
          <a:noFill/>
          <a:ln/>
        </p:spPr>
        <p:txBody>
          <a:bodyPr wrap="square" rtlCol="0" anchor="t"/>
          <a:lstStyle/>
          <a:p>
            <a:pPr marL="342900" indent="-342900">
              <a:lnSpc>
                <a:spcPts val="2800"/>
              </a:lnSpc>
              <a:buSzPct val="100000"/>
              <a:buChar char="•"/>
            </a:pPr>
            <a:r>
              <a:rPr lang="en-US" sz="1400" dirty="0">
                <a:solidFill>
                  <a:srgbClr val="2B1D12"/>
                </a:solidFill>
                <a:latin typeface="Calibri" pitchFamily="34" charset="0"/>
                <a:ea typeface="Calibri" pitchFamily="34" charset="-122"/>
                <a:cs typeface="Calibri" pitchFamily="34" charset="-120"/>
              </a:rPr>
              <a:t>A metal coin: _______ and _______</a:t>
            </a:r>
            <a:endParaRPr lang="en-US" sz="1400" dirty="0"/>
          </a:p>
          <a:p>
            <a:pPr marL="342900" indent="-342900">
              <a:lnSpc>
                <a:spcPts val="2800"/>
              </a:lnSpc>
              <a:buSzPct val="100000"/>
              <a:buChar char="•"/>
            </a:pPr>
            <a:r>
              <a:rPr lang="en-US" sz="1400" dirty="0">
                <a:solidFill>
                  <a:srgbClr val="2B1D12"/>
                </a:solidFill>
                <a:latin typeface="Calibri" pitchFamily="34" charset="0"/>
                <a:ea typeface="Calibri" pitchFamily="34" charset="-122"/>
                <a:cs typeface="Calibri" pitchFamily="34" charset="-120"/>
              </a:rPr>
              <a:t>A cotton ball: _______ and _______</a:t>
            </a:r>
            <a:endParaRPr lang="en-US" sz="1400" dirty="0"/>
          </a:p>
          <a:p>
            <a:pPr marL="342900" indent="-342900">
              <a:lnSpc>
                <a:spcPts val="2800"/>
              </a:lnSpc>
              <a:buSzPct val="100000"/>
              <a:buChar char="•"/>
            </a:pPr>
            <a:r>
              <a:rPr lang="en-US" sz="1400" dirty="0">
                <a:solidFill>
                  <a:srgbClr val="2B1D12"/>
                </a:solidFill>
                <a:latin typeface="Calibri" pitchFamily="34" charset="0"/>
                <a:ea typeface="Calibri" pitchFamily="34" charset="-122"/>
                <a:cs typeface="Calibri" pitchFamily="34" charset="-120"/>
              </a:rPr>
              <a:t>A brick: _______ and _______</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 &amp; WRITE AND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 + Compare Objects</a:t>
            </a:r>
            <a:endParaRPr lang="en-US" sz="2100" dirty="0"/>
          </a:p>
        </p:txBody>
      </p:sp>
      <p:sp>
        <p:nvSpPr>
          <p:cNvPr id="7" name="Text 5"/>
          <p:cNvSpPr/>
          <p:nvPr/>
        </p:nvSpPr>
        <p:spPr>
          <a:xfrm>
            <a:off x="320040" y="1051560"/>
            <a:ext cx="8503920" cy="118872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Part B (complete sentences): 1) What is the difference between mass and volume? 2) If two boxes look the same size but one is much heavier, what property is different? Why? 3) Give one example of a property you can see and one you need a tool to measure.</a:t>
            </a:r>
            <a:endParaRPr lang="en-US" sz="1150" dirty="0"/>
          </a:p>
        </p:txBody>
      </p:sp>
      <p:sp>
        <p:nvSpPr>
          <p:cNvPr id="8" name="Shape 6"/>
          <p:cNvSpPr/>
          <p:nvPr/>
        </p:nvSpPr>
        <p:spPr>
          <a:xfrm>
            <a:off x="320040" y="2331720"/>
            <a:ext cx="8503920" cy="1234440"/>
          </a:xfrm>
          <a:prstGeom prst="roundRect">
            <a:avLst>
              <a:gd name="adj" fmla="val 5926"/>
            </a:avLst>
          </a:prstGeom>
          <a:solidFill>
            <a:srgbClr val="F3EEFB"/>
          </a:solidFill>
          <a:ln w="19050">
            <a:solidFill>
              <a:srgbClr val="7B5EA7"/>
            </a:solidFill>
            <a:prstDash val="solid"/>
          </a:ln>
        </p:spPr>
      </p:sp>
      <p:sp>
        <p:nvSpPr>
          <p:cNvPr id="9" name="Text 7"/>
          <p:cNvSpPr/>
          <p:nvPr/>
        </p:nvSpPr>
        <p:spPr>
          <a:xfrm>
            <a:off x="502920" y="2423160"/>
            <a:ext cx="8138160" cy="274320"/>
          </a:xfrm>
          <a:prstGeom prst="rect">
            <a:avLst/>
          </a:prstGeom>
          <a:noFill/>
          <a:ln/>
        </p:spPr>
        <p:txBody>
          <a:bodyPr wrap="square" rtlCol="0" anchor="ctr"/>
          <a:lstStyle/>
          <a:p>
            <a:pPr indent="0" marL="0">
              <a:buNone/>
            </a:pPr>
            <a:r>
              <a:rPr lang="en-US" sz="1100" b="1" dirty="0">
                <a:solidFill>
                  <a:srgbClr val="3A2B5C"/>
                </a:solidFill>
                <a:latin typeface="Calibri" pitchFamily="34" charset="0"/>
                <a:ea typeface="Calibri" pitchFamily="34" charset="-122"/>
                <a:cs typeface="Calibri" pitchFamily="34" charset="-120"/>
              </a:rPr>
              <a:t>WRITE &amp; EXPLAIN — How can you use properties to tell two objects apart — even if they look similar?</a:t>
            </a:r>
            <a:endParaRPr lang="en-US" sz="1100" dirty="0"/>
          </a:p>
        </p:txBody>
      </p:sp>
      <p:sp>
        <p:nvSpPr>
          <p:cNvPr id="10" name="Text 8"/>
          <p:cNvSpPr/>
          <p:nvPr/>
        </p:nvSpPr>
        <p:spPr>
          <a:xfrm>
            <a:off x="502920" y="2715768"/>
            <a:ext cx="8138160" cy="777240"/>
          </a:xfrm>
          <a:prstGeom prst="rect">
            <a:avLst/>
          </a:prstGeom>
          <a:noFill/>
          <a:ln/>
        </p:spPr>
        <p:txBody>
          <a:bodyPr wrap="square" rtlCol="0" anchor="t"/>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Start with: "I think the most useful property for comparing objects is…"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Then: "I know this because when I observed my objects, I noticed…"</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Finish with: "This makes sense because scientists need to measure properties to…"</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&amp; SUBMISSION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 + What to Turn In</a:t>
            </a:r>
            <a:endParaRPr lang="en-US" sz="2100" dirty="0"/>
          </a:p>
        </p:txBody>
      </p:sp>
      <p:sp>
        <p:nvSpPr>
          <p:cNvPr id="7" name="Text 5"/>
          <p:cNvSpPr/>
          <p:nvPr/>
        </p:nvSpPr>
        <p:spPr>
          <a:xfrm>
            <a:off x="320040" y="1051560"/>
            <a:ext cx="8503920" cy="100584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Part C: Draw two objects side by side. Label at least 3 properties for each one (use arrows pointing to each property). Make sure at least one property is different between the two objects.</a:t>
            </a:r>
            <a:endParaRPr lang="en-US" sz="1250" dirty="0"/>
          </a:p>
        </p:txBody>
      </p:sp>
      <p:sp>
        <p:nvSpPr>
          <p:cNvPr id="8" name="Shape 6"/>
          <p:cNvSpPr/>
          <p:nvPr/>
        </p:nvSpPr>
        <p:spPr>
          <a:xfrm>
            <a:off x="320040" y="2148840"/>
            <a:ext cx="8503920" cy="1234440"/>
          </a:xfrm>
          <a:prstGeom prst="roundRect">
            <a:avLst>
              <a:gd name="adj" fmla="val 5926"/>
            </a:avLst>
          </a:prstGeom>
          <a:solidFill>
            <a:srgbClr val="EEF8F0"/>
          </a:solidFill>
          <a:ln w="19050">
            <a:solidFill>
              <a:srgbClr val="52B788"/>
            </a:solidFill>
            <a:prstDash val="solid"/>
          </a:ln>
        </p:spPr>
      </p:sp>
      <p:sp>
        <p:nvSpPr>
          <p:cNvPr id="9" name="Text 7"/>
          <p:cNvSpPr/>
          <p:nvPr/>
        </p:nvSpPr>
        <p:spPr>
          <a:xfrm>
            <a:off x="502920" y="2240280"/>
            <a:ext cx="8138160" cy="228600"/>
          </a:xfrm>
          <a:prstGeom prst="rect">
            <a:avLst/>
          </a:prstGeom>
          <a:noFill/>
          <a:ln/>
        </p:spPr>
        <p:txBody>
          <a:bodyPr wrap="square" rtlCol="0" anchor="ctr"/>
          <a:lstStyle/>
          <a:p>
            <a:pPr indent="0" marL="0">
              <a:buNone/>
            </a:pPr>
            <a:r>
              <a:rPr lang="en-US" sz="1100" b="1" dirty="0">
                <a:solidFill>
                  <a:srgbClr val="1B4332"/>
                </a:solidFill>
                <a:latin typeface="Calibri" pitchFamily="34" charset="0"/>
                <a:ea typeface="Calibri" pitchFamily="34" charset="-122"/>
                <a:cs typeface="Calibri" pitchFamily="34" charset="-120"/>
              </a:rPr>
              <a:t>SUBMIT ON CANVAS — must include:</a:t>
            </a:r>
            <a:endParaRPr lang="en-US" sz="1100" dirty="0"/>
          </a:p>
        </p:txBody>
      </p:sp>
      <p:sp>
        <p:nvSpPr>
          <p:cNvPr id="10" name="Text 8"/>
          <p:cNvSpPr/>
          <p:nvPr/>
        </p:nvSpPr>
        <p:spPr>
          <a:xfrm>
            <a:off x="502920" y="2496312"/>
            <a:ext cx="8138160" cy="822960"/>
          </a:xfrm>
          <a:prstGeom prst="rect">
            <a:avLst/>
          </a:prstGeom>
          <a:noFill/>
          <a:ln/>
        </p:spPr>
        <p:txBody>
          <a:bodyPr wrap="square" rtlCol="0" anchor="t"/>
          <a:lstStyle/>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Completed properties chart from the Explore activity</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Sorting groups drawing with labels from the Explore tab</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Short answer responses to Part B (complete sentences)</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Write &amp; Explain response using at least one vocabulary word</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Part C drawing with 3 labeled properties for each object</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645920"/>
            <a:ext cx="82296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Great Work Today!</a:t>
            </a:r>
            <a:endParaRPr lang="en-US" sz="3000" dirty="0"/>
          </a:p>
        </p:txBody>
      </p:sp>
      <p:sp>
        <p:nvSpPr>
          <p:cNvPr id="5" name="Text 3"/>
          <p:cNvSpPr/>
          <p:nvPr/>
        </p:nvSpPr>
        <p:spPr>
          <a:xfrm>
            <a:off x="457200" y="2377440"/>
            <a:ext cx="8229600" cy="914400"/>
          </a:xfrm>
          <a:prstGeom prst="rect">
            <a:avLst/>
          </a:prstGeom>
          <a:noFill/>
          <a:ln/>
        </p:spPr>
        <p:txBody>
          <a:bodyPr wrap="square" rtlCol="0" anchor="ctr"/>
          <a:lstStyle/>
          <a:p>
            <a:pPr indent="0" marL="0">
              <a:lnSpc>
                <a:spcPts val="2000"/>
              </a:lnSpc>
              <a:buNone/>
            </a:pPr>
            <a:r>
              <a:rPr lang="en-US" sz="1500" i="1" dirty="0">
                <a:solidFill>
                  <a:srgbClr val="FFCA28"/>
                </a:solidFill>
                <a:latin typeface="Calibri" pitchFamily="34" charset="0"/>
                <a:ea typeface="Calibri" pitchFamily="34" charset="-122"/>
                <a:cs typeface="Calibri" pitchFamily="34" charset="-120"/>
              </a:rPr>
              <a:t>Everything around you is made of matter — and every piece of matter has properties you can observe and measure!</a:t>
            </a:r>
            <a:endParaRPr lang="en-US" sz="1500" dirty="0"/>
          </a:p>
        </p:txBody>
      </p:sp>
      <p:sp>
        <p:nvSpPr>
          <p:cNvPr id="6" name="Text 4"/>
          <p:cNvSpPr/>
          <p:nvPr/>
        </p:nvSpPr>
        <p:spPr>
          <a:xfrm>
            <a:off x="457200" y="4206240"/>
            <a:ext cx="8229600" cy="365760"/>
          </a:xfrm>
          <a:prstGeom prst="rect">
            <a:avLst/>
          </a:prstGeom>
          <a:noFill/>
          <a:ln/>
        </p:spPr>
        <p:txBody>
          <a:bodyPr wrap="square" rtlCol="0" anchor="ctr"/>
          <a:lstStyle/>
          <a:p>
            <a:pPr indent="0" marL="0">
              <a:buNone/>
            </a:pPr>
            <a:r>
              <a:rPr lang="en-US" sz="1200" dirty="0">
                <a:solidFill>
                  <a:srgbClr val="55C8E8"/>
                </a:solidFill>
                <a:latin typeface="Calibri" pitchFamily="34" charset="0"/>
                <a:ea typeface="Calibri" pitchFamily="34" charset="-122"/>
                <a:cs typeface="Calibri" pitchFamily="34" charset="-120"/>
              </a:rPr>
              <a:t>Lesson 26.02 · Measuring Matter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2026-07-13T18:35:52Z</dcterms:created>
  <dcterms:modified xsi:type="dcterms:W3CDTF">2026-07-13T18:35:52Z</dcterms:modified>
</cp:coreProperties>
</file>