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Don't state the essential question and explain it. Just ask: "How do scientists figure out what's happening in nature — without being told the answer?" Take a few guesses without confirming.
Follow-up move: "What makes you think that?"
Transition: "Let's practice noticing something ourselves,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 (5 min)
Do not use the words "observation" or "inference" yet -- just collect what students notice.
Anticipated: color, texture, size, weight.
Follow-up moves: "What makes you say that?" / "Does anyone notice something different?"
Transition: "You just did something scientists do every day -- let's learn the words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CLUSTER 1 (2 min)
Take guesses for each word before confirming. These three words are the engine of the whole lesson.
Follow-up: "Was your guess close?"
Transition: "Now the words for WHO does this, and HOW they keep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CLUSTER 2 (2 min)
Take guesses before confirming.
Follow-up: "Which of these six words do you think you'll use the most today?"
Transition: "Let's dig into observation vs. inference -- the big idea of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DISCOVERY-FIRST (3 min)
Let students propose their own answer for the nest example before confirming: observation = fallen twigs, no eggs, torn shape; inference = a predator got the eggs, or the babies fledged.
Follow-up: "Can you say more about that?"
Transition: "Scientists don't just use their eyes -- let's notice what tools they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(3 min)
Let students guess what each tool is for before you confirm, based only on the tool name.
Real-world tie: field biologists in the Everglades carry all four of these every day.
Follow-up: "Which tool would help YOU with the object you noticed earlier?"
Transition: "Now let's talk about why writing things down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(4 min)
Reveal each zone's label one at a time after students guess from the description alone.
Anticipated: they'll connect the flow: senses -&gt; tools -&gt; notebook -&gt; data -&gt; inference.
Follow-up: "What order do you think these happen in?"
Transition: "Let's put it all together in one key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(2-3 min)
Have a few students share their own version first, then reveal and compare.
Follow-up: "Who said something close to this?"
Transition: "Let's see this play out in a real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REHEARSAL #1 (5 min) -- this is the exact 3-part frame from the Part B Write &amp; Explain assignment. Use these sentence starters out loud now so they feel familiar later.
Anticipated: "because she paid attention to tiny details others missed."
Follow-up: "Can you say more about that?" / "Does anyone see it differently?"
Transition: "Let's try observing something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(5 min)
Have students choose an object now. First 20 seconds is look-only, no writing -- this rehearses slowing down like a real scientist.
Follow-up: "What are you noticing just by looking?"
Transition: "Now pick it up and really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(6 min)
Circulate or narrate as students observe and write.
Common error: writing an inference disguised as an observation ("it looks old") -- listen for this and flag it gently now rather than waiting for the sort step.
Follow-up: "What sense gave you the most information?"
Transition: "Now let's sort what you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(4 min)
This rehearses the exact Part A skill (sorting vocabulary into the right category) using their own real data instead of a worksheet.
Follow-up: "What convinced you it was an inference and not an observation?"
Transition: "Let's talk through what your investigation showed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REHEARSAL #2 (5 min)
This is the second live rehearsal of the reasoning frame, now applied to a new example -- exactly what the assignment's Part B will ask them to do independently.
Anticipated: observe = flattened grass, feathers; infer = an animal caught prey here.
Follow-up: "What would change your mind about that inference?"
Transition: "Quick self-check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(1-2 min)
Give silent think time before revealing.
Follow-up: "What made you notice that?"
Transition: "Let's reveal, then try one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REVEAL (1 min)
Common error: picking "the bird is hungry" or "frightened" -- both require guessing feelings, which is an inference.
Follow-up: "Who had this answer -- what convinced you?"
Transition: "One more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Q2 (1-2 min)
Give silent think time before revealing.
Follow-up: "What's the actual observation hiding inside this sentence?"
Transition: "Let's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Q2 REVEAL (1 min)
Follow-up: "How is this like the marsh feathers example we just talked through?"
Transition: "Now let's preview today's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 PART A (2 min)
This vocabulary-sorting skill was already rehearsed live during the investigation's "sort your thinking" step.
Exact wording from the HTML; do not paraphrase.
Transition: "Part B asks you to explain your thinking -- and we already practiced this twice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 PART B (2 min)
We already rehearsed this exact 3-part frame twice (orchid discovery, marsh feathers). Point that out to students explicitly: "You've already done this today -- twice."
Transition: "Last part -- drawing yourself as a field scientist."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 PART C (1 min)
Remind students of the tools slide (magnifying glass, ruler, binoculars, notebook) -- they should pick 2 of those four.
Transition: "Let's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(1 min)
Recap: notice -&gt; vocabulary -&gt; tools -&gt; investigation -&gt; reasoning (twice) -&gt; self-check.
Preview 1.02 briefly. Dismiss.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Shape 2"/>
          <p:cNvSpPr/>
          <p:nvPr/>
        </p:nvSpPr>
        <p:spPr>
          <a:xfrm>
            <a:off x="548640" y="457200"/>
            <a:ext cx="3291840" cy="457200"/>
          </a:xfrm>
          <a:prstGeom prst="roundRect">
            <a:avLst>
              <a:gd name="adj" fmla="val 50000"/>
            </a:avLst>
          </a:prstGeom>
          <a:solidFill>
            <a:srgbClr val="F57C00"/>
          </a:solidFill>
          <a:ln/>
        </p:spPr>
      </p:sp>
      <p:sp>
        <p:nvSpPr>
          <p:cNvPr id="5" name="Text 3"/>
          <p:cNvSpPr/>
          <p:nvPr/>
        </p:nvSpPr>
        <p:spPr>
          <a:xfrm>
            <a:off x="548640" y="457200"/>
            <a:ext cx="329184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LESSON 1.01</a:t>
            </a:r>
            <a:endParaRPr lang="en-US" sz="1500" dirty="0"/>
          </a:p>
        </p:txBody>
      </p:sp>
      <p:sp>
        <p:nvSpPr>
          <p:cNvPr id="6" name="Text 4"/>
          <p:cNvSpPr/>
          <p:nvPr/>
        </p:nvSpPr>
        <p:spPr>
          <a:xfrm>
            <a:off x="548640" y="1371600"/>
            <a:ext cx="8046720" cy="1005840"/>
          </a:xfrm>
          <a:prstGeom prst="rect">
            <a:avLst/>
          </a:prstGeom>
          <a:noFill/>
          <a:ln/>
        </p:spPr>
        <p:txBody>
          <a:bodyPr wrap="square"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How Do Scientists Observe the World?</a:t>
            </a:r>
            <a:endParaRPr lang="en-US" sz="3000" dirty="0"/>
          </a:p>
        </p:txBody>
      </p:sp>
      <p:sp>
        <p:nvSpPr>
          <p:cNvPr id="7" name="Text 5"/>
          <p:cNvSpPr/>
          <p:nvPr/>
        </p:nvSpPr>
        <p:spPr>
          <a:xfrm>
            <a:off x="548640" y="2377440"/>
            <a:ext cx="8046720" cy="365760"/>
          </a:xfrm>
          <a:prstGeom prst="rect">
            <a:avLst/>
          </a:prstGeom>
          <a:noFill/>
          <a:ln/>
        </p:spPr>
        <p:txBody>
          <a:bodyPr wrap="square"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Unit 1 · Science &amp; Observing the Natural World   |   NGSS SEP</a:t>
            </a:r>
            <a:endParaRPr lang="en-US" sz="1400" dirty="0"/>
          </a:p>
        </p:txBody>
      </p:sp>
      <p:sp>
        <p:nvSpPr>
          <p:cNvPr id="8" name="Shape 6"/>
          <p:cNvSpPr/>
          <p:nvPr/>
        </p:nvSpPr>
        <p:spPr>
          <a:xfrm>
            <a:off x="548640" y="2880360"/>
            <a:ext cx="8046720" cy="1691640"/>
          </a:xfrm>
          <a:prstGeom prst="roundRect">
            <a:avLst>
              <a:gd name="adj" fmla="val 4324"/>
            </a:avLst>
          </a:prstGeom>
          <a:solidFill>
            <a:srgbClr val="FFF3E0"/>
          </a:solidFill>
          <a:ln w="25400">
            <a:solidFill>
              <a:srgbClr val="F9A825"/>
            </a:solidFill>
            <a:prstDash val="dash"/>
          </a:ln>
        </p:spPr>
      </p:sp>
      <p:sp>
        <p:nvSpPr>
          <p:cNvPr id="9" name="Text 7"/>
          <p:cNvSpPr/>
          <p:nvPr/>
        </p:nvSpPr>
        <p:spPr>
          <a:xfrm>
            <a:off x="731520" y="2971800"/>
            <a:ext cx="768096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731520" y="3246120"/>
            <a:ext cx="7680960" cy="9784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field biologist crouching in a Florida wetland at sunrise, writing in a spiral field notebook, tall sawgrass in background, wide-brim hat, photorealistic.</a:t>
            </a:r>
            <a:endParaRPr lang="en-US" sz="1100" dirty="0"/>
          </a:p>
        </p:txBody>
      </p:sp>
      <p:sp>
        <p:nvSpPr>
          <p:cNvPr id="11" name="Text 9"/>
          <p:cNvSpPr/>
          <p:nvPr/>
        </p:nvSpPr>
        <p:spPr>
          <a:xfrm>
            <a:off x="731520" y="4279392"/>
            <a:ext cx="768096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1-01-field-scientist-notes.png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ENGAGE · 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Look Before You Learn</a:t>
            </a:r>
            <a:endParaRPr lang="en-US" sz="2100" dirty="0"/>
          </a:p>
        </p:txBody>
      </p:sp>
      <p:sp>
        <p:nvSpPr>
          <p:cNvPr id="7" name="Text 5"/>
          <p:cNvSpPr/>
          <p:nvPr/>
        </p:nvSpPr>
        <p:spPr>
          <a:xfrm>
            <a:off x="320040" y="960120"/>
            <a:ext cx="8503920" cy="77724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Imagine standing at the edge of a marsh in Everglades National Park at sunrise. The air is warm, the water still. You hear a splash nearby -- but can't see what made it yet.</a:t>
            </a:r>
            <a:endParaRPr lang="en-US" sz="1450" dirty="0"/>
          </a:p>
        </p:txBody>
      </p:sp>
      <p:sp>
        <p:nvSpPr>
          <p:cNvPr id="8" name="Shape 6"/>
          <p:cNvSpPr/>
          <p:nvPr/>
        </p:nvSpPr>
        <p:spPr>
          <a:xfrm>
            <a:off x="320040" y="1828800"/>
            <a:ext cx="8503920" cy="868680"/>
          </a:xfrm>
          <a:prstGeom prst="roundRect">
            <a:avLst>
              <a:gd name="adj" fmla="val 8421"/>
            </a:avLst>
          </a:prstGeom>
          <a:solidFill>
            <a:srgbClr val="FFF9E8"/>
          </a:solidFill>
          <a:ln w="19050">
            <a:solidFill>
              <a:srgbClr val="F9A825"/>
            </a:solidFill>
            <a:prstDash val="solid"/>
          </a:ln>
        </p:spPr>
      </p:sp>
      <p:sp>
        <p:nvSpPr>
          <p:cNvPr id="9" name="Text 7"/>
          <p:cNvSpPr/>
          <p:nvPr/>
        </p:nvSpPr>
        <p:spPr>
          <a:xfrm>
            <a:off x="502920" y="19019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121408"/>
            <a:ext cx="8138160" cy="52120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Look at a natural object near you -- a leaf, a rock, anything. What do you notice about it using your senses? What do you wonder about it?</a:t>
            </a:r>
            <a:endParaRPr lang="en-US" sz="1300" dirty="0"/>
          </a:p>
        </p:txBody>
      </p:sp>
      <p:sp>
        <p:nvSpPr>
          <p:cNvPr id="11" name="Shape 9"/>
          <p:cNvSpPr/>
          <p:nvPr/>
        </p:nvSpPr>
        <p:spPr>
          <a:xfrm>
            <a:off x="320040" y="283464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288950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05409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name 3 things you notice about your object -- see, hear, feel, or smell.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 · GUESS BEFORE THE REVEAL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Word Wall: Observing</a:t>
            </a:r>
            <a:endParaRPr lang="en-US" sz="2100" dirty="0"/>
          </a:p>
        </p:txBody>
      </p:sp>
      <p:sp>
        <p:nvSpPr>
          <p:cNvPr id="7" name="Shape 5"/>
          <p:cNvSpPr/>
          <p:nvPr/>
        </p:nvSpPr>
        <p:spPr>
          <a:xfrm>
            <a:off x="320040" y="914400"/>
            <a:ext cx="8503920" cy="777240"/>
          </a:xfrm>
          <a:prstGeom prst="roundRect">
            <a:avLst>
              <a:gd name="adj" fmla="val 9412"/>
            </a:avLst>
          </a:prstGeom>
          <a:solidFill>
            <a:srgbClr val="FFF9E8"/>
          </a:solidFill>
          <a:ln w="19050">
            <a:solidFill>
              <a:srgbClr val="F9A825"/>
            </a:solidFill>
            <a:prstDash val="solid"/>
          </a:ln>
        </p:spPr>
      </p:sp>
      <p:sp>
        <p:nvSpPr>
          <p:cNvPr id="8" name="Text 6"/>
          <p:cNvSpPr/>
          <p:nvPr/>
        </p:nvSpPr>
        <p:spPr>
          <a:xfrm>
            <a:off x="502920" y="9875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07008"/>
            <a:ext cx="8138160" cy="42976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Based on what you just noticed about your object -- what do you think scientists call something they notice directly with their senses? What do you wonder they call the ideas they figure out from clues?</a:t>
            </a:r>
            <a:endParaRPr lang="en-US" sz="1300" dirty="0"/>
          </a:p>
        </p:txBody>
      </p:sp>
      <p:sp>
        <p:nvSpPr>
          <p:cNvPr id="10" name="Shape 8"/>
          <p:cNvSpPr/>
          <p:nvPr/>
        </p:nvSpPr>
        <p:spPr>
          <a:xfrm>
            <a:off x="320040" y="1828800"/>
            <a:ext cx="2651760" cy="1828800"/>
          </a:xfrm>
          <a:prstGeom prst="roundRect">
            <a:avLst>
              <a:gd name="adj" fmla="val 5000"/>
            </a:avLst>
          </a:prstGeom>
          <a:solidFill>
            <a:srgbClr val="FFFFFF"/>
          </a:solidFill>
          <a:ln w="31750">
            <a:solidFill>
              <a:srgbClr val="52B788"/>
            </a:solidFill>
            <a:prstDash val="solid"/>
          </a:ln>
        </p:spPr>
      </p:sp>
      <p:sp>
        <p:nvSpPr>
          <p:cNvPr id="11" name="Text 9"/>
          <p:cNvSpPr/>
          <p:nvPr/>
        </p:nvSpPr>
        <p:spPr>
          <a:xfrm>
            <a:off x="320040" y="1965960"/>
            <a:ext cx="2651760" cy="365760"/>
          </a:xfrm>
          <a:prstGeom prst="rect">
            <a:avLst/>
          </a:prstGeom>
          <a:noFill/>
          <a:ln/>
        </p:spPr>
        <p:txBody>
          <a:bodyPr wrap="square" rtlCol="0" anchor="ctr"/>
          <a:lstStyle/>
          <a:p>
            <a:pPr algn="ctr" indent="0" marL="0">
              <a:buNone/>
            </a:pPr>
            <a:r>
              <a:rPr lang="en-US" sz="1600" b="1" dirty="0">
                <a:solidFill>
                  <a:srgbClr val="1B4332"/>
                </a:solidFill>
                <a:latin typeface="Cambria" pitchFamily="34" charset="0"/>
                <a:ea typeface="Cambria" pitchFamily="34" charset="-122"/>
                <a:cs typeface="Cambria" pitchFamily="34" charset="-120"/>
              </a:rPr>
              <a:t>Observation</a:t>
            </a:r>
            <a:endParaRPr lang="en-US" sz="1600" dirty="0"/>
          </a:p>
        </p:txBody>
      </p:sp>
      <p:sp>
        <p:nvSpPr>
          <p:cNvPr id="12" name="Shape 10"/>
          <p:cNvSpPr/>
          <p:nvPr/>
        </p:nvSpPr>
        <p:spPr>
          <a:xfrm>
            <a:off x="457200" y="2423160"/>
            <a:ext cx="2377440" cy="1097280"/>
          </a:xfrm>
          <a:prstGeom prst="rect">
            <a:avLst/>
          </a:prstGeom>
          <a:solidFill>
            <a:srgbClr val="1B4332"/>
          </a:solidFill>
          <a:ln/>
        </p:spPr>
      </p:sp>
      <p:sp>
        <p:nvSpPr>
          <p:cNvPr id="13" name="Text 11"/>
          <p:cNvSpPr/>
          <p:nvPr/>
        </p:nvSpPr>
        <p:spPr>
          <a:xfrm>
            <a:off x="548640" y="2487168"/>
            <a:ext cx="2194560" cy="969264"/>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What you notice using your senses -- sight, sound, smell, or touch. No guessing!</a:t>
            </a:r>
            <a:endParaRPr lang="en-US" sz="1100" dirty="0"/>
          </a:p>
        </p:txBody>
      </p:sp>
      <p:sp>
        <p:nvSpPr>
          <p:cNvPr id="14" name="Shape 12"/>
          <p:cNvSpPr/>
          <p:nvPr/>
        </p:nvSpPr>
        <p:spPr>
          <a:xfrm>
            <a:off x="3108960" y="1828800"/>
            <a:ext cx="2651760" cy="1828800"/>
          </a:xfrm>
          <a:prstGeom prst="roundRect">
            <a:avLst>
              <a:gd name="adj" fmla="val 5000"/>
            </a:avLst>
          </a:prstGeom>
          <a:solidFill>
            <a:srgbClr val="FFFFFF"/>
          </a:solidFill>
          <a:ln w="31750">
            <a:solidFill>
              <a:srgbClr val="0288D1"/>
            </a:solidFill>
            <a:prstDash val="solid"/>
          </a:ln>
        </p:spPr>
      </p:sp>
      <p:sp>
        <p:nvSpPr>
          <p:cNvPr id="15" name="Text 13"/>
          <p:cNvSpPr/>
          <p:nvPr/>
        </p:nvSpPr>
        <p:spPr>
          <a:xfrm>
            <a:off x="3108960" y="1965960"/>
            <a:ext cx="2651760" cy="365760"/>
          </a:xfrm>
          <a:prstGeom prst="rect">
            <a:avLst/>
          </a:prstGeom>
          <a:noFill/>
          <a:ln/>
        </p:spPr>
        <p:txBody>
          <a:bodyPr wrap="square" rtlCol="0" anchor="ctr"/>
          <a:lstStyle/>
          <a:p>
            <a:pPr algn="ctr" indent="0" marL="0">
              <a:buNone/>
            </a:pPr>
            <a:r>
              <a:rPr lang="en-US" sz="1600" b="1" dirty="0">
                <a:solidFill>
                  <a:srgbClr val="1B4332"/>
                </a:solidFill>
                <a:latin typeface="Cambria" pitchFamily="34" charset="0"/>
                <a:ea typeface="Cambria" pitchFamily="34" charset="-122"/>
                <a:cs typeface="Cambria" pitchFamily="34" charset="-120"/>
              </a:rPr>
              <a:t>Inference</a:t>
            </a:r>
            <a:endParaRPr lang="en-US" sz="1600" dirty="0"/>
          </a:p>
        </p:txBody>
      </p:sp>
      <p:sp>
        <p:nvSpPr>
          <p:cNvPr id="16" name="Shape 14"/>
          <p:cNvSpPr/>
          <p:nvPr/>
        </p:nvSpPr>
        <p:spPr>
          <a:xfrm>
            <a:off x="3246120" y="2423160"/>
            <a:ext cx="2377440" cy="1097280"/>
          </a:xfrm>
          <a:prstGeom prst="rect">
            <a:avLst/>
          </a:prstGeom>
          <a:solidFill>
            <a:srgbClr val="1B4332"/>
          </a:solidFill>
          <a:ln/>
        </p:spPr>
      </p:sp>
      <p:sp>
        <p:nvSpPr>
          <p:cNvPr id="17" name="Text 15"/>
          <p:cNvSpPr/>
          <p:nvPr/>
        </p:nvSpPr>
        <p:spPr>
          <a:xfrm>
            <a:off x="3337560" y="2487168"/>
            <a:ext cx="2194560" cy="969264"/>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 conclusion you draw from your observations -- something you figure out, not something you see directly.</a:t>
            </a:r>
            <a:endParaRPr lang="en-US" sz="1100" dirty="0"/>
          </a:p>
        </p:txBody>
      </p:sp>
      <p:sp>
        <p:nvSpPr>
          <p:cNvPr id="18" name="Shape 16"/>
          <p:cNvSpPr/>
          <p:nvPr/>
        </p:nvSpPr>
        <p:spPr>
          <a:xfrm>
            <a:off x="5897880" y="1828800"/>
            <a:ext cx="2651760" cy="1828800"/>
          </a:xfrm>
          <a:prstGeom prst="roundRect">
            <a:avLst>
              <a:gd name="adj" fmla="val 5000"/>
            </a:avLst>
          </a:prstGeom>
          <a:solidFill>
            <a:srgbClr val="FFFFFF"/>
          </a:solidFill>
          <a:ln w="31750">
            <a:solidFill>
              <a:srgbClr val="F57C00"/>
            </a:solidFill>
            <a:prstDash val="solid"/>
          </a:ln>
        </p:spPr>
      </p:sp>
      <p:sp>
        <p:nvSpPr>
          <p:cNvPr id="19" name="Text 17"/>
          <p:cNvSpPr/>
          <p:nvPr/>
        </p:nvSpPr>
        <p:spPr>
          <a:xfrm>
            <a:off x="5897880" y="1965960"/>
            <a:ext cx="2651760" cy="365760"/>
          </a:xfrm>
          <a:prstGeom prst="rect">
            <a:avLst/>
          </a:prstGeom>
          <a:noFill/>
          <a:ln/>
        </p:spPr>
        <p:txBody>
          <a:bodyPr wrap="square" rtlCol="0" anchor="ctr"/>
          <a:lstStyle/>
          <a:p>
            <a:pPr algn="ctr" indent="0" marL="0">
              <a:buNone/>
            </a:pPr>
            <a:r>
              <a:rPr lang="en-US" sz="1600" b="1" dirty="0">
                <a:solidFill>
                  <a:srgbClr val="1B4332"/>
                </a:solidFill>
                <a:latin typeface="Cambria" pitchFamily="34" charset="0"/>
                <a:ea typeface="Cambria" pitchFamily="34" charset="-122"/>
                <a:cs typeface="Cambria" pitchFamily="34" charset="-120"/>
              </a:rPr>
              <a:t>Evidence</a:t>
            </a:r>
            <a:endParaRPr lang="en-US" sz="1600" dirty="0"/>
          </a:p>
        </p:txBody>
      </p:sp>
      <p:sp>
        <p:nvSpPr>
          <p:cNvPr id="20" name="Shape 18"/>
          <p:cNvSpPr/>
          <p:nvPr/>
        </p:nvSpPr>
        <p:spPr>
          <a:xfrm>
            <a:off x="6035040" y="2423160"/>
            <a:ext cx="2377440" cy="1097280"/>
          </a:xfrm>
          <a:prstGeom prst="rect">
            <a:avLst/>
          </a:prstGeom>
          <a:solidFill>
            <a:srgbClr val="1B4332"/>
          </a:solidFill>
          <a:ln/>
        </p:spPr>
      </p:sp>
      <p:sp>
        <p:nvSpPr>
          <p:cNvPr id="21" name="Text 19"/>
          <p:cNvSpPr/>
          <p:nvPr/>
        </p:nvSpPr>
        <p:spPr>
          <a:xfrm>
            <a:off x="6126480" y="2487168"/>
            <a:ext cx="2194560" cy="969264"/>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Information gathered through observation. Scientists use evidence, not guesses, to answer questions.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 · GUESS BEFORE THE REVEAL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Word Wall: Doing Science</a:t>
            </a:r>
            <a:endParaRPr lang="en-US" sz="2100" dirty="0"/>
          </a:p>
        </p:txBody>
      </p:sp>
      <p:sp>
        <p:nvSpPr>
          <p:cNvPr id="7" name="Shape 5"/>
          <p:cNvSpPr/>
          <p:nvPr/>
        </p:nvSpPr>
        <p:spPr>
          <a:xfrm>
            <a:off x="320040" y="914400"/>
            <a:ext cx="8503920" cy="777240"/>
          </a:xfrm>
          <a:prstGeom prst="roundRect">
            <a:avLst>
              <a:gd name="adj" fmla="val 9412"/>
            </a:avLst>
          </a:prstGeom>
          <a:solidFill>
            <a:srgbClr val="FFF9E8"/>
          </a:solidFill>
          <a:ln w="19050">
            <a:solidFill>
              <a:srgbClr val="F9A825"/>
            </a:solidFill>
            <a:prstDash val="solid"/>
          </a:ln>
        </p:spPr>
      </p:sp>
      <p:sp>
        <p:nvSpPr>
          <p:cNvPr id="8" name="Text 6"/>
          <p:cNvSpPr/>
          <p:nvPr/>
        </p:nvSpPr>
        <p:spPr>
          <a:xfrm>
            <a:off x="502920" y="9875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07008"/>
            <a:ext cx="8138160" cy="42976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think we should call someone whose job is asking questions about nature? What do you wonder scientists use to keep track of everything they notice?</a:t>
            </a:r>
            <a:endParaRPr lang="en-US" sz="1300" dirty="0"/>
          </a:p>
        </p:txBody>
      </p:sp>
      <p:sp>
        <p:nvSpPr>
          <p:cNvPr id="10" name="Shape 8"/>
          <p:cNvSpPr/>
          <p:nvPr/>
        </p:nvSpPr>
        <p:spPr>
          <a:xfrm>
            <a:off x="320040" y="1828800"/>
            <a:ext cx="2651760" cy="1828800"/>
          </a:xfrm>
          <a:prstGeom prst="roundRect">
            <a:avLst>
              <a:gd name="adj" fmla="val 5000"/>
            </a:avLst>
          </a:prstGeom>
          <a:solidFill>
            <a:srgbClr val="FFFFFF"/>
          </a:solidFill>
          <a:ln w="31750">
            <a:solidFill>
              <a:srgbClr val="F9A825"/>
            </a:solidFill>
            <a:prstDash val="solid"/>
          </a:ln>
        </p:spPr>
      </p:sp>
      <p:sp>
        <p:nvSpPr>
          <p:cNvPr id="11" name="Text 9"/>
          <p:cNvSpPr/>
          <p:nvPr/>
        </p:nvSpPr>
        <p:spPr>
          <a:xfrm>
            <a:off x="320040" y="1965960"/>
            <a:ext cx="2651760" cy="365760"/>
          </a:xfrm>
          <a:prstGeom prst="rect">
            <a:avLst/>
          </a:prstGeom>
          <a:noFill/>
          <a:ln/>
        </p:spPr>
        <p:txBody>
          <a:bodyPr wrap="square" rtlCol="0" anchor="ctr"/>
          <a:lstStyle/>
          <a:p>
            <a:pPr algn="ctr" indent="0" marL="0">
              <a:buNone/>
            </a:pPr>
            <a:r>
              <a:rPr lang="en-US" sz="1600" b="1" dirty="0">
                <a:solidFill>
                  <a:srgbClr val="1B4332"/>
                </a:solidFill>
                <a:latin typeface="Cambria" pitchFamily="34" charset="0"/>
                <a:ea typeface="Cambria" pitchFamily="34" charset="-122"/>
                <a:cs typeface="Cambria" pitchFamily="34" charset="-120"/>
              </a:rPr>
              <a:t>Scientist</a:t>
            </a:r>
            <a:endParaRPr lang="en-US" sz="1600" dirty="0"/>
          </a:p>
        </p:txBody>
      </p:sp>
      <p:sp>
        <p:nvSpPr>
          <p:cNvPr id="12" name="Shape 10"/>
          <p:cNvSpPr/>
          <p:nvPr/>
        </p:nvSpPr>
        <p:spPr>
          <a:xfrm>
            <a:off x="457200" y="2423160"/>
            <a:ext cx="2377440" cy="1097280"/>
          </a:xfrm>
          <a:prstGeom prst="rect">
            <a:avLst/>
          </a:prstGeom>
          <a:solidFill>
            <a:srgbClr val="1B4332"/>
          </a:solidFill>
          <a:ln/>
        </p:spPr>
      </p:sp>
      <p:sp>
        <p:nvSpPr>
          <p:cNvPr id="13" name="Text 11"/>
          <p:cNvSpPr/>
          <p:nvPr/>
        </p:nvSpPr>
        <p:spPr>
          <a:xfrm>
            <a:off x="548640" y="2487168"/>
            <a:ext cx="2194560" cy="969264"/>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Someone who asks questions about nature and uses observations and evidence to find answers.</a:t>
            </a:r>
            <a:endParaRPr lang="en-US" sz="1100" dirty="0"/>
          </a:p>
        </p:txBody>
      </p:sp>
      <p:sp>
        <p:nvSpPr>
          <p:cNvPr id="14" name="Shape 12"/>
          <p:cNvSpPr/>
          <p:nvPr/>
        </p:nvSpPr>
        <p:spPr>
          <a:xfrm>
            <a:off x="3108960" y="1828800"/>
            <a:ext cx="2651760" cy="1828800"/>
          </a:xfrm>
          <a:prstGeom prst="roundRect">
            <a:avLst>
              <a:gd name="adj" fmla="val 5000"/>
            </a:avLst>
          </a:prstGeom>
          <a:solidFill>
            <a:srgbClr val="FFFFFF"/>
          </a:solidFill>
          <a:ln w="31750">
            <a:solidFill>
              <a:srgbClr val="2D6A4F"/>
            </a:solidFill>
            <a:prstDash val="solid"/>
          </a:ln>
        </p:spPr>
      </p:sp>
      <p:sp>
        <p:nvSpPr>
          <p:cNvPr id="15" name="Text 13"/>
          <p:cNvSpPr/>
          <p:nvPr/>
        </p:nvSpPr>
        <p:spPr>
          <a:xfrm>
            <a:off x="3108960" y="1965960"/>
            <a:ext cx="2651760" cy="365760"/>
          </a:xfrm>
          <a:prstGeom prst="rect">
            <a:avLst/>
          </a:prstGeom>
          <a:noFill/>
          <a:ln/>
        </p:spPr>
        <p:txBody>
          <a:bodyPr wrap="square" rtlCol="0" anchor="ctr"/>
          <a:lstStyle/>
          <a:p>
            <a:pPr algn="ctr" indent="0" marL="0">
              <a:buNone/>
            </a:pPr>
            <a:r>
              <a:rPr lang="en-US" sz="1600" b="1" dirty="0">
                <a:solidFill>
                  <a:srgbClr val="1B4332"/>
                </a:solidFill>
                <a:latin typeface="Cambria" pitchFamily="34" charset="0"/>
                <a:ea typeface="Cambria" pitchFamily="34" charset="-122"/>
                <a:cs typeface="Cambria" pitchFamily="34" charset="-120"/>
              </a:rPr>
              <a:t>Science Notebook</a:t>
            </a:r>
            <a:endParaRPr lang="en-US" sz="1600" dirty="0"/>
          </a:p>
        </p:txBody>
      </p:sp>
      <p:sp>
        <p:nvSpPr>
          <p:cNvPr id="16" name="Shape 14"/>
          <p:cNvSpPr/>
          <p:nvPr/>
        </p:nvSpPr>
        <p:spPr>
          <a:xfrm>
            <a:off x="3246120" y="2423160"/>
            <a:ext cx="2377440" cy="1097280"/>
          </a:xfrm>
          <a:prstGeom prst="rect">
            <a:avLst/>
          </a:prstGeom>
          <a:solidFill>
            <a:srgbClr val="1B4332"/>
          </a:solidFill>
          <a:ln/>
        </p:spPr>
      </p:sp>
      <p:sp>
        <p:nvSpPr>
          <p:cNvPr id="17" name="Text 15"/>
          <p:cNvSpPr/>
          <p:nvPr/>
        </p:nvSpPr>
        <p:spPr>
          <a:xfrm>
            <a:off x="3337560" y="2487168"/>
            <a:ext cx="2194560" cy="969264"/>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Where scientists record observations, sketches, and measurements. One of their most important tools.</a:t>
            </a:r>
            <a:endParaRPr lang="en-US" sz="1100" dirty="0"/>
          </a:p>
        </p:txBody>
      </p:sp>
      <p:sp>
        <p:nvSpPr>
          <p:cNvPr id="18" name="Shape 16"/>
          <p:cNvSpPr/>
          <p:nvPr/>
        </p:nvSpPr>
        <p:spPr>
          <a:xfrm>
            <a:off x="5897880" y="1828800"/>
            <a:ext cx="2651760" cy="1828800"/>
          </a:xfrm>
          <a:prstGeom prst="roundRect">
            <a:avLst>
              <a:gd name="adj" fmla="val 5000"/>
            </a:avLst>
          </a:prstGeom>
          <a:solidFill>
            <a:srgbClr val="FFFFFF"/>
          </a:solidFill>
          <a:ln w="31750">
            <a:solidFill>
              <a:srgbClr val="7B5EA7"/>
            </a:solidFill>
            <a:prstDash val="solid"/>
          </a:ln>
        </p:spPr>
      </p:sp>
      <p:sp>
        <p:nvSpPr>
          <p:cNvPr id="19" name="Text 17"/>
          <p:cNvSpPr/>
          <p:nvPr/>
        </p:nvSpPr>
        <p:spPr>
          <a:xfrm>
            <a:off x="5897880" y="1965960"/>
            <a:ext cx="2651760" cy="365760"/>
          </a:xfrm>
          <a:prstGeom prst="rect">
            <a:avLst/>
          </a:prstGeom>
          <a:noFill/>
          <a:ln/>
        </p:spPr>
        <p:txBody>
          <a:bodyPr wrap="square" rtlCol="0" anchor="ctr"/>
          <a:lstStyle/>
          <a:p>
            <a:pPr algn="ctr" indent="0" marL="0">
              <a:buNone/>
            </a:pPr>
            <a:r>
              <a:rPr lang="en-US" sz="1600" b="1" dirty="0">
                <a:solidFill>
                  <a:srgbClr val="1B4332"/>
                </a:solidFill>
                <a:latin typeface="Cambria" pitchFamily="34" charset="0"/>
                <a:ea typeface="Cambria" pitchFamily="34" charset="-122"/>
                <a:cs typeface="Cambria" pitchFamily="34" charset="-120"/>
              </a:rPr>
              <a:t>Data</a:t>
            </a:r>
            <a:endParaRPr lang="en-US" sz="1600" dirty="0"/>
          </a:p>
        </p:txBody>
      </p:sp>
      <p:sp>
        <p:nvSpPr>
          <p:cNvPr id="20" name="Shape 18"/>
          <p:cNvSpPr/>
          <p:nvPr/>
        </p:nvSpPr>
        <p:spPr>
          <a:xfrm>
            <a:off x="6035040" y="2423160"/>
            <a:ext cx="2377440" cy="1097280"/>
          </a:xfrm>
          <a:prstGeom prst="rect">
            <a:avLst/>
          </a:prstGeom>
          <a:solidFill>
            <a:srgbClr val="1B4332"/>
          </a:solidFill>
          <a:ln/>
        </p:spPr>
      </p:sp>
      <p:sp>
        <p:nvSpPr>
          <p:cNvPr id="21" name="Text 19"/>
          <p:cNvSpPr/>
          <p:nvPr/>
        </p:nvSpPr>
        <p:spPr>
          <a:xfrm>
            <a:off x="6126480" y="2487168"/>
            <a:ext cx="2194560" cy="969264"/>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Facts and measurements collected through observation. Scientists use data to find patterns.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DISCOVER IT YOURSELF</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Observation vs. Inference</a:t>
            </a:r>
            <a:endParaRPr lang="en-US" sz="2100" dirty="0"/>
          </a:p>
        </p:txBody>
      </p:sp>
      <p:sp>
        <p:nvSpPr>
          <p:cNvPr id="7" name="Shape 5"/>
          <p:cNvSpPr/>
          <p:nvPr/>
        </p:nvSpPr>
        <p:spPr>
          <a:xfrm>
            <a:off x="320040" y="960120"/>
            <a:ext cx="8503920" cy="914400"/>
          </a:xfrm>
          <a:prstGeom prst="roundRect">
            <a:avLst>
              <a:gd name="adj" fmla="val 8000"/>
            </a:avLst>
          </a:prstGeom>
          <a:solidFill>
            <a:srgbClr val="FFF9E8"/>
          </a:solidFill>
          <a:ln w="19050">
            <a:solidFill>
              <a:srgbClr val="F9A825"/>
            </a:solidFill>
            <a:prstDash val="solid"/>
          </a:ln>
        </p:spPr>
      </p:sp>
      <p:sp>
        <p:nvSpPr>
          <p:cNvPr id="8" name="Text 6"/>
          <p:cNvSpPr/>
          <p:nvPr/>
        </p:nvSpPr>
        <p:spPr>
          <a:xfrm>
            <a:off x="502920" y="1033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52728"/>
            <a:ext cx="8138160" cy="5669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If you found an empty bird's nest on the ground, what could you OBSERVE about it directly? What might you INFER? How are those two things different?</a:t>
            </a:r>
            <a:endParaRPr lang="en-US" sz="1300" dirty="0"/>
          </a:p>
        </p:txBody>
      </p:sp>
      <p:sp>
        <p:nvSpPr>
          <p:cNvPr id="10" name="Shape 8"/>
          <p:cNvSpPr/>
          <p:nvPr/>
        </p:nvSpPr>
        <p:spPr>
          <a:xfrm>
            <a:off x="320040" y="2011680"/>
            <a:ext cx="8503920" cy="1086485"/>
          </a:xfrm>
          <a:prstGeom prst="roundRect">
            <a:avLst>
              <a:gd name="adj" fmla="val 6733"/>
            </a:avLst>
          </a:prstGeom>
          <a:solidFill>
            <a:srgbClr val="EEF8F0"/>
          </a:solidFill>
          <a:ln w="19050">
            <a:solidFill>
              <a:srgbClr val="52B788"/>
            </a:solidFill>
            <a:prstDash val="solid"/>
          </a:ln>
        </p:spPr>
      </p:sp>
      <p:sp>
        <p:nvSpPr>
          <p:cNvPr id="11" name="Text 9"/>
          <p:cNvSpPr/>
          <p:nvPr/>
        </p:nvSpPr>
        <p:spPr>
          <a:xfrm>
            <a:off x="502920" y="20848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2" name="Text 10"/>
          <p:cNvSpPr/>
          <p:nvPr/>
        </p:nvSpPr>
        <p:spPr>
          <a:xfrm>
            <a:off x="502920" y="234086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When you look at a flower and say "it has five yellow petals," is that an observation or an inference -- and how do you know?</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DISCOVER IT YOURSELF</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Tools Scientists Use</a:t>
            </a:r>
            <a:endParaRPr lang="en-US" sz="2100" dirty="0"/>
          </a:p>
        </p:txBody>
      </p:sp>
      <p:sp>
        <p:nvSpPr>
          <p:cNvPr id="7" name="Shape 5"/>
          <p:cNvSpPr/>
          <p:nvPr/>
        </p:nvSpPr>
        <p:spPr>
          <a:xfrm>
            <a:off x="320040" y="960120"/>
            <a:ext cx="8503920" cy="822960"/>
          </a:xfrm>
          <a:prstGeom prst="roundRect">
            <a:avLst>
              <a:gd name="adj" fmla="val 8889"/>
            </a:avLst>
          </a:prstGeom>
          <a:solidFill>
            <a:srgbClr val="FFF9E8"/>
          </a:solidFill>
          <a:ln w="19050">
            <a:solidFill>
              <a:srgbClr val="F9A825"/>
            </a:solidFill>
            <a:prstDash val="solid"/>
          </a:ln>
        </p:spPr>
      </p:sp>
      <p:sp>
        <p:nvSpPr>
          <p:cNvPr id="8" name="Text 6"/>
          <p:cNvSpPr/>
          <p:nvPr/>
        </p:nvSpPr>
        <p:spPr>
          <a:xfrm>
            <a:off x="502920" y="1033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52728"/>
            <a:ext cx="8138160" cy="47548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is hard to see with just your eyes -- like the veins on a leaf, or a bird far across a marsh? What do you wonder scientists use to help?</a:t>
            </a:r>
            <a:endParaRPr lang="en-US" sz="1300" dirty="0"/>
          </a:p>
        </p:txBody>
      </p:sp>
      <p:sp>
        <p:nvSpPr>
          <p:cNvPr id="10" name="Shape 8"/>
          <p:cNvSpPr/>
          <p:nvPr/>
        </p:nvSpPr>
        <p:spPr>
          <a:xfrm>
            <a:off x="320040" y="2834640"/>
            <a:ext cx="1965960" cy="1188720"/>
          </a:xfrm>
          <a:prstGeom prst="roundRect">
            <a:avLst>
              <a:gd name="adj" fmla="val 6154"/>
            </a:avLst>
          </a:prstGeom>
          <a:solidFill>
            <a:srgbClr val="FFFFFF"/>
          </a:solidFill>
          <a:ln w="25400">
            <a:solidFill>
              <a:srgbClr val="0288D1"/>
            </a:solidFill>
            <a:prstDash val="solid"/>
          </a:ln>
        </p:spPr>
      </p:sp>
      <p:sp>
        <p:nvSpPr>
          <p:cNvPr id="11" name="Text 9"/>
          <p:cNvSpPr/>
          <p:nvPr/>
        </p:nvSpPr>
        <p:spPr>
          <a:xfrm>
            <a:off x="411480" y="2926080"/>
            <a:ext cx="1783080" cy="457200"/>
          </a:xfrm>
          <a:prstGeom prst="rect">
            <a:avLst/>
          </a:prstGeom>
          <a:noFill/>
          <a:ln/>
        </p:spPr>
        <p:txBody>
          <a:bodyPr wrap="square" rtlCol="0" anchor="t"/>
          <a:lstStyle/>
          <a:p>
            <a:pPr algn="ctr" indent="0" marL="0">
              <a:buNone/>
            </a:pPr>
            <a:r>
              <a:rPr lang="en-US" sz="1200" b="1" dirty="0">
                <a:solidFill>
                  <a:srgbClr val="1B4332"/>
                </a:solidFill>
                <a:latin typeface="Calibri" pitchFamily="34" charset="0"/>
                <a:ea typeface="Calibri" pitchFamily="34" charset="-122"/>
                <a:cs typeface="Calibri" pitchFamily="34" charset="-120"/>
              </a:rPr>
              <a:t>Magnifying Glass</a:t>
            </a:r>
            <a:endParaRPr lang="en-US" sz="1200" dirty="0"/>
          </a:p>
        </p:txBody>
      </p:sp>
      <p:sp>
        <p:nvSpPr>
          <p:cNvPr id="12" name="Text 10"/>
          <p:cNvSpPr/>
          <p:nvPr/>
        </p:nvSpPr>
        <p:spPr>
          <a:xfrm>
            <a:off x="411480" y="3383280"/>
            <a:ext cx="1783080" cy="594360"/>
          </a:xfrm>
          <a:prstGeom prst="rect">
            <a:avLst/>
          </a:prstGeom>
          <a:noFill/>
          <a:ln/>
        </p:spPr>
        <p:txBody>
          <a:bodyPr wrap="square" rtlCol="0" anchor="t"/>
          <a:lstStyle/>
          <a:p>
            <a:pPr algn="ctr" indent="0" marL="0">
              <a:buNone/>
            </a:pPr>
            <a:r>
              <a:rPr lang="en-US" sz="1050" dirty="0">
                <a:solidFill>
                  <a:srgbClr val="5A4D3E"/>
                </a:solidFill>
                <a:latin typeface="Calibri" pitchFamily="34" charset="0"/>
                <a:ea typeface="Calibri" pitchFamily="34" charset="-122"/>
                <a:cs typeface="Calibri" pitchFamily="34" charset="-120"/>
              </a:rPr>
              <a:t>tiny details up close</a:t>
            </a:r>
            <a:endParaRPr lang="en-US" sz="1050" dirty="0"/>
          </a:p>
        </p:txBody>
      </p:sp>
      <p:sp>
        <p:nvSpPr>
          <p:cNvPr id="13" name="Shape 11"/>
          <p:cNvSpPr/>
          <p:nvPr/>
        </p:nvSpPr>
        <p:spPr>
          <a:xfrm>
            <a:off x="2423160" y="2834640"/>
            <a:ext cx="1965960" cy="1188720"/>
          </a:xfrm>
          <a:prstGeom prst="roundRect">
            <a:avLst>
              <a:gd name="adj" fmla="val 6154"/>
            </a:avLst>
          </a:prstGeom>
          <a:solidFill>
            <a:srgbClr val="FFFFFF"/>
          </a:solidFill>
          <a:ln w="25400">
            <a:solidFill>
              <a:srgbClr val="0288D1"/>
            </a:solidFill>
            <a:prstDash val="solid"/>
          </a:ln>
        </p:spPr>
      </p:sp>
      <p:sp>
        <p:nvSpPr>
          <p:cNvPr id="14" name="Text 12"/>
          <p:cNvSpPr/>
          <p:nvPr/>
        </p:nvSpPr>
        <p:spPr>
          <a:xfrm>
            <a:off x="2514600" y="2926080"/>
            <a:ext cx="1783080" cy="457200"/>
          </a:xfrm>
          <a:prstGeom prst="rect">
            <a:avLst/>
          </a:prstGeom>
          <a:noFill/>
          <a:ln/>
        </p:spPr>
        <p:txBody>
          <a:bodyPr wrap="square" rtlCol="0" anchor="t"/>
          <a:lstStyle/>
          <a:p>
            <a:pPr algn="ctr" indent="0" marL="0">
              <a:buNone/>
            </a:pPr>
            <a:r>
              <a:rPr lang="en-US" sz="1200" b="1" dirty="0">
                <a:solidFill>
                  <a:srgbClr val="1B4332"/>
                </a:solidFill>
                <a:latin typeface="Calibri" pitchFamily="34" charset="0"/>
                <a:ea typeface="Calibri" pitchFamily="34" charset="-122"/>
                <a:cs typeface="Calibri" pitchFamily="34" charset="-120"/>
              </a:rPr>
              <a:t>Ruler / Tape</a:t>
            </a:r>
            <a:endParaRPr lang="en-US" sz="1200" dirty="0"/>
          </a:p>
        </p:txBody>
      </p:sp>
      <p:sp>
        <p:nvSpPr>
          <p:cNvPr id="15" name="Text 13"/>
          <p:cNvSpPr/>
          <p:nvPr/>
        </p:nvSpPr>
        <p:spPr>
          <a:xfrm>
            <a:off x="2514600" y="3383280"/>
            <a:ext cx="1783080" cy="594360"/>
          </a:xfrm>
          <a:prstGeom prst="rect">
            <a:avLst/>
          </a:prstGeom>
          <a:noFill/>
          <a:ln/>
        </p:spPr>
        <p:txBody>
          <a:bodyPr wrap="square" rtlCol="0" anchor="t"/>
          <a:lstStyle/>
          <a:p>
            <a:pPr algn="ctr" indent="0" marL="0">
              <a:buNone/>
            </a:pPr>
            <a:r>
              <a:rPr lang="en-US" sz="1050" dirty="0">
                <a:solidFill>
                  <a:srgbClr val="5A4D3E"/>
                </a:solidFill>
                <a:latin typeface="Calibri" pitchFamily="34" charset="0"/>
                <a:ea typeface="Calibri" pitchFamily="34" charset="-122"/>
                <a:cs typeface="Calibri" pitchFamily="34" charset="-120"/>
              </a:rPr>
              <a:t>exact size and measurements</a:t>
            </a:r>
            <a:endParaRPr lang="en-US" sz="1050" dirty="0"/>
          </a:p>
        </p:txBody>
      </p:sp>
      <p:sp>
        <p:nvSpPr>
          <p:cNvPr id="16" name="Shape 14"/>
          <p:cNvSpPr/>
          <p:nvPr/>
        </p:nvSpPr>
        <p:spPr>
          <a:xfrm>
            <a:off x="4526280" y="2834640"/>
            <a:ext cx="1965960" cy="1188720"/>
          </a:xfrm>
          <a:prstGeom prst="roundRect">
            <a:avLst>
              <a:gd name="adj" fmla="val 6154"/>
            </a:avLst>
          </a:prstGeom>
          <a:solidFill>
            <a:srgbClr val="FFFFFF"/>
          </a:solidFill>
          <a:ln w="25400">
            <a:solidFill>
              <a:srgbClr val="0288D1"/>
            </a:solidFill>
            <a:prstDash val="solid"/>
          </a:ln>
        </p:spPr>
      </p:sp>
      <p:sp>
        <p:nvSpPr>
          <p:cNvPr id="17" name="Text 15"/>
          <p:cNvSpPr/>
          <p:nvPr/>
        </p:nvSpPr>
        <p:spPr>
          <a:xfrm>
            <a:off x="4617720" y="2926080"/>
            <a:ext cx="1783080" cy="457200"/>
          </a:xfrm>
          <a:prstGeom prst="rect">
            <a:avLst/>
          </a:prstGeom>
          <a:noFill/>
          <a:ln/>
        </p:spPr>
        <p:txBody>
          <a:bodyPr wrap="square" rtlCol="0" anchor="t"/>
          <a:lstStyle/>
          <a:p>
            <a:pPr algn="ctr" indent="0" marL="0">
              <a:buNone/>
            </a:pPr>
            <a:r>
              <a:rPr lang="en-US" sz="1200" b="1" dirty="0">
                <a:solidFill>
                  <a:srgbClr val="1B4332"/>
                </a:solidFill>
                <a:latin typeface="Calibri" pitchFamily="34" charset="0"/>
                <a:ea typeface="Calibri" pitchFamily="34" charset="-122"/>
                <a:cs typeface="Calibri" pitchFamily="34" charset="-120"/>
              </a:rPr>
              <a:t>Binoculars</a:t>
            </a:r>
            <a:endParaRPr lang="en-US" sz="1200" dirty="0"/>
          </a:p>
        </p:txBody>
      </p:sp>
      <p:sp>
        <p:nvSpPr>
          <p:cNvPr id="18" name="Text 16"/>
          <p:cNvSpPr/>
          <p:nvPr/>
        </p:nvSpPr>
        <p:spPr>
          <a:xfrm>
            <a:off x="4617720" y="3383280"/>
            <a:ext cx="1783080" cy="594360"/>
          </a:xfrm>
          <a:prstGeom prst="rect">
            <a:avLst/>
          </a:prstGeom>
          <a:noFill/>
          <a:ln/>
        </p:spPr>
        <p:txBody>
          <a:bodyPr wrap="square" rtlCol="0" anchor="t"/>
          <a:lstStyle/>
          <a:p>
            <a:pPr algn="ctr" indent="0" marL="0">
              <a:buNone/>
            </a:pPr>
            <a:r>
              <a:rPr lang="en-US" sz="1050" dirty="0">
                <a:solidFill>
                  <a:srgbClr val="5A4D3E"/>
                </a:solidFill>
                <a:latin typeface="Calibri" pitchFamily="34" charset="0"/>
                <a:ea typeface="Calibri" pitchFamily="34" charset="-122"/>
                <a:cs typeface="Calibri" pitchFamily="34" charset="-120"/>
              </a:rPr>
              <a:t>animals from a safe distance</a:t>
            </a:r>
            <a:endParaRPr lang="en-US" sz="1050" dirty="0"/>
          </a:p>
        </p:txBody>
      </p:sp>
      <p:sp>
        <p:nvSpPr>
          <p:cNvPr id="19" name="Shape 17"/>
          <p:cNvSpPr/>
          <p:nvPr/>
        </p:nvSpPr>
        <p:spPr>
          <a:xfrm>
            <a:off x="6629400" y="2834640"/>
            <a:ext cx="1965960" cy="1188720"/>
          </a:xfrm>
          <a:prstGeom prst="roundRect">
            <a:avLst>
              <a:gd name="adj" fmla="val 6154"/>
            </a:avLst>
          </a:prstGeom>
          <a:solidFill>
            <a:srgbClr val="FFFFFF"/>
          </a:solidFill>
          <a:ln w="25400">
            <a:solidFill>
              <a:srgbClr val="0288D1"/>
            </a:solidFill>
            <a:prstDash val="solid"/>
          </a:ln>
        </p:spPr>
      </p:sp>
      <p:sp>
        <p:nvSpPr>
          <p:cNvPr id="20" name="Text 18"/>
          <p:cNvSpPr/>
          <p:nvPr/>
        </p:nvSpPr>
        <p:spPr>
          <a:xfrm>
            <a:off x="6720840" y="2926080"/>
            <a:ext cx="1783080" cy="457200"/>
          </a:xfrm>
          <a:prstGeom prst="rect">
            <a:avLst/>
          </a:prstGeom>
          <a:noFill/>
          <a:ln/>
        </p:spPr>
        <p:txBody>
          <a:bodyPr wrap="square" rtlCol="0" anchor="t"/>
          <a:lstStyle/>
          <a:p>
            <a:pPr algn="ctr" indent="0" marL="0">
              <a:buNone/>
            </a:pPr>
            <a:r>
              <a:rPr lang="en-US" sz="1200" b="1" dirty="0">
                <a:solidFill>
                  <a:srgbClr val="1B4332"/>
                </a:solidFill>
                <a:latin typeface="Calibri" pitchFamily="34" charset="0"/>
                <a:ea typeface="Calibri" pitchFamily="34" charset="-122"/>
                <a:cs typeface="Calibri" pitchFamily="34" charset="-120"/>
              </a:rPr>
              <a:t>Science Notebook</a:t>
            </a:r>
            <a:endParaRPr lang="en-US" sz="1200" dirty="0"/>
          </a:p>
        </p:txBody>
      </p:sp>
      <p:sp>
        <p:nvSpPr>
          <p:cNvPr id="21" name="Text 19"/>
          <p:cNvSpPr/>
          <p:nvPr/>
        </p:nvSpPr>
        <p:spPr>
          <a:xfrm>
            <a:off x="6720840" y="3383280"/>
            <a:ext cx="1783080" cy="594360"/>
          </a:xfrm>
          <a:prstGeom prst="rect">
            <a:avLst/>
          </a:prstGeom>
          <a:noFill/>
          <a:ln/>
        </p:spPr>
        <p:txBody>
          <a:bodyPr wrap="square" rtlCol="0" anchor="t"/>
          <a:lstStyle/>
          <a:p>
            <a:pPr algn="ctr" indent="0" marL="0">
              <a:buNone/>
            </a:pPr>
            <a:r>
              <a:rPr lang="en-US" sz="1050" dirty="0">
                <a:solidFill>
                  <a:srgbClr val="5A4D3E"/>
                </a:solidFill>
                <a:latin typeface="Calibri" pitchFamily="34" charset="0"/>
                <a:ea typeface="Calibri" pitchFamily="34" charset="-122"/>
                <a:cs typeface="Calibri" pitchFamily="34" charset="-120"/>
              </a:rPr>
              <a:t>drawings, numbers, questions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INTERACTIVE MODEL · PREDICT FIRST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Scientist's Observation Toolkit</a:t>
            </a:r>
            <a:endParaRPr lang="en-US" sz="2100" dirty="0"/>
          </a:p>
        </p:txBody>
      </p:sp>
      <p:sp>
        <p:nvSpPr>
          <p:cNvPr id="7" name="Shape 5"/>
          <p:cNvSpPr/>
          <p:nvPr/>
        </p:nvSpPr>
        <p:spPr>
          <a:xfrm>
            <a:off x="320040" y="960120"/>
            <a:ext cx="1600200" cy="1371600"/>
          </a:xfrm>
          <a:prstGeom prst="roundRect">
            <a:avLst>
              <a:gd name="adj" fmla="val 5333"/>
            </a:avLst>
          </a:prstGeom>
          <a:solidFill>
            <a:srgbClr val="FFFFFF"/>
          </a:solidFill>
          <a:ln w="25400">
            <a:solidFill>
              <a:srgbClr val="F57C00"/>
            </a:solidFill>
            <a:prstDash val="solid"/>
          </a:ln>
        </p:spPr>
      </p:sp>
      <p:sp>
        <p:nvSpPr>
          <p:cNvPr id="8" name="Text 6"/>
          <p:cNvSpPr/>
          <p:nvPr/>
        </p:nvSpPr>
        <p:spPr>
          <a:xfrm>
            <a:off x="320040"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393192"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see, hear, smell, touch, taste</a:t>
            </a:r>
            <a:endParaRPr lang="en-US" sz="950" dirty="0"/>
          </a:p>
        </p:txBody>
      </p:sp>
      <p:sp>
        <p:nvSpPr>
          <p:cNvPr id="10" name="Shape 8"/>
          <p:cNvSpPr/>
          <p:nvPr/>
        </p:nvSpPr>
        <p:spPr>
          <a:xfrm>
            <a:off x="2029968" y="960120"/>
            <a:ext cx="1600200" cy="1371600"/>
          </a:xfrm>
          <a:prstGeom prst="roundRect">
            <a:avLst>
              <a:gd name="adj" fmla="val 5333"/>
            </a:avLst>
          </a:prstGeom>
          <a:solidFill>
            <a:srgbClr val="FFFFFF"/>
          </a:solidFill>
          <a:ln w="25400">
            <a:solidFill>
              <a:srgbClr val="F57C00"/>
            </a:solidFill>
            <a:prstDash val="solid"/>
          </a:ln>
        </p:spPr>
      </p:sp>
      <p:sp>
        <p:nvSpPr>
          <p:cNvPr id="11" name="Text 9"/>
          <p:cNvSpPr/>
          <p:nvPr/>
        </p:nvSpPr>
        <p:spPr>
          <a:xfrm>
            <a:off x="2029968"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2103120"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see tiny details up close</a:t>
            </a:r>
            <a:endParaRPr lang="en-US" sz="950" dirty="0"/>
          </a:p>
        </p:txBody>
      </p:sp>
      <p:sp>
        <p:nvSpPr>
          <p:cNvPr id="13" name="Shape 11"/>
          <p:cNvSpPr/>
          <p:nvPr/>
        </p:nvSpPr>
        <p:spPr>
          <a:xfrm>
            <a:off x="3739896" y="960120"/>
            <a:ext cx="1600200" cy="1371600"/>
          </a:xfrm>
          <a:prstGeom prst="roundRect">
            <a:avLst>
              <a:gd name="adj" fmla="val 5333"/>
            </a:avLst>
          </a:prstGeom>
          <a:solidFill>
            <a:srgbClr val="FFFFFF"/>
          </a:solidFill>
          <a:ln w="25400">
            <a:solidFill>
              <a:srgbClr val="F57C00"/>
            </a:solidFill>
            <a:prstDash val="solid"/>
          </a:ln>
        </p:spPr>
      </p:sp>
      <p:sp>
        <p:nvSpPr>
          <p:cNvPr id="14" name="Text 12"/>
          <p:cNvSpPr/>
          <p:nvPr/>
        </p:nvSpPr>
        <p:spPr>
          <a:xfrm>
            <a:off x="3739896"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15" name="Text 13"/>
          <p:cNvSpPr/>
          <p:nvPr/>
        </p:nvSpPr>
        <p:spPr>
          <a:xfrm>
            <a:off x="3813048"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record everything: words, drawings, data</a:t>
            </a:r>
            <a:endParaRPr lang="en-US" sz="950" dirty="0"/>
          </a:p>
        </p:txBody>
      </p:sp>
      <p:sp>
        <p:nvSpPr>
          <p:cNvPr id="16" name="Shape 14"/>
          <p:cNvSpPr/>
          <p:nvPr/>
        </p:nvSpPr>
        <p:spPr>
          <a:xfrm>
            <a:off x="5449824" y="960120"/>
            <a:ext cx="1600200" cy="1371600"/>
          </a:xfrm>
          <a:prstGeom prst="roundRect">
            <a:avLst>
              <a:gd name="adj" fmla="val 5333"/>
            </a:avLst>
          </a:prstGeom>
          <a:solidFill>
            <a:srgbClr val="FFFFFF"/>
          </a:solidFill>
          <a:ln w="25400">
            <a:solidFill>
              <a:srgbClr val="F57C00"/>
            </a:solidFill>
            <a:prstDash val="solid"/>
          </a:ln>
        </p:spPr>
      </p:sp>
      <p:sp>
        <p:nvSpPr>
          <p:cNvPr id="17" name="Text 15"/>
          <p:cNvSpPr/>
          <p:nvPr/>
        </p:nvSpPr>
        <p:spPr>
          <a:xfrm>
            <a:off x="5449824"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18" name="Text 16"/>
          <p:cNvSpPr/>
          <p:nvPr/>
        </p:nvSpPr>
        <p:spPr>
          <a:xfrm>
            <a:off x="5522976"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record exact size</a:t>
            </a:r>
            <a:endParaRPr lang="en-US" sz="950" dirty="0"/>
          </a:p>
        </p:txBody>
      </p:sp>
      <p:sp>
        <p:nvSpPr>
          <p:cNvPr id="19" name="Shape 17"/>
          <p:cNvSpPr/>
          <p:nvPr/>
        </p:nvSpPr>
        <p:spPr>
          <a:xfrm>
            <a:off x="7159752" y="960120"/>
            <a:ext cx="1600200" cy="1371600"/>
          </a:xfrm>
          <a:prstGeom prst="roundRect">
            <a:avLst>
              <a:gd name="adj" fmla="val 5333"/>
            </a:avLst>
          </a:prstGeom>
          <a:solidFill>
            <a:srgbClr val="FFFFFF"/>
          </a:solidFill>
          <a:ln w="25400">
            <a:solidFill>
              <a:srgbClr val="F57C00"/>
            </a:solidFill>
            <a:prstDash val="solid"/>
          </a:ln>
        </p:spPr>
      </p:sp>
      <p:sp>
        <p:nvSpPr>
          <p:cNvPr id="20" name="Text 18"/>
          <p:cNvSpPr/>
          <p:nvPr/>
        </p:nvSpPr>
        <p:spPr>
          <a:xfrm>
            <a:off x="7159752"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21" name="Text 19"/>
          <p:cNvSpPr/>
          <p:nvPr/>
        </p:nvSpPr>
        <p:spPr>
          <a:xfrm>
            <a:off x="7232904"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draw a conclusion from your evidence</a:t>
            </a:r>
            <a:endParaRPr lang="en-US" sz="950" dirty="0"/>
          </a:p>
        </p:txBody>
      </p:sp>
      <p:sp>
        <p:nvSpPr>
          <p:cNvPr id="22" name="Shape 20"/>
          <p:cNvSpPr/>
          <p:nvPr/>
        </p:nvSpPr>
        <p:spPr>
          <a:xfrm>
            <a:off x="320040" y="2468880"/>
            <a:ext cx="8503920" cy="914400"/>
          </a:xfrm>
          <a:prstGeom prst="roundRect">
            <a:avLst>
              <a:gd name="adj" fmla="val 8000"/>
            </a:avLst>
          </a:prstGeom>
          <a:solidFill>
            <a:srgbClr val="FFF9E8"/>
          </a:solidFill>
          <a:ln w="19050">
            <a:solidFill>
              <a:srgbClr val="F9A825"/>
            </a:solidFill>
            <a:prstDash val="solid"/>
          </a:ln>
        </p:spPr>
      </p:sp>
      <p:sp>
        <p:nvSpPr>
          <p:cNvPr id="23" name="Text 21"/>
          <p:cNvSpPr/>
          <p:nvPr/>
        </p:nvSpPr>
        <p:spPr>
          <a:xfrm>
            <a:off x="502920" y="25420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24" name="Text 22"/>
          <p:cNvSpPr/>
          <p:nvPr/>
        </p:nvSpPr>
        <p:spPr>
          <a:xfrm>
            <a:off x="502920" y="2761488"/>
            <a:ext cx="8138160" cy="5669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Before I reveal each zone: what do you notice these five things have in common? What do you wonder connects senses all the way to an inference?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EXPLAIN · SAY IT BEFORE WE SHOW IT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We Just Figured Out</a:t>
            </a:r>
            <a:endParaRPr lang="en-US" sz="2100" dirty="0"/>
          </a:p>
        </p:txBody>
      </p:sp>
      <p:sp>
        <p:nvSpPr>
          <p:cNvPr id="7" name="Shape 5"/>
          <p:cNvSpPr/>
          <p:nvPr/>
        </p:nvSpPr>
        <p:spPr>
          <a:xfrm>
            <a:off x="320040" y="1005840"/>
            <a:ext cx="8503920" cy="1086485"/>
          </a:xfrm>
          <a:prstGeom prst="roundRect">
            <a:avLst>
              <a:gd name="adj" fmla="val 6733"/>
            </a:avLst>
          </a:prstGeom>
          <a:solidFill>
            <a:srgbClr val="EEF8F0"/>
          </a:solidFill>
          <a:ln w="19050">
            <a:solidFill>
              <a:srgbClr val="52B788"/>
            </a:solidFill>
            <a:prstDash val="solid"/>
          </a:ln>
        </p:spPr>
      </p:sp>
      <p:sp>
        <p:nvSpPr>
          <p:cNvPr id="8" name="Text 6"/>
          <p:cNvSpPr/>
          <p:nvPr/>
        </p:nvSpPr>
        <p:spPr>
          <a:xfrm>
            <a:off x="502920" y="10789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33502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Based on everything we noticed -- the nest, the tools, the toolkit -- in your own words, what's the difference between an observation and an inference?</a:t>
            </a:r>
            <a:endParaRPr lang="en-US" sz="1250" dirty="0"/>
          </a:p>
        </p:txBody>
      </p:sp>
      <p:sp>
        <p:nvSpPr>
          <p:cNvPr id="10" name="Shape 8"/>
          <p:cNvSpPr/>
          <p:nvPr/>
        </p:nvSpPr>
        <p:spPr>
          <a:xfrm>
            <a:off x="320040" y="2229485"/>
            <a:ext cx="8503920" cy="868680"/>
          </a:xfrm>
          <a:prstGeom prst="roundRect">
            <a:avLst>
              <a:gd name="adj" fmla="val 8421"/>
            </a:avLst>
          </a:prstGeom>
          <a:solidFill>
            <a:srgbClr val="F0F8E8"/>
          </a:solidFill>
          <a:ln w="19050">
            <a:solidFill>
              <a:srgbClr val="C8E0B8"/>
            </a:solidFill>
            <a:prstDash val="solid"/>
          </a:ln>
        </p:spPr>
      </p:sp>
      <p:sp>
        <p:nvSpPr>
          <p:cNvPr id="11" name="Text 9"/>
          <p:cNvSpPr/>
          <p:nvPr/>
        </p:nvSpPr>
        <p:spPr>
          <a:xfrm>
            <a:off x="502920" y="2302637"/>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COMPARE YOUR IDEA TO THIS</a:t>
            </a:r>
            <a:endParaRPr lang="en-US" sz="1100" dirty="0"/>
          </a:p>
        </p:txBody>
      </p:sp>
      <p:sp>
        <p:nvSpPr>
          <p:cNvPr id="12" name="Text 10"/>
          <p:cNvSpPr/>
          <p:nvPr/>
        </p:nvSpPr>
        <p:spPr>
          <a:xfrm>
            <a:off x="502920" y="2522093"/>
            <a:ext cx="8138160" cy="52120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Scientists use their senses and tools to make observations -- and they write everything down. An observation is something you notice directly. An inference is the conclusion you draw from what you noticed. Evidence is what connects those two things together.</a:t>
            </a:r>
            <a:endParaRPr lang="en-US" sz="1400" dirty="0"/>
          </a:p>
          <a:p>
            <a:pPr indent="0" marL="0">
              <a:lnSpc>
                <a:spcPts val="1800"/>
              </a:lnSpc>
              <a:buNone/>
            </a:pPr>
            <a:endParaRPr lang="en-US" sz="1400" dirty="0"/>
          </a:p>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Careful observation -&gt; evidence -&gt; reasoned inference -&gt; new questions. It never really stops.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ELABORATE · WHY CAREFUL OBSERVATION MATTERS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Orchid Discovery</a:t>
            </a:r>
            <a:endParaRPr lang="en-US" sz="2100" dirty="0"/>
          </a:p>
        </p:txBody>
      </p:sp>
      <p:sp>
        <p:nvSpPr>
          <p:cNvPr id="7" name="Text 5"/>
          <p:cNvSpPr/>
          <p:nvPr/>
        </p:nvSpPr>
        <p:spPr>
          <a:xfrm>
            <a:off x="320040" y="960120"/>
            <a:ext cx="8503920" cy="86868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In 2016, a botanist working in Everglades National Park discovered a new species of orchid -- not in a lab, but by noticing something slightly different while counting plants during her regular rounds. She had kept careful field notes for years.</a:t>
            </a:r>
            <a:endParaRPr lang="en-US" sz="1450" dirty="0"/>
          </a:p>
        </p:txBody>
      </p:sp>
      <p:sp>
        <p:nvSpPr>
          <p:cNvPr id="8" name="Shape 6"/>
          <p:cNvSpPr/>
          <p:nvPr/>
        </p:nvSpPr>
        <p:spPr>
          <a:xfrm>
            <a:off x="320040" y="1920240"/>
            <a:ext cx="8503920" cy="2180463"/>
          </a:xfrm>
          <a:prstGeom prst="roundRect">
            <a:avLst>
              <a:gd name="adj" fmla="val 3355"/>
            </a:avLst>
          </a:prstGeom>
          <a:solidFill>
            <a:srgbClr val="EEF8F0"/>
          </a:solidFill>
          <a:ln w="19050">
            <a:solidFill>
              <a:srgbClr val="52B788"/>
            </a:solidFill>
            <a:prstDash val="solid"/>
          </a:ln>
        </p:spPr>
      </p:sp>
      <p:sp>
        <p:nvSpPr>
          <p:cNvPr id="9" name="Text 7"/>
          <p:cNvSpPr/>
          <p:nvPr/>
        </p:nvSpPr>
        <p:spPr>
          <a:xfrm>
            <a:off x="502920" y="19933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249424"/>
            <a:ext cx="8138160" cy="179641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do you think let her notice something new? (start with: "I think scientists observe carefully first because...")</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did you learn in this lesson that supports that idea? ("I know this because the lesson showed me that...")</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does that make sense? ("This makes sense because without careful observations, scientists would...")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Observe Like a Scientist</a:t>
            </a:r>
            <a:endParaRPr lang="en-US" sz="2100" dirty="0"/>
          </a:p>
        </p:txBody>
      </p:sp>
      <p:sp>
        <p:nvSpPr>
          <p:cNvPr id="7" name="Shape 5"/>
          <p:cNvSpPr/>
          <p:nvPr/>
        </p:nvSpPr>
        <p:spPr>
          <a:xfrm>
            <a:off x="320040" y="960120"/>
            <a:ext cx="4114800" cy="1463040"/>
          </a:xfrm>
          <a:prstGeom prst="roundRect">
            <a:avLst>
              <a:gd name="adj" fmla="val 5000"/>
            </a:avLst>
          </a:prstGeom>
          <a:solidFill>
            <a:srgbClr val="FFF3E0"/>
          </a:solidFill>
          <a:ln w="25400">
            <a:solidFill>
              <a:srgbClr val="F9A825"/>
            </a:solidFill>
            <a:prstDash val="dash"/>
          </a:ln>
        </p:spPr>
      </p:sp>
      <p:sp>
        <p:nvSpPr>
          <p:cNvPr id="8" name="Text 6"/>
          <p:cNvSpPr/>
          <p:nvPr/>
        </p:nvSpPr>
        <p:spPr>
          <a:xfrm>
            <a:off x="502920" y="1051560"/>
            <a:ext cx="37490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502920" y="1325880"/>
            <a:ext cx="3749040" cy="7498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Close-up of a child's hands holding a small natural object (leaf or rock) while looking through a magnifying glass, outdoors, warm natural light, photorealistic.</a:t>
            </a:r>
            <a:endParaRPr lang="en-US" sz="1100" dirty="0"/>
          </a:p>
        </p:txBody>
      </p:sp>
      <p:sp>
        <p:nvSpPr>
          <p:cNvPr id="10" name="Text 8"/>
          <p:cNvSpPr/>
          <p:nvPr/>
        </p:nvSpPr>
        <p:spPr>
          <a:xfrm>
            <a:off x="502920" y="2130552"/>
            <a:ext cx="37490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1-01-hands-observing-object.png</a:t>
            </a:r>
            <a:endParaRPr lang="en-US" sz="950" dirty="0"/>
          </a:p>
        </p:txBody>
      </p:sp>
      <p:sp>
        <p:nvSpPr>
          <p:cNvPr id="11" name="Text 9"/>
          <p:cNvSpPr/>
          <p:nvPr/>
        </p:nvSpPr>
        <p:spPr>
          <a:xfrm>
            <a:off x="4663440" y="960120"/>
            <a:ext cx="4160520" cy="1463040"/>
          </a:xfrm>
          <a:prstGeom prst="rect">
            <a:avLst/>
          </a:prstGeom>
          <a:noFill/>
          <a:ln/>
        </p:spPr>
        <p:txBody>
          <a:bodyPr wrap="square" rtlCol="0" anchor="t"/>
          <a:lstStyle/>
          <a:p>
            <a:pPr indent="0" marL="0">
              <a:lnSpc>
                <a:spcPts val="1700"/>
              </a:lnSpc>
              <a:buNone/>
            </a:pPr>
            <a:r>
              <a:rPr lang="en-US" sz="1250" dirty="0">
                <a:solidFill>
                  <a:srgbClr val="2B1D12"/>
                </a:solidFill>
                <a:latin typeface="Calibri" pitchFamily="34" charset="0"/>
                <a:ea typeface="Calibri" pitchFamily="34" charset="-122"/>
                <a:cs typeface="Calibri" pitchFamily="34" charset="-120"/>
              </a:rPr>
              <a:t>You'll need: your science notebook, pencil, colored pencils, and one small object -- a leaf, rock, coin, or piece of bark. A magnifying glass if you have one.</a:t>
            </a:r>
            <a:endParaRPr lang="en-US" sz="1250" dirty="0"/>
          </a:p>
        </p:txBody>
      </p:sp>
      <p:sp>
        <p:nvSpPr>
          <p:cNvPr id="12" name="Shape 10"/>
          <p:cNvSpPr/>
          <p:nvPr/>
        </p:nvSpPr>
        <p:spPr>
          <a:xfrm>
            <a:off x="320040" y="2560320"/>
            <a:ext cx="8503920" cy="777240"/>
          </a:xfrm>
          <a:prstGeom prst="roundRect">
            <a:avLst>
              <a:gd name="adj" fmla="val 9412"/>
            </a:avLst>
          </a:prstGeom>
          <a:solidFill>
            <a:srgbClr val="FFF9E8"/>
          </a:solidFill>
          <a:ln w="19050">
            <a:solidFill>
              <a:srgbClr val="F9A825"/>
            </a:solidFill>
            <a:prstDash val="solid"/>
          </a:ln>
        </p:spPr>
      </p:sp>
      <p:sp>
        <p:nvSpPr>
          <p:cNvPr id="13" name="Text 11"/>
          <p:cNvSpPr/>
          <p:nvPr/>
        </p:nvSpPr>
        <p:spPr>
          <a:xfrm>
            <a:off x="502920" y="26334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4" name="Text 12"/>
          <p:cNvSpPr/>
          <p:nvPr/>
        </p:nvSpPr>
        <p:spPr>
          <a:xfrm>
            <a:off x="502920" y="2852928"/>
            <a:ext cx="8138160" cy="42976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Before you write anything: just look at your object for 20 seconds. What do you notice already, without touching it yet?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Write 5 Observations</a:t>
            </a:r>
            <a:endParaRPr lang="en-US" sz="2100" dirty="0"/>
          </a:p>
        </p:txBody>
      </p:sp>
      <p:sp>
        <p:nvSpPr>
          <p:cNvPr id="7" name="Text 5"/>
          <p:cNvSpPr/>
          <p:nvPr/>
        </p:nvSpPr>
        <p:spPr>
          <a:xfrm>
            <a:off x="320040" y="960120"/>
            <a:ext cx="8503920" cy="91440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Pick up your object. Look closely, turn it over, feel the texture, tap it gently, smell it. Write at least 5 observations in your notebook. Start each one with "I see," "I feel," "I hear," or "I smell."</a:t>
            </a:r>
            <a:endParaRPr lang="en-US" sz="1450" dirty="0"/>
          </a:p>
        </p:txBody>
      </p:sp>
      <p:sp>
        <p:nvSpPr>
          <p:cNvPr id="8" name="Shape 6"/>
          <p:cNvSpPr/>
          <p:nvPr/>
        </p:nvSpPr>
        <p:spPr>
          <a:xfrm>
            <a:off x="320040" y="1965960"/>
            <a:ext cx="8503920" cy="502920"/>
          </a:xfrm>
          <a:prstGeom prst="roundRect">
            <a:avLst>
              <a:gd name="adj" fmla="val 14545"/>
            </a:avLst>
          </a:prstGeom>
          <a:solidFill>
            <a:srgbClr val="FFF3E0"/>
          </a:solidFill>
          <a:ln w="19050">
            <a:solidFill>
              <a:srgbClr val="F57C00"/>
            </a:solidFill>
            <a:prstDash val="solid"/>
          </a:ln>
        </p:spPr>
      </p:sp>
      <p:sp>
        <p:nvSpPr>
          <p:cNvPr id="9" name="Text 7"/>
          <p:cNvSpPr/>
          <p:nvPr/>
        </p:nvSpPr>
        <p:spPr>
          <a:xfrm>
            <a:off x="502920" y="202082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0" name="Text 8"/>
          <p:cNvSpPr/>
          <p:nvPr/>
        </p:nvSpPr>
        <p:spPr>
          <a:xfrm>
            <a:off x="502920" y="218541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share ONE observation you wrote -- does it start with I see / I feel / I hear / I smell?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Sort Your Thinking, Then Infer</a:t>
            </a:r>
            <a:endParaRPr lang="en-US" sz="2100" dirty="0"/>
          </a:p>
        </p:txBody>
      </p:sp>
      <p:sp>
        <p:nvSpPr>
          <p:cNvPr id="7" name="Text 5"/>
          <p:cNvSpPr/>
          <p:nvPr/>
        </p:nvSpPr>
        <p:spPr>
          <a:xfrm>
            <a:off x="320040" y="960120"/>
            <a:ext cx="8503920" cy="118872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Read back through your list. Circle anything that is a pure observation -- something you actually sensed. Box anything that might be an inference -- something you're figuring out or guessing.</a:t>
            </a:r>
            <a:endParaRPr lang="en-US" sz="1450" dirty="0"/>
          </a:p>
          <a:p>
            <a:pPr indent="0" marL="0">
              <a:lnSpc>
                <a:spcPts val="2000"/>
              </a:lnSpc>
              <a:buNone/>
            </a:pPr>
            <a:endParaRPr lang="en-US" sz="1450" dirty="0"/>
          </a:p>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Then write ONE inference about your object in a complete sentence: what do you think it's used for, or where did it come from?</a:t>
            </a:r>
            <a:endParaRPr lang="en-US" sz="1450" dirty="0"/>
          </a:p>
        </p:txBody>
      </p:sp>
      <p:sp>
        <p:nvSpPr>
          <p:cNvPr id="8" name="Shape 6"/>
          <p:cNvSpPr/>
          <p:nvPr/>
        </p:nvSpPr>
        <p:spPr>
          <a:xfrm>
            <a:off x="320040" y="224028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313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56946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Is there anything on your list that you actually cannot see, hear, feel, or smell -- something you assumed? What makes it an inference instead of an observation?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EXPLAIN · TALK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Connect It: A Clue in the Marsh</a:t>
            </a:r>
            <a:endParaRPr lang="en-US" sz="2100" dirty="0"/>
          </a:p>
        </p:txBody>
      </p:sp>
      <p:sp>
        <p:nvSpPr>
          <p:cNvPr id="7" name="Text 5"/>
          <p:cNvSpPr/>
          <p:nvPr/>
        </p:nvSpPr>
        <p:spPr>
          <a:xfrm>
            <a:off x="320040" y="960120"/>
            <a:ext cx="8503920" cy="54864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Imagine you're a scientist in Everglades National Park. You find a flattened area of grass and some scattered feathers near the water.</a:t>
            </a:r>
            <a:endParaRPr lang="en-US" sz="1450" dirty="0"/>
          </a:p>
        </p:txBody>
      </p:sp>
      <p:sp>
        <p:nvSpPr>
          <p:cNvPr id="8" name="Shape 6"/>
          <p:cNvSpPr/>
          <p:nvPr/>
        </p:nvSpPr>
        <p:spPr>
          <a:xfrm>
            <a:off x="320040" y="1600200"/>
            <a:ext cx="8503920" cy="1442275"/>
          </a:xfrm>
          <a:prstGeom prst="roundRect">
            <a:avLst>
              <a:gd name="adj" fmla="val 5072"/>
            </a:avLst>
          </a:prstGeom>
          <a:solidFill>
            <a:srgbClr val="EEF8F0"/>
          </a:solidFill>
          <a:ln w="19050">
            <a:solidFill>
              <a:srgbClr val="52B788"/>
            </a:solidFill>
            <a:prstDash val="solid"/>
          </a:ln>
        </p:spPr>
      </p:sp>
      <p:sp>
        <p:nvSpPr>
          <p:cNvPr id="9" name="Text 7"/>
          <p:cNvSpPr/>
          <p:nvPr/>
        </p:nvSpPr>
        <p:spPr>
          <a:xfrm>
            <a:off x="502920" y="16733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1929384"/>
            <a:ext cx="8138160" cy="1058228"/>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might you OBSERVE? What might you INFER?</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observation from your own investigation supports the way you're separating those two things?</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does keeping observation and inference separate matter for a real scientist?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1</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of these is an observation: "The bird is hungry," "The bird has bright orange and black wings," or "The bird flew away because it was frightened"?</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your answer AND why the other two are inferences, not observations.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1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"The bird has bright orange and black wings" -- you can see it directly, no guessing.</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2</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scientist sees a half-eaten fish near the water's edge and writes: "An alligator probably fed here recently." Is this an observation or an inference?</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your answer AND what evidence she actually saw vs. what she figured out.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2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An inference -- she didn't see the alligator, she drew a conclusion from the half-eaten fish she DID observe.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PREVIEW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Sort It Out</a:t>
            </a:r>
            <a:endParaRPr lang="en-US" sz="2100" dirty="0"/>
          </a:p>
        </p:txBody>
      </p:sp>
      <p:sp>
        <p:nvSpPr>
          <p:cNvPr id="7" name="Text 5"/>
          <p:cNvSpPr/>
          <p:nvPr/>
        </p:nvSpPr>
        <p:spPr>
          <a:xfrm>
            <a:off x="320040" y="960120"/>
            <a:ext cx="8503920" cy="457200"/>
          </a:xfrm>
          <a:prstGeom prst="rect">
            <a:avLst/>
          </a:prstGeom>
          <a:noFill/>
          <a:ln/>
        </p:spPr>
        <p:txBody>
          <a:bodyPr wrap="square" rtlCol="0" anchor="t"/>
          <a:lstStyle/>
          <a:p>
            <a:pPr indent="0" marL="0">
              <a:lnSpc>
                <a:spcPts val="2000"/>
              </a:lnSpc>
              <a:buNone/>
            </a:pPr>
            <a:r>
              <a:rPr lang="en-US" sz="1450" b="1" dirty="0">
                <a:solidFill>
                  <a:srgbClr val="E65100"/>
                </a:solidFill>
                <a:latin typeface="Calibri" pitchFamily="34" charset="0"/>
                <a:ea typeface="Calibri" pitchFamily="34" charset="-122"/>
                <a:cs typeface="Calibri" pitchFamily="34" charset="-120"/>
              </a:rPr>
              <a:t>Word Bank: observation - inference - evidence - data - science notebook - scientist</a:t>
            </a:r>
            <a:endParaRPr lang="en-US" sz="1450" dirty="0"/>
          </a:p>
        </p:txBody>
      </p:sp>
      <p:sp>
        <p:nvSpPr>
          <p:cNvPr id="8" name="Shape 6"/>
          <p:cNvSpPr/>
          <p:nvPr/>
        </p:nvSpPr>
        <p:spPr>
          <a:xfrm>
            <a:off x="320040" y="1508760"/>
            <a:ext cx="8503920" cy="566928"/>
          </a:xfrm>
          <a:prstGeom prst="roundRect">
            <a:avLst>
              <a:gd name="adj" fmla="val 9677"/>
            </a:avLst>
          </a:prstGeom>
          <a:solidFill>
            <a:srgbClr val="FFFFFF"/>
          </a:solidFill>
          <a:ln w="12700">
            <a:solidFill>
              <a:srgbClr val="E8DDD2"/>
            </a:solidFill>
            <a:prstDash val="solid"/>
          </a:ln>
        </p:spPr>
      </p:sp>
      <p:sp>
        <p:nvSpPr>
          <p:cNvPr id="9" name="Text 7"/>
          <p:cNvSpPr/>
          <p:nvPr/>
        </p:nvSpPr>
        <p:spPr>
          <a:xfrm>
            <a:off x="411480" y="1591056"/>
            <a:ext cx="320040" cy="402336"/>
          </a:xfrm>
          <a:prstGeom prst="rect">
            <a:avLst/>
          </a:prstGeom>
          <a:solidFill>
            <a:srgbClr val="2E7D32"/>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868680" y="1554480"/>
            <a:ext cx="7863840" cy="475488"/>
          </a:xfrm>
          <a:prstGeom prst="rect">
            <a:avLst/>
          </a:prstGeom>
          <a:noFill/>
          <a:ln/>
        </p:spPr>
        <p:txBody>
          <a:bodyPr wrap="square" rtlCol="0" anchor="ctr"/>
          <a:lstStyle/>
          <a:p>
            <a:pPr indent="0" marL="0">
              <a:buNone/>
            </a:pPr>
            <a:r>
              <a:rPr lang="en-US" sz="1100" dirty="0">
                <a:solidFill>
                  <a:srgbClr val="2B1D12"/>
                </a:solidFill>
                <a:latin typeface="Calibri" pitchFamily="34" charset="0"/>
                <a:ea typeface="Calibri" pitchFamily="34" charset="-122"/>
                <a:cs typeface="Calibri" pitchFamily="34" charset="-120"/>
              </a:rPr>
              <a:t>You see wet sand and broken shells on a beach and write: "A wave came through here recently." What word describes that conclusion?</a:t>
            </a:r>
            <a:endParaRPr lang="en-US" sz="1100" dirty="0"/>
          </a:p>
        </p:txBody>
      </p:sp>
      <p:sp>
        <p:nvSpPr>
          <p:cNvPr id="11" name="Shape 9"/>
          <p:cNvSpPr/>
          <p:nvPr/>
        </p:nvSpPr>
        <p:spPr>
          <a:xfrm>
            <a:off x="320040" y="2130552"/>
            <a:ext cx="8503920" cy="566928"/>
          </a:xfrm>
          <a:prstGeom prst="roundRect">
            <a:avLst>
              <a:gd name="adj" fmla="val 9677"/>
            </a:avLst>
          </a:prstGeom>
          <a:solidFill>
            <a:srgbClr val="FFFFFF"/>
          </a:solidFill>
          <a:ln w="12700">
            <a:solidFill>
              <a:srgbClr val="E8DDD2"/>
            </a:solidFill>
            <a:prstDash val="solid"/>
          </a:ln>
        </p:spPr>
      </p:sp>
      <p:sp>
        <p:nvSpPr>
          <p:cNvPr id="12" name="Text 10"/>
          <p:cNvSpPr/>
          <p:nvPr/>
        </p:nvSpPr>
        <p:spPr>
          <a:xfrm>
            <a:off x="411480" y="2212848"/>
            <a:ext cx="320040" cy="402336"/>
          </a:xfrm>
          <a:prstGeom prst="rect">
            <a:avLst/>
          </a:prstGeom>
          <a:solidFill>
            <a:srgbClr val="2E7D32"/>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868680" y="2176272"/>
            <a:ext cx="7863840" cy="475488"/>
          </a:xfrm>
          <a:prstGeom prst="rect">
            <a:avLst/>
          </a:prstGeom>
          <a:noFill/>
          <a:ln/>
        </p:spPr>
        <p:txBody>
          <a:bodyPr wrap="square" rtlCol="0" anchor="ctr"/>
          <a:lstStyle/>
          <a:p>
            <a:pPr indent="0" marL="0">
              <a:buNone/>
            </a:pPr>
            <a:r>
              <a:rPr lang="en-US" sz="1100" dirty="0">
                <a:solidFill>
                  <a:srgbClr val="2B1D12"/>
                </a:solidFill>
                <a:latin typeface="Calibri" pitchFamily="34" charset="0"/>
                <a:ea typeface="Calibri" pitchFamily="34" charset="-122"/>
                <a:cs typeface="Calibri" pitchFamily="34" charset="-120"/>
              </a:rPr>
              <a:t>A researcher writes down the temperature, date, and height of a plant every day for a month. What is she collecting?</a:t>
            </a:r>
            <a:endParaRPr lang="en-US" sz="1100" dirty="0"/>
          </a:p>
        </p:txBody>
      </p:sp>
      <p:sp>
        <p:nvSpPr>
          <p:cNvPr id="14" name="Shape 12"/>
          <p:cNvSpPr/>
          <p:nvPr/>
        </p:nvSpPr>
        <p:spPr>
          <a:xfrm>
            <a:off x="320040" y="2752344"/>
            <a:ext cx="8503920" cy="566928"/>
          </a:xfrm>
          <a:prstGeom prst="roundRect">
            <a:avLst>
              <a:gd name="adj" fmla="val 9677"/>
            </a:avLst>
          </a:prstGeom>
          <a:solidFill>
            <a:srgbClr val="FFFFFF"/>
          </a:solidFill>
          <a:ln w="12700">
            <a:solidFill>
              <a:srgbClr val="E8DDD2"/>
            </a:solidFill>
            <a:prstDash val="solid"/>
          </a:ln>
        </p:spPr>
      </p:sp>
      <p:sp>
        <p:nvSpPr>
          <p:cNvPr id="15" name="Text 13"/>
          <p:cNvSpPr/>
          <p:nvPr/>
        </p:nvSpPr>
        <p:spPr>
          <a:xfrm>
            <a:off x="411480" y="2834640"/>
            <a:ext cx="320040" cy="402336"/>
          </a:xfrm>
          <a:prstGeom prst="rect">
            <a:avLst/>
          </a:prstGeom>
          <a:solidFill>
            <a:srgbClr val="2E7D32"/>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868680" y="2798064"/>
            <a:ext cx="7863840" cy="475488"/>
          </a:xfrm>
          <a:prstGeom prst="rect">
            <a:avLst/>
          </a:prstGeom>
          <a:noFill/>
          <a:ln/>
        </p:spPr>
        <p:txBody>
          <a:bodyPr wrap="square" rtlCol="0" anchor="ctr"/>
          <a:lstStyle/>
          <a:p>
            <a:pPr indent="0" marL="0">
              <a:buNone/>
            </a:pPr>
            <a:r>
              <a:rPr lang="en-US" sz="1100" dirty="0">
                <a:solidFill>
                  <a:srgbClr val="2B1D12"/>
                </a:solidFill>
                <a:latin typeface="Calibri" pitchFamily="34" charset="0"/>
                <a:ea typeface="Calibri" pitchFamily="34" charset="-122"/>
                <a:cs typeface="Calibri" pitchFamily="34" charset="-120"/>
              </a:rPr>
              <a:t>You pick up a rock and write: "smooth, cold, and heavy." Which word describes what you just made?</a:t>
            </a:r>
            <a:endParaRPr lang="en-US" sz="1100" dirty="0"/>
          </a:p>
        </p:txBody>
      </p:sp>
      <p:sp>
        <p:nvSpPr>
          <p:cNvPr id="17" name="Shape 15"/>
          <p:cNvSpPr/>
          <p:nvPr/>
        </p:nvSpPr>
        <p:spPr>
          <a:xfrm>
            <a:off x="320040" y="3374136"/>
            <a:ext cx="8503920" cy="566928"/>
          </a:xfrm>
          <a:prstGeom prst="roundRect">
            <a:avLst>
              <a:gd name="adj" fmla="val 9677"/>
            </a:avLst>
          </a:prstGeom>
          <a:solidFill>
            <a:srgbClr val="FFFFFF"/>
          </a:solidFill>
          <a:ln w="12700">
            <a:solidFill>
              <a:srgbClr val="E8DDD2"/>
            </a:solidFill>
            <a:prstDash val="solid"/>
          </a:ln>
        </p:spPr>
      </p:sp>
      <p:sp>
        <p:nvSpPr>
          <p:cNvPr id="18" name="Text 16"/>
          <p:cNvSpPr/>
          <p:nvPr/>
        </p:nvSpPr>
        <p:spPr>
          <a:xfrm>
            <a:off x="411480" y="3456432"/>
            <a:ext cx="320040" cy="402336"/>
          </a:xfrm>
          <a:prstGeom prst="rect">
            <a:avLst/>
          </a:prstGeom>
          <a:solidFill>
            <a:srgbClr val="2E7D32"/>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868680" y="3419856"/>
            <a:ext cx="7863840" cy="475488"/>
          </a:xfrm>
          <a:prstGeom prst="rect">
            <a:avLst/>
          </a:prstGeom>
          <a:noFill/>
          <a:ln/>
        </p:spPr>
        <p:txBody>
          <a:bodyPr wrap="square" rtlCol="0" anchor="ctr"/>
          <a:lstStyle/>
          <a:p>
            <a:pPr indent="0" marL="0">
              <a:buNone/>
            </a:pPr>
            <a:r>
              <a:rPr lang="en-US" sz="1100" dirty="0">
                <a:solidFill>
                  <a:srgbClr val="2B1D12"/>
                </a:solidFill>
                <a:latin typeface="Calibri" pitchFamily="34" charset="0"/>
                <a:ea typeface="Calibri" pitchFamily="34" charset="-122"/>
                <a:cs typeface="Calibri" pitchFamily="34" charset="-120"/>
              </a:rPr>
              <a:t>All the information you gather through observation that helps explain a scientific question is called ___.</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PREVIEW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Write &amp; Explain</a:t>
            </a:r>
            <a:endParaRPr lang="en-US" sz="2100" dirty="0"/>
          </a:p>
        </p:txBody>
      </p:sp>
      <p:sp>
        <p:nvSpPr>
          <p:cNvPr id="7" name="Text 5"/>
          <p:cNvSpPr/>
          <p:nvPr/>
        </p:nvSpPr>
        <p:spPr>
          <a:xfrm>
            <a:off x="320040" y="960120"/>
            <a:ext cx="8503920" cy="548640"/>
          </a:xfrm>
          <a:prstGeom prst="rect">
            <a:avLst/>
          </a:prstGeom>
          <a:noFill/>
          <a:ln/>
        </p:spPr>
        <p:txBody>
          <a:bodyPr wrap="square" rtlCol="0" anchor="t"/>
          <a:lstStyle/>
          <a:p>
            <a:pPr indent="0" marL="0">
              <a:lnSpc>
                <a:spcPts val="2000"/>
              </a:lnSpc>
              <a:buNone/>
            </a:pPr>
            <a:r>
              <a:rPr lang="en-US" sz="1400" b="1" dirty="0">
                <a:solidFill>
                  <a:srgbClr val="E65100"/>
                </a:solidFill>
                <a:latin typeface="Calibri" pitchFamily="34" charset="0"/>
                <a:ea typeface="Calibri" pitchFamily="34" charset="-122"/>
                <a:cs typeface="Calibri" pitchFamily="34" charset="-120"/>
              </a:rPr>
              <a:t>Why do you think scientists spend so much time observing carefully before they try to explain anything?</a:t>
            </a:r>
            <a:endParaRPr lang="en-US" sz="1400" dirty="0"/>
          </a:p>
        </p:txBody>
      </p:sp>
      <p:sp>
        <p:nvSpPr>
          <p:cNvPr id="8" name="Shape 6"/>
          <p:cNvSpPr/>
          <p:nvPr/>
        </p:nvSpPr>
        <p:spPr>
          <a:xfrm>
            <a:off x="320040" y="1600200"/>
            <a:ext cx="8503920" cy="1934401"/>
          </a:xfrm>
          <a:prstGeom prst="roundRect">
            <a:avLst>
              <a:gd name="adj" fmla="val 3782"/>
            </a:avLst>
          </a:prstGeom>
          <a:solidFill>
            <a:srgbClr val="EEF8F0"/>
          </a:solidFill>
          <a:ln w="19050">
            <a:solidFill>
              <a:srgbClr val="52B788"/>
            </a:solidFill>
            <a:prstDash val="solid"/>
          </a:ln>
        </p:spPr>
      </p:sp>
      <p:sp>
        <p:nvSpPr>
          <p:cNvPr id="9" name="Text 7"/>
          <p:cNvSpPr/>
          <p:nvPr/>
        </p:nvSpPr>
        <p:spPr>
          <a:xfrm>
            <a:off x="502920" y="16733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1929384"/>
            <a:ext cx="8138160" cy="1550353"/>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do you think? Start with: "I think scientists observe carefully first because..."</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did you observe or learn that supports your thinking? Start with: "I know this because the lesson showed me that..."</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does that make sense? Start with: "This makes sense because without careful observations, scientists would..."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PREVIEW · PART C</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a:t>
            </a:r>
            <a:endParaRPr lang="en-US" sz="2100" dirty="0"/>
          </a:p>
        </p:txBody>
      </p:sp>
      <p:sp>
        <p:nvSpPr>
          <p:cNvPr id="7" name="Text 5"/>
          <p:cNvSpPr/>
          <p:nvPr/>
        </p:nvSpPr>
        <p:spPr>
          <a:xfrm>
            <a:off x="320040" y="960120"/>
            <a:ext cx="8503920" cy="118872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Draw yourself as a field scientist working outdoors. Show yourself using at least 2 tools. Label what you're observing, the tools you're using, and draw a small arrow pointing to one thing you might INFER from what you see. Use color!</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548640" y="548640"/>
            <a:ext cx="804672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Great Work, Scientists!</a:t>
            </a:r>
            <a:endParaRPr lang="en-US" sz="2800" dirty="0"/>
          </a:p>
        </p:txBody>
      </p:sp>
      <p:sp>
        <p:nvSpPr>
          <p:cNvPr id="5" name="Text 3"/>
          <p:cNvSpPr/>
          <p:nvPr/>
        </p:nvSpPr>
        <p:spPr>
          <a:xfrm>
            <a:off x="548640" y="1280160"/>
            <a:ext cx="7863840" cy="6858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Today you noticed, sorted observations from inferences, used real tools, and explained your thinking twice -- before we ever gave you a worksheet.</a:t>
            </a:r>
            <a:endParaRPr lang="en-US" sz="1400" dirty="0"/>
          </a:p>
        </p:txBody>
      </p:sp>
      <p:sp>
        <p:nvSpPr>
          <p:cNvPr id="6" name="Text 4"/>
          <p:cNvSpPr/>
          <p:nvPr/>
        </p:nvSpPr>
        <p:spPr>
          <a:xfrm>
            <a:off x="548640" y="2103120"/>
            <a:ext cx="7863840" cy="320040"/>
          </a:xfrm>
          <a:prstGeom prst="rect">
            <a:avLst/>
          </a:prstGeom>
          <a:noFill/>
          <a:ln/>
        </p:spPr>
        <p:txBody>
          <a:bodyPr wrap="square"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What to turn in:</a:t>
            </a:r>
            <a:endParaRPr lang="en-US" sz="1300" dirty="0"/>
          </a:p>
        </p:txBody>
      </p:sp>
      <p:sp>
        <p:nvSpPr>
          <p:cNvPr id="7" name="Text 5"/>
          <p:cNvSpPr/>
          <p:nvPr/>
        </p:nvSpPr>
        <p:spPr>
          <a:xfrm>
            <a:off x="548640" y="2423160"/>
            <a:ext cx="7863840" cy="1463040"/>
          </a:xfrm>
          <a:prstGeom prst="rect">
            <a:avLst/>
          </a:prstGeom>
          <a:noFill/>
          <a:ln/>
        </p:spPr>
        <p:txBody>
          <a:bodyPr wrap="square" rtlCol="0" anchor="ctr"/>
          <a:lstStyle/>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My observation notes and labeled drawing from the Explore investigation</a:t>
            </a:r>
            <a:endParaRPr lang="en-US" sz="1200" dirty="0"/>
          </a:p>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Part A -- Sort It Out (vocabulary matching)</a:t>
            </a:r>
            <a:endParaRPr lang="en-US" sz="1200" dirty="0"/>
          </a:p>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My Write &amp; Explain (Part B) response using vocabulary words</a:t>
            </a:r>
            <a:endParaRPr lang="en-US" sz="1200" dirty="0"/>
          </a:p>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Part C -- Draw &amp; Label (field scientist drawing with 2 tools labeled)</a:t>
            </a:r>
            <a:endParaRPr lang="en-US" sz="1200" dirty="0"/>
          </a:p>
        </p:txBody>
      </p:sp>
      <p:sp>
        <p:nvSpPr>
          <p:cNvPr id="8" name="Text 6"/>
          <p:cNvSpPr/>
          <p:nvPr/>
        </p:nvSpPr>
        <p:spPr>
          <a:xfrm>
            <a:off x="548640" y="4114800"/>
            <a:ext cx="7863840" cy="457200"/>
          </a:xfrm>
          <a:prstGeom prst="rect">
            <a:avLst/>
          </a:prstGeom>
          <a:noFill/>
          <a:ln/>
        </p:spPr>
        <p:txBody>
          <a:bodyPr wrap="square" rtlCol="0" anchor="ctr"/>
          <a:lstStyle/>
          <a:p>
            <a:pPr indent="0" marL="0">
              <a:buNone/>
            </a:pPr>
            <a:r>
              <a:rPr lang="en-US" sz="1250" i="1" dirty="0">
                <a:solidFill>
                  <a:srgbClr val="FFCA28"/>
                </a:solidFill>
                <a:latin typeface="Calibri" pitchFamily="34" charset="0"/>
                <a:ea typeface="Calibri" pitchFamily="34" charset="-122"/>
                <a:cs typeface="Calibri" pitchFamily="34" charset="-120"/>
              </a:rPr>
              <a:t>Coming next in 1.02: Become a Park Scientist.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 How Do Scientists Observe the World? — Teacher Slides</dc:title>
  <dc:subject>PptxGenJS Presentation</dc:subject>
  <dc:creator>Optima Academy Online</dc:creator>
  <cp:lastModifiedBy>Optima Academy Online</cp:lastModifiedBy>
  <cp:revision>1</cp:revision>
  <dcterms:created xsi:type="dcterms:W3CDTF">2026-07-12T02:27:06Z</dcterms:created>
  <dcterms:modified xsi:type="dcterms:W3CDTF">2026-07-12T02:27:06Z</dcterms:modified>
</cp:coreProperties>
</file>