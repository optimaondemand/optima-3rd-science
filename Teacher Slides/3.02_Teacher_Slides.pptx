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take yesterday's climate zone ideas and apply them to real data from three named regions: Yosemite, the Everglades, and the Arctic.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think about the weather-vs-climate distinction from yesterday before answering.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map: I Can #1 (compare data) -&gt; reference table, investigation steps 1-2, Self-Check Q2. I Can #2 (graph) -&gt; investigation step 3 bar graph, image placeholder. I Can #3 (climate affects living things) -&gt; Section 2 region descriptions, Self-Check Q3, Write &amp; Explain. Write &amp; Explain frame rehearsed via the investigation's 'Write one pattern you notice' step and again on the assignment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Ruler again today for the bar graph — same as last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Scientists start with observation, not answers. Whatever students notice is worth writing down, even if it seems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is new today — it's the word for 'one of the three places we're comparing.'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Ecosystem connects climate to living things — this is the bridge to today's I Can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real time to copy. Note this sentence is almost identical to lesson 2.02's — climate science and weather science both rely on the same core idea: data over time reveals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review from yesterday — don't linger too long, since students already built this idea in Lesson 3.01.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directly to today's data table — this is literally how that data got collected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Everglades and Yosemite are both national parks but feel like different planets — that's what climate does, it shapes everything living in a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Surprise students with this — many assume the Arctic is always snow-covered. This is a great 'that surprised me' moment for the later discussion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reference data table students will use to build their own chart and bar graph in the investigation. Let a student read a full column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class restate in their own words, emphasizing the last sentence: climate shapes living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concrete visual (child-height of water) makes the rainfall number tangible for 3rd graders.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drawing the 3-column chart on the board before students start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which region has the tallest bar? Shortest? Have them write one sentence explaining what the bar height difference tells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1 of 2 for today's reasoning frame. Have 2-3 students say their pattern sentence out loud before moving on — this is the same structure they'll use in the Write &amp; Explain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distinct scientist skill worth calling out by name — it's not just about finding one answer, it's about triangulating from multiple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Talk-only reflection. The 'surprised you most' question often lands on the Arctic tundra photo from earlier — bring that back up if students mention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is a great stretch question — introduces the idea that climates can change over deep time. Don't expect a perfect answer, just genuine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core distinction from yesterday — quick confidence check before moving to the data-specific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foundational idea the whole unit builds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data-reading check — students should be looking at their own chart to answer this, not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the Amazing Nature Fact slide's child-height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data directly to I Can #3 — climate shaping which living things can survive somewhere.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reasoning move for the Write &amp; Explain assignment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be able to answer these directly from their own chart — every clue matches a row in the reference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Q6 directly reuses the pattern-sentence rehearsal from the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2 of 2 — this reasoning frame builds on the investigation's pattern-sentence rehearsal, now specifically connecting climate to living things (I Can #3). Have 1-2 more students rehearse aloud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Type It, Photo It, or Record It on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by reminding students that scientists combine data from many sources to understand climate — that's the skill they practiced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325880"/>
            <a:ext cx="8229600" cy="292608"/>
          </a:xfrm>
          <a:prstGeom prst="rect">
            <a:avLst/>
          </a:prstGeom>
          <a:noFill/>
          <a:ln/>
        </p:spPr>
        <p:txBody>
          <a:bodyPr wrap="square" rtlCol="0" anchor="ctr"/>
          <a:lstStyle/>
          <a:p>
            <a:pPr algn="ctr" indent="0" marL="0">
              <a:buNone/>
            </a:pPr>
            <a:r>
              <a:rPr lang="en-US" sz="1300" b="1" spc="150" kern="0" dirty="0">
                <a:solidFill>
                  <a:srgbClr val="55C8E8"/>
                </a:solidFill>
                <a:latin typeface="Calibri" pitchFamily="34" charset="0"/>
                <a:ea typeface="Calibri" pitchFamily="34" charset="-122"/>
                <a:cs typeface="Calibri" pitchFamily="34" charset="-120"/>
              </a:rPr>
              <a:t>OPTIMA ACADEMY ONLINE · 3RD GRADE SCIENCE</a:t>
            </a:r>
            <a:endParaRPr lang="en-US" sz="1300" dirty="0"/>
          </a:p>
        </p:txBody>
      </p:sp>
      <p:sp>
        <p:nvSpPr>
          <p:cNvPr id="5" name="Text 3"/>
          <p:cNvSpPr/>
          <p:nvPr/>
        </p:nvSpPr>
        <p:spPr>
          <a:xfrm>
            <a:off x="457200" y="1737360"/>
            <a:ext cx="8229600" cy="91440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Investigation: Compare Park Climates</a:t>
            </a:r>
            <a:endParaRPr lang="en-US" sz="3000" dirty="0"/>
          </a:p>
        </p:txBody>
      </p:sp>
      <p:sp>
        <p:nvSpPr>
          <p:cNvPr id="6" name="Text 4"/>
          <p:cNvSpPr/>
          <p:nvPr/>
        </p:nvSpPr>
        <p:spPr>
          <a:xfrm>
            <a:off x="457200" y="2697480"/>
            <a:ext cx="8229600" cy="365760"/>
          </a:xfrm>
          <a:prstGeom prst="rect">
            <a:avLst/>
          </a:prstGeom>
          <a:noFill/>
          <a:ln/>
        </p:spPr>
        <p:txBody>
          <a:bodyPr wrap="square" rtlCol="0" anchor="ctr"/>
          <a:lstStyle/>
          <a:p>
            <a:pPr algn="ctr" indent="0" marL="0">
              <a:buNone/>
            </a:pPr>
            <a:r>
              <a:rPr lang="en-US" sz="1400" dirty="0">
                <a:solidFill>
                  <a:srgbClr val="FFCA28"/>
                </a:solidFill>
                <a:latin typeface="Calibri" pitchFamily="34" charset="0"/>
                <a:ea typeface="Calibri" pitchFamily="34" charset="-122"/>
                <a:cs typeface="Calibri" pitchFamily="34" charset="-120"/>
              </a:rPr>
              <a:t>Lesson 3.02  ·  Week 3  ·  NGSS 3-ESS2-2</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About This...</a:t>
            </a:r>
            <a:endParaRPr lang="en-US" sz="2100" dirty="0"/>
          </a:p>
        </p:txBody>
      </p:sp>
      <p:sp>
        <p:nvSpPr>
          <p:cNvPr id="7" name="Shape 5"/>
          <p:cNvSpPr/>
          <p:nvPr/>
        </p:nvSpPr>
        <p:spPr>
          <a:xfrm>
            <a:off x="548640" y="1371600"/>
            <a:ext cx="8046720" cy="1737360"/>
          </a:xfrm>
          <a:prstGeom prst="roundRect">
            <a:avLst>
              <a:gd name="adj" fmla="val 5263"/>
            </a:avLst>
          </a:prstGeom>
          <a:solidFill>
            <a:srgbClr val="0E1C42"/>
          </a:solidFill>
          <a:ln w="25400">
            <a:solidFill>
              <a:srgbClr val="55C8E8"/>
            </a:solidFill>
            <a:prstDash val="solid"/>
          </a:ln>
        </p:spPr>
      </p:sp>
      <p:sp>
        <p:nvSpPr>
          <p:cNvPr id="8" name="Text 6"/>
          <p:cNvSpPr/>
          <p:nvPr/>
        </p:nvSpPr>
        <p:spPr>
          <a:xfrm>
            <a:off x="822960" y="1554480"/>
            <a:ext cx="7498080" cy="1371600"/>
          </a:xfrm>
          <a:prstGeom prst="rect">
            <a:avLst/>
          </a:prstGeom>
          <a:noFill/>
          <a:ln/>
        </p:spPr>
        <p:txBody>
          <a:bodyPr wrap="square" rtlCol="0" anchor="ctr"/>
          <a:lstStyle/>
          <a:p>
            <a:pPr algn="ctr" indent="0" marL="0">
              <a:buNone/>
            </a:pPr>
            <a:r>
              <a:rPr lang="en-US" sz="1800" i="1" dirty="0">
                <a:solidFill>
                  <a:srgbClr val="FFFFFF"/>
                </a:solidFill>
                <a:latin typeface="Cambria" pitchFamily="34" charset="0"/>
                <a:ea typeface="Cambria" pitchFamily="34" charset="-122"/>
                <a:cs typeface="Cambria" pitchFamily="34" charset="-120"/>
              </a:rPr>
              <a:t>"If you visited three different national parks on the same day, would they all have the same weather? What about the same climate?"</a:t>
            </a:r>
            <a:endParaRPr lang="en-US" sz="1800" dirty="0"/>
          </a:p>
        </p:txBody>
      </p:sp>
      <p:sp>
        <p:nvSpPr>
          <p:cNvPr id="9" name="Text 7"/>
          <p:cNvSpPr/>
          <p:nvPr/>
        </p:nvSpPr>
        <p:spPr>
          <a:xfrm>
            <a:off x="822960" y="3291840"/>
            <a:ext cx="7498080" cy="457200"/>
          </a:xfrm>
          <a:prstGeom prst="rect">
            <a:avLst/>
          </a:prstGeom>
          <a:noFill/>
          <a:ln/>
        </p:spPr>
        <p:txBody>
          <a:bodyPr wrap="square" rtlCol="0" anchor="t"/>
          <a:lstStyle/>
          <a:p>
            <a:pPr algn="ctr" indent="0" marL="0">
              <a:buNone/>
            </a:pPr>
            <a:r>
              <a:rPr lang="en-US" sz="1350" dirty="0">
                <a:solidFill>
                  <a:srgbClr val="5A4D3E"/>
                </a:solidFill>
                <a:latin typeface="Calibri" pitchFamily="34" charset="0"/>
                <a:ea typeface="Calibri" pitchFamily="34" charset="-122"/>
                <a:cs typeface="Calibri" pitchFamily="34" charset="-120"/>
              </a:rPr>
              <a:t>Keep this question in mind as you work through the investigation.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457200" y="1143000"/>
            <a:ext cx="8229600" cy="868680"/>
          </a:xfrm>
          <a:prstGeom prst="roundRect">
            <a:avLst>
              <a:gd name="adj" fmla="val 8421"/>
            </a:avLst>
          </a:prstGeom>
          <a:solidFill>
            <a:srgbClr val="FFFFFF"/>
          </a:solidFill>
          <a:ln w="19050">
            <a:solidFill>
              <a:srgbClr val="E8DDD2"/>
            </a:solidFill>
            <a:prstDash val="solid"/>
          </a:ln>
        </p:spPr>
      </p:sp>
      <p:sp>
        <p:nvSpPr>
          <p:cNvPr id="8" name="Shape 6"/>
          <p:cNvSpPr/>
          <p:nvPr/>
        </p:nvSpPr>
        <p:spPr>
          <a:xfrm>
            <a:off x="640080" y="1371600"/>
            <a:ext cx="411480" cy="411480"/>
          </a:xfrm>
          <a:prstGeom prst="ellipse">
            <a:avLst/>
          </a:prstGeom>
          <a:solidFill>
            <a:srgbClr val="F57C00"/>
          </a:solidFill>
          <a:ln/>
        </p:spPr>
      </p:sp>
      <p:sp>
        <p:nvSpPr>
          <p:cNvPr id="9" name="Text 7"/>
          <p:cNvSpPr/>
          <p:nvPr/>
        </p:nvSpPr>
        <p:spPr>
          <a:xfrm>
            <a:off x="640080" y="137160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8"/>
          <p:cNvSpPr/>
          <p:nvPr/>
        </p:nvSpPr>
        <p:spPr>
          <a:xfrm>
            <a:off x="1234440" y="1234440"/>
            <a:ext cx="7223760" cy="68580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I can compare climate data from three different regions.</a:t>
            </a:r>
            <a:endParaRPr lang="en-US" sz="1400" dirty="0"/>
          </a:p>
        </p:txBody>
      </p:sp>
      <p:sp>
        <p:nvSpPr>
          <p:cNvPr id="11" name="Shape 9"/>
          <p:cNvSpPr/>
          <p:nvPr/>
        </p:nvSpPr>
        <p:spPr>
          <a:xfrm>
            <a:off x="457200" y="2148840"/>
            <a:ext cx="8229600" cy="868680"/>
          </a:xfrm>
          <a:prstGeom prst="roundRect">
            <a:avLst>
              <a:gd name="adj" fmla="val 8421"/>
            </a:avLst>
          </a:prstGeom>
          <a:solidFill>
            <a:srgbClr val="FFFFFF"/>
          </a:solidFill>
          <a:ln w="19050">
            <a:solidFill>
              <a:srgbClr val="E8DDD2"/>
            </a:solidFill>
            <a:prstDash val="solid"/>
          </a:ln>
        </p:spPr>
      </p:sp>
      <p:sp>
        <p:nvSpPr>
          <p:cNvPr id="12" name="Shape 10"/>
          <p:cNvSpPr/>
          <p:nvPr/>
        </p:nvSpPr>
        <p:spPr>
          <a:xfrm>
            <a:off x="640080" y="2377440"/>
            <a:ext cx="411480" cy="411480"/>
          </a:xfrm>
          <a:prstGeom prst="ellipse">
            <a:avLst/>
          </a:prstGeom>
          <a:solidFill>
            <a:srgbClr val="F57C00"/>
          </a:solidFill>
          <a:ln/>
        </p:spPr>
      </p:sp>
      <p:sp>
        <p:nvSpPr>
          <p:cNvPr id="13" name="Text 11"/>
          <p:cNvSpPr/>
          <p:nvPr/>
        </p:nvSpPr>
        <p:spPr>
          <a:xfrm>
            <a:off x="640080" y="237744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234440" y="2240280"/>
            <a:ext cx="7223760" cy="68580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I can use a graph to show differences in temperature or rainfall.</a:t>
            </a:r>
            <a:endParaRPr lang="en-US" sz="1400" dirty="0"/>
          </a:p>
        </p:txBody>
      </p:sp>
      <p:sp>
        <p:nvSpPr>
          <p:cNvPr id="15" name="Shape 13"/>
          <p:cNvSpPr/>
          <p:nvPr/>
        </p:nvSpPr>
        <p:spPr>
          <a:xfrm>
            <a:off x="457200" y="3154680"/>
            <a:ext cx="8229600" cy="868680"/>
          </a:xfrm>
          <a:prstGeom prst="roundRect">
            <a:avLst>
              <a:gd name="adj" fmla="val 8421"/>
            </a:avLst>
          </a:prstGeom>
          <a:solidFill>
            <a:srgbClr val="FFFFFF"/>
          </a:solidFill>
          <a:ln w="19050">
            <a:solidFill>
              <a:srgbClr val="E8DDD2"/>
            </a:solidFill>
            <a:prstDash val="solid"/>
          </a:ln>
        </p:spPr>
      </p:sp>
      <p:sp>
        <p:nvSpPr>
          <p:cNvPr id="16" name="Shape 14"/>
          <p:cNvSpPr/>
          <p:nvPr/>
        </p:nvSpPr>
        <p:spPr>
          <a:xfrm>
            <a:off x="640080" y="3383280"/>
            <a:ext cx="411480" cy="411480"/>
          </a:xfrm>
          <a:prstGeom prst="ellipse">
            <a:avLst/>
          </a:prstGeom>
          <a:solidFill>
            <a:srgbClr val="F57C00"/>
          </a:solidFill>
          <a:ln/>
        </p:spPr>
      </p:sp>
      <p:sp>
        <p:nvSpPr>
          <p:cNvPr id="17" name="Text 15"/>
          <p:cNvSpPr/>
          <p:nvPr/>
        </p:nvSpPr>
        <p:spPr>
          <a:xfrm>
            <a:off x="640080" y="338328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234440" y="3246120"/>
            <a:ext cx="7223760" cy="68580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I can explain how a region's climate affects the plants and animals there.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Gather Your Materials</a:t>
            </a:r>
            <a:endParaRPr lang="en-US" sz="2100" dirty="0"/>
          </a:p>
        </p:txBody>
      </p:sp>
      <p:sp>
        <p:nvSpPr>
          <p:cNvPr id="7" name="Shape 5"/>
          <p:cNvSpPr/>
          <p:nvPr/>
        </p:nvSpPr>
        <p:spPr>
          <a:xfrm>
            <a:off x="548640" y="1280160"/>
            <a:ext cx="8046720" cy="594360"/>
          </a:xfrm>
          <a:prstGeom prst="roundRect">
            <a:avLst>
              <a:gd name="adj" fmla="val 12308"/>
            </a:avLst>
          </a:prstGeom>
          <a:solidFill>
            <a:srgbClr val="FFFFFF"/>
          </a:solidFill>
          <a:ln w="12700">
            <a:solidFill>
              <a:srgbClr val="E8DDD2"/>
            </a:solidFill>
            <a:prstDash val="solid"/>
          </a:ln>
        </p:spPr>
      </p:sp>
      <p:sp>
        <p:nvSpPr>
          <p:cNvPr id="8" name="Shape 6"/>
          <p:cNvSpPr/>
          <p:nvPr/>
        </p:nvSpPr>
        <p:spPr>
          <a:xfrm>
            <a:off x="777240" y="1481328"/>
            <a:ext cx="182880" cy="182880"/>
          </a:xfrm>
          <a:prstGeom prst="ellipse">
            <a:avLst/>
          </a:prstGeom>
          <a:solidFill>
            <a:srgbClr val="0288D1"/>
          </a:solidFill>
          <a:ln/>
        </p:spPr>
      </p:sp>
      <p:sp>
        <p:nvSpPr>
          <p:cNvPr id="9" name="Text 7"/>
          <p:cNvSpPr/>
          <p:nvPr/>
        </p:nvSpPr>
        <p:spPr>
          <a:xfrm>
            <a:off x="1143000" y="1325880"/>
            <a:ext cx="7315200" cy="50292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Science notebook</a:t>
            </a:r>
            <a:endParaRPr lang="en-US" sz="1400" dirty="0"/>
          </a:p>
        </p:txBody>
      </p:sp>
      <p:sp>
        <p:nvSpPr>
          <p:cNvPr id="10" name="Shape 8"/>
          <p:cNvSpPr/>
          <p:nvPr/>
        </p:nvSpPr>
        <p:spPr>
          <a:xfrm>
            <a:off x="548640" y="2011680"/>
            <a:ext cx="8046720" cy="594360"/>
          </a:xfrm>
          <a:prstGeom prst="roundRect">
            <a:avLst>
              <a:gd name="adj" fmla="val 12308"/>
            </a:avLst>
          </a:prstGeom>
          <a:solidFill>
            <a:srgbClr val="FFFFFF"/>
          </a:solidFill>
          <a:ln w="12700">
            <a:solidFill>
              <a:srgbClr val="E8DDD2"/>
            </a:solidFill>
            <a:prstDash val="solid"/>
          </a:ln>
        </p:spPr>
      </p:sp>
      <p:sp>
        <p:nvSpPr>
          <p:cNvPr id="11" name="Shape 9"/>
          <p:cNvSpPr/>
          <p:nvPr/>
        </p:nvSpPr>
        <p:spPr>
          <a:xfrm>
            <a:off x="777240" y="2212848"/>
            <a:ext cx="182880" cy="182880"/>
          </a:xfrm>
          <a:prstGeom prst="ellipse">
            <a:avLst/>
          </a:prstGeom>
          <a:solidFill>
            <a:srgbClr val="0288D1"/>
          </a:solidFill>
          <a:ln/>
        </p:spPr>
      </p:sp>
      <p:sp>
        <p:nvSpPr>
          <p:cNvPr id="12" name="Text 10"/>
          <p:cNvSpPr/>
          <p:nvPr/>
        </p:nvSpPr>
        <p:spPr>
          <a:xfrm>
            <a:off x="1143000" y="2057400"/>
            <a:ext cx="7315200" cy="50292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Pencil &amp; colored pencils</a:t>
            </a:r>
            <a:endParaRPr lang="en-US" sz="1400" dirty="0"/>
          </a:p>
        </p:txBody>
      </p:sp>
      <p:sp>
        <p:nvSpPr>
          <p:cNvPr id="13" name="Shape 11"/>
          <p:cNvSpPr/>
          <p:nvPr/>
        </p:nvSpPr>
        <p:spPr>
          <a:xfrm>
            <a:off x="548640" y="2743200"/>
            <a:ext cx="8046720" cy="594360"/>
          </a:xfrm>
          <a:prstGeom prst="roundRect">
            <a:avLst>
              <a:gd name="adj" fmla="val 12308"/>
            </a:avLst>
          </a:prstGeom>
          <a:solidFill>
            <a:srgbClr val="FFFFFF"/>
          </a:solidFill>
          <a:ln w="12700">
            <a:solidFill>
              <a:srgbClr val="E8DDD2"/>
            </a:solidFill>
            <a:prstDash val="solid"/>
          </a:ln>
        </p:spPr>
      </p:sp>
      <p:sp>
        <p:nvSpPr>
          <p:cNvPr id="14" name="Shape 12"/>
          <p:cNvSpPr/>
          <p:nvPr/>
        </p:nvSpPr>
        <p:spPr>
          <a:xfrm>
            <a:off x="777240" y="2944368"/>
            <a:ext cx="182880" cy="182880"/>
          </a:xfrm>
          <a:prstGeom prst="ellipse">
            <a:avLst/>
          </a:prstGeom>
          <a:solidFill>
            <a:srgbClr val="0288D1"/>
          </a:solidFill>
          <a:ln/>
        </p:spPr>
      </p:sp>
      <p:sp>
        <p:nvSpPr>
          <p:cNvPr id="15" name="Text 13"/>
          <p:cNvSpPr/>
          <p:nvPr/>
        </p:nvSpPr>
        <p:spPr>
          <a:xfrm>
            <a:off x="1143000" y="2788920"/>
            <a:ext cx="7315200" cy="50292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Ruler</a:t>
            </a:r>
            <a:endParaRPr lang="en-US" sz="1400" dirty="0"/>
          </a:p>
        </p:txBody>
      </p:sp>
      <p:sp>
        <p:nvSpPr>
          <p:cNvPr id="16" name="Shape 14"/>
          <p:cNvSpPr/>
          <p:nvPr/>
        </p:nvSpPr>
        <p:spPr>
          <a:xfrm>
            <a:off x="548640" y="3474720"/>
            <a:ext cx="8046720" cy="594360"/>
          </a:xfrm>
          <a:prstGeom prst="roundRect">
            <a:avLst>
              <a:gd name="adj" fmla="val 12308"/>
            </a:avLst>
          </a:prstGeom>
          <a:solidFill>
            <a:srgbClr val="FFFFFF"/>
          </a:solidFill>
          <a:ln w="12700">
            <a:solidFill>
              <a:srgbClr val="E8DDD2"/>
            </a:solidFill>
            <a:prstDash val="solid"/>
          </a:ln>
        </p:spPr>
      </p:sp>
      <p:sp>
        <p:nvSpPr>
          <p:cNvPr id="17" name="Shape 15"/>
          <p:cNvSpPr/>
          <p:nvPr/>
        </p:nvSpPr>
        <p:spPr>
          <a:xfrm>
            <a:off x="777240" y="3675888"/>
            <a:ext cx="182880" cy="182880"/>
          </a:xfrm>
          <a:prstGeom prst="ellipse">
            <a:avLst/>
          </a:prstGeom>
          <a:solidFill>
            <a:srgbClr val="0288D1"/>
          </a:solidFill>
          <a:ln/>
        </p:spPr>
      </p:sp>
      <p:sp>
        <p:nvSpPr>
          <p:cNvPr id="18" name="Text 16"/>
          <p:cNvSpPr/>
          <p:nvPr/>
        </p:nvSpPr>
        <p:spPr>
          <a:xfrm>
            <a:off x="1143000" y="3520440"/>
            <a:ext cx="7315200" cy="50292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Reference data table (provided in the lesson)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WARM-UP</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Three Places. One Planet.</a:t>
            </a:r>
            <a:endParaRPr lang="en-US" sz="2100" dirty="0"/>
          </a:p>
        </p:txBody>
      </p:sp>
      <p:sp>
        <p:nvSpPr>
          <p:cNvPr id="7" name="Text 5"/>
          <p:cNvSpPr/>
          <p:nvPr/>
        </p:nvSpPr>
        <p:spPr>
          <a:xfrm>
            <a:off x="320040" y="1143000"/>
            <a:ext cx="8503920" cy="86868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Picture three real places: mountains, a wetland, and ice. They're all real places in North America, but they look nothing alike. Take a minute to really look before we start reading anything.</a:t>
            </a:r>
            <a:endParaRPr lang="en-US" sz="1350" dirty="0"/>
          </a:p>
        </p:txBody>
      </p:sp>
      <p:sp>
        <p:nvSpPr>
          <p:cNvPr id="8" name="Shape 6"/>
          <p:cNvSpPr/>
          <p:nvPr/>
        </p:nvSpPr>
        <p:spPr>
          <a:xfrm>
            <a:off x="320040" y="210312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1762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39572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Write down 3 things you notice — one for each place. Then write 1 question about why they look so different.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Naming What We Compare</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0288D1"/>
            </a:solidFill>
            <a:prstDash val="solid"/>
          </a:ln>
        </p:spPr>
      </p:sp>
      <p:sp>
        <p:nvSpPr>
          <p:cNvPr id="8" name="Text 6"/>
          <p:cNvSpPr/>
          <p:nvPr/>
        </p:nvSpPr>
        <p:spPr>
          <a:xfrm>
            <a:off x="685800" y="1280160"/>
            <a:ext cx="237744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climate</a:t>
            </a:r>
            <a:endParaRPr lang="en-US" sz="1600" dirty="0"/>
          </a:p>
        </p:txBody>
      </p:sp>
      <p:sp>
        <p:nvSpPr>
          <p:cNvPr id="9" name="Text 7"/>
          <p:cNvSpPr/>
          <p:nvPr/>
        </p:nvSpPr>
        <p:spPr>
          <a:xfrm>
            <a:off x="3108960" y="1280160"/>
            <a:ext cx="539496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The typical weather conditions a place has over many years.</a:t>
            </a:r>
            <a:endParaRPr lang="en-US" sz="130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0288D1"/>
            </a:solidFill>
            <a:prstDash val="solid"/>
          </a:ln>
        </p:spPr>
      </p:sp>
      <p:sp>
        <p:nvSpPr>
          <p:cNvPr id="11" name="Text 9"/>
          <p:cNvSpPr/>
          <p:nvPr/>
        </p:nvSpPr>
        <p:spPr>
          <a:xfrm>
            <a:off x="685800" y="2423160"/>
            <a:ext cx="237744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region</a:t>
            </a:r>
            <a:endParaRPr lang="en-US" sz="1600" dirty="0"/>
          </a:p>
        </p:txBody>
      </p:sp>
      <p:sp>
        <p:nvSpPr>
          <p:cNvPr id="12" name="Text 10"/>
          <p:cNvSpPr/>
          <p:nvPr/>
        </p:nvSpPr>
        <p:spPr>
          <a:xfrm>
            <a:off x="3108960" y="2423160"/>
            <a:ext cx="539496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An area that shares similar features, conditions, or location.</a:t>
            </a:r>
            <a:endParaRPr lang="en-US" sz="130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0288D1"/>
            </a:solidFill>
            <a:prstDash val="solid"/>
          </a:ln>
        </p:spPr>
      </p:sp>
      <p:sp>
        <p:nvSpPr>
          <p:cNvPr id="14" name="Text 12"/>
          <p:cNvSpPr/>
          <p:nvPr/>
        </p:nvSpPr>
        <p:spPr>
          <a:xfrm>
            <a:off x="685800" y="3566160"/>
            <a:ext cx="237744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precipitation</a:t>
            </a:r>
            <a:endParaRPr lang="en-US" sz="1600" dirty="0"/>
          </a:p>
        </p:txBody>
      </p:sp>
      <p:sp>
        <p:nvSpPr>
          <p:cNvPr id="15" name="Text 13"/>
          <p:cNvSpPr/>
          <p:nvPr/>
        </p:nvSpPr>
        <p:spPr>
          <a:xfrm>
            <a:off x="3108960" y="3566160"/>
            <a:ext cx="539496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Water that falls from clouds as rain, snow, sleet, or hail.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Tools Scientists Use</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2D6A4F"/>
            </a:solidFill>
            <a:prstDash val="solid"/>
          </a:ln>
        </p:spPr>
      </p:sp>
      <p:sp>
        <p:nvSpPr>
          <p:cNvPr id="8" name="Text 6"/>
          <p:cNvSpPr/>
          <p:nvPr/>
        </p:nvSpPr>
        <p:spPr>
          <a:xfrm>
            <a:off x="685800" y="1280160"/>
            <a:ext cx="2377440" cy="822960"/>
          </a:xfrm>
          <a:prstGeom prst="rect">
            <a:avLst/>
          </a:prstGeom>
          <a:noFill/>
          <a:ln/>
        </p:spPr>
        <p:txBody>
          <a:bodyPr wrap="square"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ecosystem</a:t>
            </a:r>
            <a:endParaRPr lang="en-US" sz="1600" dirty="0"/>
          </a:p>
        </p:txBody>
      </p:sp>
      <p:sp>
        <p:nvSpPr>
          <p:cNvPr id="9" name="Text 7"/>
          <p:cNvSpPr/>
          <p:nvPr/>
        </p:nvSpPr>
        <p:spPr>
          <a:xfrm>
            <a:off x="3108960" y="1280160"/>
            <a:ext cx="539496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All the living and nonliving things in one place, working together.</a:t>
            </a:r>
            <a:endParaRPr lang="en-US" sz="130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2D6A4F"/>
            </a:solidFill>
            <a:prstDash val="solid"/>
          </a:ln>
        </p:spPr>
      </p:sp>
      <p:sp>
        <p:nvSpPr>
          <p:cNvPr id="11" name="Text 9"/>
          <p:cNvSpPr/>
          <p:nvPr/>
        </p:nvSpPr>
        <p:spPr>
          <a:xfrm>
            <a:off x="685800" y="2423160"/>
            <a:ext cx="2377440" cy="822960"/>
          </a:xfrm>
          <a:prstGeom prst="rect">
            <a:avLst/>
          </a:prstGeom>
          <a:noFill/>
          <a:ln/>
        </p:spPr>
        <p:txBody>
          <a:bodyPr wrap="square"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climate map</a:t>
            </a:r>
            <a:endParaRPr lang="en-US" sz="1600" dirty="0"/>
          </a:p>
        </p:txBody>
      </p:sp>
      <p:sp>
        <p:nvSpPr>
          <p:cNvPr id="12" name="Text 10"/>
          <p:cNvSpPr/>
          <p:nvPr/>
        </p:nvSpPr>
        <p:spPr>
          <a:xfrm>
            <a:off x="3108960" y="2423160"/>
            <a:ext cx="539496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A map showing the typical weather patterns of different regions.</a:t>
            </a:r>
            <a:endParaRPr lang="en-US" sz="130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2D6A4F"/>
            </a:solidFill>
            <a:prstDash val="solid"/>
          </a:ln>
        </p:spPr>
      </p:sp>
      <p:sp>
        <p:nvSpPr>
          <p:cNvPr id="14" name="Text 12"/>
          <p:cNvSpPr/>
          <p:nvPr/>
        </p:nvSpPr>
        <p:spPr>
          <a:xfrm>
            <a:off x="685800" y="3566160"/>
            <a:ext cx="2377440" cy="822960"/>
          </a:xfrm>
          <a:prstGeom prst="rect">
            <a:avLst/>
          </a:prstGeom>
          <a:noFill/>
          <a:ln/>
        </p:spPr>
        <p:txBody>
          <a:bodyPr wrap="square"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data</a:t>
            </a:r>
            <a:endParaRPr lang="en-US" sz="1600" dirty="0"/>
          </a:p>
        </p:txBody>
      </p:sp>
      <p:sp>
        <p:nvSpPr>
          <p:cNvPr id="15" name="Text 13"/>
          <p:cNvSpPr/>
          <p:nvPr/>
        </p:nvSpPr>
        <p:spPr>
          <a:xfrm>
            <a:off x="3108960" y="3566160"/>
            <a:ext cx="5394960" cy="82296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Information collected through careful observation or measurement.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DOWN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Notebook Entry</a:t>
            </a:r>
            <a:endParaRPr lang="en-US" sz="2100" dirty="0"/>
          </a:p>
        </p:txBody>
      </p:sp>
      <p:sp>
        <p:nvSpPr>
          <p:cNvPr id="7" name="Shape 5"/>
          <p:cNvSpPr/>
          <p:nvPr/>
        </p:nvSpPr>
        <p:spPr>
          <a:xfrm>
            <a:off x="320040" y="1280160"/>
            <a:ext cx="8503920" cy="1188720"/>
          </a:xfrm>
          <a:prstGeom prst="roundRect">
            <a:avLst>
              <a:gd name="adj" fmla="val 6154"/>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COPY CAREFULLY INTO YOUR SCIENCE NOTEBOOK</a:t>
            </a:r>
            <a:endParaRPr lang="en-US" sz="1100" dirty="0"/>
          </a:p>
        </p:txBody>
      </p:sp>
      <p:sp>
        <p:nvSpPr>
          <p:cNvPr id="9" name="Text 7"/>
          <p:cNvSpPr/>
          <p:nvPr/>
        </p:nvSpPr>
        <p:spPr>
          <a:xfrm>
            <a:off x="502920" y="1572768"/>
            <a:ext cx="8138160" cy="84124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"Scientists record climate data from many regions to find patterns and make predictions."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Weather vs. Climate</a:t>
            </a:r>
            <a:endParaRPr lang="en-US" sz="2100" dirty="0"/>
          </a:p>
        </p:txBody>
      </p:sp>
      <p:sp>
        <p:nvSpPr>
          <p:cNvPr id="7" name="Text 5"/>
          <p:cNvSpPr/>
          <p:nvPr/>
        </p:nvSpPr>
        <p:spPr>
          <a:xfrm>
            <a:off x="320040" y="1143000"/>
            <a:ext cx="8503920" cy="105156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Weather is what's happening outside right now. Climate is different — it's what the weather is usually like over many years. One rainy day doesn't change a climate. But if a place gets a lot of rain every single year, that pattern is part of its climate.</a:t>
            </a:r>
            <a:endParaRPr lang="en-US" sz="1350" dirty="0"/>
          </a:p>
        </p:txBody>
      </p:sp>
      <p:sp>
        <p:nvSpPr>
          <p:cNvPr id="8" name="Shape 6"/>
          <p:cNvSpPr/>
          <p:nvPr/>
        </p:nvSpPr>
        <p:spPr>
          <a:xfrm>
            <a:off x="320040" y="2286000"/>
            <a:ext cx="8503920" cy="685800"/>
          </a:xfrm>
          <a:prstGeom prst="roundRect">
            <a:avLst>
              <a:gd name="adj" fmla="val 10667"/>
            </a:avLst>
          </a:prstGeom>
          <a:solidFill>
            <a:srgbClr val="FFF9E8"/>
          </a:solidFill>
          <a:ln w="19050">
            <a:solidFill>
              <a:srgbClr val="F9A825"/>
            </a:solidFill>
            <a:prstDash val="solid"/>
          </a:ln>
        </p:spPr>
      </p:sp>
      <p:sp>
        <p:nvSpPr>
          <p:cNvPr id="9" name="Text 7"/>
          <p:cNvSpPr/>
          <p:nvPr/>
        </p:nvSpPr>
        <p:spPr>
          <a:xfrm>
            <a:off x="502920" y="235915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578608"/>
            <a:ext cx="8138160" cy="33832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What's the difference between 'it's raining today' and 'this place gets a lot of rain'?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PHOTO · WEATHER DATA IN THE FIELD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Where Climate Data Comes From</a:t>
            </a:r>
            <a:endParaRPr lang="en-US" sz="2100" dirty="0"/>
          </a:p>
        </p:txBody>
      </p:sp>
      <p:sp>
        <p:nvSpPr>
          <p:cNvPr id="7" name="Shape 5"/>
          <p:cNvSpPr/>
          <p:nvPr/>
        </p:nvSpPr>
        <p:spPr>
          <a:xfrm>
            <a:off x="457200" y="1097280"/>
            <a:ext cx="8229600" cy="2331720"/>
          </a:xfrm>
          <a:prstGeom prst="roundRect">
            <a:avLst>
              <a:gd name="adj" fmla="val 3137"/>
            </a:avLst>
          </a:prstGeom>
          <a:solidFill>
            <a:srgbClr val="FFF3E0"/>
          </a:solidFill>
          <a:ln w="25400">
            <a:solidFill>
              <a:srgbClr val="F9A825"/>
            </a:solidFill>
            <a:prstDash val="dash"/>
          </a:ln>
        </p:spPr>
      </p:sp>
      <p:sp>
        <p:nvSpPr>
          <p:cNvPr id="8" name="Text 6"/>
          <p:cNvSpPr/>
          <p:nvPr/>
        </p:nvSpPr>
        <p:spPr>
          <a:xfrm>
            <a:off x="640080" y="118872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9" name="Text 7"/>
          <p:cNvSpPr/>
          <p:nvPr/>
        </p:nvSpPr>
        <p:spPr>
          <a:xfrm>
            <a:off x="640080" y="1463040"/>
            <a:ext cx="7863840" cy="161848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real-world photograph of a simple weather monitoring station in an open grassy field. Metal post with a mounted thermometer, a clear plastic rain gauge cylinder, a small 3-cup anemometer at the top. Warm afternoon sunlight, green grass and wildflowers in the foreground, blue sky with a few clouds. Sharp, in focus, natural colors. Real documentary photography, no text, no cartoons.</a:t>
            </a:r>
            <a:endParaRPr lang="en-US" sz="1100" dirty="0"/>
          </a:p>
        </p:txBody>
      </p:sp>
      <p:sp>
        <p:nvSpPr>
          <p:cNvPr id="10" name="Text 8"/>
          <p:cNvSpPr/>
          <p:nvPr/>
        </p:nvSpPr>
        <p:spPr>
          <a:xfrm>
            <a:off x="640080" y="313639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images/3-02-weather-station-field.png</a:t>
            </a:r>
            <a:endParaRPr lang="en-US" sz="950" dirty="0"/>
          </a:p>
        </p:txBody>
      </p:sp>
      <p:sp>
        <p:nvSpPr>
          <p:cNvPr id="11" name="Text 9"/>
          <p:cNvSpPr/>
          <p:nvPr/>
        </p:nvSpPr>
        <p:spPr>
          <a:xfrm>
            <a:off x="457200" y="3611880"/>
            <a:ext cx="8229600" cy="640080"/>
          </a:xfrm>
          <a:prstGeom prst="rect">
            <a:avLst/>
          </a:prstGeom>
          <a:noFill/>
          <a:ln/>
        </p:spPr>
        <p:txBody>
          <a:bodyPr wrap="square" rtlCol="0" anchor="t"/>
          <a:lstStyle/>
          <a:p>
            <a:pPr indent="0" marL="0">
              <a:buNone/>
            </a:pPr>
            <a:r>
              <a:rPr lang="en-US" sz="1250" dirty="0">
                <a:solidFill>
                  <a:srgbClr val="5A4D3E"/>
                </a:solidFill>
                <a:latin typeface="Calibri" pitchFamily="34" charset="0"/>
                <a:ea typeface="Calibri" pitchFamily="34" charset="-122"/>
                <a:cs typeface="Calibri" pitchFamily="34" charset="-120"/>
              </a:rPr>
              <a:t>Scientists collect weather data every day using instruments like thermometers and rain gauges. Over many years, that data reveals a region's climate.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Three Very Different Places</a:t>
            </a:r>
            <a:endParaRPr lang="en-US" sz="2100" dirty="0"/>
          </a:p>
        </p:txBody>
      </p:sp>
      <p:sp>
        <p:nvSpPr>
          <p:cNvPr id="7" name="Shape 5"/>
          <p:cNvSpPr/>
          <p:nvPr/>
        </p:nvSpPr>
        <p:spPr>
          <a:xfrm>
            <a:off x="457200" y="1143000"/>
            <a:ext cx="8229600" cy="777240"/>
          </a:xfrm>
          <a:prstGeom prst="roundRect">
            <a:avLst>
              <a:gd name="adj" fmla="val 9412"/>
            </a:avLst>
          </a:prstGeom>
          <a:solidFill>
            <a:srgbClr val="FFFFFF"/>
          </a:solidFill>
          <a:ln w="19050">
            <a:solidFill>
              <a:srgbClr val="E8DDD2"/>
            </a:solidFill>
            <a:prstDash val="solid"/>
          </a:ln>
        </p:spPr>
      </p:sp>
      <p:sp>
        <p:nvSpPr>
          <p:cNvPr id="8" name="Text 6"/>
          <p:cNvSpPr/>
          <p:nvPr/>
        </p:nvSpPr>
        <p:spPr>
          <a:xfrm>
            <a:off x="640080" y="1216152"/>
            <a:ext cx="7863840" cy="256032"/>
          </a:xfrm>
          <a:prstGeom prst="rect">
            <a:avLst/>
          </a:prstGeom>
          <a:noFill/>
          <a:ln/>
        </p:spPr>
        <p:txBody>
          <a:bodyPr wrap="square" rtlCol="0" anchor="ctr"/>
          <a:lstStyle/>
          <a:p>
            <a:pPr indent="0" marL="0">
              <a:buNone/>
            </a:pPr>
            <a:r>
              <a:rPr lang="en-US" sz="1400" b="1" dirty="0">
                <a:solidFill>
                  <a:srgbClr val="E65100"/>
                </a:solidFill>
                <a:latin typeface="Cambria" pitchFamily="34" charset="0"/>
                <a:ea typeface="Cambria" pitchFamily="34" charset="-122"/>
                <a:cs typeface="Cambria" pitchFamily="34" charset="-120"/>
              </a:rPr>
              <a:t>Yosemite</a:t>
            </a:r>
            <a:endParaRPr lang="en-US" sz="1400" dirty="0"/>
          </a:p>
        </p:txBody>
      </p:sp>
      <p:sp>
        <p:nvSpPr>
          <p:cNvPr id="9" name="Text 7"/>
          <p:cNvSpPr/>
          <p:nvPr/>
        </p:nvSpPr>
        <p:spPr>
          <a:xfrm>
            <a:off x="640080" y="1463040"/>
            <a:ext cx="7863840" cy="411480"/>
          </a:xfrm>
          <a:prstGeom prst="rect">
            <a:avLst/>
          </a:prstGeom>
          <a:noFill/>
          <a:ln/>
        </p:spPr>
        <p:txBody>
          <a:bodyPr wrap="square" rtlCol="0" anchor="ctr"/>
          <a:lstStyle/>
          <a:p>
            <a:pPr indent="0" marL="0">
              <a:buNone/>
            </a:pPr>
            <a:r>
              <a:rPr lang="en-US" sz="1150" dirty="0">
                <a:solidFill>
                  <a:srgbClr val="2B1D12"/>
                </a:solidFill>
                <a:latin typeface="Calibri" pitchFamily="34" charset="0"/>
                <a:ea typeface="Calibri" pitchFamily="34" charset="-122"/>
                <a:cs typeface="Calibri" pitchFamily="34" charset="-120"/>
              </a:rPr>
              <a:t>Mountain park, California. Cool, snowy winters. Warm summers. Rocky peaks and pine forests.</a:t>
            </a:r>
            <a:endParaRPr lang="en-US" sz="1150" dirty="0"/>
          </a:p>
        </p:txBody>
      </p:sp>
      <p:sp>
        <p:nvSpPr>
          <p:cNvPr id="10" name="Shape 8"/>
          <p:cNvSpPr/>
          <p:nvPr/>
        </p:nvSpPr>
        <p:spPr>
          <a:xfrm>
            <a:off x="457200" y="2039112"/>
            <a:ext cx="8229600" cy="777240"/>
          </a:xfrm>
          <a:prstGeom prst="roundRect">
            <a:avLst>
              <a:gd name="adj" fmla="val 9412"/>
            </a:avLst>
          </a:prstGeom>
          <a:solidFill>
            <a:srgbClr val="FFFFFF"/>
          </a:solidFill>
          <a:ln w="19050">
            <a:solidFill>
              <a:srgbClr val="E8DDD2"/>
            </a:solidFill>
            <a:prstDash val="solid"/>
          </a:ln>
        </p:spPr>
      </p:sp>
      <p:sp>
        <p:nvSpPr>
          <p:cNvPr id="11" name="Text 9"/>
          <p:cNvSpPr/>
          <p:nvPr/>
        </p:nvSpPr>
        <p:spPr>
          <a:xfrm>
            <a:off x="640080" y="2112264"/>
            <a:ext cx="7863840" cy="256032"/>
          </a:xfrm>
          <a:prstGeom prst="rect">
            <a:avLst/>
          </a:prstGeom>
          <a:noFill/>
          <a:ln/>
        </p:spPr>
        <p:txBody>
          <a:bodyPr wrap="square" rtlCol="0" anchor="ctr"/>
          <a:lstStyle/>
          <a:p>
            <a:pPr indent="0" marL="0">
              <a:buNone/>
            </a:pPr>
            <a:r>
              <a:rPr lang="en-US" sz="1400" b="1" dirty="0">
                <a:solidFill>
                  <a:srgbClr val="E65100"/>
                </a:solidFill>
                <a:latin typeface="Cambria" pitchFamily="34" charset="0"/>
                <a:ea typeface="Cambria" pitchFamily="34" charset="-122"/>
                <a:cs typeface="Cambria" pitchFamily="34" charset="-120"/>
              </a:rPr>
              <a:t>The Everglades</a:t>
            </a:r>
            <a:endParaRPr lang="en-US" sz="1400" dirty="0"/>
          </a:p>
        </p:txBody>
      </p:sp>
      <p:sp>
        <p:nvSpPr>
          <p:cNvPr id="12" name="Text 10"/>
          <p:cNvSpPr/>
          <p:nvPr/>
        </p:nvSpPr>
        <p:spPr>
          <a:xfrm>
            <a:off x="640080" y="2359152"/>
            <a:ext cx="7863840" cy="411480"/>
          </a:xfrm>
          <a:prstGeom prst="rect">
            <a:avLst/>
          </a:prstGeom>
          <a:noFill/>
          <a:ln/>
        </p:spPr>
        <p:txBody>
          <a:bodyPr wrap="square" rtlCol="0" anchor="ctr"/>
          <a:lstStyle/>
          <a:p>
            <a:pPr indent="0" marL="0">
              <a:buNone/>
            </a:pPr>
            <a:r>
              <a:rPr lang="en-US" sz="1150" dirty="0">
                <a:solidFill>
                  <a:srgbClr val="2B1D12"/>
                </a:solidFill>
                <a:latin typeface="Calibri" pitchFamily="34" charset="0"/>
                <a:ea typeface="Calibri" pitchFamily="34" charset="-122"/>
                <a:cs typeface="Calibri" pitchFamily="34" charset="-120"/>
              </a:rPr>
              <a:t>Wetland in southern Florida. Warm all year, heavy rain. Grasses, mangroves, alligators, wading birds.</a:t>
            </a:r>
            <a:endParaRPr lang="en-US" sz="1150" dirty="0"/>
          </a:p>
        </p:txBody>
      </p:sp>
      <p:sp>
        <p:nvSpPr>
          <p:cNvPr id="13" name="Shape 11"/>
          <p:cNvSpPr/>
          <p:nvPr/>
        </p:nvSpPr>
        <p:spPr>
          <a:xfrm>
            <a:off x="457200" y="2935224"/>
            <a:ext cx="8229600" cy="777240"/>
          </a:xfrm>
          <a:prstGeom prst="roundRect">
            <a:avLst>
              <a:gd name="adj" fmla="val 9412"/>
            </a:avLst>
          </a:prstGeom>
          <a:solidFill>
            <a:srgbClr val="FFFFFF"/>
          </a:solidFill>
          <a:ln w="19050">
            <a:solidFill>
              <a:srgbClr val="E8DDD2"/>
            </a:solidFill>
            <a:prstDash val="solid"/>
          </a:ln>
        </p:spPr>
      </p:sp>
      <p:sp>
        <p:nvSpPr>
          <p:cNvPr id="14" name="Text 12"/>
          <p:cNvSpPr/>
          <p:nvPr/>
        </p:nvSpPr>
        <p:spPr>
          <a:xfrm>
            <a:off x="640080" y="3008376"/>
            <a:ext cx="7863840" cy="256032"/>
          </a:xfrm>
          <a:prstGeom prst="rect">
            <a:avLst/>
          </a:prstGeom>
          <a:noFill/>
          <a:ln/>
        </p:spPr>
        <p:txBody>
          <a:bodyPr wrap="square" rtlCol="0" anchor="ctr"/>
          <a:lstStyle/>
          <a:p>
            <a:pPr indent="0" marL="0">
              <a:buNone/>
            </a:pPr>
            <a:r>
              <a:rPr lang="en-US" sz="1400" b="1" dirty="0">
                <a:solidFill>
                  <a:srgbClr val="E65100"/>
                </a:solidFill>
                <a:latin typeface="Cambria" pitchFamily="34" charset="0"/>
                <a:ea typeface="Cambria" pitchFamily="34" charset="-122"/>
                <a:cs typeface="Cambria" pitchFamily="34" charset="-120"/>
              </a:rPr>
              <a:t>The Arctic</a:t>
            </a:r>
            <a:endParaRPr lang="en-US" sz="1400" dirty="0"/>
          </a:p>
        </p:txBody>
      </p:sp>
      <p:sp>
        <p:nvSpPr>
          <p:cNvPr id="15" name="Text 13"/>
          <p:cNvSpPr/>
          <p:nvPr/>
        </p:nvSpPr>
        <p:spPr>
          <a:xfrm>
            <a:off x="640080" y="3255264"/>
            <a:ext cx="7863840" cy="411480"/>
          </a:xfrm>
          <a:prstGeom prst="rect">
            <a:avLst/>
          </a:prstGeom>
          <a:noFill/>
          <a:ln/>
        </p:spPr>
        <p:txBody>
          <a:bodyPr wrap="square" rtlCol="0" anchor="ctr"/>
          <a:lstStyle/>
          <a:p>
            <a:pPr indent="0" marL="0">
              <a:buNone/>
            </a:pPr>
            <a:r>
              <a:rPr lang="en-US" sz="1150" dirty="0">
                <a:solidFill>
                  <a:srgbClr val="2B1D12"/>
                </a:solidFill>
                <a:latin typeface="Calibri" pitchFamily="34" charset="0"/>
                <a:ea typeface="Calibri" pitchFamily="34" charset="-122"/>
                <a:cs typeface="Calibri" pitchFamily="34" charset="-120"/>
              </a:rPr>
              <a:t>Far north. Cold almost all year, long dark winters, very little rainfall. Only a few tough organisms survive.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PHOTO · ARCTIC TUNDRA IN SUMMER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Not Always Ice and Snow</a:t>
            </a:r>
            <a:endParaRPr lang="en-US" sz="2100" dirty="0"/>
          </a:p>
        </p:txBody>
      </p:sp>
      <p:sp>
        <p:nvSpPr>
          <p:cNvPr id="7" name="Shape 5"/>
          <p:cNvSpPr/>
          <p:nvPr/>
        </p:nvSpPr>
        <p:spPr>
          <a:xfrm>
            <a:off x="457200" y="1097280"/>
            <a:ext cx="8229600" cy="2331720"/>
          </a:xfrm>
          <a:prstGeom prst="roundRect">
            <a:avLst>
              <a:gd name="adj" fmla="val 3137"/>
            </a:avLst>
          </a:prstGeom>
          <a:solidFill>
            <a:srgbClr val="FFF3E0"/>
          </a:solidFill>
          <a:ln w="25400">
            <a:solidFill>
              <a:srgbClr val="F9A825"/>
            </a:solidFill>
            <a:prstDash val="dash"/>
          </a:ln>
        </p:spPr>
      </p:sp>
      <p:sp>
        <p:nvSpPr>
          <p:cNvPr id="8" name="Text 6"/>
          <p:cNvSpPr/>
          <p:nvPr/>
        </p:nvSpPr>
        <p:spPr>
          <a:xfrm>
            <a:off x="640080" y="118872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9" name="Text 7"/>
          <p:cNvSpPr/>
          <p:nvPr/>
        </p:nvSpPr>
        <p:spPr>
          <a:xfrm>
            <a:off x="640080" y="1463040"/>
            <a:ext cx="7863840" cy="161848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wide real-world photograph of Arctic tundra during summer. Ground covered in low-growing wildflowers (small yellow and purple blooms), deep green mosses, sparse shrubby plants hugging the earth. Vast flat landscape stretching to a distant horizon. One or two caribou grazing in the middle distance. Bright low-angle sunlight, long shadows. No snow visible. Open, wild, slightly harsh feel. Real documentary photography, no white borders, no text.</a:t>
            </a:r>
            <a:endParaRPr lang="en-US" sz="1100" dirty="0"/>
          </a:p>
        </p:txBody>
      </p:sp>
      <p:sp>
        <p:nvSpPr>
          <p:cNvPr id="10" name="Text 8"/>
          <p:cNvSpPr/>
          <p:nvPr/>
        </p:nvSpPr>
        <p:spPr>
          <a:xfrm>
            <a:off x="640080" y="313639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images/3-02-arctic-tundra-summer.png</a:t>
            </a:r>
            <a:endParaRPr lang="en-US" sz="950" dirty="0"/>
          </a:p>
        </p:txBody>
      </p:sp>
      <p:sp>
        <p:nvSpPr>
          <p:cNvPr id="11" name="Text 9"/>
          <p:cNvSpPr/>
          <p:nvPr/>
        </p:nvSpPr>
        <p:spPr>
          <a:xfrm>
            <a:off x="457200" y="3611880"/>
            <a:ext cx="8229600" cy="640080"/>
          </a:xfrm>
          <a:prstGeom prst="rect">
            <a:avLst/>
          </a:prstGeom>
          <a:noFill/>
          <a:ln/>
        </p:spPr>
        <p:txBody>
          <a:bodyPr wrap="square" rtlCol="0" anchor="t"/>
          <a:lstStyle/>
          <a:p>
            <a:pPr indent="0" marL="0">
              <a:buNone/>
            </a:pPr>
            <a:r>
              <a:rPr lang="en-US" sz="1250" dirty="0">
                <a:solidFill>
                  <a:srgbClr val="5A4D3E"/>
                </a:solidFill>
                <a:latin typeface="Calibri" pitchFamily="34" charset="0"/>
                <a:ea typeface="Calibri" pitchFamily="34" charset="-122"/>
                <a:cs typeface="Calibri" pitchFamily="34" charset="-120"/>
              </a:rPr>
              <a:t>During summer, tundra plants like mosses and wildflowers bloom close to the ground — the only plants tough enough to survive the long, frozen winters.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LOOK CLOSELY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Climate Data for Three Regions</a:t>
            </a:r>
            <a:endParaRPr lang="en-US" sz="2100" dirty="0"/>
          </a:p>
        </p:txBody>
      </p:sp>
      <p:sp>
        <p:nvSpPr>
          <p:cNvPr id="7" name="Shape 5"/>
          <p:cNvSpPr/>
          <p:nvPr/>
        </p:nvSpPr>
        <p:spPr>
          <a:xfrm>
            <a:off x="548640" y="1188720"/>
            <a:ext cx="1645920" cy="457200"/>
          </a:xfrm>
          <a:prstGeom prst="rect">
            <a:avLst/>
          </a:prstGeom>
          <a:solidFill>
            <a:srgbClr val="0288D1"/>
          </a:solidFill>
          <a:ln w="6350">
            <a:solidFill>
              <a:srgbClr val="FFFFFF"/>
            </a:solidFill>
            <a:prstDash val="solid"/>
          </a:ln>
        </p:spPr>
      </p:sp>
      <p:sp>
        <p:nvSpPr>
          <p:cNvPr id="8" name="Text 6"/>
          <p:cNvSpPr/>
          <p:nvPr/>
        </p:nvSpPr>
        <p:spPr>
          <a:xfrm>
            <a:off x="548640" y="1188720"/>
            <a:ext cx="1645920" cy="457200"/>
          </a:xfrm>
          <a:prstGeom prst="rect">
            <a:avLst/>
          </a:prstGeom>
          <a:noFill/>
          <a:ln/>
        </p:spPr>
        <p:txBody>
          <a:bodyPr wrap="square" rtlCol="0" anchor="ctr"/>
          <a:lstStyle/>
          <a:p>
            <a:pPr algn="ctr" indent="0" marL="0">
              <a:buNone/>
            </a:pPr>
            <a:endParaRPr lang="en-US" sz="1150" dirty="0"/>
          </a:p>
        </p:txBody>
      </p:sp>
      <p:sp>
        <p:nvSpPr>
          <p:cNvPr id="9" name="Shape 7"/>
          <p:cNvSpPr/>
          <p:nvPr/>
        </p:nvSpPr>
        <p:spPr>
          <a:xfrm>
            <a:off x="2194560" y="1188720"/>
            <a:ext cx="2194560" cy="457200"/>
          </a:xfrm>
          <a:prstGeom prst="rect">
            <a:avLst/>
          </a:prstGeom>
          <a:solidFill>
            <a:srgbClr val="0288D1"/>
          </a:solidFill>
          <a:ln w="6350">
            <a:solidFill>
              <a:srgbClr val="FFFFFF"/>
            </a:solidFill>
            <a:prstDash val="solid"/>
          </a:ln>
        </p:spPr>
      </p:sp>
      <p:sp>
        <p:nvSpPr>
          <p:cNvPr id="10" name="Text 8"/>
          <p:cNvSpPr/>
          <p:nvPr/>
        </p:nvSpPr>
        <p:spPr>
          <a:xfrm>
            <a:off x="2194560" y="1188720"/>
            <a:ext cx="2194560" cy="45720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Yosemite</a:t>
            </a:r>
            <a:endParaRPr lang="en-US" sz="1150" dirty="0"/>
          </a:p>
        </p:txBody>
      </p:sp>
      <p:sp>
        <p:nvSpPr>
          <p:cNvPr id="11" name="Shape 9"/>
          <p:cNvSpPr/>
          <p:nvPr/>
        </p:nvSpPr>
        <p:spPr>
          <a:xfrm>
            <a:off x="4389120" y="1188720"/>
            <a:ext cx="2194560" cy="457200"/>
          </a:xfrm>
          <a:prstGeom prst="rect">
            <a:avLst/>
          </a:prstGeom>
          <a:solidFill>
            <a:srgbClr val="0288D1"/>
          </a:solidFill>
          <a:ln w="6350">
            <a:solidFill>
              <a:srgbClr val="FFFFFF"/>
            </a:solidFill>
            <a:prstDash val="solid"/>
          </a:ln>
        </p:spPr>
      </p:sp>
      <p:sp>
        <p:nvSpPr>
          <p:cNvPr id="12" name="Text 10"/>
          <p:cNvSpPr/>
          <p:nvPr/>
        </p:nvSpPr>
        <p:spPr>
          <a:xfrm>
            <a:off x="4389120" y="1188720"/>
            <a:ext cx="2194560" cy="45720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Everglades</a:t>
            </a:r>
            <a:endParaRPr lang="en-US" sz="1150" dirty="0"/>
          </a:p>
        </p:txBody>
      </p:sp>
      <p:sp>
        <p:nvSpPr>
          <p:cNvPr id="13" name="Shape 11"/>
          <p:cNvSpPr/>
          <p:nvPr/>
        </p:nvSpPr>
        <p:spPr>
          <a:xfrm>
            <a:off x="6583680" y="1188720"/>
            <a:ext cx="2194560" cy="457200"/>
          </a:xfrm>
          <a:prstGeom prst="rect">
            <a:avLst/>
          </a:prstGeom>
          <a:solidFill>
            <a:srgbClr val="0288D1"/>
          </a:solidFill>
          <a:ln w="6350">
            <a:solidFill>
              <a:srgbClr val="FFFFFF"/>
            </a:solidFill>
            <a:prstDash val="solid"/>
          </a:ln>
        </p:spPr>
      </p:sp>
      <p:sp>
        <p:nvSpPr>
          <p:cNvPr id="14" name="Text 12"/>
          <p:cNvSpPr/>
          <p:nvPr/>
        </p:nvSpPr>
        <p:spPr>
          <a:xfrm>
            <a:off x="6583680" y="1188720"/>
            <a:ext cx="2194560" cy="45720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Arctic</a:t>
            </a:r>
            <a:endParaRPr lang="en-US" sz="1150" dirty="0"/>
          </a:p>
        </p:txBody>
      </p:sp>
      <p:sp>
        <p:nvSpPr>
          <p:cNvPr id="15" name="Shape 13"/>
          <p:cNvSpPr/>
          <p:nvPr/>
        </p:nvSpPr>
        <p:spPr>
          <a:xfrm>
            <a:off x="548640" y="1645920"/>
            <a:ext cx="1645920" cy="457200"/>
          </a:xfrm>
          <a:prstGeom prst="rect">
            <a:avLst/>
          </a:prstGeom>
          <a:solidFill>
            <a:srgbClr val="EAF3FB"/>
          </a:solidFill>
          <a:ln w="6350">
            <a:solidFill>
              <a:srgbClr val="E8DDD2"/>
            </a:solidFill>
            <a:prstDash val="solid"/>
          </a:ln>
        </p:spPr>
      </p:sp>
      <p:sp>
        <p:nvSpPr>
          <p:cNvPr id="16" name="Text 14"/>
          <p:cNvSpPr/>
          <p:nvPr/>
        </p:nvSpPr>
        <p:spPr>
          <a:xfrm>
            <a:off x="548640" y="1645920"/>
            <a:ext cx="1645920" cy="457200"/>
          </a:xfrm>
          <a:prstGeom prst="rect">
            <a:avLst/>
          </a:prstGeom>
          <a:noFill/>
          <a:ln/>
        </p:spPr>
        <p:txBody>
          <a:bodyPr wrap="square" rtlCol="0" anchor="ctr"/>
          <a:lstStyle/>
          <a:p>
            <a:pPr algn="ctr" indent="0" marL="0">
              <a:buNone/>
            </a:pPr>
            <a:r>
              <a:rPr lang="en-US" sz="1050" b="1" dirty="0">
                <a:solidFill>
                  <a:srgbClr val="2B1D12"/>
                </a:solidFill>
                <a:latin typeface="Calibri" pitchFamily="34" charset="0"/>
                <a:ea typeface="Calibri" pitchFamily="34" charset="-122"/>
                <a:cs typeface="Calibri" pitchFamily="34" charset="-120"/>
              </a:rPr>
              <a:t>Summer Temp</a:t>
            </a:r>
            <a:endParaRPr lang="en-US" sz="1050" dirty="0"/>
          </a:p>
        </p:txBody>
      </p:sp>
      <p:sp>
        <p:nvSpPr>
          <p:cNvPr id="17" name="Shape 15"/>
          <p:cNvSpPr/>
          <p:nvPr/>
        </p:nvSpPr>
        <p:spPr>
          <a:xfrm>
            <a:off x="2194560" y="1645920"/>
            <a:ext cx="2194560" cy="457200"/>
          </a:xfrm>
          <a:prstGeom prst="rect">
            <a:avLst/>
          </a:prstGeom>
          <a:solidFill>
            <a:srgbClr val="FFFFFF"/>
          </a:solidFill>
          <a:ln w="6350">
            <a:solidFill>
              <a:srgbClr val="E8DDD2"/>
            </a:solidFill>
            <a:prstDash val="solid"/>
          </a:ln>
        </p:spPr>
      </p:sp>
      <p:sp>
        <p:nvSpPr>
          <p:cNvPr id="18" name="Text 16"/>
          <p:cNvSpPr/>
          <p:nvPr/>
        </p:nvSpPr>
        <p:spPr>
          <a:xfrm>
            <a:off x="2194560" y="1645920"/>
            <a:ext cx="21945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75°F</a:t>
            </a:r>
            <a:endParaRPr lang="en-US" sz="1050" dirty="0"/>
          </a:p>
        </p:txBody>
      </p:sp>
      <p:sp>
        <p:nvSpPr>
          <p:cNvPr id="19" name="Shape 17"/>
          <p:cNvSpPr/>
          <p:nvPr/>
        </p:nvSpPr>
        <p:spPr>
          <a:xfrm>
            <a:off x="4389120" y="1645920"/>
            <a:ext cx="2194560" cy="457200"/>
          </a:xfrm>
          <a:prstGeom prst="rect">
            <a:avLst/>
          </a:prstGeom>
          <a:solidFill>
            <a:srgbClr val="FFFFFF"/>
          </a:solidFill>
          <a:ln w="6350">
            <a:solidFill>
              <a:srgbClr val="E8DDD2"/>
            </a:solidFill>
            <a:prstDash val="solid"/>
          </a:ln>
        </p:spPr>
      </p:sp>
      <p:sp>
        <p:nvSpPr>
          <p:cNvPr id="20" name="Text 18"/>
          <p:cNvSpPr/>
          <p:nvPr/>
        </p:nvSpPr>
        <p:spPr>
          <a:xfrm>
            <a:off x="4389120" y="1645920"/>
            <a:ext cx="21945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90°F</a:t>
            </a:r>
            <a:endParaRPr lang="en-US" sz="1050" dirty="0"/>
          </a:p>
        </p:txBody>
      </p:sp>
      <p:sp>
        <p:nvSpPr>
          <p:cNvPr id="21" name="Shape 19"/>
          <p:cNvSpPr/>
          <p:nvPr/>
        </p:nvSpPr>
        <p:spPr>
          <a:xfrm>
            <a:off x="6583680" y="1645920"/>
            <a:ext cx="2194560" cy="457200"/>
          </a:xfrm>
          <a:prstGeom prst="rect">
            <a:avLst/>
          </a:prstGeom>
          <a:solidFill>
            <a:srgbClr val="FFFFFF"/>
          </a:solidFill>
          <a:ln w="6350">
            <a:solidFill>
              <a:srgbClr val="E8DDD2"/>
            </a:solidFill>
            <a:prstDash val="solid"/>
          </a:ln>
        </p:spPr>
      </p:sp>
      <p:sp>
        <p:nvSpPr>
          <p:cNvPr id="22" name="Text 20"/>
          <p:cNvSpPr/>
          <p:nvPr/>
        </p:nvSpPr>
        <p:spPr>
          <a:xfrm>
            <a:off x="6583680" y="1645920"/>
            <a:ext cx="21945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50°F</a:t>
            </a:r>
            <a:endParaRPr lang="en-US" sz="1050" dirty="0"/>
          </a:p>
        </p:txBody>
      </p:sp>
      <p:sp>
        <p:nvSpPr>
          <p:cNvPr id="23" name="Shape 21"/>
          <p:cNvSpPr/>
          <p:nvPr/>
        </p:nvSpPr>
        <p:spPr>
          <a:xfrm>
            <a:off x="548640" y="2103120"/>
            <a:ext cx="1645920" cy="457200"/>
          </a:xfrm>
          <a:prstGeom prst="rect">
            <a:avLst/>
          </a:prstGeom>
          <a:solidFill>
            <a:srgbClr val="EAF3FB"/>
          </a:solidFill>
          <a:ln w="6350">
            <a:solidFill>
              <a:srgbClr val="E8DDD2"/>
            </a:solidFill>
            <a:prstDash val="solid"/>
          </a:ln>
        </p:spPr>
      </p:sp>
      <p:sp>
        <p:nvSpPr>
          <p:cNvPr id="24" name="Text 22"/>
          <p:cNvSpPr/>
          <p:nvPr/>
        </p:nvSpPr>
        <p:spPr>
          <a:xfrm>
            <a:off x="548640" y="2103120"/>
            <a:ext cx="1645920" cy="457200"/>
          </a:xfrm>
          <a:prstGeom prst="rect">
            <a:avLst/>
          </a:prstGeom>
          <a:noFill/>
          <a:ln/>
        </p:spPr>
        <p:txBody>
          <a:bodyPr wrap="square" rtlCol="0" anchor="ctr"/>
          <a:lstStyle/>
          <a:p>
            <a:pPr algn="ctr" indent="0" marL="0">
              <a:buNone/>
            </a:pPr>
            <a:r>
              <a:rPr lang="en-US" sz="1050" b="1" dirty="0">
                <a:solidFill>
                  <a:srgbClr val="2B1D12"/>
                </a:solidFill>
                <a:latin typeface="Calibri" pitchFamily="34" charset="0"/>
                <a:ea typeface="Calibri" pitchFamily="34" charset="-122"/>
                <a:cs typeface="Calibri" pitchFamily="34" charset="-120"/>
              </a:rPr>
              <a:t>Winter Temp</a:t>
            </a:r>
            <a:endParaRPr lang="en-US" sz="1050" dirty="0"/>
          </a:p>
        </p:txBody>
      </p:sp>
      <p:sp>
        <p:nvSpPr>
          <p:cNvPr id="25" name="Shape 23"/>
          <p:cNvSpPr/>
          <p:nvPr/>
        </p:nvSpPr>
        <p:spPr>
          <a:xfrm>
            <a:off x="2194560" y="2103120"/>
            <a:ext cx="2194560" cy="457200"/>
          </a:xfrm>
          <a:prstGeom prst="rect">
            <a:avLst/>
          </a:prstGeom>
          <a:solidFill>
            <a:srgbClr val="EAF3FB"/>
          </a:solidFill>
          <a:ln w="6350">
            <a:solidFill>
              <a:srgbClr val="E8DDD2"/>
            </a:solidFill>
            <a:prstDash val="solid"/>
          </a:ln>
        </p:spPr>
      </p:sp>
      <p:sp>
        <p:nvSpPr>
          <p:cNvPr id="26" name="Text 24"/>
          <p:cNvSpPr/>
          <p:nvPr/>
        </p:nvSpPr>
        <p:spPr>
          <a:xfrm>
            <a:off x="2194560" y="2103120"/>
            <a:ext cx="21945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34°F</a:t>
            </a:r>
            <a:endParaRPr lang="en-US" sz="1050" dirty="0"/>
          </a:p>
        </p:txBody>
      </p:sp>
      <p:sp>
        <p:nvSpPr>
          <p:cNvPr id="27" name="Shape 25"/>
          <p:cNvSpPr/>
          <p:nvPr/>
        </p:nvSpPr>
        <p:spPr>
          <a:xfrm>
            <a:off x="4389120" y="2103120"/>
            <a:ext cx="2194560" cy="457200"/>
          </a:xfrm>
          <a:prstGeom prst="rect">
            <a:avLst/>
          </a:prstGeom>
          <a:solidFill>
            <a:srgbClr val="EAF3FB"/>
          </a:solidFill>
          <a:ln w="6350">
            <a:solidFill>
              <a:srgbClr val="E8DDD2"/>
            </a:solidFill>
            <a:prstDash val="solid"/>
          </a:ln>
        </p:spPr>
      </p:sp>
      <p:sp>
        <p:nvSpPr>
          <p:cNvPr id="28" name="Text 26"/>
          <p:cNvSpPr/>
          <p:nvPr/>
        </p:nvSpPr>
        <p:spPr>
          <a:xfrm>
            <a:off x="4389120" y="2103120"/>
            <a:ext cx="21945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68°F</a:t>
            </a:r>
            <a:endParaRPr lang="en-US" sz="1050" dirty="0"/>
          </a:p>
        </p:txBody>
      </p:sp>
      <p:sp>
        <p:nvSpPr>
          <p:cNvPr id="29" name="Shape 27"/>
          <p:cNvSpPr/>
          <p:nvPr/>
        </p:nvSpPr>
        <p:spPr>
          <a:xfrm>
            <a:off x="6583680" y="2103120"/>
            <a:ext cx="2194560" cy="457200"/>
          </a:xfrm>
          <a:prstGeom prst="rect">
            <a:avLst/>
          </a:prstGeom>
          <a:solidFill>
            <a:srgbClr val="EAF3FB"/>
          </a:solidFill>
          <a:ln w="6350">
            <a:solidFill>
              <a:srgbClr val="E8DDD2"/>
            </a:solidFill>
            <a:prstDash val="solid"/>
          </a:ln>
        </p:spPr>
      </p:sp>
      <p:sp>
        <p:nvSpPr>
          <p:cNvPr id="30" name="Text 28"/>
          <p:cNvSpPr/>
          <p:nvPr/>
        </p:nvSpPr>
        <p:spPr>
          <a:xfrm>
            <a:off x="6583680" y="2103120"/>
            <a:ext cx="21945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−10°F</a:t>
            </a:r>
            <a:endParaRPr lang="en-US" sz="1050" dirty="0"/>
          </a:p>
        </p:txBody>
      </p:sp>
      <p:sp>
        <p:nvSpPr>
          <p:cNvPr id="31" name="Shape 29"/>
          <p:cNvSpPr/>
          <p:nvPr/>
        </p:nvSpPr>
        <p:spPr>
          <a:xfrm>
            <a:off x="548640" y="2560320"/>
            <a:ext cx="1645920" cy="457200"/>
          </a:xfrm>
          <a:prstGeom prst="rect">
            <a:avLst/>
          </a:prstGeom>
          <a:solidFill>
            <a:srgbClr val="EAF3FB"/>
          </a:solidFill>
          <a:ln w="6350">
            <a:solidFill>
              <a:srgbClr val="E8DDD2"/>
            </a:solidFill>
            <a:prstDash val="solid"/>
          </a:ln>
        </p:spPr>
      </p:sp>
      <p:sp>
        <p:nvSpPr>
          <p:cNvPr id="32" name="Text 30"/>
          <p:cNvSpPr/>
          <p:nvPr/>
        </p:nvSpPr>
        <p:spPr>
          <a:xfrm>
            <a:off x="548640" y="2560320"/>
            <a:ext cx="1645920" cy="457200"/>
          </a:xfrm>
          <a:prstGeom prst="rect">
            <a:avLst/>
          </a:prstGeom>
          <a:noFill/>
          <a:ln/>
        </p:spPr>
        <p:txBody>
          <a:bodyPr wrap="square" rtlCol="0" anchor="ctr"/>
          <a:lstStyle/>
          <a:p>
            <a:pPr algn="ctr" indent="0" marL="0">
              <a:buNone/>
            </a:pPr>
            <a:r>
              <a:rPr lang="en-US" sz="1050" b="1" dirty="0">
                <a:solidFill>
                  <a:srgbClr val="2B1D12"/>
                </a:solidFill>
                <a:latin typeface="Calibri" pitchFamily="34" charset="0"/>
                <a:ea typeface="Calibri" pitchFamily="34" charset="-122"/>
                <a:cs typeface="Calibri" pitchFamily="34" charset="-120"/>
              </a:rPr>
              <a:t>Rainfall/yr</a:t>
            </a:r>
            <a:endParaRPr lang="en-US" sz="1050" dirty="0"/>
          </a:p>
        </p:txBody>
      </p:sp>
      <p:sp>
        <p:nvSpPr>
          <p:cNvPr id="33" name="Shape 31"/>
          <p:cNvSpPr/>
          <p:nvPr/>
        </p:nvSpPr>
        <p:spPr>
          <a:xfrm>
            <a:off x="2194560" y="2560320"/>
            <a:ext cx="2194560" cy="457200"/>
          </a:xfrm>
          <a:prstGeom prst="rect">
            <a:avLst/>
          </a:prstGeom>
          <a:solidFill>
            <a:srgbClr val="FFFFFF"/>
          </a:solidFill>
          <a:ln w="6350">
            <a:solidFill>
              <a:srgbClr val="E8DDD2"/>
            </a:solidFill>
            <a:prstDash val="solid"/>
          </a:ln>
        </p:spPr>
      </p:sp>
      <p:sp>
        <p:nvSpPr>
          <p:cNvPr id="34" name="Text 32"/>
          <p:cNvSpPr/>
          <p:nvPr/>
        </p:nvSpPr>
        <p:spPr>
          <a:xfrm>
            <a:off x="2194560" y="2560320"/>
            <a:ext cx="21945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36 in</a:t>
            </a:r>
            <a:endParaRPr lang="en-US" sz="1050" dirty="0"/>
          </a:p>
        </p:txBody>
      </p:sp>
      <p:sp>
        <p:nvSpPr>
          <p:cNvPr id="35" name="Shape 33"/>
          <p:cNvSpPr/>
          <p:nvPr/>
        </p:nvSpPr>
        <p:spPr>
          <a:xfrm>
            <a:off x="4389120" y="2560320"/>
            <a:ext cx="2194560" cy="457200"/>
          </a:xfrm>
          <a:prstGeom prst="rect">
            <a:avLst/>
          </a:prstGeom>
          <a:solidFill>
            <a:srgbClr val="FFFFFF"/>
          </a:solidFill>
          <a:ln w="6350">
            <a:solidFill>
              <a:srgbClr val="E8DDD2"/>
            </a:solidFill>
            <a:prstDash val="solid"/>
          </a:ln>
        </p:spPr>
      </p:sp>
      <p:sp>
        <p:nvSpPr>
          <p:cNvPr id="36" name="Text 34"/>
          <p:cNvSpPr/>
          <p:nvPr/>
        </p:nvSpPr>
        <p:spPr>
          <a:xfrm>
            <a:off x="4389120" y="2560320"/>
            <a:ext cx="21945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60 in</a:t>
            </a:r>
            <a:endParaRPr lang="en-US" sz="1050" dirty="0"/>
          </a:p>
        </p:txBody>
      </p:sp>
      <p:sp>
        <p:nvSpPr>
          <p:cNvPr id="37" name="Shape 35"/>
          <p:cNvSpPr/>
          <p:nvPr/>
        </p:nvSpPr>
        <p:spPr>
          <a:xfrm>
            <a:off x="6583680" y="2560320"/>
            <a:ext cx="2194560" cy="457200"/>
          </a:xfrm>
          <a:prstGeom prst="rect">
            <a:avLst/>
          </a:prstGeom>
          <a:solidFill>
            <a:srgbClr val="FFFFFF"/>
          </a:solidFill>
          <a:ln w="6350">
            <a:solidFill>
              <a:srgbClr val="E8DDD2"/>
            </a:solidFill>
            <a:prstDash val="solid"/>
          </a:ln>
        </p:spPr>
      </p:sp>
      <p:sp>
        <p:nvSpPr>
          <p:cNvPr id="38" name="Text 36"/>
          <p:cNvSpPr/>
          <p:nvPr/>
        </p:nvSpPr>
        <p:spPr>
          <a:xfrm>
            <a:off x="6583680" y="2560320"/>
            <a:ext cx="21945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16 in</a:t>
            </a:r>
            <a:endParaRPr lang="en-US" sz="1050" dirty="0"/>
          </a:p>
        </p:txBody>
      </p:sp>
      <p:sp>
        <p:nvSpPr>
          <p:cNvPr id="39" name="Shape 37"/>
          <p:cNvSpPr/>
          <p:nvPr/>
        </p:nvSpPr>
        <p:spPr>
          <a:xfrm>
            <a:off x="548640" y="3017520"/>
            <a:ext cx="1645920" cy="457200"/>
          </a:xfrm>
          <a:prstGeom prst="rect">
            <a:avLst/>
          </a:prstGeom>
          <a:solidFill>
            <a:srgbClr val="EAF3FB"/>
          </a:solidFill>
          <a:ln w="6350">
            <a:solidFill>
              <a:srgbClr val="E8DDD2"/>
            </a:solidFill>
            <a:prstDash val="solid"/>
          </a:ln>
        </p:spPr>
      </p:sp>
      <p:sp>
        <p:nvSpPr>
          <p:cNvPr id="40" name="Text 38"/>
          <p:cNvSpPr/>
          <p:nvPr/>
        </p:nvSpPr>
        <p:spPr>
          <a:xfrm>
            <a:off x="548640" y="3017520"/>
            <a:ext cx="1645920" cy="457200"/>
          </a:xfrm>
          <a:prstGeom prst="rect">
            <a:avLst/>
          </a:prstGeom>
          <a:noFill/>
          <a:ln/>
        </p:spPr>
        <p:txBody>
          <a:bodyPr wrap="square" rtlCol="0" anchor="ctr"/>
          <a:lstStyle/>
          <a:p>
            <a:pPr algn="ctr" indent="0" marL="0">
              <a:buNone/>
            </a:pPr>
            <a:r>
              <a:rPr lang="en-US" sz="1050" b="1" dirty="0">
                <a:solidFill>
                  <a:srgbClr val="2B1D12"/>
                </a:solidFill>
                <a:latin typeface="Calibri" pitchFamily="34" charset="0"/>
                <a:ea typeface="Calibri" pitchFamily="34" charset="-122"/>
                <a:cs typeface="Calibri" pitchFamily="34" charset="-120"/>
              </a:rPr>
              <a:t>Ecosystem</a:t>
            </a:r>
            <a:endParaRPr lang="en-US" sz="1050" dirty="0"/>
          </a:p>
        </p:txBody>
      </p:sp>
      <p:sp>
        <p:nvSpPr>
          <p:cNvPr id="41" name="Shape 39"/>
          <p:cNvSpPr/>
          <p:nvPr/>
        </p:nvSpPr>
        <p:spPr>
          <a:xfrm>
            <a:off x="2194560" y="3017520"/>
            <a:ext cx="2194560" cy="457200"/>
          </a:xfrm>
          <a:prstGeom prst="rect">
            <a:avLst/>
          </a:prstGeom>
          <a:solidFill>
            <a:srgbClr val="EAF3FB"/>
          </a:solidFill>
          <a:ln w="6350">
            <a:solidFill>
              <a:srgbClr val="E8DDD2"/>
            </a:solidFill>
            <a:prstDash val="solid"/>
          </a:ln>
        </p:spPr>
      </p:sp>
      <p:sp>
        <p:nvSpPr>
          <p:cNvPr id="42" name="Text 40"/>
          <p:cNvSpPr/>
          <p:nvPr/>
        </p:nvSpPr>
        <p:spPr>
          <a:xfrm>
            <a:off x="2194560" y="3017520"/>
            <a:ext cx="21945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Pine forest, granite</a:t>
            </a:r>
            <a:endParaRPr lang="en-US" sz="1050" dirty="0"/>
          </a:p>
        </p:txBody>
      </p:sp>
      <p:sp>
        <p:nvSpPr>
          <p:cNvPr id="43" name="Shape 41"/>
          <p:cNvSpPr/>
          <p:nvPr/>
        </p:nvSpPr>
        <p:spPr>
          <a:xfrm>
            <a:off x="4389120" y="3017520"/>
            <a:ext cx="2194560" cy="457200"/>
          </a:xfrm>
          <a:prstGeom prst="rect">
            <a:avLst/>
          </a:prstGeom>
          <a:solidFill>
            <a:srgbClr val="EAF3FB"/>
          </a:solidFill>
          <a:ln w="6350">
            <a:solidFill>
              <a:srgbClr val="E8DDD2"/>
            </a:solidFill>
            <a:prstDash val="solid"/>
          </a:ln>
        </p:spPr>
      </p:sp>
      <p:sp>
        <p:nvSpPr>
          <p:cNvPr id="44" name="Text 42"/>
          <p:cNvSpPr/>
          <p:nvPr/>
        </p:nvSpPr>
        <p:spPr>
          <a:xfrm>
            <a:off x="4389120" y="3017520"/>
            <a:ext cx="21945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Wetland, sawgrass</a:t>
            </a:r>
            <a:endParaRPr lang="en-US" sz="1050" dirty="0"/>
          </a:p>
        </p:txBody>
      </p:sp>
      <p:sp>
        <p:nvSpPr>
          <p:cNvPr id="45" name="Shape 43"/>
          <p:cNvSpPr/>
          <p:nvPr/>
        </p:nvSpPr>
        <p:spPr>
          <a:xfrm>
            <a:off x="6583680" y="3017520"/>
            <a:ext cx="2194560" cy="457200"/>
          </a:xfrm>
          <a:prstGeom prst="rect">
            <a:avLst/>
          </a:prstGeom>
          <a:solidFill>
            <a:srgbClr val="EAF3FB"/>
          </a:solidFill>
          <a:ln w="6350">
            <a:solidFill>
              <a:srgbClr val="E8DDD2"/>
            </a:solidFill>
            <a:prstDash val="solid"/>
          </a:ln>
        </p:spPr>
      </p:sp>
      <p:sp>
        <p:nvSpPr>
          <p:cNvPr id="46" name="Text 44"/>
          <p:cNvSpPr/>
          <p:nvPr/>
        </p:nvSpPr>
        <p:spPr>
          <a:xfrm>
            <a:off x="6583680" y="3017520"/>
            <a:ext cx="2194560" cy="457200"/>
          </a:xfrm>
          <a:prstGeom prst="rect">
            <a:avLst/>
          </a:prstGeom>
          <a:noFill/>
          <a:ln/>
        </p:spPr>
        <p:txBody>
          <a:bodyPr wrap="square" rtlCol="0" anchor="ctr"/>
          <a:lstStyle/>
          <a:p>
            <a:pPr algn="ctr" indent="0" marL="0">
              <a:buNone/>
            </a:pPr>
            <a:r>
              <a:rPr lang="en-US" sz="1050" dirty="0">
                <a:solidFill>
                  <a:srgbClr val="2B1D12"/>
                </a:solidFill>
                <a:latin typeface="Calibri" pitchFamily="34" charset="0"/>
                <a:ea typeface="Calibri" pitchFamily="34" charset="-122"/>
                <a:cs typeface="Calibri" pitchFamily="34" charset="-120"/>
              </a:rPr>
              <a:t>Tundra, lichen</a:t>
            </a:r>
            <a:endParaRPr lang="en-US" sz="1050" dirty="0"/>
          </a:p>
        </p:txBody>
      </p:sp>
      <p:sp>
        <p:nvSpPr>
          <p:cNvPr id="47" name="Shape 45"/>
          <p:cNvSpPr/>
          <p:nvPr/>
        </p:nvSpPr>
        <p:spPr>
          <a:xfrm>
            <a:off x="320040" y="3611880"/>
            <a:ext cx="8503920" cy="685800"/>
          </a:xfrm>
          <a:prstGeom prst="roundRect">
            <a:avLst>
              <a:gd name="adj" fmla="val 10667"/>
            </a:avLst>
          </a:prstGeom>
          <a:solidFill>
            <a:srgbClr val="FFF9E8"/>
          </a:solidFill>
          <a:ln w="19050">
            <a:solidFill>
              <a:srgbClr val="F9A825"/>
            </a:solidFill>
            <a:prstDash val="solid"/>
          </a:ln>
        </p:spPr>
      </p:sp>
      <p:sp>
        <p:nvSpPr>
          <p:cNvPr id="48" name="Text 46"/>
          <p:cNvSpPr/>
          <p:nvPr/>
        </p:nvSpPr>
        <p:spPr>
          <a:xfrm>
            <a:off x="502920" y="368503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49" name="Text 47"/>
          <p:cNvSpPr/>
          <p:nvPr/>
        </p:nvSpPr>
        <p:spPr>
          <a:xfrm>
            <a:off x="502920" y="3904488"/>
            <a:ext cx="8138160" cy="33832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Scan across each row. Which region is the outlier for rainfall? For winter temperature?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Say It Before We Show It</a:t>
            </a:r>
            <a:endParaRPr lang="en-US" sz="2100" dirty="0"/>
          </a:p>
        </p:txBody>
      </p:sp>
      <p:sp>
        <p:nvSpPr>
          <p:cNvPr id="7" name="Shape 5"/>
          <p:cNvSpPr/>
          <p:nvPr/>
        </p:nvSpPr>
        <p:spPr>
          <a:xfrm>
            <a:off x="320040" y="1280160"/>
            <a:ext cx="8503920" cy="1417320"/>
          </a:xfrm>
          <a:prstGeom prst="roundRect">
            <a:avLst>
              <a:gd name="adj" fmla="val 5161"/>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a:t>
            </a:r>
            <a:endParaRPr lang="en-US" sz="1100" dirty="0"/>
          </a:p>
        </p:txBody>
      </p:sp>
      <p:sp>
        <p:nvSpPr>
          <p:cNvPr id="9" name="Text 7"/>
          <p:cNvSpPr/>
          <p:nvPr/>
        </p:nvSpPr>
        <p:spPr>
          <a:xfrm>
            <a:off x="502920" y="1572768"/>
            <a:ext cx="8138160" cy="106984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Climate describes the typical weather of a region over many years. Different regions have different climates — and those differences shape every living thing in that place. Scientists use data to find patterns and compare climates.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AMAZING NATURE FACT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60 Inches vs. Less Than a Quarter of That</a:t>
            </a:r>
            <a:endParaRPr lang="en-US" sz="2100" dirty="0"/>
          </a:p>
        </p:txBody>
      </p:sp>
      <p:sp>
        <p:nvSpPr>
          <p:cNvPr id="7" name="Text 5"/>
          <p:cNvSpPr/>
          <p:nvPr/>
        </p:nvSpPr>
        <p:spPr>
          <a:xfrm>
            <a:off x="457200" y="1143000"/>
            <a:ext cx="8229600" cy="118872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The Everglades receives about 60 inches of rain every year — roughly the height of a 10-year-old child, stacked in water. The Arctic gets less than a quarter of that. Same planet, wildly different worlds.</a:t>
            </a:r>
            <a:endParaRPr lang="en-US" sz="1450" dirty="0"/>
          </a:p>
        </p:txBody>
      </p:sp>
      <p:sp>
        <p:nvSpPr>
          <p:cNvPr id="8" name="Shape 6"/>
          <p:cNvSpPr/>
          <p:nvPr/>
        </p:nvSpPr>
        <p:spPr>
          <a:xfrm>
            <a:off x="320040" y="260604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67919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93522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If you stacked 60 inches of water next to yourself, where would it reach? What does that tell you about how wet the Everglades really is?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 20 MIN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Compare Park Climates</a:t>
            </a:r>
            <a:endParaRPr lang="en-US" sz="2100" dirty="0"/>
          </a:p>
        </p:txBody>
      </p:sp>
      <p:sp>
        <p:nvSpPr>
          <p:cNvPr id="7" name="Text 5"/>
          <p:cNvSpPr/>
          <p:nvPr/>
        </p:nvSpPr>
        <p:spPr>
          <a:xfrm>
            <a:off x="365760" y="1051560"/>
            <a:ext cx="8412480" cy="365760"/>
          </a:xfrm>
          <a:prstGeom prst="rect">
            <a:avLst/>
          </a:prstGeom>
          <a:noFill/>
          <a:ln/>
        </p:spPr>
        <p:txBody>
          <a:bodyPr wrap="square" rtlCol="0" anchor="ctr"/>
          <a:lstStyle/>
          <a:p>
            <a:pPr indent="0" marL="0">
              <a:buNone/>
            </a:pPr>
            <a:r>
              <a:rPr lang="en-US" sz="1250" i="1" dirty="0">
                <a:solidFill>
                  <a:srgbClr val="5A4D3E"/>
                </a:solidFill>
                <a:latin typeface="Calibri" pitchFamily="34" charset="0"/>
                <a:ea typeface="Calibri" pitchFamily="34" charset="-122"/>
                <a:cs typeface="Calibri" pitchFamily="34" charset="-120"/>
              </a:rPr>
              <a:t>Use the climate data reference table from a few slides ago to fill in your chart.</a:t>
            </a:r>
            <a:endParaRPr lang="en-US" sz="1250" dirty="0"/>
          </a:p>
        </p:txBody>
      </p:sp>
      <p:sp>
        <p:nvSpPr>
          <p:cNvPr id="8" name="Shape 6"/>
          <p:cNvSpPr/>
          <p:nvPr/>
        </p:nvSpPr>
        <p:spPr>
          <a:xfrm>
            <a:off x="457200" y="1554480"/>
            <a:ext cx="457200" cy="457200"/>
          </a:xfrm>
          <a:prstGeom prst="ellipse">
            <a:avLst/>
          </a:prstGeom>
          <a:solidFill>
            <a:srgbClr val="E65100"/>
          </a:solidFill>
          <a:ln/>
        </p:spPr>
      </p:sp>
      <p:sp>
        <p:nvSpPr>
          <p:cNvPr id="9" name="Text 7"/>
          <p:cNvSpPr/>
          <p:nvPr/>
        </p:nvSpPr>
        <p:spPr>
          <a:xfrm>
            <a:off x="457200" y="155448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097280" y="1508760"/>
            <a:ext cx="7589520" cy="868680"/>
          </a:xfrm>
          <a:prstGeom prst="rect">
            <a:avLst/>
          </a:prstGeom>
          <a:noFill/>
          <a:ln/>
        </p:spPr>
        <p:txBody>
          <a:bodyPr wrap="square" rtlCol="0" anchor="t"/>
          <a:lstStyle/>
          <a:p>
            <a:pPr indent="0" marL="0">
              <a:lnSpc>
                <a:spcPts val="1600"/>
              </a:lnSpc>
              <a:buNone/>
            </a:pPr>
            <a:r>
              <a:rPr lang="en-US" sz="1250" b="1" dirty="0">
                <a:solidFill>
                  <a:srgbClr val="2B1D12"/>
                </a:solidFill>
                <a:latin typeface="Calibri" pitchFamily="34" charset="0"/>
                <a:ea typeface="Calibri" pitchFamily="34" charset="-122"/>
                <a:cs typeface="Calibri" pitchFamily="34" charset="-120"/>
              </a:rPr>
              <a:t>Set up your chart.  </a:t>
            </a:r>
            <a:pPr indent="0" marL="0">
              <a:lnSpc>
                <a:spcPts val="1600"/>
              </a:lnSpc>
              <a:buNone/>
            </a:pPr>
            <a:r>
              <a:rPr lang="en-US" sz="1250" dirty="0">
                <a:solidFill>
                  <a:srgbClr val="5A4D3E"/>
                </a:solidFill>
                <a:latin typeface="Calibri" pitchFamily="34" charset="0"/>
                <a:ea typeface="Calibri" pitchFamily="34" charset="-122"/>
                <a:cs typeface="Calibri" pitchFamily="34" charset="-120"/>
              </a:rPr>
              <a:t>Three columns: Yosemite, Everglades, Arctic. Rows for: summer temp, winter temp, annual rainfall, one plant or animal.</a:t>
            </a:r>
            <a:endParaRPr lang="en-US" sz="1250" dirty="0"/>
          </a:p>
        </p:txBody>
      </p:sp>
      <p:sp>
        <p:nvSpPr>
          <p:cNvPr id="11" name="Shape 9"/>
          <p:cNvSpPr/>
          <p:nvPr/>
        </p:nvSpPr>
        <p:spPr>
          <a:xfrm>
            <a:off x="457200" y="2514600"/>
            <a:ext cx="457200" cy="457200"/>
          </a:xfrm>
          <a:prstGeom prst="ellipse">
            <a:avLst/>
          </a:prstGeom>
          <a:solidFill>
            <a:srgbClr val="E65100"/>
          </a:solidFill>
          <a:ln/>
        </p:spPr>
      </p:sp>
      <p:sp>
        <p:nvSpPr>
          <p:cNvPr id="12" name="Text 10"/>
          <p:cNvSpPr/>
          <p:nvPr/>
        </p:nvSpPr>
        <p:spPr>
          <a:xfrm>
            <a:off x="457200" y="251460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097280" y="2468880"/>
            <a:ext cx="7589520" cy="868680"/>
          </a:xfrm>
          <a:prstGeom prst="rect">
            <a:avLst/>
          </a:prstGeom>
          <a:noFill/>
          <a:ln/>
        </p:spPr>
        <p:txBody>
          <a:bodyPr wrap="square" rtlCol="0" anchor="t"/>
          <a:lstStyle/>
          <a:p>
            <a:pPr indent="0" marL="0">
              <a:lnSpc>
                <a:spcPts val="1600"/>
              </a:lnSpc>
              <a:buNone/>
            </a:pPr>
            <a:r>
              <a:rPr lang="en-US" sz="1250" b="1" dirty="0">
                <a:solidFill>
                  <a:srgbClr val="2B1D12"/>
                </a:solidFill>
                <a:latin typeface="Calibri" pitchFamily="34" charset="0"/>
                <a:ea typeface="Calibri" pitchFamily="34" charset="-122"/>
                <a:cs typeface="Calibri" pitchFamily="34" charset="-120"/>
              </a:rPr>
              <a:t>Fill in the data.  </a:t>
            </a:r>
            <a:pPr indent="0" marL="0">
              <a:lnSpc>
                <a:spcPts val="1600"/>
              </a:lnSpc>
              <a:buNone/>
            </a:pPr>
            <a:r>
              <a:rPr lang="en-US" sz="1250" dirty="0">
                <a:solidFill>
                  <a:srgbClr val="5A4D3E"/>
                </a:solidFill>
                <a:latin typeface="Calibri" pitchFamily="34" charset="0"/>
                <a:ea typeface="Calibri" pitchFamily="34" charset="-122"/>
                <a:cs typeface="Calibri" pitchFamily="34" charset="-120"/>
              </a:rPr>
              <a:t>Use the reference table for the numbers. For plants and animals, use the Lesson tab or think of your own that fits.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STEP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Make a Bar Graph</a:t>
            </a:r>
            <a:endParaRPr lang="en-US" sz="2100" dirty="0"/>
          </a:p>
        </p:txBody>
      </p:sp>
      <p:sp>
        <p:nvSpPr>
          <p:cNvPr id="7" name="Text 5"/>
          <p:cNvSpPr/>
          <p:nvPr/>
        </p:nvSpPr>
        <p:spPr>
          <a:xfrm>
            <a:off x="320040" y="1097280"/>
            <a:ext cx="8503920" cy="91440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Choose one type of data — rainfall or summer temperature. Draw a bar graph with three bars, one per region. Label each bar, write a title, add numbers on the side, and color each bar differently.</a:t>
            </a:r>
            <a:endParaRPr lang="en-US" sz="1250" dirty="0"/>
          </a:p>
        </p:txBody>
      </p:sp>
      <p:sp>
        <p:nvSpPr>
          <p:cNvPr id="8" name="Shape 6"/>
          <p:cNvSpPr/>
          <p:nvPr/>
        </p:nvSpPr>
        <p:spPr>
          <a:xfrm>
            <a:off x="457200" y="2103120"/>
            <a:ext cx="8229600" cy="1828800"/>
          </a:xfrm>
          <a:prstGeom prst="roundRect">
            <a:avLst>
              <a:gd name="adj" fmla="val 4000"/>
            </a:avLst>
          </a:prstGeom>
          <a:solidFill>
            <a:srgbClr val="FFF3E0"/>
          </a:solidFill>
          <a:ln w="25400">
            <a:solidFill>
              <a:srgbClr val="F9A825"/>
            </a:solidFill>
            <a:prstDash val="dash"/>
          </a:ln>
        </p:spPr>
      </p:sp>
      <p:sp>
        <p:nvSpPr>
          <p:cNvPr id="9" name="Text 7"/>
          <p:cNvSpPr/>
          <p:nvPr/>
        </p:nvSpPr>
        <p:spPr>
          <a:xfrm>
            <a:off x="640080" y="219456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2468880"/>
            <a:ext cx="7863840" cy="111556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photograph looking down at an open science notebook on a wooden desk showing a hand-drawn bar graph with three bars of clearly different heights — one green, one orange, one blue — labeled along the bottom. Handwritten title at top, numbers up the left side. A child's hand holding a colored pencil nearby, no face visible. Colored pencils and eraser scattered beside the notebook. Warm natural indoor lighting, real classroom setting, no borders, no text overlays.</a:t>
            </a:r>
            <a:endParaRPr lang="en-US" sz="1100" dirty="0"/>
          </a:p>
        </p:txBody>
      </p:sp>
      <p:sp>
        <p:nvSpPr>
          <p:cNvPr id="11" name="Text 9"/>
          <p:cNvSpPr/>
          <p:nvPr/>
        </p:nvSpPr>
        <p:spPr>
          <a:xfrm>
            <a:off x="640080" y="363931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images/3-02-notebook-bar-graph.png</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STEPS 4-5</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Map It, Then Find the Pattern</a:t>
            </a:r>
            <a:endParaRPr lang="en-US" sz="2100" dirty="0"/>
          </a:p>
        </p:txBody>
      </p:sp>
      <p:sp>
        <p:nvSpPr>
          <p:cNvPr id="7" name="Text 5"/>
          <p:cNvSpPr/>
          <p:nvPr/>
        </p:nvSpPr>
        <p:spPr>
          <a:xfrm>
            <a:off x="320040" y="1097280"/>
            <a:ext cx="8503920" cy="777240"/>
          </a:xfrm>
          <a:prstGeom prst="rect">
            <a:avLst/>
          </a:prstGeom>
          <a:noFill/>
          <a:ln/>
        </p:spPr>
        <p:txBody>
          <a:bodyPr wrap="square" rtlCol="0" anchor="t"/>
          <a:lstStyle/>
          <a:p>
            <a:pPr indent="0" marL="0">
              <a:lnSpc>
                <a:spcPts val="2000"/>
              </a:lnSpc>
              <a:buNone/>
            </a:pPr>
            <a:r>
              <a:rPr lang="en-US" sz="1200" dirty="0">
                <a:solidFill>
                  <a:srgbClr val="2B1D12"/>
                </a:solidFill>
                <a:latin typeface="Calibri" pitchFamily="34" charset="0"/>
                <a:ea typeface="Calibri" pitchFamily="34" charset="-122"/>
                <a:cs typeface="Calibri" pitchFamily="34" charset="-120"/>
              </a:rPr>
              <a:t>Sketch a climate map: draw a simple outline of North America and mark where each region is located — California, Florida, and northern Alaska. You don't need it exact, just in the right general area.</a:t>
            </a:r>
            <a:endParaRPr lang="en-US" sz="1200" dirty="0"/>
          </a:p>
        </p:txBody>
      </p:sp>
      <p:sp>
        <p:nvSpPr>
          <p:cNvPr id="8" name="Shape 6"/>
          <p:cNvSpPr/>
          <p:nvPr/>
        </p:nvSpPr>
        <p:spPr>
          <a:xfrm>
            <a:off x="320040" y="196596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03911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29514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Write one pattern you notice — look at your completed chart and graph. What stands out about how the three regions are different?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SCIENTIST SKILL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Gathering Evidence from Multiple Sources</a:t>
            </a:r>
            <a:endParaRPr lang="en-US" sz="2100" dirty="0"/>
          </a:p>
        </p:txBody>
      </p:sp>
      <p:sp>
        <p:nvSpPr>
          <p:cNvPr id="7" name="Text 5"/>
          <p:cNvSpPr/>
          <p:nvPr/>
        </p:nvSpPr>
        <p:spPr>
          <a:xfrm>
            <a:off x="320040" y="1143000"/>
            <a:ext cx="8503920" cy="118872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Scientists don't rely on just one source of information. Today you gathered climate evidence from the data table, the lesson text, and your own observations. Combining information from different sources builds a stronger, more complete picture — that's exactly what real climatologists do.</a:t>
            </a:r>
            <a:endParaRPr lang="en-US" sz="1300" dirty="0"/>
          </a:p>
        </p:txBody>
      </p:sp>
      <p:sp>
        <p:nvSpPr>
          <p:cNvPr id="8" name="Shape 6"/>
          <p:cNvSpPr/>
          <p:nvPr/>
        </p:nvSpPr>
        <p:spPr>
          <a:xfrm>
            <a:off x="320040" y="2423160"/>
            <a:ext cx="8503920" cy="777240"/>
          </a:xfrm>
          <a:prstGeom prst="roundRect">
            <a:avLst>
              <a:gd name="adj" fmla="val 9412"/>
            </a:avLst>
          </a:prstGeom>
          <a:solidFill>
            <a:srgbClr val="FFF3E0"/>
          </a:solidFill>
          <a:ln w="19050">
            <a:solidFill>
              <a:srgbClr val="F57C00"/>
            </a:solidFill>
            <a:prstDash val="solid"/>
          </a:ln>
        </p:spPr>
      </p:sp>
      <p:sp>
        <p:nvSpPr>
          <p:cNvPr id="9" name="Text 7"/>
          <p:cNvSpPr/>
          <p:nvPr/>
        </p:nvSpPr>
        <p:spPr>
          <a:xfrm>
            <a:off x="502920" y="247802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0" name="Text 8"/>
          <p:cNvSpPr/>
          <p:nvPr/>
        </p:nvSpPr>
        <p:spPr>
          <a:xfrm>
            <a:off x="502920" y="2642616"/>
            <a:ext cx="8138160" cy="52120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Write in your notebook: "My evidence came from: (1) the climate data table, (2) the lesson text about each region, and (3) my bar graph."</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Record Your Thinking</a:t>
            </a:r>
            <a:endParaRPr lang="en-US" sz="2100" dirty="0"/>
          </a:p>
        </p:txBody>
      </p:sp>
      <p:sp>
        <p:nvSpPr>
          <p:cNvPr id="7" name="Shape 5"/>
          <p:cNvSpPr/>
          <p:nvPr/>
        </p:nvSpPr>
        <p:spPr>
          <a:xfrm>
            <a:off x="320040" y="1143000"/>
            <a:ext cx="8503920" cy="1648968"/>
          </a:xfrm>
          <a:prstGeom prst="roundRect">
            <a:avLst>
              <a:gd name="adj" fmla="val 4436"/>
            </a:avLst>
          </a:prstGeom>
          <a:solidFill>
            <a:srgbClr val="EEF8F0"/>
          </a:solidFill>
          <a:ln w="19050">
            <a:solidFill>
              <a:srgbClr val="52B788"/>
            </a:solidFill>
            <a:prstDash val="solid"/>
          </a:ln>
        </p:spPr>
      </p:sp>
      <p:sp>
        <p:nvSpPr>
          <p:cNvPr id="8" name="Text 6"/>
          <p:cNvSpPr/>
          <p:nvPr/>
        </p:nvSpPr>
        <p:spPr>
          <a:xfrm>
            <a:off x="502920" y="12161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72184"/>
            <a:ext cx="8138160" cy="1264920"/>
          </a:xfrm>
          <a:prstGeom prst="rect">
            <a:avLst/>
          </a:prstGeom>
          <a:noFill/>
          <a:ln/>
        </p:spPr>
        <p:txBody>
          <a:bodyPr wrap="square" rtlCol="0" anchor="t"/>
          <a:lstStyle/>
          <a:p>
            <a:pPr marL="342900" indent="-342900">
              <a:lnSpc>
                <a:spcPts val="1860"/>
              </a:lnSpc>
              <a:buSzPct val="100000"/>
              <a:buChar char="●"/>
            </a:pPr>
            <a:r>
              <a:rPr lang="en-US" sz="1200" dirty="0">
                <a:solidFill>
                  <a:srgbClr val="1B4332"/>
                </a:solidFill>
                <a:latin typeface="Calibri" pitchFamily="34" charset="0"/>
                <a:ea typeface="Calibri" pitchFamily="34" charset="-122"/>
                <a:cs typeface="Calibri" pitchFamily="34" charset="-120"/>
              </a:rPr>
              <a:t>Which region in your graph has the highest bar? What does that tell you about its climate?</a:t>
            </a:r>
            <a:endParaRPr lang="en-US" sz="1200" dirty="0"/>
          </a:p>
          <a:p>
            <a:pPr marL="342900" indent="-342900">
              <a:lnSpc>
                <a:spcPts val="1860"/>
              </a:lnSpc>
              <a:buSzPct val="100000"/>
              <a:buChar char="●"/>
            </a:pPr>
            <a:r>
              <a:rPr lang="en-US" sz="1200" dirty="0">
                <a:solidFill>
                  <a:srgbClr val="1B4332"/>
                </a:solidFill>
                <a:latin typeface="Calibri" pitchFamily="34" charset="0"/>
                <a:ea typeface="Calibri" pitchFamily="34" charset="-122"/>
                <a:cs typeface="Calibri" pitchFamily="34" charset="-120"/>
              </a:rPr>
              <a:t>Which region surprised you most? Describe one thing about it you didn't expect.</a:t>
            </a:r>
            <a:endParaRPr lang="en-US" sz="1200" dirty="0"/>
          </a:p>
          <a:p>
            <a:pPr marL="342900" indent="-342900">
              <a:lnSpc>
                <a:spcPts val="1860"/>
              </a:lnSpc>
              <a:buSzPct val="100000"/>
              <a:buChar char="●"/>
            </a:pPr>
            <a:r>
              <a:rPr lang="en-US" sz="1200" dirty="0">
                <a:solidFill>
                  <a:srgbClr val="1B4332"/>
                </a:solidFill>
                <a:latin typeface="Calibri" pitchFamily="34" charset="0"/>
                <a:ea typeface="Calibri" pitchFamily="34" charset="-122"/>
                <a:cs typeface="Calibri" pitchFamily="34" charset="-120"/>
              </a:rPr>
              <a:t>Tell the story of your investigation — what you set up, what the data showed, and the most interesting thing you found.</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It Through</a:t>
            </a:r>
            <a:endParaRPr lang="en-US" sz="2100" dirty="0"/>
          </a:p>
        </p:txBody>
      </p:sp>
      <p:sp>
        <p:nvSpPr>
          <p:cNvPr id="7" name="Shape 5"/>
          <p:cNvSpPr/>
          <p:nvPr/>
        </p:nvSpPr>
        <p:spPr>
          <a:xfrm>
            <a:off x="320040" y="1143000"/>
            <a:ext cx="8503920" cy="1999107"/>
          </a:xfrm>
          <a:prstGeom prst="roundRect">
            <a:avLst>
              <a:gd name="adj" fmla="val 3659"/>
            </a:avLst>
          </a:prstGeom>
          <a:solidFill>
            <a:srgbClr val="EEF8F0"/>
          </a:solidFill>
          <a:ln w="19050">
            <a:solidFill>
              <a:srgbClr val="52B788"/>
            </a:solidFill>
            <a:prstDash val="solid"/>
          </a:ln>
        </p:spPr>
      </p:sp>
      <p:sp>
        <p:nvSpPr>
          <p:cNvPr id="8" name="Text 6"/>
          <p:cNvSpPr/>
          <p:nvPr/>
        </p:nvSpPr>
        <p:spPr>
          <a:xfrm>
            <a:off x="502920" y="12161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72184"/>
            <a:ext cx="8138160" cy="1615059"/>
          </a:xfrm>
          <a:prstGeom prst="rect">
            <a:avLst/>
          </a:prstGeom>
          <a:noFill/>
          <a:ln/>
        </p:spPr>
        <p:txBody>
          <a:bodyPr wrap="square" rtlCol="0" anchor="t"/>
          <a:lstStyle/>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Why do you think the Everglades has so many more plant species than the Arctic? Look at the rainfall data.</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Use your evidence — point to something specific in your data that supports your answer.</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A scientist finds fossils of tropical plants in an area that's now Arctic tundra. What might the climate there have been like long ago? What changed?</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If a region's climate slowly changed over many years — warmer or drier — what might happen to the plants and animals living there?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the difference between weather and climate?</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What is the difference between weather and climate?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Weather lasts for years; climate changes every day.</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Weather is what's happening outside now; climate is the typical pattern over many years.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Weather and climate are the same thing.</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it this way: one rainy day is weather. A place that gets 60 inches of rain every year — that's climate.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the difference between weather and climate?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Weather is today's conditions. Climate is the long-term pattern of what a place is usually like.</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Which region gets the most rainfall each year?</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Based on the data, which region gets the most rainfall each year?</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Yosemite (~36 inches)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Arctic (~16 inches)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Everglades (~60 inches)</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Check your chart or the data table — look at the rainfall row and find the biggest number.</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Which region gets the most rainfall each year?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 — The Everglades gets about 60 inches of rain per year, the most of the three regions.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Which region would a warm, rain-loving bird thrive in?</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bird needs warm temperatures and lots of rain to survive. Which region would it most likely thrive in?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The Everglades — warm year-round and very rainy</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The Arctic — cold and dry most of the year</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Yosemite — snowy winters and mild summers</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Look at the bird's two needs — warm temperatures and lots of rain. Which region from your chart matches both?</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Which region would a warm, rain-loving bird thrive in?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A — The Everglades matches exactly what that bird needs: warm temperatures all year and lots of rainfall. That's how climate shapes where living things can survive.</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Identify the Region</a:t>
            </a:r>
            <a:endParaRPr lang="en-US" sz="2100" dirty="0"/>
          </a:p>
        </p:txBody>
      </p:sp>
      <p:sp>
        <p:nvSpPr>
          <p:cNvPr id="7" name="Text 5"/>
          <p:cNvSpPr/>
          <p:nvPr/>
        </p:nvSpPr>
        <p:spPr>
          <a:xfrm>
            <a:off x="457200" y="1097280"/>
            <a:ext cx="8229600" cy="2377440"/>
          </a:xfrm>
          <a:prstGeom prst="rect">
            <a:avLst/>
          </a:prstGeom>
          <a:noFill/>
          <a:ln/>
        </p:spPr>
        <p:txBody>
          <a:bodyPr wrap="square" rtlCol="0" anchor="t"/>
          <a:lstStyle/>
          <a:p>
            <a:pPr indent="0" marL="0">
              <a:lnSpc>
                <a:spcPts val="2600"/>
              </a:lnSpc>
              <a:buNone/>
            </a:pPr>
            <a:r>
              <a:rPr lang="en-US" sz="1300" dirty="0">
                <a:solidFill>
                  <a:srgbClr val="2B1D12"/>
                </a:solidFill>
                <a:latin typeface="Calibri" pitchFamily="34" charset="0"/>
                <a:ea typeface="Calibri" pitchFamily="34" charset="-122"/>
                <a:cs typeface="Calibri" pitchFamily="34" charset="-120"/>
              </a:rPr>
              <a:t>1. This region gets snow in winter and is home to pine forests and rocky mountains.</a:t>
            </a:r>
            <a:endParaRPr lang="en-US" sz="1300" dirty="0"/>
          </a:p>
          <a:p>
            <a:pPr indent="0" marL="0">
              <a:lnSpc>
                <a:spcPts val="2600"/>
              </a:lnSpc>
              <a:buNone/>
            </a:pPr>
            <a:r>
              <a:rPr lang="en-US" sz="1300" dirty="0">
                <a:solidFill>
                  <a:srgbClr val="2B1D12"/>
                </a:solidFill>
                <a:latin typeface="Calibri" pitchFamily="34" charset="0"/>
                <a:ea typeface="Calibri" pitchFamily="34" charset="-122"/>
                <a:cs typeface="Calibri" pitchFamily="34" charset="-120"/>
              </a:rPr>
              <a:t>2. This region stays warm all year, gets about 60 inches of rain, and is full of wetland grasses and wading birds.</a:t>
            </a:r>
            <a:endParaRPr lang="en-US" sz="1300" dirty="0"/>
          </a:p>
          <a:p>
            <a:pPr indent="0" marL="0">
              <a:lnSpc>
                <a:spcPts val="2600"/>
              </a:lnSpc>
              <a:buNone/>
            </a:pPr>
            <a:r>
              <a:rPr lang="en-US" sz="1300" dirty="0">
                <a:solidFill>
                  <a:srgbClr val="2B1D12"/>
                </a:solidFill>
                <a:latin typeface="Calibri" pitchFamily="34" charset="0"/>
                <a:ea typeface="Calibri" pitchFamily="34" charset="-122"/>
                <a:cs typeface="Calibri" pitchFamily="34" charset="-120"/>
              </a:rPr>
              <a:t>3. This region is the coldest of the three, receives the least rainfall, and has the fewest types of living things.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Short Answer</a:t>
            </a:r>
            <a:endParaRPr lang="en-US" sz="2100" dirty="0"/>
          </a:p>
        </p:txBody>
      </p:sp>
      <p:sp>
        <p:nvSpPr>
          <p:cNvPr id="7" name="Text 5"/>
          <p:cNvSpPr/>
          <p:nvPr/>
        </p:nvSpPr>
        <p:spPr>
          <a:xfrm>
            <a:off x="457200" y="1097280"/>
            <a:ext cx="8229600" cy="2651760"/>
          </a:xfrm>
          <a:prstGeom prst="rect">
            <a:avLst/>
          </a:prstGeom>
          <a:noFill/>
          <a:ln/>
        </p:spPr>
        <p:txBody>
          <a:bodyPr wrap="square" rtlCol="0" anchor="t"/>
          <a:lstStyle/>
          <a:p>
            <a:pPr indent="0" marL="0">
              <a:lnSpc>
                <a:spcPts val="2600"/>
              </a:lnSpc>
              <a:buNone/>
            </a:pPr>
            <a:r>
              <a:rPr lang="en-US" sz="1300" dirty="0">
                <a:solidFill>
                  <a:srgbClr val="2B1D12"/>
                </a:solidFill>
                <a:latin typeface="Calibri" pitchFamily="34" charset="0"/>
                <a:ea typeface="Calibri" pitchFamily="34" charset="-122"/>
                <a:cs typeface="Calibri" pitchFamily="34" charset="-120"/>
              </a:rPr>
              <a:t>4. What is the difference between weather and climate? Give one example of each.</a:t>
            </a:r>
            <a:endParaRPr lang="en-US" sz="1300" dirty="0"/>
          </a:p>
          <a:p>
            <a:pPr indent="0" marL="0">
              <a:lnSpc>
                <a:spcPts val="2600"/>
              </a:lnSpc>
              <a:buNone/>
            </a:pPr>
            <a:r>
              <a:rPr lang="en-US" sz="1300" dirty="0">
                <a:solidFill>
                  <a:srgbClr val="2B1D12"/>
                </a:solidFill>
                <a:latin typeface="Calibri" pitchFamily="34" charset="0"/>
                <a:ea typeface="Calibri" pitchFamily="34" charset="-122"/>
                <a:cs typeface="Calibri" pitchFamily="34" charset="-120"/>
              </a:rPr>
              <a:t>5. Why do you think the Everglades has more types of plants and animals than the Arctic? Use data from your chart.</a:t>
            </a:r>
            <a:endParaRPr lang="en-US" sz="1300" dirty="0"/>
          </a:p>
          <a:p>
            <a:pPr indent="0" marL="0">
              <a:lnSpc>
                <a:spcPts val="2600"/>
              </a:lnSpc>
              <a:buNone/>
            </a:pPr>
            <a:r>
              <a:rPr lang="en-US" sz="1300" dirty="0">
                <a:solidFill>
                  <a:srgbClr val="2B1D12"/>
                </a:solidFill>
                <a:latin typeface="Calibri" pitchFamily="34" charset="0"/>
                <a:ea typeface="Calibri" pitchFamily="34" charset="-122"/>
                <a:cs typeface="Calibri" pitchFamily="34" charset="-120"/>
              </a:rPr>
              <a:t>6. Look at your bar graph. Write one pattern you notice. What does that pattern tell you about the three regions?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WRITE &amp; EXPLAIN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Climate and Living Things</a:t>
            </a:r>
            <a:endParaRPr lang="en-US" sz="2100" dirty="0"/>
          </a:p>
        </p:txBody>
      </p:sp>
      <p:sp>
        <p:nvSpPr>
          <p:cNvPr id="7" name="Text 5"/>
          <p:cNvSpPr/>
          <p:nvPr/>
        </p:nvSpPr>
        <p:spPr>
          <a:xfrm>
            <a:off x="365760" y="1051560"/>
            <a:ext cx="8412480" cy="502920"/>
          </a:xfrm>
          <a:prstGeom prst="rect">
            <a:avLst/>
          </a:prstGeom>
          <a:noFill/>
          <a:ln/>
        </p:spPr>
        <p:txBody>
          <a:bodyPr wrap="square" rtlCol="0" anchor="ctr"/>
          <a:lstStyle/>
          <a:p>
            <a:pPr indent="0" marL="0">
              <a:buNone/>
            </a:pPr>
            <a:r>
              <a:rPr lang="en-US" sz="1200" i="1" dirty="0">
                <a:solidFill>
                  <a:srgbClr val="5A4D3E"/>
                </a:solidFill>
                <a:latin typeface="Calibri" pitchFamily="34" charset="0"/>
                <a:ea typeface="Calibri" pitchFamily="34" charset="-122"/>
                <a:cs typeface="Calibri" pitchFamily="34" charset="-120"/>
              </a:rPr>
              <a:t>How does a region's climate affect the kinds of plants and animals that live there? Use evidence from the investigation to explain your thinking.</a:t>
            </a:r>
            <a:endParaRPr lang="en-US" sz="1200" dirty="0"/>
          </a:p>
        </p:txBody>
      </p:sp>
      <p:sp>
        <p:nvSpPr>
          <p:cNvPr id="8" name="Shape 6"/>
          <p:cNvSpPr/>
          <p:nvPr/>
        </p:nvSpPr>
        <p:spPr>
          <a:xfrm>
            <a:off x="365760" y="1600200"/>
            <a:ext cx="8412480" cy="658368"/>
          </a:xfrm>
          <a:prstGeom prst="roundRect">
            <a:avLst>
              <a:gd name="adj" fmla="val 11111"/>
            </a:avLst>
          </a:prstGeom>
          <a:solidFill>
            <a:srgbClr val="FFF3E0"/>
          </a:solidFill>
          <a:ln w="19050">
            <a:solidFill>
              <a:srgbClr val="F57C00"/>
            </a:solidFill>
            <a:prstDash val="solid"/>
          </a:ln>
        </p:spPr>
      </p:sp>
      <p:sp>
        <p:nvSpPr>
          <p:cNvPr id="9" name="Text 7"/>
          <p:cNvSpPr/>
          <p:nvPr/>
        </p:nvSpPr>
        <p:spPr>
          <a:xfrm>
            <a:off x="548640" y="1655064"/>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What do you think?</a:t>
            </a:r>
            <a:endParaRPr lang="en-US" sz="1150" dirty="0"/>
          </a:p>
        </p:txBody>
      </p:sp>
      <p:sp>
        <p:nvSpPr>
          <p:cNvPr id="10" name="Text 8"/>
          <p:cNvSpPr/>
          <p:nvPr/>
        </p:nvSpPr>
        <p:spPr>
          <a:xfrm>
            <a:off x="548640" y="1892808"/>
            <a:ext cx="8046720" cy="329184"/>
          </a:xfrm>
          <a:prstGeom prst="rect">
            <a:avLst/>
          </a:prstGeom>
          <a:noFill/>
          <a:ln/>
        </p:spPr>
        <p:txBody>
          <a:bodyPr wrap="square" rtlCol="0" anchor="ctr"/>
          <a:lstStyle/>
          <a:p>
            <a:pPr indent="0" marL="0">
              <a:buNone/>
            </a:pPr>
            <a:r>
              <a:rPr lang="en-US" sz="1150" i="1" dirty="0">
                <a:solidFill>
                  <a:srgbClr val="2B1D12"/>
                </a:solidFill>
                <a:latin typeface="Calibri" pitchFamily="34" charset="0"/>
                <a:ea typeface="Calibri" pitchFamily="34" charset="-122"/>
                <a:cs typeface="Calibri" pitchFamily="34" charset="-120"/>
              </a:rPr>
              <a:t>"I think that climate affects living things because…"</a:t>
            </a:r>
            <a:endParaRPr lang="en-US" sz="1150" dirty="0"/>
          </a:p>
        </p:txBody>
      </p:sp>
      <p:sp>
        <p:nvSpPr>
          <p:cNvPr id="11" name="Shape 9"/>
          <p:cNvSpPr/>
          <p:nvPr/>
        </p:nvSpPr>
        <p:spPr>
          <a:xfrm>
            <a:off x="365760" y="2350008"/>
            <a:ext cx="8412480" cy="658368"/>
          </a:xfrm>
          <a:prstGeom prst="roundRect">
            <a:avLst>
              <a:gd name="adj" fmla="val 11111"/>
            </a:avLst>
          </a:prstGeom>
          <a:solidFill>
            <a:srgbClr val="FFF3E0"/>
          </a:solidFill>
          <a:ln w="19050">
            <a:solidFill>
              <a:srgbClr val="F57C00"/>
            </a:solidFill>
            <a:prstDash val="solid"/>
          </a:ln>
        </p:spPr>
      </p:sp>
      <p:sp>
        <p:nvSpPr>
          <p:cNvPr id="12" name="Text 10"/>
          <p:cNvSpPr/>
          <p:nvPr/>
        </p:nvSpPr>
        <p:spPr>
          <a:xfrm>
            <a:off x="548640" y="2404872"/>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What did you observe that supports your thinking?</a:t>
            </a:r>
            <a:endParaRPr lang="en-US" sz="1150" dirty="0"/>
          </a:p>
        </p:txBody>
      </p:sp>
      <p:sp>
        <p:nvSpPr>
          <p:cNvPr id="13" name="Text 11"/>
          <p:cNvSpPr/>
          <p:nvPr/>
        </p:nvSpPr>
        <p:spPr>
          <a:xfrm>
            <a:off x="548640" y="2642616"/>
            <a:ext cx="8046720" cy="329184"/>
          </a:xfrm>
          <a:prstGeom prst="rect">
            <a:avLst/>
          </a:prstGeom>
          <a:noFill/>
          <a:ln/>
        </p:spPr>
        <p:txBody>
          <a:bodyPr wrap="square" rtlCol="0" anchor="ctr"/>
          <a:lstStyle/>
          <a:p>
            <a:pPr indent="0" marL="0">
              <a:buNone/>
            </a:pPr>
            <a:r>
              <a:rPr lang="en-US" sz="1150" i="1" dirty="0">
                <a:solidFill>
                  <a:srgbClr val="2B1D12"/>
                </a:solidFill>
                <a:latin typeface="Calibri" pitchFamily="34" charset="0"/>
                <a:ea typeface="Calibri" pitchFamily="34" charset="-122"/>
                <a:cs typeface="Calibri" pitchFamily="34" charset="-120"/>
              </a:rPr>
              <a:t>"I know this because when I looked at the data, I noticed that…"</a:t>
            </a:r>
            <a:endParaRPr lang="en-US" sz="1150" dirty="0"/>
          </a:p>
        </p:txBody>
      </p:sp>
      <p:sp>
        <p:nvSpPr>
          <p:cNvPr id="14" name="Shape 12"/>
          <p:cNvSpPr/>
          <p:nvPr/>
        </p:nvSpPr>
        <p:spPr>
          <a:xfrm>
            <a:off x="365760" y="3099816"/>
            <a:ext cx="8412480" cy="658368"/>
          </a:xfrm>
          <a:prstGeom prst="roundRect">
            <a:avLst>
              <a:gd name="adj" fmla="val 11111"/>
            </a:avLst>
          </a:prstGeom>
          <a:solidFill>
            <a:srgbClr val="FFF3E0"/>
          </a:solidFill>
          <a:ln w="19050">
            <a:solidFill>
              <a:srgbClr val="F57C00"/>
            </a:solidFill>
            <a:prstDash val="solid"/>
          </a:ln>
        </p:spPr>
      </p:sp>
      <p:sp>
        <p:nvSpPr>
          <p:cNvPr id="15" name="Text 13"/>
          <p:cNvSpPr/>
          <p:nvPr/>
        </p:nvSpPr>
        <p:spPr>
          <a:xfrm>
            <a:off x="548640" y="3154680"/>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Why does that connection make sense?</a:t>
            </a:r>
            <a:endParaRPr lang="en-US" sz="1150" dirty="0"/>
          </a:p>
        </p:txBody>
      </p:sp>
      <p:sp>
        <p:nvSpPr>
          <p:cNvPr id="16" name="Text 14"/>
          <p:cNvSpPr/>
          <p:nvPr/>
        </p:nvSpPr>
        <p:spPr>
          <a:xfrm>
            <a:off x="548640" y="3392424"/>
            <a:ext cx="8046720" cy="329184"/>
          </a:xfrm>
          <a:prstGeom prst="rect">
            <a:avLst/>
          </a:prstGeom>
          <a:noFill/>
          <a:ln/>
        </p:spPr>
        <p:txBody>
          <a:bodyPr wrap="square" rtlCol="0" anchor="ctr"/>
          <a:lstStyle/>
          <a:p>
            <a:pPr indent="0" marL="0">
              <a:buNone/>
            </a:pPr>
            <a:r>
              <a:rPr lang="en-US" sz="1150" i="1" dirty="0">
                <a:solidFill>
                  <a:srgbClr val="2B1D12"/>
                </a:solidFill>
                <a:latin typeface="Calibri" pitchFamily="34" charset="0"/>
                <a:ea typeface="Calibri" pitchFamily="34" charset="-122"/>
                <a:cs typeface="Calibri" pitchFamily="34" charset="-120"/>
              </a:rPr>
              <a:t>"This shows that climate and living things are connected because…"</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C</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&amp; Label + Turn It In</a:t>
            </a:r>
            <a:endParaRPr lang="en-US" sz="2100" dirty="0"/>
          </a:p>
        </p:txBody>
      </p:sp>
      <p:sp>
        <p:nvSpPr>
          <p:cNvPr id="7" name="Text 5"/>
          <p:cNvSpPr/>
          <p:nvPr/>
        </p:nvSpPr>
        <p:spPr>
          <a:xfrm>
            <a:off x="320040" y="1051560"/>
            <a:ext cx="8503920" cy="64008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Choose one region. Draw what it looks like and label at least 4 things: a temperature, a type of precipitation, one plant, and one animal.</a:t>
            </a:r>
            <a:endParaRPr lang="en-US" sz="1250" dirty="0"/>
          </a:p>
        </p:txBody>
      </p:sp>
      <p:sp>
        <p:nvSpPr>
          <p:cNvPr id="8" name="Shape 6"/>
          <p:cNvSpPr/>
          <p:nvPr/>
        </p:nvSpPr>
        <p:spPr>
          <a:xfrm>
            <a:off x="365760" y="1783080"/>
            <a:ext cx="8412480" cy="1508760"/>
          </a:xfrm>
          <a:prstGeom prst="roundRect">
            <a:avLst>
              <a:gd name="adj" fmla="val 4848"/>
            </a:avLst>
          </a:prstGeom>
          <a:solidFill>
            <a:srgbClr val="FFFFFF"/>
          </a:solidFill>
          <a:ln w="19050">
            <a:solidFill>
              <a:srgbClr val="E8DDD2"/>
            </a:solidFill>
            <a:prstDash val="solid"/>
          </a:ln>
        </p:spPr>
      </p:sp>
      <p:sp>
        <p:nvSpPr>
          <p:cNvPr id="9" name="Text 7"/>
          <p:cNvSpPr/>
          <p:nvPr/>
        </p:nvSpPr>
        <p:spPr>
          <a:xfrm>
            <a:off x="548640" y="1874520"/>
            <a:ext cx="8046720" cy="228600"/>
          </a:xfrm>
          <a:prstGeom prst="rect">
            <a:avLst/>
          </a:prstGeom>
          <a:noFill/>
          <a:ln/>
        </p:spPr>
        <p:txBody>
          <a:bodyPr wrap="square" rtlCol="0" anchor="ctr"/>
          <a:lstStyle/>
          <a:p>
            <a:pPr indent="0" marL="0">
              <a:buNone/>
            </a:pPr>
            <a:r>
              <a:rPr lang="en-US" sz="1050" b="1" spc="100" kern="0" dirty="0">
                <a:solidFill>
                  <a:srgbClr val="7B5EA7"/>
                </a:solidFill>
                <a:latin typeface="Calibri" pitchFamily="34" charset="0"/>
                <a:ea typeface="Calibri" pitchFamily="34" charset="-122"/>
                <a:cs typeface="Calibri" pitchFamily="34" charset="-120"/>
              </a:rPr>
              <a:t>MAKE SURE YOUR SUBMISSION INCLUDES</a:t>
            </a:r>
            <a:endParaRPr lang="en-US" sz="1050" dirty="0"/>
          </a:p>
        </p:txBody>
      </p:sp>
      <p:sp>
        <p:nvSpPr>
          <p:cNvPr id="10" name="Text 8"/>
          <p:cNvSpPr/>
          <p:nvPr/>
        </p:nvSpPr>
        <p:spPr>
          <a:xfrm>
            <a:off x="548640" y="2148840"/>
            <a:ext cx="8046720" cy="1051560"/>
          </a:xfrm>
          <a:prstGeom prst="rect">
            <a:avLst/>
          </a:prstGeom>
          <a:noFill/>
          <a:ln/>
        </p:spPr>
        <p:txBody>
          <a:bodyPr wrap="square" rtlCol="0" anchor="ctr"/>
          <a:lstStyle/>
          <a:p>
            <a:pPr marL="342900" indent="-342900">
              <a:lnSpc>
                <a:spcPts val="1600"/>
              </a:lnSpc>
              <a:buSzPct val="100000"/>
              <a:buChar char="✓"/>
            </a:pPr>
            <a:r>
              <a:rPr lang="en-US" sz="1100" dirty="0">
                <a:solidFill>
                  <a:srgbClr val="2B1D12"/>
                </a:solidFill>
                <a:latin typeface="Calibri" pitchFamily="34" charset="0"/>
                <a:ea typeface="Calibri" pitchFamily="34" charset="-122"/>
                <a:cs typeface="Calibri" pitchFamily="34" charset="-120"/>
              </a:rPr>
              <a:t>My Notice &amp; Wonder warm-up observations and question</a:t>
            </a:r>
            <a:endParaRPr lang="en-US" sz="1100" dirty="0"/>
          </a:p>
          <a:p>
            <a:pPr marL="342900" indent="-342900">
              <a:lnSpc>
                <a:spcPts val="1600"/>
              </a:lnSpc>
              <a:buSzPct val="100000"/>
              <a:buChar char="✓"/>
            </a:pPr>
            <a:r>
              <a:rPr lang="en-US" sz="1100" dirty="0">
                <a:solidFill>
                  <a:srgbClr val="2B1D12"/>
                </a:solidFill>
                <a:latin typeface="Calibri" pitchFamily="34" charset="0"/>
                <a:ea typeface="Calibri" pitchFamily="34" charset="-122"/>
                <a:cs typeface="Calibri" pitchFamily="34" charset="-120"/>
              </a:rPr>
              <a:t>My completed climate comparison chart from the investigation (Part A)</a:t>
            </a:r>
            <a:endParaRPr lang="en-US" sz="1100" dirty="0"/>
          </a:p>
          <a:p>
            <a:pPr marL="342900" indent="-342900">
              <a:lnSpc>
                <a:spcPts val="1600"/>
              </a:lnSpc>
              <a:buSzPct val="100000"/>
              <a:buChar char="✓"/>
            </a:pPr>
            <a:r>
              <a:rPr lang="en-US" sz="1100" dirty="0">
                <a:solidFill>
                  <a:srgbClr val="2B1D12"/>
                </a:solidFill>
                <a:latin typeface="Calibri" pitchFamily="34" charset="0"/>
                <a:ea typeface="Calibri" pitchFamily="34" charset="-122"/>
                <a:cs typeface="Calibri" pitchFamily="34" charset="-120"/>
              </a:rPr>
              <a:t>My Write and Explain response comparing climate and living things</a:t>
            </a:r>
            <a:endParaRPr lang="en-US" sz="1100" dirty="0"/>
          </a:p>
          <a:p>
            <a:pPr marL="342900" indent="-342900">
              <a:lnSpc>
                <a:spcPts val="1600"/>
              </a:lnSpc>
              <a:buSzPct val="100000"/>
              <a:buChar char="✓"/>
            </a:pPr>
            <a:r>
              <a:rPr lang="en-US" sz="1100" dirty="0">
                <a:solidFill>
                  <a:srgbClr val="2B1D12"/>
                </a:solidFill>
                <a:latin typeface="Calibri" pitchFamily="34" charset="0"/>
                <a:ea typeface="Calibri" pitchFamily="34" charset="-122"/>
                <a:cs typeface="Calibri" pitchFamily="34" charset="-120"/>
              </a:rPr>
              <a:t>My Part C drawing with labeled region sketch</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828800"/>
            <a:ext cx="8229600" cy="64008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Great Work Today!</a:t>
            </a:r>
            <a:endParaRPr lang="en-US" sz="3000" dirty="0"/>
          </a:p>
        </p:txBody>
      </p:sp>
      <p:sp>
        <p:nvSpPr>
          <p:cNvPr id="5" name="Text 3"/>
          <p:cNvSpPr/>
          <p:nvPr/>
        </p:nvSpPr>
        <p:spPr>
          <a:xfrm>
            <a:off x="457200" y="2514600"/>
            <a:ext cx="8229600" cy="457200"/>
          </a:xfrm>
          <a:prstGeom prst="rect">
            <a:avLst/>
          </a:prstGeom>
          <a:noFill/>
          <a:ln/>
        </p:spPr>
        <p:txBody>
          <a:bodyPr wrap="square" rtlCol="0" anchor="ctr"/>
          <a:lstStyle/>
          <a:p>
            <a:pPr algn="ctr" indent="0" marL="0">
              <a:buNone/>
            </a:pPr>
            <a:r>
              <a:rPr lang="en-US" sz="1500" dirty="0">
                <a:solidFill>
                  <a:srgbClr val="FFCA28"/>
                </a:solidFill>
                <a:latin typeface="Calibri" pitchFamily="34" charset="0"/>
                <a:ea typeface="Calibri" pitchFamily="34" charset="-122"/>
                <a:cs typeface="Calibri" pitchFamily="34" charset="-120"/>
              </a:rPr>
              <a:t>Up next: dangerous weather and natural hazards!</a:t>
            </a:r>
            <a:endParaRPr lang="en-US" sz="1500" dirty="0"/>
          </a:p>
        </p:txBody>
      </p:sp>
      <p:sp>
        <p:nvSpPr>
          <p:cNvPr id="6" name="Text 4"/>
          <p:cNvSpPr/>
          <p:nvPr/>
        </p:nvSpPr>
        <p:spPr>
          <a:xfrm>
            <a:off x="457200" y="4709160"/>
            <a:ext cx="8229600" cy="274320"/>
          </a:xfrm>
          <a:prstGeom prst="rect">
            <a:avLst/>
          </a:prstGeom>
          <a:noFill/>
          <a:ln/>
        </p:spPr>
        <p:txBody>
          <a:bodyPr wrap="square" rtlCol="0" anchor="ctr"/>
          <a:lstStyle/>
          <a:p>
            <a:pPr algn="ctr" indent="0" marL="0">
              <a:buNone/>
            </a:pPr>
            <a:r>
              <a:rPr lang="en-US" sz="900" dirty="0">
                <a:solidFill>
                  <a:srgbClr val="55C8E8"/>
                </a:solidFill>
                <a:latin typeface="Calibri" pitchFamily="34" charset="0"/>
                <a:ea typeface="Calibri" pitchFamily="34" charset="-122"/>
                <a:cs typeface="Calibri" pitchFamily="34" charset="-120"/>
              </a:rPr>
              <a:t>Optima Academy Online · 3rd Grade Science · Lesson 3.02 · NGSS 3-ESS2-2 · CPALMS SC.3.N.1.3, SC.3.N.1.7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2026-07-12T02:44:44Z</dcterms:created>
  <dcterms:modified xsi:type="dcterms:W3CDTF">2026-07-12T02:44:44Z</dcterms:modified>
</cp:coreProperties>
</file>